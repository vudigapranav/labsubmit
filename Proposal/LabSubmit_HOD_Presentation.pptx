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Budget</c:v>
                </c:pt>
              </c:strCache>
            </c:strRef>
          </c:tx>
          <c:spPr>
            <a:solidFill>
              <a:schemeClr val="accent1"/>
            </a:solidFill>
            <a:ln w="9525" cap="flat">
              <a:solidFill>
                <a:srgbClr val="F9F9F9"/>
              </a:solidFill>
              <a:prstDash val="solid"/>
              <a:round/>
            </a:ln>
            <a:effectLst/>
          </c:spPr>
          <c:dPt>
            <c:idx val="0"/>
            <c:bubble3D val="0"/>
            <c:spPr>
              <a:solidFill>
                <a:srgbClr val="00C39A"/>
              </a:solidFill>
              <a:ln w="25400" cap="flat">
                <a:solidFill>
                  <a:srgbClr val="FFFFFF"/>
                </a:solidFill>
                <a:prstDash val="solid"/>
                <a:round/>
              </a:ln>
              <a:effectLst/>
            </c:spPr>
          </c:dPt>
          <c:dPt>
            <c:idx val="1"/>
            <c:bubble3D val="0"/>
            <c:spPr>
              <a:solidFill>
                <a:srgbClr val="1E2761"/>
              </a:solidFill>
              <a:ln w="25400" cap="flat">
                <a:solidFill>
                  <a:srgbClr val="FFFFFF"/>
                </a:solidFill>
                <a:prstDash val="solid"/>
                <a:round/>
              </a:ln>
              <a:effectLst/>
            </c:spPr>
          </c:dPt>
          <c:dPt>
            <c:idx val="2"/>
            <c:bubble3D val="0"/>
            <c:spPr>
              <a:solidFill>
                <a:srgbClr val="3D5A9E"/>
              </a:solidFill>
              <a:ln w="25400" cap="flat">
                <a:solidFill>
                  <a:srgbClr val="FFFFFF"/>
                </a:solidFill>
                <a:prstDash val="solid"/>
                <a:round/>
              </a:ln>
              <a:effectLst/>
            </c:spPr>
          </c:dPt>
          <c:dPt>
            <c:idx val="3"/>
            <c:bubble3D val="0"/>
            <c:spPr>
              <a:solidFill>
                <a:srgbClr val="028090"/>
              </a:solidFill>
              <a:ln w="25400" cap="flat">
                <a:solidFill>
                  <a:srgbClr val="FFFFFF"/>
                </a:solidFill>
                <a:prstDash val="solid"/>
                <a:round/>
              </a:ln>
              <a:effectLst/>
            </c:spPr>
          </c:dPt>
          <c:dPt>
            <c:idx val="4"/>
            <c:bubble3D val="0"/>
            <c:spPr>
              <a:solidFill>
                <a:srgbClr val="8FA8DC"/>
              </a:solidFill>
              <a:ln w="25400" cap="flat">
                <a:solidFill>
                  <a:srgbClr val="FFFFFF"/>
                </a:solidFill>
                <a:prstDash val="solid"/>
                <a:round/>
              </a:ln>
              <a:effectLst/>
            </c:spPr>
          </c:dPt>
          <c:dPt>
            <c:idx val="5"/>
            <c:bubble3D val="0"/>
            <c:spPr>
              <a:solidFill>
                <a:srgbClr val="9AA6C4"/>
              </a:solidFill>
              <a:ln w="2540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4"/>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5"/>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Sheet1!$A$2:$A$7</c:f>
              <c:strCache>
                <c:ptCount val="6"/>
                <c:pt idx="0">
                  <c:v>Manpower — student honorarium</c:v>
                </c:pt>
                <c:pt idx="1">
                  <c:v>Execution engine + database</c:v>
                </c:pt>
                <c:pt idx="2">
                  <c:v>Application hosting (web + API)</c:v>
                </c:pt>
                <c:pt idx="3">
                  <c:v>AI / LLM API services</c:v>
                </c:pt>
                <c:pt idx="4">
                  <c:v>Backups, monitoring, load testing</c:v>
                </c:pt>
                <c:pt idx="5">
                  <c:v>Domain, SSL and contingency</c:v>
                </c:pt>
              </c:strCache>
            </c:strRef>
          </c:cat>
          <c:val>
            <c:numRef>
              <c:f>Sheet1!$B$2:$B$7</c:f>
              <c:numCache>
                <c:ptCount val="6"/>
                <c:pt idx="0">
                  <c:v>36000</c:v>
                </c:pt>
                <c:pt idx="1">
                  <c:v>22800</c:v>
                </c:pt>
                <c:pt idx="2">
                  <c:v>11400</c:v>
                </c:pt>
                <c:pt idx="3">
                  <c:v>9000</c:v>
                </c:pt>
                <c:pt idx="4">
                  <c:v>6000</c:v>
                </c:pt>
                <c:pt idx="5">
                  <c:v>3800</c:v>
                </c:pt>
              </c:numCache>
            </c:numRef>
          </c:val>
        </c:ser>
        <c:firstSliceAng val="0"/>
        <c:holeSize val="62"/>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LabSubmit is a lab-submission and code-execution platform we have already built, deployed and used end to end. This proposal asks for support to take it from a working prototype to a production system the department can run for every programming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concrete gaps in the current workflow. None of them are hypothetical — every one of them happens in our own lab sessions.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is not a concept. Every capability listed here is running today at labsubmit.vercel.app.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access levels. Every API endpoint re-verifies the caller's role, so a student cannot reach faculty or admin functions by manipulating a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administrator does the least work of the three roles, and only at the start of a term.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matters most to lab faculty — it removes the manual compilation step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Anti-cheat was the original motive for building LabSubmit. We are candid that it is browser-level: a determined student with a second device is still a job for invigilation.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component is MIT, Apache 2.0 or GPL. There are no per-student seats and no vendor lock-in.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steps. The lab session a lecturer runs today with pen drives and a personal laptop becomes these seven steps inside one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Please do open it during or after this presentation. Everything claimed in the previous slides can be checked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months. P3 starts before P2 finishes, once the sandbox is functional — that overlap is deliberate and is the only float in the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Eighty-nine thousand for the year. Just over half of it is the student honorarium at institute norms; the rest is infrastructure that we can show line by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B is where we want to end up. The platform already ships as a Docker container, so the migration is a deployment task, not a rewrite.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would rather bring these to the committee ourselves than have them found later. Each one maps to a phase in the work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We are happy to demonstrate the live platform now, and to answer questions on the sandbox design or the budget line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3D"/>
        </a:solidFill>
      </p:bgPr>
    </p:bg>
    <p:spTree>
      <p:nvGrpSpPr>
        <p:cNvPr id="1" name=""/>
        <p:cNvGrpSpPr/>
        <p:nvPr/>
      </p:nvGrpSpPr>
      <p:grpSpPr>
        <a:xfrm>
          <a:off x="0" y="0"/>
          <a:ext cx="0" cy="0"/>
          <a:chOff x="0" y="0"/>
          <a:chExt cx="0" cy="0"/>
        </a:xfrm>
      </p:grpSpPr>
      <p:sp>
        <p:nvSpPr>
          <p:cNvPr id="2" name="Shape 0"/>
          <p:cNvSpPr/>
          <p:nvPr/>
        </p:nvSpPr>
        <p:spPr>
          <a:xfrm>
            <a:off x="8778240" y="-1920240"/>
            <a:ext cx="5852160" cy="5852160"/>
          </a:xfrm>
          <a:prstGeom prst="ellipse">
            <a:avLst/>
          </a:prstGeom>
          <a:solidFill>
            <a:srgbClr val="1E2761"/>
          </a:solidFill>
          <a:ln w="12700">
            <a:solidFill>
              <a:srgbClr val="333333"/>
            </a:solidFill>
            <a:prstDash val="solid"/>
          </a:ln>
        </p:spPr>
      </p:sp>
      <p:sp>
        <p:nvSpPr>
          <p:cNvPr id="3" name="Shape 1"/>
          <p:cNvSpPr/>
          <p:nvPr/>
        </p:nvSpPr>
        <p:spPr>
          <a:xfrm>
            <a:off x="10332720" y="4206240"/>
            <a:ext cx="3291840" cy="3291840"/>
          </a:xfrm>
          <a:prstGeom prst="ellipse">
            <a:avLst/>
          </a:prstGeom>
          <a:solidFill>
            <a:srgbClr val="1E2761"/>
          </a:solidFill>
          <a:ln w="12700">
            <a:solidFill>
              <a:srgbClr val="333333"/>
            </a:solidFill>
            <a:prstDash val="solid"/>
          </a:ln>
        </p:spPr>
      </p:sp>
      <p:sp>
        <p:nvSpPr>
          <p:cNvPr id="4" name="Text 2"/>
          <p:cNvSpPr/>
          <p:nvPr/>
        </p:nvSpPr>
        <p:spPr>
          <a:xfrm>
            <a:off x="548640" y="603504"/>
            <a:ext cx="10607040" cy="256032"/>
          </a:xfrm>
          <a:prstGeom prst="rect">
            <a:avLst/>
          </a:prstGeom>
          <a:noFill/>
          <a:ln/>
        </p:spPr>
        <p:txBody>
          <a:bodyPr wrap="square" lIns="0" tIns="0" rIns="0" bIns="0" rtlCol="0" anchor="ctr"/>
          <a:lstStyle/>
          <a:p>
            <a:pPr indent="0" marL="0">
              <a:buNone/>
            </a:pPr>
            <a:r>
              <a:rPr lang="en-US" sz="1050" b="1" spc="140" kern="0" dirty="0">
                <a:solidFill>
                  <a:srgbClr val="CADCFC"/>
                </a:solidFill>
                <a:latin typeface="Calibri" pitchFamily="34" charset="0"/>
                <a:ea typeface="Calibri" pitchFamily="34" charset="-122"/>
                <a:cs typeface="Calibri" pitchFamily="34" charset="-120"/>
              </a:rPr>
              <a:t>CHAITANYA BHARATHI INSTITUTE OF TECHNOLOGY  (AUTONOMOUS),  GANDIPET,  HYDERABAD</a:t>
            </a:r>
            <a:endParaRPr lang="en-US" sz="1050" dirty="0"/>
          </a:p>
        </p:txBody>
      </p:sp>
      <p:sp>
        <p:nvSpPr>
          <p:cNvPr id="5" name="Text 3"/>
          <p:cNvSpPr/>
          <p:nvPr/>
        </p:nvSpPr>
        <p:spPr>
          <a:xfrm>
            <a:off x="548640" y="932688"/>
            <a:ext cx="10607040" cy="274320"/>
          </a:xfrm>
          <a:prstGeom prst="rect">
            <a:avLst/>
          </a:prstGeom>
          <a:noFill/>
          <a:ln/>
        </p:spPr>
        <p:txBody>
          <a:bodyPr wrap="square" lIns="0" tIns="0" rIns="0" bIns="0" rtlCol="0" anchor="ctr"/>
          <a:lstStyle/>
          <a:p>
            <a:pPr indent="0" marL="0">
              <a:buNone/>
            </a:pPr>
            <a:r>
              <a:rPr lang="en-US" sz="1250" dirty="0">
                <a:solidFill>
                  <a:srgbClr val="9AA6C4"/>
                </a:solidFill>
                <a:latin typeface="Calibri" pitchFamily="34" charset="0"/>
                <a:ea typeface="Calibri" pitchFamily="34" charset="-122"/>
                <a:cs typeface="Calibri" pitchFamily="34" charset="-120"/>
              </a:rPr>
              <a:t>Application for a Software Development Project</a:t>
            </a:r>
            <a:endParaRPr lang="en-US" sz="1250" dirty="0"/>
          </a:p>
        </p:txBody>
      </p:sp>
      <p:sp>
        <p:nvSpPr>
          <p:cNvPr id="6" name="Text 4"/>
          <p:cNvSpPr/>
          <p:nvPr/>
        </p:nvSpPr>
        <p:spPr>
          <a:xfrm>
            <a:off x="548640" y="1572768"/>
            <a:ext cx="8686800" cy="1143000"/>
          </a:xfrm>
          <a:prstGeom prst="rect">
            <a:avLst/>
          </a:prstGeom>
          <a:noFill/>
          <a:ln/>
        </p:spPr>
        <p:txBody>
          <a:bodyPr wrap="square" lIns="0" tIns="0" rIns="0" bIns="0" rtlCol="0" anchor="ctr"/>
          <a:lstStyle/>
          <a:p>
            <a:pPr indent="0" marL="0">
              <a:buNone/>
            </a:pPr>
            <a:r>
              <a:rPr lang="en-US" sz="6600" b="1" dirty="0">
                <a:solidFill>
                  <a:srgbClr val="FFFFFF"/>
                </a:solidFill>
                <a:latin typeface="Cambria" pitchFamily="34" charset="0"/>
                <a:ea typeface="Cambria" pitchFamily="34" charset="-122"/>
                <a:cs typeface="Cambria" pitchFamily="34" charset="-120"/>
              </a:rPr>
              <a:t>LabSubmit</a:t>
            </a:r>
            <a:endParaRPr lang="en-US" sz="6600" dirty="0"/>
          </a:p>
        </p:txBody>
      </p:sp>
      <p:sp>
        <p:nvSpPr>
          <p:cNvPr id="7" name="Text 5"/>
          <p:cNvSpPr/>
          <p:nvPr/>
        </p:nvSpPr>
        <p:spPr>
          <a:xfrm>
            <a:off x="548640" y="2761488"/>
            <a:ext cx="7955280" cy="731520"/>
          </a:xfrm>
          <a:prstGeom prst="rect">
            <a:avLst/>
          </a:prstGeom>
          <a:noFill/>
          <a:ln/>
        </p:spPr>
        <p:txBody>
          <a:bodyPr wrap="square" lIns="0" tIns="0" rIns="0" bIns="0" rtlCol="0" anchor="ctr"/>
          <a:lstStyle/>
          <a:p>
            <a:pPr indent="0" marL="0">
              <a:lnSpc>
                <a:spcPts val="2700"/>
              </a:lnSpc>
              <a:buNone/>
            </a:pPr>
            <a:r>
              <a:rPr lang="en-US" sz="1900" dirty="0">
                <a:solidFill>
                  <a:srgbClr val="CADCFC"/>
                </a:solidFill>
                <a:latin typeface="Calibri" pitchFamily="34" charset="0"/>
                <a:ea typeface="Calibri" pitchFamily="34" charset="-122"/>
                <a:cs typeface="Calibri" pitchFamily="34" charset="-120"/>
              </a:rPr>
              <a:t>A secure programming laboratory management, code execution and evaluation platform</a:t>
            </a:r>
            <a:endParaRPr lang="en-US" sz="1900" dirty="0"/>
          </a:p>
        </p:txBody>
      </p:sp>
      <p:sp>
        <p:nvSpPr>
          <p:cNvPr id="8" name="Shape 6"/>
          <p:cNvSpPr/>
          <p:nvPr/>
        </p:nvSpPr>
        <p:spPr>
          <a:xfrm>
            <a:off x="548640" y="3675888"/>
            <a:ext cx="4224528" cy="475488"/>
          </a:xfrm>
          <a:prstGeom prst="roundRect">
            <a:avLst>
              <a:gd name="adj" fmla="val 50000"/>
            </a:avLst>
          </a:prstGeom>
          <a:solidFill>
            <a:srgbClr val="00C39A"/>
          </a:solidFill>
          <a:ln w="12700">
            <a:solidFill>
              <a:srgbClr val="333333"/>
            </a:solidFill>
            <a:prstDash val="solid"/>
          </a:ln>
        </p:spPr>
      </p:sp>
      <p:sp>
        <p:nvSpPr>
          <p:cNvPr id="9" name="Text 7"/>
          <p:cNvSpPr/>
          <p:nvPr/>
        </p:nvSpPr>
        <p:spPr>
          <a:xfrm>
            <a:off x="548640" y="3675888"/>
            <a:ext cx="4224528" cy="475488"/>
          </a:xfrm>
          <a:prstGeom prst="rect">
            <a:avLst/>
          </a:prstGeom>
          <a:noFill/>
          <a:ln/>
        </p:spPr>
        <p:txBody>
          <a:bodyPr wrap="square" lIns="0" tIns="0" rIns="0" bIns="0" rtlCol="0" anchor="ctr"/>
          <a:lstStyle/>
          <a:p>
            <a:pPr algn="ctr" indent="0" marL="0">
              <a:buNone/>
            </a:pPr>
            <a:r>
              <a:rPr lang="en-US" sz="1250" b="1" dirty="0">
                <a:solidFill>
                  <a:srgbClr val="141B3D"/>
                </a:solidFill>
                <a:latin typeface="Calibri" pitchFamily="34" charset="0"/>
                <a:ea typeface="Calibri" pitchFamily="34" charset="-122"/>
                <a:cs typeface="Calibri" pitchFamily="34" charset="-120"/>
              </a:rPr>
              <a:t>Already built.  Already deployed.  In use today.</a:t>
            </a:r>
            <a:endParaRPr lang="en-US" sz="1250" dirty="0"/>
          </a:p>
        </p:txBody>
      </p:sp>
      <p:sp>
        <p:nvSpPr>
          <p:cNvPr id="10" name="Text 8"/>
          <p:cNvSpPr/>
          <p:nvPr/>
        </p:nvSpPr>
        <p:spPr>
          <a:xfrm>
            <a:off x="548640" y="4773168"/>
            <a:ext cx="3291840" cy="219456"/>
          </a:xfrm>
          <a:prstGeom prst="rect">
            <a:avLst/>
          </a:prstGeom>
          <a:noFill/>
          <a:ln/>
        </p:spPr>
        <p:txBody>
          <a:bodyPr wrap="square" lIns="0" tIns="0" rIns="0" bIns="0" rtlCol="0" anchor="ctr"/>
          <a:lstStyle/>
          <a:p>
            <a:pPr indent="0" marL="0">
              <a:buNone/>
            </a:pPr>
            <a:r>
              <a:rPr lang="en-US" sz="950" b="1" spc="120" kern="0" dirty="0">
                <a:solidFill>
                  <a:srgbClr val="00C39A"/>
                </a:solidFill>
                <a:latin typeface="Calibri" pitchFamily="34" charset="0"/>
                <a:ea typeface="Calibri" pitchFamily="34" charset="-122"/>
                <a:cs typeface="Calibri" pitchFamily="34" charset="-120"/>
              </a:rPr>
              <a:t>DEPARTMENT</a:t>
            </a:r>
            <a:endParaRPr lang="en-US" sz="950" dirty="0"/>
          </a:p>
        </p:txBody>
      </p:sp>
      <p:sp>
        <p:nvSpPr>
          <p:cNvPr id="11" name="Text 9"/>
          <p:cNvSpPr/>
          <p:nvPr/>
        </p:nvSpPr>
        <p:spPr>
          <a:xfrm>
            <a:off x="548640" y="5029200"/>
            <a:ext cx="3383280" cy="731520"/>
          </a:xfrm>
          <a:prstGeom prst="rect">
            <a:avLst/>
          </a:prstGeom>
          <a:noFill/>
          <a:ln/>
        </p:spPr>
        <p:txBody>
          <a:bodyPr wrap="square" lIns="0" tIns="0" rIns="0" bIns="0" rtlCol="0" anchor="ctr"/>
          <a:lstStyle/>
          <a:p>
            <a:pPr indent="0" marL="0">
              <a:lnSpc>
                <a:spcPts val="1800"/>
              </a:lnSpc>
              <a:buNone/>
            </a:pPr>
            <a:r>
              <a:rPr lang="en-US" sz="1250" dirty="0">
                <a:solidFill>
                  <a:srgbClr val="FFFFFF"/>
                </a:solidFill>
                <a:latin typeface="Calibri" pitchFamily="34" charset="0"/>
                <a:ea typeface="Calibri" pitchFamily="34" charset="-122"/>
                <a:cs typeface="Calibri" pitchFamily="34" charset="-120"/>
              </a:rPr>
              <a:t>CSE — IoT &amp; Cyber Security</a:t>
            </a:r>
            <a:endParaRPr lang="en-US" sz="1250" dirty="0"/>
          </a:p>
          <a:p>
            <a:pPr indent="0" marL="0">
              <a:lnSpc>
                <a:spcPts val="1800"/>
              </a:lnSpc>
              <a:buNone/>
            </a:pPr>
            <a:r>
              <a:rPr lang="en-US" sz="1250" dirty="0">
                <a:solidFill>
                  <a:srgbClr val="FFFFFF"/>
                </a:solidFill>
                <a:latin typeface="Calibri" pitchFamily="34" charset="0"/>
                <a:ea typeface="Calibri" pitchFamily="34" charset="-122"/>
                <a:cs typeface="Calibri" pitchFamily="34" charset="-120"/>
              </a:rPr>
              <a:t>including Blockchain Technology</a:t>
            </a:r>
            <a:endParaRPr lang="en-US" sz="1250" dirty="0"/>
          </a:p>
        </p:txBody>
      </p:sp>
      <p:sp>
        <p:nvSpPr>
          <p:cNvPr id="12" name="Text 10"/>
          <p:cNvSpPr/>
          <p:nvPr/>
        </p:nvSpPr>
        <p:spPr>
          <a:xfrm>
            <a:off x="4160520" y="4773168"/>
            <a:ext cx="3291840" cy="219456"/>
          </a:xfrm>
          <a:prstGeom prst="rect">
            <a:avLst/>
          </a:prstGeom>
          <a:noFill/>
          <a:ln/>
        </p:spPr>
        <p:txBody>
          <a:bodyPr wrap="square" lIns="0" tIns="0" rIns="0" bIns="0" rtlCol="0" anchor="ctr"/>
          <a:lstStyle/>
          <a:p>
            <a:pPr indent="0" marL="0">
              <a:buNone/>
            </a:pPr>
            <a:r>
              <a:rPr lang="en-US" sz="950" b="1" spc="120" kern="0" dirty="0">
                <a:solidFill>
                  <a:srgbClr val="00C39A"/>
                </a:solidFill>
                <a:latin typeface="Calibri" pitchFamily="34" charset="0"/>
                <a:ea typeface="Calibri" pitchFamily="34" charset="-122"/>
                <a:cs typeface="Calibri" pitchFamily="34" charset="-120"/>
              </a:rPr>
              <a:t>APPLICANTS</a:t>
            </a:r>
            <a:endParaRPr lang="en-US" sz="950" dirty="0"/>
          </a:p>
        </p:txBody>
      </p:sp>
      <p:sp>
        <p:nvSpPr>
          <p:cNvPr id="13" name="Text 11"/>
          <p:cNvSpPr/>
          <p:nvPr/>
        </p:nvSpPr>
        <p:spPr>
          <a:xfrm>
            <a:off x="4160520" y="5029200"/>
            <a:ext cx="3383280" cy="731520"/>
          </a:xfrm>
          <a:prstGeom prst="rect">
            <a:avLst/>
          </a:prstGeom>
          <a:noFill/>
          <a:ln/>
        </p:spPr>
        <p:txBody>
          <a:bodyPr wrap="square" lIns="0" tIns="0" rIns="0" bIns="0" rtlCol="0" anchor="ctr"/>
          <a:lstStyle/>
          <a:p>
            <a:pPr indent="0" marL="0">
              <a:lnSpc>
                <a:spcPts val="1800"/>
              </a:lnSpc>
              <a:buNone/>
            </a:pPr>
            <a:r>
              <a:rPr lang="en-US" sz="1250" dirty="0">
                <a:solidFill>
                  <a:srgbClr val="FFFFFF"/>
                </a:solidFill>
                <a:latin typeface="Calibri" pitchFamily="34" charset="0"/>
                <a:ea typeface="Calibri" pitchFamily="34" charset="-122"/>
                <a:cs typeface="Calibri" pitchFamily="34" charset="-120"/>
              </a:rPr>
              <a:t>V Pranav — 160125749063</a:t>
            </a:r>
            <a:endParaRPr lang="en-US" sz="1250" dirty="0"/>
          </a:p>
          <a:p>
            <a:pPr indent="0" marL="0">
              <a:lnSpc>
                <a:spcPts val="1800"/>
              </a:lnSpc>
              <a:buNone/>
            </a:pPr>
            <a:r>
              <a:rPr lang="en-US" sz="1250" dirty="0">
                <a:solidFill>
                  <a:srgbClr val="FFFFFF"/>
                </a:solidFill>
                <a:latin typeface="Calibri" pitchFamily="34" charset="0"/>
                <a:ea typeface="Calibri" pitchFamily="34" charset="-122"/>
                <a:cs typeface="Calibri" pitchFamily="34" charset="-120"/>
              </a:rPr>
              <a:t>K Sai Rithvik Reddy — 160125749026</a:t>
            </a:r>
            <a:endParaRPr lang="en-US" sz="1250" dirty="0"/>
          </a:p>
        </p:txBody>
      </p:sp>
      <p:sp>
        <p:nvSpPr>
          <p:cNvPr id="14" name="Text 12"/>
          <p:cNvSpPr/>
          <p:nvPr/>
        </p:nvSpPr>
        <p:spPr>
          <a:xfrm>
            <a:off x="7772400" y="4773168"/>
            <a:ext cx="3291840" cy="219456"/>
          </a:xfrm>
          <a:prstGeom prst="rect">
            <a:avLst/>
          </a:prstGeom>
          <a:noFill/>
          <a:ln/>
        </p:spPr>
        <p:txBody>
          <a:bodyPr wrap="square" lIns="0" tIns="0" rIns="0" bIns="0" rtlCol="0" anchor="ctr"/>
          <a:lstStyle/>
          <a:p>
            <a:pPr indent="0" marL="0">
              <a:buNone/>
            </a:pPr>
            <a:r>
              <a:rPr lang="en-US" sz="950" b="1" spc="120" kern="0" dirty="0">
                <a:solidFill>
                  <a:srgbClr val="00C39A"/>
                </a:solidFill>
                <a:latin typeface="Calibri" pitchFamily="34" charset="0"/>
                <a:ea typeface="Calibri" pitchFamily="34" charset="-122"/>
                <a:cs typeface="Calibri" pitchFamily="34" charset="-120"/>
              </a:rPr>
              <a:t>DURATION &amp; BUDGET</a:t>
            </a:r>
            <a:endParaRPr lang="en-US" sz="950" dirty="0"/>
          </a:p>
        </p:txBody>
      </p:sp>
      <p:sp>
        <p:nvSpPr>
          <p:cNvPr id="15" name="Text 13"/>
          <p:cNvSpPr/>
          <p:nvPr/>
        </p:nvSpPr>
        <p:spPr>
          <a:xfrm>
            <a:off x="7772400" y="5029200"/>
            <a:ext cx="3383280" cy="731520"/>
          </a:xfrm>
          <a:prstGeom prst="rect">
            <a:avLst/>
          </a:prstGeom>
          <a:noFill/>
          <a:ln/>
        </p:spPr>
        <p:txBody>
          <a:bodyPr wrap="square" lIns="0" tIns="0" rIns="0" bIns="0" rtlCol="0" anchor="ctr"/>
          <a:lstStyle/>
          <a:p>
            <a:pPr indent="0" marL="0">
              <a:lnSpc>
                <a:spcPts val="1800"/>
              </a:lnSpc>
              <a:buNone/>
            </a:pPr>
            <a:r>
              <a:rPr lang="en-US" sz="1250" dirty="0">
                <a:solidFill>
                  <a:srgbClr val="FFFFFF"/>
                </a:solidFill>
                <a:latin typeface="Calibri" pitchFamily="34" charset="0"/>
                <a:ea typeface="Calibri" pitchFamily="34" charset="-122"/>
                <a:cs typeface="Calibri" pitchFamily="34" charset="-120"/>
              </a:rPr>
              <a:t>12 months</a:t>
            </a:r>
            <a:endParaRPr lang="en-US" sz="1250" dirty="0"/>
          </a:p>
          <a:p>
            <a:pPr indent="0" marL="0">
              <a:lnSpc>
                <a:spcPts val="1800"/>
              </a:lnSpc>
              <a:buNone/>
            </a:pPr>
            <a:r>
              <a:rPr lang="en-US" sz="1250" dirty="0">
                <a:solidFill>
                  <a:srgbClr val="FFFFFF"/>
                </a:solidFill>
                <a:latin typeface="Calibri" pitchFamily="34" charset="0"/>
                <a:ea typeface="Calibri" pitchFamily="34" charset="-122"/>
                <a:cs typeface="Calibri" pitchFamily="34" charset="-120"/>
              </a:rPr>
              <a:t>₹ 89,000 requested</a:t>
            </a:r>
            <a:endParaRPr lang="en-US" sz="1250" dirty="0"/>
          </a:p>
        </p:txBody>
      </p:sp>
      <p:sp>
        <p:nvSpPr>
          <p:cNvPr id="16" name="Text 14"/>
          <p:cNvSpPr/>
          <p:nvPr/>
        </p:nvSpPr>
        <p:spPr>
          <a:xfrm>
            <a:off x="548640" y="6144768"/>
            <a:ext cx="10058400" cy="256032"/>
          </a:xfrm>
          <a:prstGeom prst="rect">
            <a:avLst/>
          </a:prstGeom>
          <a:noFill/>
          <a:ln/>
        </p:spPr>
        <p:txBody>
          <a:bodyPr wrap="square" lIns="0" tIns="0" rIns="0" bIns="0" rtlCol="0" anchor="ctr"/>
          <a:lstStyle/>
          <a:p>
            <a:pPr indent="0" marL="0">
              <a:buNone/>
            </a:pPr>
            <a:r>
              <a:rPr lang="en-US" sz="1100" i="1" dirty="0">
                <a:solidFill>
                  <a:srgbClr val="9AA6C4"/>
                </a:solidFill>
                <a:latin typeface="Calibri" pitchFamily="34" charset="0"/>
                <a:ea typeface="Calibri" pitchFamily="34" charset="-122"/>
                <a:cs typeface="Calibri" pitchFamily="34" charset="-120"/>
              </a:rPr>
              <a:t>Submitted to the Head of the Department  ·  Department of CSE (IoT &amp; CSBCT), CBIT</a:t>
            </a:r>
            <a:endParaRPr lang="en-US" sz="1100" dirty="0"/>
          </a:p>
        </p:txBody>
      </p:sp>
    </p:spTree>
  </p:cSld>
  <p:clrMapOvr>
    <a:masterClrMapping/>
  </p:clrMapOvr>
  <mc:AlternateContent xmlns:mc="http://schemas.openxmlformats.org/markup-compatibility/2006">
    <mc:Choice xmlns:p14="http://schemas.microsoft.com/office/powerpoint/2010/main" Requires="p14">
      <p:transition spd="slow" p14:dur="65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
                                        </p:tgtEl>
                                        <p:attrNameLst>
                                          <p:attrName>style.visibility</p:attrName>
                                        </p:attrNameLst>
                                      </p:cBhvr>
                                      <p:to>
                                        <p:strVal val="visible"/>
                                      </p:to>
                                    </p:set>
                                    <p:animEffect transition="in" filter="fade">
                                      <p:cBhvr>
                                        <p:cTn id="7" dur="380"/>
                                        <p:tgtEl>
                                          <p:spTgt spid="1"/>
                                        </p:tgtEl>
                                      </p:cBhvr>
                                    </p:animEffect>
                                    <p:anim calcmode="lin" valueType="num">
                                      <p:cBhvr additive="base">
                                        <p:cTn id="8" dur="380" fill="hold"/>
                                        <p:tgtEl>
                                          <p:spTgt spid="1"/>
                                        </p:tgtEl>
                                        <p:attrNameLst>
                                          <p:attrName>ppt_y</p:attrName>
                                        </p:attrNameLst>
                                      </p:cBhvr>
                                      <p:tavLst>
                                        <p:tav tm="0">
                                          <p:val>
                                            <p:strVal val="#ppt_y+0.03"/>
                                          </p:val>
                                        </p:tav>
                                        <p:tav tm="100000">
                                          <p:val>
                                            <p:strVal val="#ppt_y"/>
                                          </p:val>
                                        </p:tav>
                                      </p:tavLst>
                                    </p:anim>
                                  </p:childTnLst>
                                </p:cTn>
                              </p:par>
                              <p:par>
                                <p:cTn id="9" presetID="42" presetClass="entr" presetSubtype="0" fill="hold" grpId="0" nodeType="afterEffect">
                                  <p:stCondLst>
                                    <p:cond delay="9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380"/>
                                        <p:tgtEl>
                                          <p:spTgt spid="2"/>
                                        </p:tgtEl>
                                      </p:cBhvr>
                                    </p:animEffect>
                                    <p:anim calcmode="lin" valueType="num">
                                      <p:cBhvr additive="base">
                                        <p:cTn id="12" dur="380" fill="hold"/>
                                        <p:tgtEl>
                                          <p:spTgt spid="2"/>
                                        </p:tgtEl>
                                        <p:attrNameLst>
                                          <p:attrName>ppt_y</p:attrName>
                                        </p:attrNameLst>
                                      </p:cBhvr>
                                      <p:tavLst>
                                        <p:tav tm="0">
                                          <p:val>
                                            <p:strVal val="#ppt_y+0.03"/>
                                          </p:val>
                                        </p:tav>
                                        <p:tav tm="100000">
                                          <p:val>
                                            <p:strVal val="#ppt_y"/>
                                          </p:val>
                                        </p:tav>
                                      </p:tavLst>
                                    </p:anim>
                                  </p:childTnLst>
                                </p:cTn>
                              </p:par>
                              <p:par>
                                <p:cTn id="13" presetID="42" presetClass="entr" presetSubtype="0" fill="hold" grpId="0" nodeType="afterEffect">
                                  <p:stCondLst>
                                    <p:cond delay="18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380"/>
                                        <p:tgtEl>
                                          <p:spTgt spid="3"/>
                                        </p:tgtEl>
                                      </p:cBhvr>
                                    </p:animEffect>
                                    <p:anim calcmode="lin" valueType="num">
                                      <p:cBhvr additive="base">
                                        <p:cTn id="16" dur="380" fill="hold"/>
                                        <p:tgtEl>
                                          <p:spTgt spid="3"/>
                                        </p:tgtEl>
                                        <p:attrNameLst>
                                          <p:attrName>ppt_y</p:attrName>
                                        </p:attrNameLst>
                                      </p:cBhvr>
                                      <p:tavLst>
                                        <p:tav tm="0">
                                          <p:val>
                                            <p:strVal val="#ppt_y+0.03"/>
                                          </p:val>
                                        </p:tav>
                                        <p:tav tm="100000">
                                          <p:val>
                                            <p:strVal val="#ppt_y"/>
                                          </p:val>
                                        </p:tav>
                                      </p:tavLst>
                                    </p:anim>
                                  </p:childTnLst>
                                </p:cTn>
                              </p:par>
                              <p:par>
                                <p:cTn id="17" presetID="42" presetClass="entr" presetSubtype="0" fill="hold" grpId="0" nodeType="afterEffect">
                                  <p:stCondLst>
                                    <p:cond delay="27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380"/>
                                        <p:tgtEl>
                                          <p:spTgt spid="4"/>
                                        </p:tgtEl>
                                      </p:cBhvr>
                                    </p:animEffect>
                                    <p:anim calcmode="lin" valueType="num">
                                      <p:cBhvr additive="base">
                                        <p:cTn id="20" dur="380" fill="hold"/>
                                        <p:tgtEl>
                                          <p:spTgt spid="4"/>
                                        </p:tgtEl>
                                        <p:attrNameLst>
                                          <p:attrName>ppt_y</p:attrName>
                                        </p:attrNameLst>
                                      </p:cBhvr>
                                      <p:tavLst>
                                        <p:tav tm="0">
                                          <p:val>
                                            <p:strVal val="#ppt_y+0.03"/>
                                          </p:val>
                                        </p:tav>
                                        <p:tav tm="100000">
                                          <p:val>
                                            <p:strVal val="#ppt_y"/>
                                          </p:val>
                                        </p:tav>
                                      </p:tavLst>
                                    </p:anim>
                                  </p:childTnLst>
                                </p:cTn>
                              </p:par>
                              <p:par>
                                <p:cTn id="21" presetID="42" presetClass="entr" presetSubtype="0" fill="hold" grpId="0" nodeType="afterEffect">
                                  <p:stCondLst>
                                    <p:cond delay="36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380"/>
                                        <p:tgtEl>
                                          <p:spTgt spid="5"/>
                                        </p:tgtEl>
                                      </p:cBhvr>
                                    </p:animEffect>
                                    <p:anim calcmode="lin" valueType="num">
                                      <p:cBhvr additive="base">
                                        <p:cTn id="24" dur="380" fill="hold"/>
                                        <p:tgtEl>
                                          <p:spTgt spid="5"/>
                                        </p:tgtEl>
                                        <p:attrNameLst>
                                          <p:attrName>ppt_y</p:attrName>
                                        </p:attrNameLst>
                                      </p:cBhvr>
                                      <p:tavLst>
                                        <p:tav tm="0">
                                          <p:val>
                                            <p:strVal val="#ppt_y+0.03"/>
                                          </p:val>
                                        </p:tav>
                                        <p:tav tm="100000">
                                          <p:val>
                                            <p:strVal val="#ppt_y"/>
                                          </p:val>
                                        </p:tav>
                                      </p:tavLst>
                                    </p:anim>
                                  </p:childTnLst>
                                </p:cTn>
                              </p:par>
                              <p:par>
                                <p:cTn id="25" presetID="42" presetClass="entr" presetSubtype="0" fill="hold" grpId="0" nodeType="afterEffect">
                                  <p:stCondLst>
                                    <p:cond delay="45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380"/>
                                        <p:tgtEl>
                                          <p:spTgt spid="6"/>
                                        </p:tgtEl>
                                      </p:cBhvr>
                                    </p:animEffect>
                                    <p:anim calcmode="lin" valueType="num">
                                      <p:cBhvr additive="base">
                                        <p:cTn id="28" dur="380" fill="hold"/>
                                        <p:tgtEl>
                                          <p:spTgt spid="6"/>
                                        </p:tgtEl>
                                        <p:attrNameLst>
                                          <p:attrName>ppt_y</p:attrName>
                                        </p:attrNameLst>
                                      </p:cBhvr>
                                      <p:tavLst>
                                        <p:tav tm="0">
                                          <p:val>
                                            <p:strVal val="#ppt_y+0.03"/>
                                          </p:val>
                                        </p:tav>
                                        <p:tav tm="100000">
                                          <p:val>
                                            <p:strVal val="#ppt_y"/>
                                          </p:val>
                                        </p:tav>
                                      </p:tavLst>
                                    </p:anim>
                                  </p:childTnLst>
                                </p:cTn>
                              </p:par>
                              <p:par>
                                <p:cTn id="29" presetID="42" presetClass="entr" presetSubtype="0" fill="hold" grpId="0" nodeType="afterEffect">
                                  <p:stCondLst>
                                    <p:cond delay="54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380"/>
                                        <p:tgtEl>
                                          <p:spTgt spid="7"/>
                                        </p:tgtEl>
                                      </p:cBhvr>
                                    </p:animEffect>
                                    <p:anim calcmode="lin" valueType="num">
                                      <p:cBhvr additive="base">
                                        <p:cTn id="32" dur="380" fill="hold"/>
                                        <p:tgtEl>
                                          <p:spTgt spid="7"/>
                                        </p:tgtEl>
                                        <p:attrNameLst>
                                          <p:attrName>ppt_y</p:attrName>
                                        </p:attrNameLst>
                                      </p:cBhvr>
                                      <p:tavLst>
                                        <p:tav tm="0">
                                          <p:val>
                                            <p:strVal val="#ppt_y+0.03"/>
                                          </p:val>
                                        </p:tav>
                                        <p:tav tm="100000">
                                          <p:val>
                                            <p:strVal val="#ppt_y"/>
                                          </p:val>
                                        </p:tav>
                                      </p:tavLst>
                                    </p:anim>
                                  </p:childTnLst>
                                </p:cTn>
                              </p:par>
                              <p:par>
                                <p:cTn id="33" presetID="42" presetClass="entr" presetSubtype="0" fill="hold" grpId="0" nodeType="afterEffect">
                                  <p:stCondLst>
                                    <p:cond delay="63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380"/>
                                        <p:tgtEl>
                                          <p:spTgt spid="8"/>
                                        </p:tgtEl>
                                      </p:cBhvr>
                                    </p:animEffect>
                                    <p:anim calcmode="lin" valueType="num">
                                      <p:cBhvr additive="base">
                                        <p:cTn id="36" dur="380" fill="hold"/>
                                        <p:tgtEl>
                                          <p:spTgt spid="8"/>
                                        </p:tgtEl>
                                        <p:attrNameLst>
                                          <p:attrName>ppt_y</p:attrName>
                                        </p:attrNameLst>
                                      </p:cBhvr>
                                      <p:tavLst>
                                        <p:tav tm="0">
                                          <p:val>
                                            <p:strVal val="#ppt_y+0.03"/>
                                          </p:val>
                                        </p:tav>
                                        <p:tav tm="100000">
                                          <p:val>
                                            <p:strVal val="#ppt_y"/>
                                          </p:val>
                                        </p:tav>
                                      </p:tavLst>
                                    </p:anim>
                                  </p:childTnLst>
                                </p:cTn>
                              </p:par>
                              <p:par>
                                <p:cTn id="37" presetID="42" presetClass="entr" presetSubtype="0" fill="hold" grpId="0" nodeType="afterEffect">
                                  <p:stCondLst>
                                    <p:cond delay="72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380"/>
                                        <p:tgtEl>
                                          <p:spTgt spid="9"/>
                                        </p:tgtEl>
                                      </p:cBhvr>
                                    </p:animEffect>
                                    <p:anim calcmode="lin" valueType="num">
                                      <p:cBhvr additive="base">
                                        <p:cTn id="40" dur="380" fill="hold"/>
                                        <p:tgtEl>
                                          <p:spTgt spid="9"/>
                                        </p:tgtEl>
                                        <p:attrNameLst>
                                          <p:attrName>ppt_y</p:attrName>
                                        </p:attrNameLst>
                                      </p:cBhvr>
                                      <p:tavLst>
                                        <p:tav tm="0">
                                          <p:val>
                                            <p:strVal val="#ppt_y+0.03"/>
                                          </p:val>
                                        </p:tav>
                                        <p:tav tm="100000">
                                          <p:val>
                                            <p:strVal val="#ppt_y"/>
                                          </p:val>
                                        </p:tav>
                                      </p:tavLst>
                                    </p:anim>
                                  </p:childTnLst>
                                </p:cTn>
                              </p:par>
                              <p:par>
                                <p:cTn id="41" presetID="42" presetClass="entr" presetSubtype="0" fill="hold" grpId="0" nodeType="afterEffect">
                                  <p:stCondLst>
                                    <p:cond delay="81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380"/>
                                        <p:tgtEl>
                                          <p:spTgt spid="10"/>
                                        </p:tgtEl>
                                      </p:cBhvr>
                                    </p:animEffect>
                                    <p:anim calcmode="lin" valueType="num">
                                      <p:cBhvr additive="base">
                                        <p:cTn id="44" dur="380" fill="hold"/>
                                        <p:tgtEl>
                                          <p:spTgt spid="10"/>
                                        </p:tgtEl>
                                        <p:attrNameLst>
                                          <p:attrName>ppt_y</p:attrName>
                                        </p:attrNameLst>
                                      </p:cBhvr>
                                      <p:tavLst>
                                        <p:tav tm="0">
                                          <p:val>
                                            <p:strVal val="#ppt_y+0.03"/>
                                          </p:val>
                                        </p:tav>
                                        <p:tav tm="100000">
                                          <p:val>
                                            <p:strVal val="#ppt_y"/>
                                          </p:val>
                                        </p:tav>
                                      </p:tavLst>
                                    </p:anim>
                                  </p:childTnLst>
                                </p:cTn>
                              </p:par>
                              <p:par>
                                <p:cTn id="45" presetID="42" presetClass="entr" presetSubtype="0" fill="hold" grpId="0" nodeType="afterEffect">
                                  <p:stCondLst>
                                    <p:cond delay="90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380"/>
                                        <p:tgtEl>
                                          <p:spTgt spid="11"/>
                                        </p:tgtEl>
                                      </p:cBhvr>
                                    </p:animEffect>
                                    <p:anim calcmode="lin" valueType="num">
                                      <p:cBhvr additive="base">
                                        <p:cTn id="48" dur="380" fill="hold"/>
                                        <p:tgtEl>
                                          <p:spTgt spid="11"/>
                                        </p:tgtEl>
                                        <p:attrNameLst>
                                          <p:attrName>ppt_y</p:attrName>
                                        </p:attrNameLst>
                                      </p:cBhvr>
                                      <p:tavLst>
                                        <p:tav tm="0">
                                          <p:val>
                                            <p:strVal val="#ppt_y+0.03"/>
                                          </p:val>
                                        </p:tav>
                                        <p:tav tm="100000">
                                          <p:val>
                                            <p:strVal val="#ppt_y"/>
                                          </p:val>
                                        </p:tav>
                                      </p:tavLst>
                                    </p:anim>
                                  </p:childTnLst>
                                </p:cTn>
                              </p:par>
                              <p:par>
                                <p:cTn id="49" presetID="42" presetClass="entr" presetSubtype="0" fill="hold" grpId="0" nodeType="afterEffect">
                                  <p:stCondLst>
                                    <p:cond delay="990"/>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380"/>
                                        <p:tgtEl>
                                          <p:spTgt spid="12"/>
                                        </p:tgtEl>
                                      </p:cBhvr>
                                    </p:animEffect>
                                    <p:anim calcmode="lin" valueType="num">
                                      <p:cBhvr additive="base">
                                        <p:cTn id="52" dur="380" fill="hold"/>
                                        <p:tgtEl>
                                          <p:spTgt spid="12"/>
                                        </p:tgtEl>
                                        <p:attrNameLst>
                                          <p:attrName>ppt_y</p:attrName>
                                        </p:attrNameLst>
                                      </p:cBhvr>
                                      <p:tavLst>
                                        <p:tav tm="0">
                                          <p:val>
                                            <p:strVal val="#ppt_y+0.03"/>
                                          </p:val>
                                        </p:tav>
                                        <p:tav tm="100000">
                                          <p:val>
                                            <p:strVal val="#ppt_y"/>
                                          </p:val>
                                        </p:tav>
                                      </p:tavLst>
                                    </p:anim>
                                  </p:childTnLst>
                                </p:cTn>
                              </p:par>
                              <p:par>
                                <p:cTn id="53" presetID="42" presetClass="entr" presetSubtype="0" fill="hold" grpId="0" nodeType="afterEffect">
                                  <p:stCondLst>
                                    <p:cond delay="1080"/>
                                  </p:stCondLst>
                                  <p:childTnLst>
                                    <p:set>
                                      <p:cBhvr>
                                        <p:cTn id="54" dur="1" fill="hold">
                                          <p:stCondLst>
                                            <p:cond delay="0"/>
                                          </p:stCondLst>
                                        </p:cTn>
                                        <p:tgtEl>
                                          <p:spTgt spid="13"/>
                                        </p:tgtEl>
                                        <p:attrNameLst>
                                          <p:attrName>style.visibility</p:attrName>
                                        </p:attrNameLst>
                                      </p:cBhvr>
                                      <p:to>
                                        <p:strVal val="visible"/>
                                      </p:to>
                                    </p:set>
                                    <p:animEffect transition="in" filter="fade">
                                      <p:cBhvr>
                                        <p:cTn id="55" dur="380"/>
                                        <p:tgtEl>
                                          <p:spTgt spid="13"/>
                                        </p:tgtEl>
                                      </p:cBhvr>
                                    </p:animEffect>
                                    <p:anim calcmode="lin" valueType="num">
                                      <p:cBhvr additive="base">
                                        <p:cTn id="56" dur="380" fill="hold"/>
                                        <p:tgtEl>
                                          <p:spTgt spid="13"/>
                                        </p:tgtEl>
                                        <p:attrNameLst>
                                          <p:attrName>ppt_y</p:attrName>
                                        </p:attrNameLst>
                                      </p:cBhvr>
                                      <p:tavLst>
                                        <p:tav tm="0">
                                          <p:val>
                                            <p:strVal val="#ppt_y+0.03"/>
                                          </p:val>
                                        </p:tav>
                                        <p:tav tm="100000">
                                          <p:val>
                                            <p:strVal val="#ppt_y"/>
                                          </p:val>
                                        </p:tav>
                                      </p:tavLst>
                                    </p:anim>
                                  </p:childTnLst>
                                </p:cTn>
                              </p:par>
                              <p:par>
                                <p:cTn id="57" presetID="42" presetClass="entr" presetSubtype="0" fill="hold" grpId="0" nodeType="afterEffect">
                                  <p:stCondLst>
                                    <p:cond delay="1170"/>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380"/>
                                        <p:tgtEl>
                                          <p:spTgt spid="14"/>
                                        </p:tgtEl>
                                      </p:cBhvr>
                                    </p:animEffect>
                                    <p:anim calcmode="lin" valueType="num">
                                      <p:cBhvr additive="base">
                                        <p:cTn id="60" dur="380" fill="hold"/>
                                        <p:tgtEl>
                                          <p:spTgt spid="14"/>
                                        </p:tgtEl>
                                        <p:attrNameLst>
                                          <p:attrName>ppt_y</p:attrName>
                                        </p:attrNameLst>
                                      </p:cBhvr>
                                      <p:tavLst>
                                        <p:tav tm="0">
                                          <p:val>
                                            <p:strVal val="#ppt_y+0.03"/>
                                          </p:val>
                                        </p:tav>
                                        <p:tav tm="100000">
                                          <p:val>
                                            <p:strVal val="#ppt_y"/>
                                          </p:val>
                                        </p:tav>
                                      </p:tavLst>
                                    </p:anim>
                                  </p:childTnLst>
                                </p:cTn>
                              </p:par>
                              <p:par>
                                <p:cTn id="61" presetID="42" presetClass="entr" presetSubtype="0" fill="hold" grpId="0" nodeType="afterEffect">
                                  <p:stCondLst>
                                    <p:cond delay="126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380"/>
                                        <p:tgtEl>
                                          <p:spTgt spid="15"/>
                                        </p:tgtEl>
                                      </p:cBhvr>
                                    </p:animEffect>
                                    <p:anim calcmode="lin" valueType="num">
                                      <p:cBhvr additive="base">
                                        <p:cTn id="64" dur="380" fill="hold"/>
                                        <p:tgtEl>
                                          <p:spTgt spid="15"/>
                                        </p:tgtEl>
                                        <p:attrNameLst>
                                          <p:attrName>ppt_y</p:attrName>
                                        </p:attrNameLst>
                                      </p:cBhvr>
                                      <p:tavLst>
                                        <p:tav tm="0">
                                          <p:val>
                                            <p:strVal val="#ppt_y+0.03"/>
                                          </p:val>
                                        </p:tav>
                                        <p:tav tm="100000">
                                          <p:val>
                                            <p:strVal val="#ppt_y"/>
                                          </p:val>
                                        </p:tav>
                                      </p:tavLst>
                                    </p:anim>
                                  </p:childTnLst>
                                </p:cTn>
                              </p:par>
                              <p:par>
                                <p:cTn id="65" presetID="42" presetClass="entr" presetSubtype="0" fill="hold" grpId="0" nodeType="afterEffect">
                                  <p:stCondLst>
                                    <p:cond delay="135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380"/>
                                        <p:tgtEl>
                                          <p:spTgt spid="16"/>
                                        </p:tgtEl>
                                      </p:cBhvr>
                                    </p:animEffect>
                                    <p:anim calcmode="lin" valueType="num">
                                      <p:cBhvr additive="base">
                                        <p:cTn id="68" dur="380" fill="hold"/>
                                        <p:tgtEl>
                                          <p:spTgt spid="16"/>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 grpId="0"/>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37744"/>
          </a:xfrm>
          <a:prstGeom prst="rect">
            <a:avLst/>
          </a:prstGeom>
          <a:noFill/>
          <a:ln/>
        </p:spPr>
        <p:txBody>
          <a:bodyPr wrap="square" lIns="0" tIns="0" rIns="0" bIns="0" rtlCol="0" anchor="ctr"/>
          <a:lstStyle/>
          <a:p>
            <a:pPr indent="0" marL="0">
              <a:buNone/>
            </a:pPr>
            <a:r>
              <a:rPr lang="en-US" sz="1050" b="1" spc="200" kern="0" dirty="0">
                <a:solidFill>
                  <a:srgbClr val="00C39A"/>
                </a:solidFill>
                <a:latin typeface="Calibri" pitchFamily="34" charset="0"/>
                <a:ea typeface="Calibri" pitchFamily="34" charset="-122"/>
                <a:cs typeface="Calibri" pitchFamily="34" charset="-120"/>
              </a:rPr>
              <a:t>THE PROBLEM</a:t>
            </a:r>
            <a:endParaRPr lang="en-US" sz="1050" dirty="0"/>
          </a:p>
        </p:txBody>
      </p:sp>
      <p:sp>
        <p:nvSpPr>
          <p:cNvPr id="3" name="Text 1"/>
          <p:cNvSpPr/>
          <p:nvPr/>
        </p:nvSpPr>
        <p:spPr>
          <a:xfrm>
            <a:off x="548640" y="658368"/>
            <a:ext cx="11064240" cy="658368"/>
          </a:xfrm>
          <a:prstGeom prst="rect">
            <a:avLst/>
          </a:prstGeom>
          <a:noFill/>
          <a:ln/>
        </p:spPr>
        <p:txBody>
          <a:bodyPr wrap="square" lIns="0" tIns="0" rIns="0" bIns="0" rtlCol="0" anchor="t"/>
          <a:lstStyle/>
          <a:p>
            <a:pPr indent="0" marL="0">
              <a:buNone/>
            </a:pPr>
            <a:r>
              <a:rPr lang="en-US" sz="3400" b="1" dirty="0">
                <a:solidFill>
                  <a:srgbClr val="141B3D"/>
                </a:solidFill>
                <a:latin typeface="Cambria" pitchFamily="34" charset="0"/>
                <a:ea typeface="Cambria" pitchFamily="34" charset="-122"/>
                <a:cs typeface="Cambria" pitchFamily="34" charset="-120"/>
              </a:rPr>
              <a:t>The lab workflow today</a:t>
            </a:r>
            <a:endParaRPr lang="en-US" sz="3400" dirty="0"/>
          </a:p>
        </p:txBody>
      </p:sp>
      <p:sp>
        <p:nvSpPr>
          <p:cNvPr id="4" name="Text 2"/>
          <p:cNvSpPr/>
          <p:nvPr/>
        </p:nvSpPr>
        <p:spPr>
          <a:xfrm>
            <a:off x="548640" y="1371600"/>
            <a:ext cx="10424160" cy="329184"/>
          </a:xfrm>
          <a:prstGeom prst="rect">
            <a:avLst/>
          </a:prstGeom>
          <a:noFill/>
          <a:ln/>
        </p:spPr>
        <p:txBody>
          <a:bodyPr wrap="square" lIns="0" tIns="0" rIns="0" bIns="0" rtlCol="0" anchor="ctr"/>
          <a:lstStyle/>
          <a:p>
            <a:pPr indent="0" marL="0">
              <a:buNone/>
            </a:pPr>
            <a:r>
              <a:rPr lang="en-US" sz="1400" dirty="0">
                <a:solidFill>
                  <a:srgbClr val="646E8C"/>
                </a:solidFill>
                <a:latin typeface="Calibri" pitchFamily="34" charset="0"/>
                <a:ea typeface="Calibri" pitchFamily="34" charset="-122"/>
                <a:cs typeface="Calibri" pitchFamily="34" charset="-120"/>
              </a:rPr>
              <a:t>Every lab session needs tasks issued, code verified and marks recorded. Today that work is split across email, pen drives and spreadsheets.</a:t>
            </a:r>
            <a:endParaRPr lang="en-US" sz="1400" dirty="0"/>
          </a:p>
        </p:txBody>
      </p:sp>
      <p:sp>
        <p:nvSpPr>
          <p:cNvPr id="5" name="Shape 3"/>
          <p:cNvSpPr/>
          <p:nvPr/>
        </p:nvSpPr>
        <p:spPr>
          <a:xfrm>
            <a:off x="548640" y="1956816"/>
            <a:ext cx="3529584" cy="1773936"/>
          </a:xfrm>
          <a:prstGeom prst="roundRect">
            <a:avLst>
              <a:gd name="adj" fmla="val 4639"/>
            </a:avLst>
          </a:prstGeom>
          <a:solidFill>
            <a:srgbClr val="F4F6FC"/>
          </a:solidFill>
          <a:ln w="9525">
            <a:solidFill>
              <a:srgbClr val="DDE3F5"/>
            </a:solidFill>
            <a:prstDash val="solid"/>
          </a:ln>
          <a:effectLst>
            <a:outerShdw sx="100000" sy="100000" kx="0" ky="0" algn="bl" rotWithShape="0" blurRad="177800" dist="38100" dir="5400000">
              <a:srgbClr val="1E2761">
                <a:alpha val="10000"/>
              </a:srgbClr>
            </a:outerShdw>
          </a:effectLst>
        </p:spPr>
      </p:sp>
      <p:sp>
        <p:nvSpPr>
          <p:cNvPr id="6" name="Shape 4"/>
          <p:cNvSpPr/>
          <p:nvPr/>
        </p:nvSpPr>
        <p:spPr>
          <a:xfrm>
            <a:off x="804672" y="2194560"/>
            <a:ext cx="566928" cy="566928"/>
          </a:xfrm>
          <a:prstGeom prst="ellipse">
            <a:avLst/>
          </a:prstGeom>
          <a:solidFill>
            <a:srgbClr val="1E2761"/>
          </a:solidFill>
          <a:ln w="12700">
            <a:solidFill>
              <a:srgbClr val="1E2761"/>
            </a:solidFill>
            <a:prstDash val="solid"/>
          </a:ln>
        </p:spPr>
      </p:sp>
      <p:pic>
        <p:nvPicPr>
          <p:cNvPr id="7" name="Image 0" descr="preencoded.png">    </p:cNvPr>
          <p:cNvPicPr>
            <a:picLocks noChangeAspect="1"/>
          </p:cNvPicPr>
          <p:nvPr/>
        </p:nvPicPr>
        <p:blipFill>
          <a:blip r:embed="rId1"/>
          <a:stretch>
            <a:fillRect/>
          </a:stretch>
        </p:blipFill>
        <p:spPr>
          <a:xfrm>
            <a:off x="969081" y="2358969"/>
            <a:ext cx="238110" cy="238110"/>
          </a:xfrm>
          <a:prstGeom prst="rect">
            <a:avLst/>
          </a:prstGeom>
        </p:spPr>
      </p:pic>
      <p:sp>
        <p:nvSpPr>
          <p:cNvPr id="8" name="Text 5"/>
          <p:cNvSpPr/>
          <p:nvPr/>
        </p:nvSpPr>
        <p:spPr>
          <a:xfrm>
            <a:off x="1481328" y="2231136"/>
            <a:ext cx="2340864" cy="329184"/>
          </a:xfrm>
          <a:prstGeom prst="rect">
            <a:avLst/>
          </a:prstGeom>
          <a:noFill/>
          <a:ln/>
        </p:spPr>
        <p:txBody>
          <a:bodyPr wrap="square" lIns="0" tIns="0" rIns="0" bIns="0" rtlCol="0" anchor="ctr"/>
          <a:lstStyle/>
          <a:p>
            <a:pPr indent="0" marL="0">
              <a:buNone/>
            </a:pPr>
            <a:r>
              <a:rPr lang="en-US" sz="1450" b="1" dirty="0">
                <a:solidFill>
                  <a:srgbClr val="141B3D"/>
                </a:solidFill>
                <a:latin typeface="Calibri" pitchFamily="34" charset="0"/>
                <a:ea typeface="Calibri" pitchFamily="34" charset="-122"/>
                <a:cs typeface="Calibri" pitchFamily="34" charset="-120"/>
              </a:rPr>
              <a:t>Fragmented submission</a:t>
            </a:r>
            <a:endParaRPr lang="en-US" sz="1450" dirty="0"/>
          </a:p>
        </p:txBody>
      </p:sp>
      <p:sp>
        <p:nvSpPr>
          <p:cNvPr id="9" name="Text 6"/>
          <p:cNvSpPr/>
          <p:nvPr/>
        </p:nvSpPr>
        <p:spPr>
          <a:xfrm>
            <a:off x="804672" y="2798064"/>
            <a:ext cx="3017520" cy="749808"/>
          </a:xfrm>
          <a:prstGeom prst="rect">
            <a:avLst/>
          </a:prstGeom>
          <a:noFill/>
          <a:ln/>
        </p:spPr>
        <p:txBody>
          <a:bodyPr wrap="square" lIns="0" tIns="0" rIns="0" bIns="0" rtlCol="0" anchor="t"/>
          <a:lstStyle/>
          <a:p>
            <a:pPr indent="0" marL="0">
              <a:lnSpc>
                <a:spcPts val="1500"/>
              </a:lnSpc>
              <a:buNone/>
            </a:pPr>
            <a:r>
              <a:rPr lang="en-US" sz="1150" dirty="0">
                <a:solidFill>
                  <a:srgbClr val="646E8C"/>
                </a:solidFill>
                <a:latin typeface="Calibri" pitchFamily="34" charset="0"/>
                <a:ea typeface="Calibri" pitchFamily="34" charset="-122"/>
                <a:cs typeface="Calibri" pitchFamily="34" charset="-120"/>
              </a:rPr>
              <a:t>No central system for issuing tasks or collecting work — email and pen-drive handoffs.</a:t>
            </a:r>
            <a:endParaRPr lang="en-US" sz="1150" dirty="0"/>
          </a:p>
        </p:txBody>
      </p:sp>
      <p:sp>
        <p:nvSpPr>
          <p:cNvPr id="10" name="Shape 7"/>
          <p:cNvSpPr/>
          <p:nvPr/>
        </p:nvSpPr>
        <p:spPr>
          <a:xfrm>
            <a:off x="4425696" y="1956816"/>
            <a:ext cx="3529584" cy="1773936"/>
          </a:xfrm>
          <a:prstGeom prst="roundRect">
            <a:avLst>
              <a:gd name="adj" fmla="val 4639"/>
            </a:avLst>
          </a:prstGeom>
          <a:solidFill>
            <a:srgbClr val="F4F6FC"/>
          </a:solidFill>
          <a:ln w="9525">
            <a:solidFill>
              <a:srgbClr val="DDE3F5"/>
            </a:solidFill>
            <a:prstDash val="solid"/>
          </a:ln>
          <a:effectLst>
            <a:outerShdw sx="100000" sy="100000" kx="0" ky="0" algn="bl" rotWithShape="0" blurRad="177800" dist="38100" dir="5400000">
              <a:srgbClr val="1E2761">
                <a:alpha val="10000"/>
              </a:srgbClr>
            </a:outerShdw>
          </a:effectLst>
        </p:spPr>
      </p:sp>
      <p:sp>
        <p:nvSpPr>
          <p:cNvPr id="11" name="Shape 8"/>
          <p:cNvSpPr/>
          <p:nvPr/>
        </p:nvSpPr>
        <p:spPr>
          <a:xfrm>
            <a:off x="4681728" y="2194560"/>
            <a:ext cx="566928" cy="566928"/>
          </a:xfrm>
          <a:prstGeom prst="ellipse">
            <a:avLst/>
          </a:prstGeom>
          <a:solidFill>
            <a:srgbClr val="1E2761"/>
          </a:solidFill>
          <a:ln w="12700">
            <a:solidFill>
              <a:srgbClr val="1E2761"/>
            </a:solidFill>
            <a:prstDash val="solid"/>
          </a:ln>
        </p:spPr>
      </p:sp>
      <p:pic>
        <p:nvPicPr>
          <p:cNvPr id="12" name="Image 1" descr="preencoded.png">    </p:cNvPr>
          <p:cNvPicPr>
            <a:picLocks noChangeAspect="1"/>
          </p:cNvPicPr>
          <p:nvPr/>
        </p:nvPicPr>
        <p:blipFill>
          <a:blip r:embed="rId2"/>
          <a:stretch>
            <a:fillRect/>
          </a:stretch>
        </p:blipFill>
        <p:spPr>
          <a:xfrm>
            <a:off x="4846137" y="2358969"/>
            <a:ext cx="238110" cy="238110"/>
          </a:xfrm>
          <a:prstGeom prst="rect">
            <a:avLst/>
          </a:prstGeom>
        </p:spPr>
      </p:pic>
      <p:sp>
        <p:nvSpPr>
          <p:cNvPr id="13" name="Text 9"/>
          <p:cNvSpPr/>
          <p:nvPr/>
        </p:nvSpPr>
        <p:spPr>
          <a:xfrm>
            <a:off x="5358384" y="2231136"/>
            <a:ext cx="2340864" cy="329184"/>
          </a:xfrm>
          <a:prstGeom prst="rect">
            <a:avLst/>
          </a:prstGeom>
          <a:noFill/>
          <a:ln/>
        </p:spPr>
        <p:txBody>
          <a:bodyPr wrap="square" lIns="0" tIns="0" rIns="0" bIns="0" rtlCol="0" anchor="ctr"/>
          <a:lstStyle/>
          <a:p>
            <a:pPr indent="0" marL="0">
              <a:buNone/>
            </a:pPr>
            <a:r>
              <a:rPr lang="en-US" sz="1450" b="1" dirty="0">
                <a:solidFill>
                  <a:srgbClr val="141B3D"/>
                </a:solidFill>
                <a:latin typeface="Calibri" pitchFamily="34" charset="0"/>
                <a:ea typeface="Calibri" pitchFamily="34" charset="-122"/>
                <a:cs typeface="Calibri" pitchFamily="34" charset="-120"/>
              </a:rPr>
              <a:t>No registration control</a:t>
            </a:r>
            <a:endParaRPr lang="en-US" sz="1450" dirty="0"/>
          </a:p>
        </p:txBody>
      </p:sp>
      <p:sp>
        <p:nvSpPr>
          <p:cNvPr id="14" name="Text 10"/>
          <p:cNvSpPr/>
          <p:nvPr/>
        </p:nvSpPr>
        <p:spPr>
          <a:xfrm>
            <a:off x="4681728" y="2798064"/>
            <a:ext cx="3017520" cy="749808"/>
          </a:xfrm>
          <a:prstGeom prst="rect">
            <a:avLst/>
          </a:prstGeom>
          <a:noFill/>
          <a:ln/>
        </p:spPr>
        <p:txBody>
          <a:bodyPr wrap="square" lIns="0" tIns="0" rIns="0" bIns="0" rtlCol="0" anchor="t"/>
          <a:lstStyle/>
          <a:p>
            <a:pPr indent="0" marL="0">
              <a:lnSpc>
                <a:spcPts val="1500"/>
              </a:lnSpc>
              <a:buNone/>
            </a:pPr>
            <a:r>
              <a:rPr lang="en-US" sz="1150" dirty="0">
                <a:solidFill>
                  <a:srgbClr val="646E8C"/>
                </a:solidFill>
                <a:latin typeface="Calibri" pitchFamily="34" charset="0"/>
                <a:ea typeface="Calibri" pitchFamily="34" charset="-122"/>
                <a:cs typeface="Calibri" pitchFamily="34" charset="-120"/>
              </a:rPr>
              <a:t>Authorised roll-number ranges are not enforced, leaving room for duplicate accounts.</a:t>
            </a:r>
            <a:endParaRPr lang="en-US" sz="1150" dirty="0"/>
          </a:p>
        </p:txBody>
      </p:sp>
      <p:sp>
        <p:nvSpPr>
          <p:cNvPr id="15" name="Shape 11"/>
          <p:cNvSpPr/>
          <p:nvPr/>
        </p:nvSpPr>
        <p:spPr>
          <a:xfrm>
            <a:off x="8302752" y="1956816"/>
            <a:ext cx="3529584" cy="1773936"/>
          </a:xfrm>
          <a:prstGeom prst="roundRect">
            <a:avLst>
              <a:gd name="adj" fmla="val 4639"/>
            </a:avLst>
          </a:prstGeom>
          <a:solidFill>
            <a:srgbClr val="F4F6FC"/>
          </a:solidFill>
          <a:ln w="9525">
            <a:solidFill>
              <a:srgbClr val="DDE3F5"/>
            </a:solidFill>
            <a:prstDash val="solid"/>
          </a:ln>
          <a:effectLst>
            <a:outerShdw sx="100000" sy="100000" kx="0" ky="0" algn="bl" rotWithShape="0" blurRad="177800" dist="38100" dir="5400000">
              <a:srgbClr val="1E2761">
                <a:alpha val="10000"/>
              </a:srgbClr>
            </a:outerShdw>
          </a:effectLst>
        </p:spPr>
      </p:sp>
      <p:sp>
        <p:nvSpPr>
          <p:cNvPr id="16" name="Shape 12"/>
          <p:cNvSpPr/>
          <p:nvPr/>
        </p:nvSpPr>
        <p:spPr>
          <a:xfrm>
            <a:off x="8558784" y="2194560"/>
            <a:ext cx="566928" cy="566928"/>
          </a:xfrm>
          <a:prstGeom prst="ellipse">
            <a:avLst/>
          </a:prstGeom>
          <a:solidFill>
            <a:srgbClr val="1E2761"/>
          </a:solidFill>
          <a:ln w="12700">
            <a:solidFill>
              <a:srgbClr val="1E2761"/>
            </a:solidFill>
            <a:prstDash val="solid"/>
          </a:ln>
        </p:spPr>
      </p:sp>
      <p:pic>
        <p:nvPicPr>
          <p:cNvPr id="17" name="Image 2" descr="preencoded.png">    </p:cNvPr>
          <p:cNvPicPr>
            <a:picLocks noChangeAspect="1"/>
          </p:cNvPicPr>
          <p:nvPr/>
        </p:nvPicPr>
        <p:blipFill>
          <a:blip r:embed="rId3"/>
          <a:stretch>
            <a:fillRect/>
          </a:stretch>
        </p:blipFill>
        <p:spPr>
          <a:xfrm>
            <a:off x="8723193" y="2358969"/>
            <a:ext cx="238110" cy="238110"/>
          </a:xfrm>
          <a:prstGeom prst="rect">
            <a:avLst/>
          </a:prstGeom>
        </p:spPr>
      </p:pic>
      <p:sp>
        <p:nvSpPr>
          <p:cNvPr id="18" name="Text 13"/>
          <p:cNvSpPr/>
          <p:nvPr/>
        </p:nvSpPr>
        <p:spPr>
          <a:xfrm>
            <a:off x="9235440" y="2231136"/>
            <a:ext cx="2340864" cy="329184"/>
          </a:xfrm>
          <a:prstGeom prst="rect">
            <a:avLst/>
          </a:prstGeom>
          <a:noFill/>
          <a:ln/>
        </p:spPr>
        <p:txBody>
          <a:bodyPr wrap="square" lIns="0" tIns="0" rIns="0" bIns="0" rtlCol="0" anchor="ctr"/>
          <a:lstStyle/>
          <a:p>
            <a:pPr indent="0" marL="0">
              <a:buNone/>
            </a:pPr>
            <a:r>
              <a:rPr lang="en-US" sz="1450" b="1" dirty="0">
                <a:solidFill>
                  <a:srgbClr val="141B3D"/>
                </a:solidFill>
                <a:latin typeface="Calibri" pitchFamily="34" charset="0"/>
                <a:ea typeface="Calibri" pitchFamily="34" charset="-122"/>
                <a:cs typeface="Calibri" pitchFamily="34" charset="-120"/>
              </a:rPr>
              <a:t>No built-in execution</a:t>
            </a:r>
            <a:endParaRPr lang="en-US" sz="1450" dirty="0"/>
          </a:p>
        </p:txBody>
      </p:sp>
      <p:sp>
        <p:nvSpPr>
          <p:cNvPr id="19" name="Text 14"/>
          <p:cNvSpPr/>
          <p:nvPr/>
        </p:nvSpPr>
        <p:spPr>
          <a:xfrm>
            <a:off x="8558784" y="2798064"/>
            <a:ext cx="3017520" cy="749808"/>
          </a:xfrm>
          <a:prstGeom prst="rect">
            <a:avLst/>
          </a:prstGeom>
          <a:noFill/>
          <a:ln/>
        </p:spPr>
        <p:txBody>
          <a:bodyPr wrap="square" lIns="0" tIns="0" rIns="0" bIns="0" rtlCol="0" anchor="t"/>
          <a:lstStyle/>
          <a:p>
            <a:pPr indent="0" marL="0">
              <a:lnSpc>
                <a:spcPts val="1500"/>
              </a:lnSpc>
              <a:buNone/>
            </a:pPr>
            <a:r>
              <a:rPr lang="en-US" sz="1150" dirty="0">
                <a:solidFill>
                  <a:srgbClr val="646E8C"/>
                </a:solidFill>
                <a:latin typeface="Calibri" pitchFamily="34" charset="0"/>
                <a:ea typeface="Calibri" pitchFamily="34" charset="-122"/>
                <a:cs typeface="Calibri" pitchFamily="34" charset="-120"/>
              </a:rPr>
              <a:t>Faculty compile and run every submission manually on their own machine.</a:t>
            </a:r>
            <a:endParaRPr lang="en-US" sz="1150" dirty="0"/>
          </a:p>
        </p:txBody>
      </p:sp>
      <p:sp>
        <p:nvSpPr>
          <p:cNvPr id="20" name="Shape 15"/>
          <p:cNvSpPr/>
          <p:nvPr/>
        </p:nvSpPr>
        <p:spPr>
          <a:xfrm>
            <a:off x="548640" y="4023360"/>
            <a:ext cx="3529584" cy="1773936"/>
          </a:xfrm>
          <a:prstGeom prst="roundRect">
            <a:avLst>
              <a:gd name="adj" fmla="val 4639"/>
            </a:avLst>
          </a:prstGeom>
          <a:solidFill>
            <a:srgbClr val="F4F6FC"/>
          </a:solidFill>
          <a:ln w="9525">
            <a:solidFill>
              <a:srgbClr val="DDE3F5"/>
            </a:solidFill>
            <a:prstDash val="solid"/>
          </a:ln>
          <a:effectLst>
            <a:outerShdw sx="100000" sy="100000" kx="0" ky="0" algn="bl" rotWithShape="0" blurRad="177800" dist="38100" dir="5400000">
              <a:srgbClr val="1E2761">
                <a:alpha val="10000"/>
              </a:srgbClr>
            </a:outerShdw>
          </a:effectLst>
        </p:spPr>
      </p:sp>
      <p:sp>
        <p:nvSpPr>
          <p:cNvPr id="21" name="Shape 16"/>
          <p:cNvSpPr/>
          <p:nvPr/>
        </p:nvSpPr>
        <p:spPr>
          <a:xfrm>
            <a:off x="804672" y="4261104"/>
            <a:ext cx="566928" cy="566928"/>
          </a:xfrm>
          <a:prstGeom prst="ellipse">
            <a:avLst/>
          </a:prstGeom>
          <a:solidFill>
            <a:srgbClr val="1E2761"/>
          </a:solidFill>
          <a:ln w="12700">
            <a:solidFill>
              <a:srgbClr val="1E2761"/>
            </a:solidFill>
            <a:prstDash val="solid"/>
          </a:ln>
        </p:spPr>
      </p:sp>
      <p:pic>
        <p:nvPicPr>
          <p:cNvPr id="22" name="Image 3" descr="preencoded.png">    </p:cNvPr>
          <p:cNvPicPr>
            <a:picLocks noChangeAspect="1"/>
          </p:cNvPicPr>
          <p:nvPr/>
        </p:nvPicPr>
        <p:blipFill>
          <a:blip r:embed="rId4"/>
          <a:stretch>
            <a:fillRect/>
          </a:stretch>
        </p:blipFill>
        <p:spPr>
          <a:xfrm>
            <a:off x="969081" y="4425513"/>
            <a:ext cx="238110" cy="238110"/>
          </a:xfrm>
          <a:prstGeom prst="rect">
            <a:avLst/>
          </a:prstGeom>
        </p:spPr>
      </p:pic>
      <p:sp>
        <p:nvSpPr>
          <p:cNvPr id="23" name="Text 17"/>
          <p:cNvSpPr/>
          <p:nvPr/>
        </p:nvSpPr>
        <p:spPr>
          <a:xfrm>
            <a:off x="1481328" y="4297680"/>
            <a:ext cx="2340864" cy="329184"/>
          </a:xfrm>
          <a:prstGeom prst="rect">
            <a:avLst/>
          </a:prstGeom>
          <a:noFill/>
          <a:ln/>
        </p:spPr>
        <p:txBody>
          <a:bodyPr wrap="square" lIns="0" tIns="0" rIns="0" bIns="0" rtlCol="0" anchor="ctr"/>
          <a:lstStyle/>
          <a:p>
            <a:pPr indent="0" marL="0">
              <a:buNone/>
            </a:pPr>
            <a:r>
              <a:rPr lang="en-US" sz="1450" b="1" dirty="0">
                <a:solidFill>
                  <a:srgbClr val="141B3D"/>
                </a:solidFill>
                <a:latin typeface="Calibri" pitchFamily="34" charset="0"/>
                <a:ea typeface="Calibri" pitchFamily="34" charset="-122"/>
                <a:cs typeface="Calibri" pitchFamily="34" charset="-120"/>
              </a:rPr>
              <a:t>No anti-cheat protection</a:t>
            </a:r>
            <a:endParaRPr lang="en-US" sz="1450" dirty="0"/>
          </a:p>
        </p:txBody>
      </p:sp>
      <p:sp>
        <p:nvSpPr>
          <p:cNvPr id="24" name="Text 18"/>
          <p:cNvSpPr/>
          <p:nvPr/>
        </p:nvSpPr>
        <p:spPr>
          <a:xfrm>
            <a:off x="804672" y="4864608"/>
            <a:ext cx="3017520" cy="749808"/>
          </a:xfrm>
          <a:prstGeom prst="rect">
            <a:avLst/>
          </a:prstGeom>
          <a:noFill/>
          <a:ln/>
        </p:spPr>
        <p:txBody>
          <a:bodyPr wrap="square" lIns="0" tIns="0" rIns="0" bIns="0" rtlCol="0" anchor="t"/>
          <a:lstStyle/>
          <a:p>
            <a:pPr indent="0" marL="0">
              <a:lnSpc>
                <a:spcPts val="1500"/>
              </a:lnSpc>
              <a:buNone/>
            </a:pPr>
            <a:r>
              <a:rPr lang="en-US" sz="1150" dirty="0">
                <a:solidFill>
                  <a:srgbClr val="646E8C"/>
                </a:solidFill>
                <a:latin typeface="Calibri" pitchFamily="34" charset="0"/>
                <a:ea typeface="Calibri" pitchFamily="34" charset="-122"/>
                <a:cs typeface="Calibri" pitchFamily="34" charset="-120"/>
              </a:rPr>
              <a:t>Nothing prevents copy-paste or external code reuse during a timed assessment.</a:t>
            </a:r>
            <a:endParaRPr lang="en-US" sz="1150" dirty="0"/>
          </a:p>
        </p:txBody>
      </p:sp>
      <p:sp>
        <p:nvSpPr>
          <p:cNvPr id="25" name="Shape 19"/>
          <p:cNvSpPr/>
          <p:nvPr/>
        </p:nvSpPr>
        <p:spPr>
          <a:xfrm>
            <a:off x="4425696" y="4023360"/>
            <a:ext cx="3529584" cy="1773936"/>
          </a:xfrm>
          <a:prstGeom prst="roundRect">
            <a:avLst>
              <a:gd name="adj" fmla="val 4639"/>
            </a:avLst>
          </a:prstGeom>
          <a:solidFill>
            <a:srgbClr val="F4F6FC"/>
          </a:solidFill>
          <a:ln w="9525">
            <a:solidFill>
              <a:srgbClr val="DDE3F5"/>
            </a:solidFill>
            <a:prstDash val="solid"/>
          </a:ln>
          <a:effectLst>
            <a:outerShdw sx="100000" sy="100000" kx="0" ky="0" algn="bl" rotWithShape="0" blurRad="177800" dist="38100" dir="5400000">
              <a:srgbClr val="1E2761">
                <a:alpha val="10000"/>
              </a:srgbClr>
            </a:outerShdw>
          </a:effectLst>
        </p:spPr>
      </p:sp>
      <p:sp>
        <p:nvSpPr>
          <p:cNvPr id="26" name="Shape 20"/>
          <p:cNvSpPr/>
          <p:nvPr/>
        </p:nvSpPr>
        <p:spPr>
          <a:xfrm>
            <a:off x="4681728" y="4261104"/>
            <a:ext cx="566928" cy="566928"/>
          </a:xfrm>
          <a:prstGeom prst="ellipse">
            <a:avLst/>
          </a:prstGeom>
          <a:solidFill>
            <a:srgbClr val="1E2761"/>
          </a:solidFill>
          <a:ln w="12700">
            <a:solidFill>
              <a:srgbClr val="1E2761"/>
            </a:solidFill>
            <a:prstDash val="solid"/>
          </a:ln>
        </p:spPr>
      </p:sp>
      <p:pic>
        <p:nvPicPr>
          <p:cNvPr id="27" name="Image 4" descr="preencoded.png">    </p:cNvPr>
          <p:cNvPicPr>
            <a:picLocks noChangeAspect="1"/>
          </p:cNvPicPr>
          <p:nvPr/>
        </p:nvPicPr>
        <p:blipFill>
          <a:blip r:embed="rId5"/>
          <a:stretch>
            <a:fillRect/>
          </a:stretch>
        </p:blipFill>
        <p:spPr>
          <a:xfrm>
            <a:off x="4846137" y="4425513"/>
            <a:ext cx="238110" cy="238110"/>
          </a:xfrm>
          <a:prstGeom prst="rect">
            <a:avLst/>
          </a:prstGeom>
        </p:spPr>
      </p:pic>
      <p:sp>
        <p:nvSpPr>
          <p:cNvPr id="28" name="Text 21"/>
          <p:cNvSpPr/>
          <p:nvPr/>
        </p:nvSpPr>
        <p:spPr>
          <a:xfrm>
            <a:off x="5358384" y="4297680"/>
            <a:ext cx="2340864" cy="329184"/>
          </a:xfrm>
          <a:prstGeom prst="rect">
            <a:avLst/>
          </a:prstGeom>
          <a:noFill/>
          <a:ln/>
        </p:spPr>
        <p:txBody>
          <a:bodyPr wrap="square" lIns="0" tIns="0" rIns="0" bIns="0" rtlCol="0" anchor="ctr"/>
          <a:lstStyle/>
          <a:p>
            <a:pPr indent="0" marL="0">
              <a:buNone/>
            </a:pPr>
            <a:r>
              <a:rPr lang="en-US" sz="1450" b="1" dirty="0">
                <a:solidFill>
                  <a:srgbClr val="141B3D"/>
                </a:solidFill>
                <a:latin typeface="Calibri" pitchFamily="34" charset="0"/>
                <a:ea typeface="Calibri" pitchFamily="34" charset="-122"/>
                <a:cs typeface="Calibri" pitchFamily="34" charset="-120"/>
              </a:rPr>
              <a:t>No audit trail</a:t>
            </a:r>
            <a:endParaRPr lang="en-US" sz="1450" dirty="0"/>
          </a:p>
        </p:txBody>
      </p:sp>
      <p:sp>
        <p:nvSpPr>
          <p:cNvPr id="29" name="Text 22"/>
          <p:cNvSpPr/>
          <p:nvPr/>
        </p:nvSpPr>
        <p:spPr>
          <a:xfrm>
            <a:off x="4681728" y="4864608"/>
            <a:ext cx="3017520" cy="749808"/>
          </a:xfrm>
          <a:prstGeom prst="rect">
            <a:avLst/>
          </a:prstGeom>
          <a:noFill/>
          <a:ln/>
        </p:spPr>
        <p:txBody>
          <a:bodyPr wrap="square" lIns="0" tIns="0" rIns="0" bIns="0" rtlCol="0" anchor="t"/>
          <a:lstStyle/>
          <a:p>
            <a:pPr indent="0" marL="0">
              <a:lnSpc>
                <a:spcPts val="1500"/>
              </a:lnSpc>
              <a:buNone/>
            </a:pPr>
            <a:r>
              <a:rPr lang="en-US" sz="1150" dirty="0">
                <a:solidFill>
                  <a:srgbClr val="646E8C"/>
                </a:solidFill>
                <a:latin typeface="Calibri" pitchFamily="34" charset="0"/>
                <a:ea typeface="Calibri" pitchFamily="34" charset="-122"/>
                <a:cs typeface="Calibri" pitchFamily="34" charset="-120"/>
              </a:rPr>
              <a:t>Submission timestamps, evaluation status and feedback are not recorded consistently.</a:t>
            </a:r>
            <a:endParaRPr lang="en-US" sz="1150" dirty="0"/>
          </a:p>
        </p:txBody>
      </p:sp>
      <p:sp>
        <p:nvSpPr>
          <p:cNvPr id="30" name="Shape 23"/>
          <p:cNvSpPr/>
          <p:nvPr/>
        </p:nvSpPr>
        <p:spPr>
          <a:xfrm>
            <a:off x="8302752" y="4023360"/>
            <a:ext cx="3529584" cy="1773936"/>
          </a:xfrm>
          <a:prstGeom prst="roundRect">
            <a:avLst>
              <a:gd name="adj" fmla="val 4639"/>
            </a:avLst>
          </a:prstGeom>
          <a:solidFill>
            <a:srgbClr val="F4F6FC"/>
          </a:solidFill>
          <a:ln w="9525">
            <a:solidFill>
              <a:srgbClr val="DDE3F5"/>
            </a:solidFill>
            <a:prstDash val="solid"/>
          </a:ln>
          <a:effectLst>
            <a:outerShdw sx="100000" sy="100000" kx="0" ky="0" algn="bl" rotWithShape="0" blurRad="177800" dist="38100" dir="5400000">
              <a:srgbClr val="1E2761">
                <a:alpha val="10000"/>
              </a:srgbClr>
            </a:outerShdw>
          </a:effectLst>
        </p:spPr>
      </p:sp>
      <p:sp>
        <p:nvSpPr>
          <p:cNvPr id="31" name="Shape 24"/>
          <p:cNvSpPr/>
          <p:nvPr/>
        </p:nvSpPr>
        <p:spPr>
          <a:xfrm>
            <a:off x="8558784" y="4261104"/>
            <a:ext cx="566928" cy="566928"/>
          </a:xfrm>
          <a:prstGeom prst="ellipse">
            <a:avLst/>
          </a:prstGeom>
          <a:solidFill>
            <a:srgbClr val="1E2761"/>
          </a:solidFill>
          <a:ln w="12700">
            <a:solidFill>
              <a:srgbClr val="1E2761"/>
            </a:solidFill>
            <a:prstDash val="solid"/>
          </a:ln>
        </p:spPr>
      </p:sp>
      <p:pic>
        <p:nvPicPr>
          <p:cNvPr id="32" name="Image 5" descr="preencoded.png">    </p:cNvPr>
          <p:cNvPicPr>
            <a:picLocks noChangeAspect="1"/>
          </p:cNvPicPr>
          <p:nvPr/>
        </p:nvPicPr>
        <p:blipFill>
          <a:blip r:embed="rId6"/>
          <a:stretch>
            <a:fillRect/>
          </a:stretch>
        </p:blipFill>
        <p:spPr>
          <a:xfrm>
            <a:off x="8723193" y="4425513"/>
            <a:ext cx="238110" cy="238110"/>
          </a:xfrm>
          <a:prstGeom prst="rect">
            <a:avLst/>
          </a:prstGeom>
        </p:spPr>
      </p:pic>
      <p:sp>
        <p:nvSpPr>
          <p:cNvPr id="33" name="Text 25"/>
          <p:cNvSpPr/>
          <p:nvPr/>
        </p:nvSpPr>
        <p:spPr>
          <a:xfrm>
            <a:off x="9235440" y="4297680"/>
            <a:ext cx="2340864" cy="329184"/>
          </a:xfrm>
          <a:prstGeom prst="rect">
            <a:avLst/>
          </a:prstGeom>
          <a:noFill/>
          <a:ln/>
        </p:spPr>
        <p:txBody>
          <a:bodyPr wrap="square" lIns="0" tIns="0" rIns="0" bIns="0" rtlCol="0" anchor="ctr"/>
          <a:lstStyle/>
          <a:p>
            <a:pPr indent="0" marL="0">
              <a:buNone/>
            </a:pPr>
            <a:r>
              <a:rPr lang="en-US" sz="1450" b="1" dirty="0">
                <a:solidFill>
                  <a:srgbClr val="141B3D"/>
                </a:solidFill>
                <a:latin typeface="Calibri" pitchFamily="34" charset="0"/>
                <a:ea typeface="Calibri" pitchFamily="34" charset="-122"/>
                <a:cs typeface="Calibri" pitchFamily="34" charset="-120"/>
              </a:rPr>
              <a:t>Manual grading</a:t>
            </a:r>
            <a:endParaRPr lang="en-US" sz="1450" dirty="0"/>
          </a:p>
        </p:txBody>
      </p:sp>
      <p:sp>
        <p:nvSpPr>
          <p:cNvPr id="34" name="Text 26"/>
          <p:cNvSpPr/>
          <p:nvPr/>
        </p:nvSpPr>
        <p:spPr>
          <a:xfrm>
            <a:off x="8558784" y="4864608"/>
            <a:ext cx="3017520" cy="749808"/>
          </a:xfrm>
          <a:prstGeom prst="rect">
            <a:avLst/>
          </a:prstGeom>
          <a:noFill/>
          <a:ln/>
        </p:spPr>
        <p:txBody>
          <a:bodyPr wrap="square" lIns="0" tIns="0" rIns="0" bIns="0" rtlCol="0" anchor="t"/>
          <a:lstStyle/>
          <a:p>
            <a:pPr indent="0" marL="0">
              <a:lnSpc>
                <a:spcPts val="1500"/>
              </a:lnSpc>
              <a:buNone/>
            </a:pPr>
            <a:r>
              <a:rPr lang="en-US" sz="1150" dirty="0">
                <a:solidFill>
                  <a:srgbClr val="646E8C"/>
                </a:solidFill>
                <a:latin typeface="Calibri" pitchFamily="34" charset="0"/>
                <a:ea typeface="Calibri" pitchFamily="34" charset="-122"/>
                <a:cs typeface="Calibri" pitchFamily="34" charset="-120"/>
              </a:rPr>
              <a:t>Marks live in spreadsheets — error-prone, with no real-time visibility for students.</a:t>
            </a:r>
            <a:endParaRPr lang="en-US" sz="1150" dirty="0"/>
          </a:p>
        </p:txBody>
      </p:sp>
    </p:spTree>
  </p:cSld>
  <p:clrMapOvr>
    <a:masterClrMapping/>
  </p:clrMapOvr>
  <mc:AlternateContent xmlns:mc="http://schemas.openxmlformats.org/markup-compatibility/2006">
    <mc:Choice xmlns:p14="http://schemas.microsoft.com/office/powerpoint/2010/main" Requires="p14">
      <p:transition spd="slow" p14:dur="65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
                                        </p:tgtEl>
                                        <p:attrNameLst>
                                          <p:attrName>style.visibility</p:attrName>
                                        </p:attrNameLst>
                                      </p:cBhvr>
                                      <p:to>
                                        <p:strVal val="visible"/>
                                      </p:to>
                                    </p:set>
                                    <p:animEffect transition="in" filter="fade">
                                      <p:cBhvr>
                                        <p:cTn id="7" dur="380"/>
                                        <p:tgtEl>
                                          <p:spTgt spid="1"/>
                                        </p:tgtEl>
                                      </p:cBhvr>
                                    </p:animEffect>
                                    <p:anim calcmode="lin" valueType="num">
                                      <p:cBhvr additive="base">
                                        <p:cTn id="8" dur="380" fill="hold"/>
                                        <p:tgtEl>
                                          <p:spTgt spid="1"/>
                                        </p:tgtEl>
                                        <p:attrNameLst>
                                          <p:attrName>ppt_y</p:attrName>
                                        </p:attrNameLst>
                                      </p:cBhvr>
                                      <p:tavLst>
                                        <p:tav tm="0">
                                          <p:val>
                                            <p:strVal val="#ppt_y+0.03"/>
                                          </p:val>
                                        </p:tav>
                                        <p:tav tm="100000">
                                          <p:val>
                                            <p:strVal val="#ppt_y"/>
                                          </p:val>
                                        </p:tav>
                                      </p:tavLst>
                                    </p:anim>
                                  </p:childTnLst>
                                </p:cTn>
                              </p:par>
                              <p:par>
                                <p:cTn id="9" presetID="42" presetClass="entr" presetSubtype="0" fill="hold" grpId="0" nodeType="afterEffect">
                                  <p:stCondLst>
                                    <p:cond delay="52"/>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380"/>
                                        <p:tgtEl>
                                          <p:spTgt spid="2"/>
                                        </p:tgtEl>
                                      </p:cBhvr>
                                    </p:animEffect>
                                    <p:anim calcmode="lin" valueType="num">
                                      <p:cBhvr additive="base">
                                        <p:cTn id="12" dur="380" fill="hold"/>
                                        <p:tgtEl>
                                          <p:spTgt spid="2"/>
                                        </p:tgtEl>
                                        <p:attrNameLst>
                                          <p:attrName>ppt_y</p:attrName>
                                        </p:attrNameLst>
                                      </p:cBhvr>
                                      <p:tavLst>
                                        <p:tav tm="0">
                                          <p:val>
                                            <p:strVal val="#ppt_y+0.03"/>
                                          </p:val>
                                        </p:tav>
                                        <p:tav tm="100000">
                                          <p:val>
                                            <p:strVal val="#ppt_y"/>
                                          </p:val>
                                        </p:tav>
                                      </p:tavLst>
                                    </p:anim>
                                  </p:childTnLst>
                                </p:cTn>
                              </p:par>
                              <p:par>
                                <p:cTn id="13" presetID="42" presetClass="entr" presetSubtype="0" fill="hold" grpId="0" nodeType="afterEffect">
                                  <p:stCondLst>
                                    <p:cond delay="104"/>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380"/>
                                        <p:tgtEl>
                                          <p:spTgt spid="3"/>
                                        </p:tgtEl>
                                      </p:cBhvr>
                                    </p:animEffect>
                                    <p:anim calcmode="lin" valueType="num">
                                      <p:cBhvr additive="base">
                                        <p:cTn id="16" dur="380" fill="hold"/>
                                        <p:tgtEl>
                                          <p:spTgt spid="3"/>
                                        </p:tgtEl>
                                        <p:attrNameLst>
                                          <p:attrName>ppt_y</p:attrName>
                                        </p:attrNameLst>
                                      </p:cBhvr>
                                      <p:tavLst>
                                        <p:tav tm="0">
                                          <p:val>
                                            <p:strVal val="#ppt_y+0.03"/>
                                          </p:val>
                                        </p:tav>
                                        <p:tav tm="100000">
                                          <p:val>
                                            <p:strVal val="#ppt_y"/>
                                          </p:val>
                                        </p:tav>
                                      </p:tavLst>
                                    </p:anim>
                                  </p:childTnLst>
                                </p:cTn>
                              </p:par>
                              <p:par>
                                <p:cTn id="17" presetID="42" presetClass="entr" presetSubtype="0" fill="hold" grpId="0" nodeType="afterEffect">
                                  <p:stCondLst>
                                    <p:cond delay="156"/>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380"/>
                                        <p:tgtEl>
                                          <p:spTgt spid="4"/>
                                        </p:tgtEl>
                                      </p:cBhvr>
                                    </p:animEffect>
                                    <p:anim calcmode="lin" valueType="num">
                                      <p:cBhvr additive="base">
                                        <p:cTn id="20" dur="380" fill="hold"/>
                                        <p:tgtEl>
                                          <p:spTgt spid="4"/>
                                        </p:tgtEl>
                                        <p:attrNameLst>
                                          <p:attrName>ppt_y</p:attrName>
                                        </p:attrNameLst>
                                      </p:cBhvr>
                                      <p:tavLst>
                                        <p:tav tm="0">
                                          <p:val>
                                            <p:strVal val="#ppt_y+0.03"/>
                                          </p:val>
                                        </p:tav>
                                        <p:tav tm="100000">
                                          <p:val>
                                            <p:strVal val="#ppt_y"/>
                                          </p:val>
                                        </p:tav>
                                      </p:tavLst>
                                    </p:anim>
                                  </p:childTnLst>
                                </p:cTn>
                              </p:par>
                              <p:par>
                                <p:cTn id="21" presetID="42" presetClass="entr" presetSubtype="0" fill="hold" grpId="0" nodeType="afterEffect">
                                  <p:stCondLst>
                                    <p:cond delay="208"/>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380"/>
                                        <p:tgtEl>
                                          <p:spTgt spid="5"/>
                                        </p:tgtEl>
                                      </p:cBhvr>
                                    </p:animEffect>
                                    <p:anim calcmode="lin" valueType="num">
                                      <p:cBhvr additive="base">
                                        <p:cTn id="24" dur="380" fill="hold"/>
                                        <p:tgtEl>
                                          <p:spTgt spid="5"/>
                                        </p:tgtEl>
                                        <p:attrNameLst>
                                          <p:attrName>ppt_y</p:attrName>
                                        </p:attrNameLst>
                                      </p:cBhvr>
                                      <p:tavLst>
                                        <p:tav tm="0">
                                          <p:val>
                                            <p:strVal val="#ppt_y+0.03"/>
                                          </p:val>
                                        </p:tav>
                                        <p:tav tm="100000">
                                          <p:val>
                                            <p:strVal val="#ppt_y"/>
                                          </p:val>
                                        </p:tav>
                                      </p:tavLst>
                                    </p:anim>
                                  </p:childTnLst>
                                </p:cTn>
                              </p:par>
                              <p:par>
                                <p:cTn id="25" presetID="42" presetClass="entr" presetSubtype="0" fill="hold" grpId="0" nodeType="afterEffect">
                                  <p:stCondLst>
                                    <p:cond delay="26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380"/>
                                        <p:tgtEl>
                                          <p:spTgt spid="6"/>
                                        </p:tgtEl>
                                      </p:cBhvr>
                                    </p:animEffect>
                                    <p:anim calcmode="lin" valueType="num">
                                      <p:cBhvr additive="base">
                                        <p:cTn id="28" dur="380" fill="hold"/>
                                        <p:tgtEl>
                                          <p:spTgt spid="6"/>
                                        </p:tgtEl>
                                        <p:attrNameLst>
                                          <p:attrName>ppt_y</p:attrName>
                                        </p:attrNameLst>
                                      </p:cBhvr>
                                      <p:tavLst>
                                        <p:tav tm="0">
                                          <p:val>
                                            <p:strVal val="#ppt_y+0.03"/>
                                          </p:val>
                                        </p:tav>
                                        <p:tav tm="100000">
                                          <p:val>
                                            <p:strVal val="#ppt_y"/>
                                          </p:val>
                                        </p:tav>
                                      </p:tavLst>
                                    </p:anim>
                                  </p:childTnLst>
                                </p:cTn>
                              </p:par>
                              <p:par>
                                <p:cTn id="29" presetID="42" presetClass="entr" presetSubtype="0" fill="hold" grpId="0" nodeType="afterEffect">
                                  <p:stCondLst>
                                    <p:cond delay="312"/>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380"/>
                                        <p:tgtEl>
                                          <p:spTgt spid="7"/>
                                        </p:tgtEl>
                                      </p:cBhvr>
                                    </p:animEffect>
                                    <p:anim calcmode="lin" valueType="num">
                                      <p:cBhvr additive="base">
                                        <p:cTn id="32" dur="380" fill="hold"/>
                                        <p:tgtEl>
                                          <p:spTgt spid="7"/>
                                        </p:tgtEl>
                                        <p:attrNameLst>
                                          <p:attrName>ppt_y</p:attrName>
                                        </p:attrNameLst>
                                      </p:cBhvr>
                                      <p:tavLst>
                                        <p:tav tm="0">
                                          <p:val>
                                            <p:strVal val="#ppt_y+0.03"/>
                                          </p:val>
                                        </p:tav>
                                        <p:tav tm="100000">
                                          <p:val>
                                            <p:strVal val="#ppt_y"/>
                                          </p:val>
                                        </p:tav>
                                      </p:tavLst>
                                    </p:anim>
                                  </p:childTnLst>
                                </p:cTn>
                              </p:par>
                              <p:par>
                                <p:cTn id="33" presetID="42" presetClass="entr" presetSubtype="0" fill="hold" grpId="0" nodeType="afterEffect">
                                  <p:stCondLst>
                                    <p:cond delay="364"/>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380"/>
                                        <p:tgtEl>
                                          <p:spTgt spid="8"/>
                                        </p:tgtEl>
                                      </p:cBhvr>
                                    </p:animEffect>
                                    <p:anim calcmode="lin" valueType="num">
                                      <p:cBhvr additive="base">
                                        <p:cTn id="36" dur="380" fill="hold"/>
                                        <p:tgtEl>
                                          <p:spTgt spid="8"/>
                                        </p:tgtEl>
                                        <p:attrNameLst>
                                          <p:attrName>ppt_y</p:attrName>
                                        </p:attrNameLst>
                                      </p:cBhvr>
                                      <p:tavLst>
                                        <p:tav tm="0">
                                          <p:val>
                                            <p:strVal val="#ppt_y+0.03"/>
                                          </p:val>
                                        </p:tav>
                                        <p:tav tm="100000">
                                          <p:val>
                                            <p:strVal val="#ppt_y"/>
                                          </p:val>
                                        </p:tav>
                                      </p:tavLst>
                                    </p:anim>
                                  </p:childTnLst>
                                </p:cTn>
                              </p:par>
                              <p:par>
                                <p:cTn id="37" presetID="42" presetClass="entr" presetSubtype="0" fill="hold" grpId="0" nodeType="afterEffect">
                                  <p:stCondLst>
                                    <p:cond delay="416"/>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380"/>
                                        <p:tgtEl>
                                          <p:spTgt spid="9"/>
                                        </p:tgtEl>
                                      </p:cBhvr>
                                    </p:animEffect>
                                    <p:anim calcmode="lin" valueType="num">
                                      <p:cBhvr additive="base">
                                        <p:cTn id="40" dur="380" fill="hold"/>
                                        <p:tgtEl>
                                          <p:spTgt spid="9"/>
                                        </p:tgtEl>
                                        <p:attrNameLst>
                                          <p:attrName>ppt_y</p:attrName>
                                        </p:attrNameLst>
                                      </p:cBhvr>
                                      <p:tavLst>
                                        <p:tav tm="0">
                                          <p:val>
                                            <p:strVal val="#ppt_y+0.03"/>
                                          </p:val>
                                        </p:tav>
                                        <p:tav tm="100000">
                                          <p:val>
                                            <p:strVal val="#ppt_y"/>
                                          </p:val>
                                        </p:tav>
                                      </p:tavLst>
                                    </p:anim>
                                  </p:childTnLst>
                                </p:cTn>
                              </p:par>
                              <p:par>
                                <p:cTn id="41" presetID="42" presetClass="entr" presetSubtype="0" fill="hold" grpId="0" nodeType="afterEffect">
                                  <p:stCondLst>
                                    <p:cond delay="468"/>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380"/>
                                        <p:tgtEl>
                                          <p:spTgt spid="10"/>
                                        </p:tgtEl>
                                      </p:cBhvr>
                                    </p:animEffect>
                                    <p:anim calcmode="lin" valueType="num">
                                      <p:cBhvr additive="base">
                                        <p:cTn id="44" dur="380" fill="hold"/>
                                        <p:tgtEl>
                                          <p:spTgt spid="10"/>
                                        </p:tgtEl>
                                        <p:attrNameLst>
                                          <p:attrName>ppt_y</p:attrName>
                                        </p:attrNameLst>
                                      </p:cBhvr>
                                      <p:tavLst>
                                        <p:tav tm="0">
                                          <p:val>
                                            <p:strVal val="#ppt_y+0.03"/>
                                          </p:val>
                                        </p:tav>
                                        <p:tav tm="100000">
                                          <p:val>
                                            <p:strVal val="#ppt_y"/>
                                          </p:val>
                                        </p:tav>
                                      </p:tavLst>
                                    </p:anim>
                                  </p:childTnLst>
                                </p:cTn>
                              </p:par>
                              <p:par>
                                <p:cTn id="45" presetID="42" presetClass="entr" presetSubtype="0" fill="hold" grpId="0" nodeType="afterEffect">
                                  <p:stCondLst>
                                    <p:cond delay="52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380"/>
                                        <p:tgtEl>
                                          <p:spTgt spid="11"/>
                                        </p:tgtEl>
                                      </p:cBhvr>
                                    </p:animEffect>
                                    <p:anim calcmode="lin" valueType="num">
                                      <p:cBhvr additive="base">
                                        <p:cTn id="48" dur="380" fill="hold"/>
                                        <p:tgtEl>
                                          <p:spTgt spid="11"/>
                                        </p:tgtEl>
                                        <p:attrNameLst>
                                          <p:attrName>ppt_y</p:attrName>
                                        </p:attrNameLst>
                                      </p:cBhvr>
                                      <p:tavLst>
                                        <p:tav tm="0">
                                          <p:val>
                                            <p:strVal val="#ppt_y+0.03"/>
                                          </p:val>
                                        </p:tav>
                                        <p:tav tm="100000">
                                          <p:val>
                                            <p:strVal val="#ppt_y"/>
                                          </p:val>
                                        </p:tav>
                                      </p:tavLst>
                                    </p:anim>
                                  </p:childTnLst>
                                </p:cTn>
                              </p:par>
                              <p:par>
                                <p:cTn id="49" presetID="42" presetClass="entr" presetSubtype="0" fill="hold" grpId="0" nodeType="afterEffect">
                                  <p:stCondLst>
                                    <p:cond delay="572"/>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380"/>
                                        <p:tgtEl>
                                          <p:spTgt spid="12"/>
                                        </p:tgtEl>
                                      </p:cBhvr>
                                    </p:animEffect>
                                    <p:anim calcmode="lin" valueType="num">
                                      <p:cBhvr additive="base">
                                        <p:cTn id="52" dur="380" fill="hold"/>
                                        <p:tgtEl>
                                          <p:spTgt spid="12"/>
                                        </p:tgtEl>
                                        <p:attrNameLst>
                                          <p:attrName>ppt_y</p:attrName>
                                        </p:attrNameLst>
                                      </p:cBhvr>
                                      <p:tavLst>
                                        <p:tav tm="0">
                                          <p:val>
                                            <p:strVal val="#ppt_y+0.03"/>
                                          </p:val>
                                        </p:tav>
                                        <p:tav tm="100000">
                                          <p:val>
                                            <p:strVal val="#ppt_y"/>
                                          </p:val>
                                        </p:tav>
                                      </p:tavLst>
                                    </p:anim>
                                  </p:childTnLst>
                                </p:cTn>
                              </p:par>
                              <p:par>
                                <p:cTn id="53" presetID="42" presetClass="entr" presetSubtype="0" fill="hold" grpId="0" nodeType="afterEffect">
                                  <p:stCondLst>
                                    <p:cond delay="624"/>
                                  </p:stCondLst>
                                  <p:childTnLst>
                                    <p:set>
                                      <p:cBhvr>
                                        <p:cTn id="54" dur="1" fill="hold">
                                          <p:stCondLst>
                                            <p:cond delay="0"/>
                                          </p:stCondLst>
                                        </p:cTn>
                                        <p:tgtEl>
                                          <p:spTgt spid="13"/>
                                        </p:tgtEl>
                                        <p:attrNameLst>
                                          <p:attrName>style.visibility</p:attrName>
                                        </p:attrNameLst>
                                      </p:cBhvr>
                                      <p:to>
                                        <p:strVal val="visible"/>
                                      </p:to>
                                    </p:set>
                                    <p:animEffect transition="in" filter="fade">
                                      <p:cBhvr>
                                        <p:cTn id="55" dur="380"/>
                                        <p:tgtEl>
                                          <p:spTgt spid="13"/>
                                        </p:tgtEl>
                                      </p:cBhvr>
                                    </p:animEffect>
                                    <p:anim calcmode="lin" valueType="num">
                                      <p:cBhvr additive="base">
                                        <p:cTn id="56" dur="380" fill="hold"/>
                                        <p:tgtEl>
                                          <p:spTgt spid="13"/>
                                        </p:tgtEl>
                                        <p:attrNameLst>
                                          <p:attrName>ppt_y</p:attrName>
                                        </p:attrNameLst>
                                      </p:cBhvr>
                                      <p:tavLst>
                                        <p:tav tm="0">
                                          <p:val>
                                            <p:strVal val="#ppt_y+0.03"/>
                                          </p:val>
                                        </p:tav>
                                        <p:tav tm="100000">
                                          <p:val>
                                            <p:strVal val="#ppt_y"/>
                                          </p:val>
                                        </p:tav>
                                      </p:tavLst>
                                    </p:anim>
                                  </p:childTnLst>
                                </p:cTn>
                              </p:par>
                              <p:par>
                                <p:cTn id="57" presetID="42" presetClass="entr" presetSubtype="0" fill="hold" grpId="0" nodeType="afterEffect">
                                  <p:stCondLst>
                                    <p:cond delay="676"/>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380"/>
                                        <p:tgtEl>
                                          <p:spTgt spid="14"/>
                                        </p:tgtEl>
                                      </p:cBhvr>
                                    </p:animEffect>
                                    <p:anim calcmode="lin" valueType="num">
                                      <p:cBhvr additive="base">
                                        <p:cTn id="60" dur="380" fill="hold"/>
                                        <p:tgtEl>
                                          <p:spTgt spid="14"/>
                                        </p:tgtEl>
                                        <p:attrNameLst>
                                          <p:attrName>ppt_y</p:attrName>
                                        </p:attrNameLst>
                                      </p:cBhvr>
                                      <p:tavLst>
                                        <p:tav tm="0">
                                          <p:val>
                                            <p:strVal val="#ppt_y+0.03"/>
                                          </p:val>
                                        </p:tav>
                                        <p:tav tm="100000">
                                          <p:val>
                                            <p:strVal val="#ppt_y"/>
                                          </p:val>
                                        </p:tav>
                                      </p:tavLst>
                                    </p:anim>
                                  </p:childTnLst>
                                </p:cTn>
                              </p:par>
                              <p:par>
                                <p:cTn id="61" presetID="42" presetClass="entr" presetSubtype="0" fill="hold" grpId="0" nodeType="afterEffect">
                                  <p:stCondLst>
                                    <p:cond delay="728"/>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380"/>
                                        <p:tgtEl>
                                          <p:spTgt spid="15"/>
                                        </p:tgtEl>
                                      </p:cBhvr>
                                    </p:animEffect>
                                    <p:anim calcmode="lin" valueType="num">
                                      <p:cBhvr additive="base">
                                        <p:cTn id="64" dur="380" fill="hold"/>
                                        <p:tgtEl>
                                          <p:spTgt spid="15"/>
                                        </p:tgtEl>
                                        <p:attrNameLst>
                                          <p:attrName>ppt_y</p:attrName>
                                        </p:attrNameLst>
                                      </p:cBhvr>
                                      <p:tavLst>
                                        <p:tav tm="0">
                                          <p:val>
                                            <p:strVal val="#ppt_y+0.03"/>
                                          </p:val>
                                        </p:tav>
                                        <p:tav tm="100000">
                                          <p:val>
                                            <p:strVal val="#ppt_y"/>
                                          </p:val>
                                        </p:tav>
                                      </p:tavLst>
                                    </p:anim>
                                  </p:childTnLst>
                                </p:cTn>
                              </p:par>
                              <p:par>
                                <p:cTn id="65" presetID="42" presetClass="entr" presetSubtype="0" fill="hold" grpId="0" nodeType="afterEffect">
                                  <p:stCondLst>
                                    <p:cond delay="78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380"/>
                                        <p:tgtEl>
                                          <p:spTgt spid="16"/>
                                        </p:tgtEl>
                                      </p:cBhvr>
                                    </p:animEffect>
                                    <p:anim calcmode="lin" valueType="num">
                                      <p:cBhvr additive="base">
                                        <p:cTn id="68" dur="380" fill="hold"/>
                                        <p:tgtEl>
                                          <p:spTgt spid="16"/>
                                        </p:tgtEl>
                                        <p:attrNameLst>
                                          <p:attrName>ppt_y</p:attrName>
                                        </p:attrNameLst>
                                      </p:cBhvr>
                                      <p:tavLst>
                                        <p:tav tm="0">
                                          <p:val>
                                            <p:strVal val="#ppt_y+0.03"/>
                                          </p:val>
                                        </p:tav>
                                        <p:tav tm="100000">
                                          <p:val>
                                            <p:strVal val="#ppt_y"/>
                                          </p:val>
                                        </p:tav>
                                      </p:tavLst>
                                    </p:anim>
                                  </p:childTnLst>
                                </p:cTn>
                              </p:par>
                              <p:par>
                                <p:cTn id="69" presetID="42" presetClass="entr" presetSubtype="0" fill="hold" grpId="0" nodeType="afterEffect">
                                  <p:stCondLst>
                                    <p:cond delay="832"/>
                                  </p:stCondLst>
                                  <p:childTnLst>
                                    <p:set>
                                      <p:cBhvr>
                                        <p:cTn id="70" dur="1" fill="hold">
                                          <p:stCondLst>
                                            <p:cond delay="0"/>
                                          </p:stCondLst>
                                        </p:cTn>
                                        <p:tgtEl>
                                          <p:spTgt spid="17"/>
                                        </p:tgtEl>
                                        <p:attrNameLst>
                                          <p:attrName>style.visibility</p:attrName>
                                        </p:attrNameLst>
                                      </p:cBhvr>
                                      <p:to>
                                        <p:strVal val="visible"/>
                                      </p:to>
                                    </p:set>
                                    <p:animEffect transition="in" filter="fade">
                                      <p:cBhvr>
                                        <p:cTn id="71" dur="380"/>
                                        <p:tgtEl>
                                          <p:spTgt spid="17"/>
                                        </p:tgtEl>
                                      </p:cBhvr>
                                    </p:animEffect>
                                    <p:anim calcmode="lin" valueType="num">
                                      <p:cBhvr additive="base">
                                        <p:cTn id="72" dur="380" fill="hold"/>
                                        <p:tgtEl>
                                          <p:spTgt spid="17"/>
                                        </p:tgtEl>
                                        <p:attrNameLst>
                                          <p:attrName>ppt_y</p:attrName>
                                        </p:attrNameLst>
                                      </p:cBhvr>
                                      <p:tavLst>
                                        <p:tav tm="0">
                                          <p:val>
                                            <p:strVal val="#ppt_y+0.03"/>
                                          </p:val>
                                        </p:tav>
                                        <p:tav tm="100000">
                                          <p:val>
                                            <p:strVal val="#ppt_y"/>
                                          </p:val>
                                        </p:tav>
                                      </p:tavLst>
                                    </p:anim>
                                  </p:childTnLst>
                                </p:cTn>
                              </p:par>
                              <p:par>
                                <p:cTn id="73" presetID="42" presetClass="entr" presetSubtype="0" fill="hold" grpId="0" nodeType="afterEffect">
                                  <p:stCondLst>
                                    <p:cond delay="884"/>
                                  </p:stCondLst>
                                  <p:childTnLst>
                                    <p:set>
                                      <p:cBhvr>
                                        <p:cTn id="74" dur="1" fill="hold">
                                          <p:stCondLst>
                                            <p:cond delay="0"/>
                                          </p:stCondLst>
                                        </p:cTn>
                                        <p:tgtEl>
                                          <p:spTgt spid="18"/>
                                        </p:tgtEl>
                                        <p:attrNameLst>
                                          <p:attrName>style.visibility</p:attrName>
                                        </p:attrNameLst>
                                      </p:cBhvr>
                                      <p:to>
                                        <p:strVal val="visible"/>
                                      </p:to>
                                    </p:set>
                                    <p:animEffect transition="in" filter="fade">
                                      <p:cBhvr>
                                        <p:cTn id="75" dur="380"/>
                                        <p:tgtEl>
                                          <p:spTgt spid="18"/>
                                        </p:tgtEl>
                                      </p:cBhvr>
                                    </p:animEffect>
                                    <p:anim calcmode="lin" valueType="num">
                                      <p:cBhvr additive="base">
                                        <p:cTn id="76" dur="380" fill="hold"/>
                                        <p:tgtEl>
                                          <p:spTgt spid="18"/>
                                        </p:tgtEl>
                                        <p:attrNameLst>
                                          <p:attrName>ppt_y</p:attrName>
                                        </p:attrNameLst>
                                      </p:cBhvr>
                                      <p:tavLst>
                                        <p:tav tm="0">
                                          <p:val>
                                            <p:strVal val="#ppt_y+0.03"/>
                                          </p:val>
                                        </p:tav>
                                        <p:tav tm="100000">
                                          <p:val>
                                            <p:strVal val="#ppt_y"/>
                                          </p:val>
                                        </p:tav>
                                      </p:tavLst>
                                    </p:anim>
                                  </p:childTnLst>
                                </p:cTn>
                              </p:par>
                              <p:par>
                                <p:cTn id="77" presetID="42" presetClass="entr" presetSubtype="0" fill="hold" grpId="0" nodeType="afterEffect">
                                  <p:stCondLst>
                                    <p:cond delay="936"/>
                                  </p:stCondLst>
                                  <p:childTnLst>
                                    <p:set>
                                      <p:cBhvr>
                                        <p:cTn id="78" dur="1" fill="hold">
                                          <p:stCondLst>
                                            <p:cond delay="0"/>
                                          </p:stCondLst>
                                        </p:cTn>
                                        <p:tgtEl>
                                          <p:spTgt spid="19"/>
                                        </p:tgtEl>
                                        <p:attrNameLst>
                                          <p:attrName>style.visibility</p:attrName>
                                        </p:attrNameLst>
                                      </p:cBhvr>
                                      <p:to>
                                        <p:strVal val="visible"/>
                                      </p:to>
                                    </p:set>
                                    <p:animEffect transition="in" filter="fade">
                                      <p:cBhvr>
                                        <p:cTn id="79" dur="380"/>
                                        <p:tgtEl>
                                          <p:spTgt spid="19"/>
                                        </p:tgtEl>
                                      </p:cBhvr>
                                    </p:animEffect>
                                    <p:anim calcmode="lin" valueType="num">
                                      <p:cBhvr additive="base">
                                        <p:cTn id="80" dur="380" fill="hold"/>
                                        <p:tgtEl>
                                          <p:spTgt spid="19"/>
                                        </p:tgtEl>
                                        <p:attrNameLst>
                                          <p:attrName>ppt_y</p:attrName>
                                        </p:attrNameLst>
                                      </p:cBhvr>
                                      <p:tavLst>
                                        <p:tav tm="0">
                                          <p:val>
                                            <p:strVal val="#ppt_y+0.03"/>
                                          </p:val>
                                        </p:tav>
                                        <p:tav tm="100000">
                                          <p:val>
                                            <p:strVal val="#ppt_y"/>
                                          </p:val>
                                        </p:tav>
                                      </p:tavLst>
                                    </p:anim>
                                  </p:childTnLst>
                                </p:cTn>
                              </p:par>
                              <p:par>
                                <p:cTn id="81" presetID="42" presetClass="entr" presetSubtype="0" fill="hold" grpId="0" nodeType="afterEffect">
                                  <p:stCondLst>
                                    <p:cond delay="988"/>
                                  </p:stCondLst>
                                  <p:childTnLst>
                                    <p:set>
                                      <p:cBhvr>
                                        <p:cTn id="82" dur="1" fill="hold">
                                          <p:stCondLst>
                                            <p:cond delay="0"/>
                                          </p:stCondLst>
                                        </p:cTn>
                                        <p:tgtEl>
                                          <p:spTgt spid="20"/>
                                        </p:tgtEl>
                                        <p:attrNameLst>
                                          <p:attrName>style.visibility</p:attrName>
                                        </p:attrNameLst>
                                      </p:cBhvr>
                                      <p:to>
                                        <p:strVal val="visible"/>
                                      </p:to>
                                    </p:set>
                                    <p:animEffect transition="in" filter="fade">
                                      <p:cBhvr>
                                        <p:cTn id="83" dur="380"/>
                                        <p:tgtEl>
                                          <p:spTgt spid="20"/>
                                        </p:tgtEl>
                                      </p:cBhvr>
                                    </p:animEffect>
                                    <p:anim calcmode="lin" valueType="num">
                                      <p:cBhvr additive="base">
                                        <p:cTn id="84" dur="380" fill="hold"/>
                                        <p:tgtEl>
                                          <p:spTgt spid="20"/>
                                        </p:tgtEl>
                                        <p:attrNameLst>
                                          <p:attrName>ppt_y</p:attrName>
                                        </p:attrNameLst>
                                      </p:cBhvr>
                                      <p:tavLst>
                                        <p:tav tm="0">
                                          <p:val>
                                            <p:strVal val="#ppt_y+0.03"/>
                                          </p:val>
                                        </p:tav>
                                        <p:tav tm="100000">
                                          <p:val>
                                            <p:strVal val="#ppt_y"/>
                                          </p:val>
                                        </p:tav>
                                      </p:tavLst>
                                    </p:anim>
                                  </p:childTnLst>
                                </p:cTn>
                              </p:par>
                              <p:par>
                                <p:cTn id="85" presetID="42" presetClass="entr" presetSubtype="0" fill="hold" grpId="0" nodeType="afterEffect">
                                  <p:stCondLst>
                                    <p:cond delay="1040"/>
                                  </p:stCondLst>
                                  <p:childTnLst>
                                    <p:set>
                                      <p:cBhvr>
                                        <p:cTn id="86" dur="1" fill="hold">
                                          <p:stCondLst>
                                            <p:cond delay="0"/>
                                          </p:stCondLst>
                                        </p:cTn>
                                        <p:tgtEl>
                                          <p:spTgt spid="21"/>
                                        </p:tgtEl>
                                        <p:attrNameLst>
                                          <p:attrName>style.visibility</p:attrName>
                                        </p:attrNameLst>
                                      </p:cBhvr>
                                      <p:to>
                                        <p:strVal val="visible"/>
                                      </p:to>
                                    </p:set>
                                    <p:animEffect transition="in" filter="fade">
                                      <p:cBhvr>
                                        <p:cTn id="87" dur="380"/>
                                        <p:tgtEl>
                                          <p:spTgt spid="21"/>
                                        </p:tgtEl>
                                      </p:cBhvr>
                                    </p:animEffect>
                                    <p:anim calcmode="lin" valueType="num">
                                      <p:cBhvr additive="base">
                                        <p:cTn id="88" dur="380" fill="hold"/>
                                        <p:tgtEl>
                                          <p:spTgt spid="21"/>
                                        </p:tgtEl>
                                        <p:attrNameLst>
                                          <p:attrName>ppt_y</p:attrName>
                                        </p:attrNameLst>
                                      </p:cBhvr>
                                      <p:tavLst>
                                        <p:tav tm="0">
                                          <p:val>
                                            <p:strVal val="#ppt_y+0.03"/>
                                          </p:val>
                                        </p:tav>
                                        <p:tav tm="100000">
                                          <p:val>
                                            <p:strVal val="#ppt_y"/>
                                          </p:val>
                                        </p:tav>
                                      </p:tavLst>
                                    </p:anim>
                                  </p:childTnLst>
                                </p:cTn>
                              </p:par>
                              <p:par>
                                <p:cTn id="89" presetID="42" presetClass="entr" presetSubtype="0" fill="hold" grpId="0" nodeType="afterEffect">
                                  <p:stCondLst>
                                    <p:cond delay="1092"/>
                                  </p:stCondLst>
                                  <p:childTnLst>
                                    <p:set>
                                      <p:cBhvr>
                                        <p:cTn id="90" dur="1" fill="hold">
                                          <p:stCondLst>
                                            <p:cond delay="0"/>
                                          </p:stCondLst>
                                        </p:cTn>
                                        <p:tgtEl>
                                          <p:spTgt spid="22"/>
                                        </p:tgtEl>
                                        <p:attrNameLst>
                                          <p:attrName>style.visibility</p:attrName>
                                        </p:attrNameLst>
                                      </p:cBhvr>
                                      <p:to>
                                        <p:strVal val="visible"/>
                                      </p:to>
                                    </p:set>
                                    <p:animEffect transition="in" filter="fade">
                                      <p:cBhvr>
                                        <p:cTn id="91" dur="380"/>
                                        <p:tgtEl>
                                          <p:spTgt spid="22"/>
                                        </p:tgtEl>
                                      </p:cBhvr>
                                    </p:animEffect>
                                    <p:anim calcmode="lin" valueType="num">
                                      <p:cBhvr additive="base">
                                        <p:cTn id="92" dur="380" fill="hold"/>
                                        <p:tgtEl>
                                          <p:spTgt spid="22"/>
                                        </p:tgtEl>
                                        <p:attrNameLst>
                                          <p:attrName>ppt_y</p:attrName>
                                        </p:attrNameLst>
                                      </p:cBhvr>
                                      <p:tavLst>
                                        <p:tav tm="0">
                                          <p:val>
                                            <p:strVal val="#ppt_y+0.03"/>
                                          </p:val>
                                        </p:tav>
                                        <p:tav tm="100000">
                                          <p:val>
                                            <p:strVal val="#ppt_y"/>
                                          </p:val>
                                        </p:tav>
                                      </p:tavLst>
                                    </p:anim>
                                  </p:childTnLst>
                                </p:cTn>
                              </p:par>
                              <p:par>
                                <p:cTn id="93" presetID="42" presetClass="entr" presetSubtype="0" fill="hold" grpId="0" nodeType="afterEffect">
                                  <p:stCondLst>
                                    <p:cond delay="1144"/>
                                  </p:stCondLst>
                                  <p:childTnLst>
                                    <p:set>
                                      <p:cBhvr>
                                        <p:cTn id="94" dur="1" fill="hold">
                                          <p:stCondLst>
                                            <p:cond delay="0"/>
                                          </p:stCondLst>
                                        </p:cTn>
                                        <p:tgtEl>
                                          <p:spTgt spid="23"/>
                                        </p:tgtEl>
                                        <p:attrNameLst>
                                          <p:attrName>style.visibility</p:attrName>
                                        </p:attrNameLst>
                                      </p:cBhvr>
                                      <p:to>
                                        <p:strVal val="visible"/>
                                      </p:to>
                                    </p:set>
                                    <p:animEffect transition="in" filter="fade">
                                      <p:cBhvr>
                                        <p:cTn id="95" dur="380"/>
                                        <p:tgtEl>
                                          <p:spTgt spid="23"/>
                                        </p:tgtEl>
                                      </p:cBhvr>
                                    </p:animEffect>
                                    <p:anim calcmode="lin" valueType="num">
                                      <p:cBhvr additive="base">
                                        <p:cTn id="96" dur="380" fill="hold"/>
                                        <p:tgtEl>
                                          <p:spTgt spid="23"/>
                                        </p:tgtEl>
                                        <p:attrNameLst>
                                          <p:attrName>ppt_y</p:attrName>
                                        </p:attrNameLst>
                                      </p:cBhvr>
                                      <p:tavLst>
                                        <p:tav tm="0">
                                          <p:val>
                                            <p:strVal val="#ppt_y+0.03"/>
                                          </p:val>
                                        </p:tav>
                                        <p:tav tm="100000">
                                          <p:val>
                                            <p:strVal val="#ppt_y"/>
                                          </p:val>
                                        </p:tav>
                                      </p:tavLst>
                                    </p:anim>
                                  </p:childTnLst>
                                </p:cTn>
                              </p:par>
                              <p:par>
                                <p:cTn id="97" presetID="42" presetClass="entr" presetSubtype="0" fill="hold" grpId="0" nodeType="afterEffect">
                                  <p:stCondLst>
                                    <p:cond delay="1196"/>
                                  </p:stCondLst>
                                  <p:childTnLst>
                                    <p:set>
                                      <p:cBhvr>
                                        <p:cTn id="98" dur="1" fill="hold">
                                          <p:stCondLst>
                                            <p:cond delay="0"/>
                                          </p:stCondLst>
                                        </p:cTn>
                                        <p:tgtEl>
                                          <p:spTgt spid="24"/>
                                        </p:tgtEl>
                                        <p:attrNameLst>
                                          <p:attrName>style.visibility</p:attrName>
                                        </p:attrNameLst>
                                      </p:cBhvr>
                                      <p:to>
                                        <p:strVal val="visible"/>
                                      </p:to>
                                    </p:set>
                                    <p:animEffect transition="in" filter="fade">
                                      <p:cBhvr>
                                        <p:cTn id="99" dur="380"/>
                                        <p:tgtEl>
                                          <p:spTgt spid="24"/>
                                        </p:tgtEl>
                                      </p:cBhvr>
                                    </p:animEffect>
                                    <p:anim calcmode="lin" valueType="num">
                                      <p:cBhvr additive="base">
                                        <p:cTn id="100" dur="380" fill="hold"/>
                                        <p:tgtEl>
                                          <p:spTgt spid="24"/>
                                        </p:tgtEl>
                                        <p:attrNameLst>
                                          <p:attrName>ppt_y</p:attrName>
                                        </p:attrNameLst>
                                      </p:cBhvr>
                                      <p:tavLst>
                                        <p:tav tm="0">
                                          <p:val>
                                            <p:strVal val="#ppt_y+0.03"/>
                                          </p:val>
                                        </p:tav>
                                        <p:tav tm="100000">
                                          <p:val>
                                            <p:strVal val="#ppt_y"/>
                                          </p:val>
                                        </p:tav>
                                      </p:tavLst>
                                    </p:anim>
                                  </p:childTnLst>
                                </p:cTn>
                              </p:par>
                              <p:par>
                                <p:cTn id="101" presetID="42" presetClass="entr" presetSubtype="0" fill="hold" grpId="0" nodeType="afterEffect">
                                  <p:stCondLst>
                                    <p:cond delay="1248"/>
                                  </p:stCondLst>
                                  <p:childTnLst>
                                    <p:set>
                                      <p:cBhvr>
                                        <p:cTn id="102" dur="1" fill="hold">
                                          <p:stCondLst>
                                            <p:cond delay="0"/>
                                          </p:stCondLst>
                                        </p:cTn>
                                        <p:tgtEl>
                                          <p:spTgt spid="25"/>
                                        </p:tgtEl>
                                        <p:attrNameLst>
                                          <p:attrName>style.visibility</p:attrName>
                                        </p:attrNameLst>
                                      </p:cBhvr>
                                      <p:to>
                                        <p:strVal val="visible"/>
                                      </p:to>
                                    </p:set>
                                    <p:animEffect transition="in" filter="fade">
                                      <p:cBhvr>
                                        <p:cTn id="103" dur="380"/>
                                        <p:tgtEl>
                                          <p:spTgt spid="25"/>
                                        </p:tgtEl>
                                      </p:cBhvr>
                                    </p:animEffect>
                                    <p:anim calcmode="lin" valueType="num">
                                      <p:cBhvr additive="base">
                                        <p:cTn id="104" dur="380" fill="hold"/>
                                        <p:tgtEl>
                                          <p:spTgt spid="25"/>
                                        </p:tgtEl>
                                        <p:attrNameLst>
                                          <p:attrName>ppt_y</p:attrName>
                                        </p:attrNameLst>
                                      </p:cBhvr>
                                      <p:tavLst>
                                        <p:tav tm="0">
                                          <p:val>
                                            <p:strVal val="#ppt_y+0.03"/>
                                          </p:val>
                                        </p:tav>
                                        <p:tav tm="100000">
                                          <p:val>
                                            <p:strVal val="#ppt_y"/>
                                          </p:val>
                                        </p:tav>
                                      </p:tavLst>
                                    </p:anim>
                                  </p:childTnLst>
                                </p:cTn>
                              </p:par>
                              <p:par>
                                <p:cTn id="105" presetID="42" presetClass="entr" presetSubtype="0" fill="hold" grpId="0" nodeType="afterEffect">
                                  <p:stCondLst>
                                    <p:cond delay="1300"/>
                                  </p:stCondLst>
                                  <p:childTnLst>
                                    <p:set>
                                      <p:cBhvr>
                                        <p:cTn id="106" dur="1" fill="hold">
                                          <p:stCondLst>
                                            <p:cond delay="0"/>
                                          </p:stCondLst>
                                        </p:cTn>
                                        <p:tgtEl>
                                          <p:spTgt spid="26"/>
                                        </p:tgtEl>
                                        <p:attrNameLst>
                                          <p:attrName>style.visibility</p:attrName>
                                        </p:attrNameLst>
                                      </p:cBhvr>
                                      <p:to>
                                        <p:strVal val="visible"/>
                                      </p:to>
                                    </p:set>
                                    <p:animEffect transition="in" filter="fade">
                                      <p:cBhvr>
                                        <p:cTn id="107" dur="380"/>
                                        <p:tgtEl>
                                          <p:spTgt spid="26"/>
                                        </p:tgtEl>
                                      </p:cBhvr>
                                    </p:animEffect>
                                    <p:anim calcmode="lin" valueType="num">
                                      <p:cBhvr additive="base">
                                        <p:cTn id="108" dur="380" fill="hold"/>
                                        <p:tgtEl>
                                          <p:spTgt spid="26"/>
                                        </p:tgtEl>
                                        <p:attrNameLst>
                                          <p:attrName>ppt_y</p:attrName>
                                        </p:attrNameLst>
                                      </p:cBhvr>
                                      <p:tavLst>
                                        <p:tav tm="0">
                                          <p:val>
                                            <p:strVal val="#ppt_y+0.03"/>
                                          </p:val>
                                        </p:tav>
                                        <p:tav tm="100000">
                                          <p:val>
                                            <p:strVal val="#ppt_y"/>
                                          </p:val>
                                        </p:tav>
                                      </p:tavLst>
                                    </p:anim>
                                  </p:childTnLst>
                                </p:cTn>
                              </p:par>
                              <p:par>
                                <p:cTn id="109" presetID="42" presetClass="entr" presetSubtype="0" fill="hold" grpId="0" nodeType="afterEffect">
                                  <p:stCondLst>
                                    <p:cond delay="1352"/>
                                  </p:stCondLst>
                                  <p:childTnLst>
                                    <p:set>
                                      <p:cBhvr>
                                        <p:cTn id="110" dur="1" fill="hold">
                                          <p:stCondLst>
                                            <p:cond delay="0"/>
                                          </p:stCondLst>
                                        </p:cTn>
                                        <p:tgtEl>
                                          <p:spTgt spid="27"/>
                                        </p:tgtEl>
                                        <p:attrNameLst>
                                          <p:attrName>style.visibility</p:attrName>
                                        </p:attrNameLst>
                                      </p:cBhvr>
                                      <p:to>
                                        <p:strVal val="visible"/>
                                      </p:to>
                                    </p:set>
                                    <p:animEffect transition="in" filter="fade">
                                      <p:cBhvr>
                                        <p:cTn id="111" dur="380"/>
                                        <p:tgtEl>
                                          <p:spTgt spid="27"/>
                                        </p:tgtEl>
                                      </p:cBhvr>
                                    </p:animEffect>
                                    <p:anim calcmode="lin" valueType="num">
                                      <p:cBhvr additive="base">
                                        <p:cTn id="112" dur="380" fill="hold"/>
                                        <p:tgtEl>
                                          <p:spTgt spid="27"/>
                                        </p:tgtEl>
                                        <p:attrNameLst>
                                          <p:attrName>ppt_y</p:attrName>
                                        </p:attrNameLst>
                                      </p:cBhvr>
                                      <p:tavLst>
                                        <p:tav tm="0">
                                          <p:val>
                                            <p:strVal val="#ppt_y+0.03"/>
                                          </p:val>
                                        </p:tav>
                                        <p:tav tm="100000">
                                          <p:val>
                                            <p:strVal val="#ppt_y"/>
                                          </p:val>
                                        </p:tav>
                                      </p:tavLst>
                                    </p:anim>
                                  </p:childTnLst>
                                </p:cTn>
                              </p:par>
                              <p:par>
                                <p:cTn id="113" presetID="42" presetClass="entr" presetSubtype="0" fill="hold" grpId="0" nodeType="afterEffect">
                                  <p:stCondLst>
                                    <p:cond delay="1404"/>
                                  </p:stCondLst>
                                  <p:childTnLst>
                                    <p:set>
                                      <p:cBhvr>
                                        <p:cTn id="114" dur="1" fill="hold">
                                          <p:stCondLst>
                                            <p:cond delay="0"/>
                                          </p:stCondLst>
                                        </p:cTn>
                                        <p:tgtEl>
                                          <p:spTgt spid="28"/>
                                        </p:tgtEl>
                                        <p:attrNameLst>
                                          <p:attrName>style.visibility</p:attrName>
                                        </p:attrNameLst>
                                      </p:cBhvr>
                                      <p:to>
                                        <p:strVal val="visible"/>
                                      </p:to>
                                    </p:set>
                                    <p:animEffect transition="in" filter="fade">
                                      <p:cBhvr>
                                        <p:cTn id="115" dur="380"/>
                                        <p:tgtEl>
                                          <p:spTgt spid="28"/>
                                        </p:tgtEl>
                                      </p:cBhvr>
                                    </p:animEffect>
                                    <p:anim calcmode="lin" valueType="num">
                                      <p:cBhvr additive="base">
                                        <p:cTn id="116" dur="380" fill="hold"/>
                                        <p:tgtEl>
                                          <p:spTgt spid="28"/>
                                        </p:tgtEl>
                                        <p:attrNameLst>
                                          <p:attrName>ppt_y</p:attrName>
                                        </p:attrNameLst>
                                      </p:cBhvr>
                                      <p:tavLst>
                                        <p:tav tm="0">
                                          <p:val>
                                            <p:strVal val="#ppt_y+0.03"/>
                                          </p:val>
                                        </p:tav>
                                        <p:tav tm="100000">
                                          <p:val>
                                            <p:strVal val="#ppt_y"/>
                                          </p:val>
                                        </p:tav>
                                      </p:tavLst>
                                    </p:anim>
                                  </p:childTnLst>
                                </p:cTn>
                              </p:par>
                              <p:par>
                                <p:cTn id="117" presetID="42" presetClass="entr" presetSubtype="0" fill="hold" grpId="0" nodeType="afterEffect">
                                  <p:stCondLst>
                                    <p:cond delay="1456"/>
                                  </p:stCondLst>
                                  <p:childTnLst>
                                    <p:set>
                                      <p:cBhvr>
                                        <p:cTn id="118" dur="1" fill="hold">
                                          <p:stCondLst>
                                            <p:cond delay="0"/>
                                          </p:stCondLst>
                                        </p:cTn>
                                        <p:tgtEl>
                                          <p:spTgt spid="29"/>
                                        </p:tgtEl>
                                        <p:attrNameLst>
                                          <p:attrName>style.visibility</p:attrName>
                                        </p:attrNameLst>
                                      </p:cBhvr>
                                      <p:to>
                                        <p:strVal val="visible"/>
                                      </p:to>
                                    </p:set>
                                    <p:animEffect transition="in" filter="fade">
                                      <p:cBhvr>
                                        <p:cTn id="119" dur="380"/>
                                        <p:tgtEl>
                                          <p:spTgt spid="29"/>
                                        </p:tgtEl>
                                      </p:cBhvr>
                                    </p:animEffect>
                                    <p:anim calcmode="lin" valueType="num">
                                      <p:cBhvr additive="base">
                                        <p:cTn id="120" dur="380" fill="hold"/>
                                        <p:tgtEl>
                                          <p:spTgt spid="29"/>
                                        </p:tgtEl>
                                        <p:attrNameLst>
                                          <p:attrName>ppt_y</p:attrName>
                                        </p:attrNameLst>
                                      </p:cBhvr>
                                      <p:tavLst>
                                        <p:tav tm="0">
                                          <p:val>
                                            <p:strVal val="#ppt_y+0.03"/>
                                          </p:val>
                                        </p:tav>
                                        <p:tav tm="100000">
                                          <p:val>
                                            <p:strVal val="#ppt_y"/>
                                          </p:val>
                                        </p:tav>
                                      </p:tavLst>
                                    </p:anim>
                                  </p:childTnLst>
                                </p:cTn>
                              </p:par>
                              <p:par>
                                <p:cTn id="121" presetID="42" presetClass="entr" presetSubtype="0" fill="hold" grpId="0" nodeType="afterEffect">
                                  <p:stCondLst>
                                    <p:cond delay="1508"/>
                                  </p:stCondLst>
                                  <p:childTnLst>
                                    <p:set>
                                      <p:cBhvr>
                                        <p:cTn id="122" dur="1" fill="hold">
                                          <p:stCondLst>
                                            <p:cond delay="0"/>
                                          </p:stCondLst>
                                        </p:cTn>
                                        <p:tgtEl>
                                          <p:spTgt spid="30"/>
                                        </p:tgtEl>
                                        <p:attrNameLst>
                                          <p:attrName>style.visibility</p:attrName>
                                        </p:attrNameLst>
                                      </p:cBhvr>
                                      <p:to>
                                        <p:strVal val="visible"/>
                                      </p:to>
                                    </p:set>
                                    <p:animEffect transition="in" filter="fade">
                                      <p:cBhvr>
                                        <p:cTn id="123" dur="380"/>
                                        <p:tgtEl>
                                          <p:spTgt spid="30"/>
                                        </p:tgtEl>
                                      </p:cBhvr>
                                    </p:animEffect>
                                    <p:anim calcmode="lin" valueType="num">
                                      <p:cBhvr additive="base">
                                        <p:cTn id="124" dur="380" fill="hold"/>
                                        <p:tgtEl>
                                          <p:spTgt spid="30"/>
                                        </p:tgtEl>
                                        <p:attrNameLst>
                                          <p:attrName>ppt_y</p:attrName>
                                        </p:attrNameLst>
                                      </p:cBhvr>
                                      <p:tavLst>
                                        <p:tav tm="0">
                                          <p:val>
                                            <p:strVal val="#ppt_y+0.03"/>
                                          </p:val>
                                        </p:tav>
                                        <p:tav tm="100000">
                                          <p:val>
                                            <p:strVal val="#ppt_y"/>
                                          </p:val>
                                        </p:tav>
                                      </p:tavLst>
                                    </p:anim>
                                  </p:childTnLst>
                                </p:cTn>
                              </p:par>
                              <p:par>
                                <p:cTn id="125" presetID="42" presetClass="entr" presetSubtype="0" fill="hold" grpId="0" nodeType="afterEffect">
                                  <p:stCondLst>
                                    <p:cond delay="1560"/>
                                  </p:stCondLst>
                                  <p:childTnLst>
                                    <p:set>
                                      <p:cBhvr>
                                        <p:cTn id="126" dur="1" fill="hold">
                                          <p:stCondLst>
                                            <p:cond delay="0"/>
                                          </p:stCondLst>
                                        </p:cTn>
                                        <p:tgtEl>
                                          <p:spTgt spid="31"/>
                                        </p:tgtEl>
                                        <p:attrNameLst>
                                          <p:attrName>style.visibility</p:attrName>
                                        </p:attrNameLst>
                                      </p:cBhvr>
                                      <p:to>
                                        <p:strVal val="visible"/>
                                      </p:to>
                                    </p:set>
                                    <p:animEffect transition="in" filter="fade">
                                      <p:cBhvr>
                                        <p:cTn id="127" dur="380"/>
                                        <p:tgtEl>
                                          <p:spTgt spid="31"/>
                                        </p:tgtEl>
                                      </p:cBhvr>
                                    </p:animEffect>
                                    <p:anim calcmode="lin" valueType="num">
                                      <p:cBhvr additive="base">
                                        <p:cTn id="128" dur="380" fill="hold"/>
                                        <p:tgtEl>
                                          <p:spTgt spid="31"/>
                                        </p:tgtEl>
                                        <p:attrNameLst>
                                          <p:attrName>ppt_y</p:attrName>
                                        </p:attrNameLst>
                                      </p:cBhvr>
                                      <p:tavLst>
                                        <p:tav tm="0">
                                          <p:val>
                                            <p:strVal val="#ppt_y+0.03"/>
                                          </p:val>
                                        </p:tav>
                                        <p:tav tm="100000">
                                          <p:val>
                                            <p:strVal val="#ppt_y"/>
                                          </p:val>
                                        </p:tav>
                                      </p:tavLst>
                                    </p:anim>
                                  </p:childTnLst>
                                </p:cTn>
                              </p:par>
                              <p:par>
                                <p:cTn id="129" presetID="42" presetClass="entr" presetSubtype="0" fill="hold" grpId="0" nodeType="afterEffect">
                                  <p:stCondLst>
                                    <p:cond delay="1612"/>
                                  </p:stCondLst>
                                  <p:childTnLst>
                                    <p:set>
                                      <p:cBhvr>
                                        <p:cTn id="130" dur="1" fill="hold">
                                          <p:stCondLst>
                                            <p:cond delay="0"/>
                                          </p:stCondLst>
                                        </p:cTn>
                                        <p:tgtEl>
                                          <p:spTgt spid="32"/>
                                        </p:tgtEl>
                                        <p:attrNameLst>
                                          <p:attrName>style.visibility</p:attrName>
                                        </p:attrNameLst>
                                      </p:cBhvr>
                                      <p:to>
                                        <p:strVal val="visible"/>
                                      </p:to>
                                    </p:set>
                                    <p:animEffect transition="in" filter="fade">
                                      <p:cBhvr>
                                        <p:cTn id="131" dur="380"/>
                                        <p:tgtEl>
                                          <p:spTgt spid="32"/>
                                        </p:tgtEl>
                                      </p:cBhvr>
                                    </p:animEffect>
                                    <p:anim calcmode="lin" valueType="num">
                                      <p:cBhvr additive="base">
                                        <p:cTn id="132" dur="380" fill="hold"/>
                                        <p:tgtEl>
                                          <p:spTgt spid="32"/>
                                        </p:tgtEl>
                                        <p:attrNameLst>
                                          <p:attrName>ppt_y</p:attrName>
                                        </p:attrNameLst>
                                      </p:cBhvr>
                                      <p:tavLst>
                                        <p:tav tm="0">
                                          <p:val>
                                            <p:strVal val="#ppt_y+0.03"/>
                                          </p:val>
                                        </p:tav>
                                        <p:tav tm="100000">
                                          <p:val>
                                            <p:strVal val="#ppt_y"/>
                                          </p:val>
                                        </p:tav>
                                      </p:tavLst>
                                    </p:anim>
                                  </p:childTnLst>
                                </p:cTn>
                              </p:par>
                              <p:par>
                                <p:cTn id="133" presetID="42" presetClass="entr" presetSubtype="0" fill="hold" grpId="0" nodeType="afterEffect">
                                  <p:stCondLst>
                                    <p:cond delay="1664"/>
                                  </p:stCondLst>
                                  <p:childTnLst>
                                    <p:set>
                                      <p:cBhvr>
                                        <p:cTn id="134" dur="1" fill="hold">
                                          <p:stCondLst>
                                            <p:cond delay="0"/>
                                          </p:stCondLst>
                                        </p:cTn>
                                        <p:tgtEl>
                                          <p:spTgt spid="33"/>
                                        </p:tgtEl>
                                        <p:attrNameLst>
                                          <p:attrName>style.visibility</p:attrName>
                                        </p:attrNameLst>
                                      </p:cBhvr>
                                      <p:to>
                                        <p:strVal val="visible"/>
                                      </p:to>
                                    </p:set>
                                    <p:animEffect transition="in" filter="fade">
                                      <p:cBhvr>
                                        <p:cTn id="135" dur="380"/>
                                        <p:tgtEl>
                                          <p:spTgt spid="33"/>
                                        </p:tgtEl>
                                      </p:cBhvr>
                                    </p:animEffect>
                                    <p:anim calcmode="lin" valueType="num">
                                      <p:cBhvr additive="base">
                                        <p:cTn id="136" dur="380" fill="hold"/>
                                        <p:tgtEl>
                                          <p:spTgt spid="33"/>
                                        </p:tgtEl>
                                        <p:attrNameLst>
                                          <p:attrName>ppt_y</p:attrName>
                                        </p:attrNameLst>
                                      </p:cBhvr>
                                      <p:tavLst>
                                        <p:tav tm="0">
                                          <p:val>
                                            <p:strVal val="#ppt_y+0.03"/>
                                          </p:val>
                                        </p:tav>
                                        <p:tav tm="100000">
                                          <p:val>
                                            <p:strVal val="#ppt_y"/>
                                          </p:val>
                                        </p:tav>
                                      </p:tavLst>
                                    </p:anim>
                                  </p:childTnLst>
                                </p:cTn>
                              </p:par>
                              <p:par>
                                <p:cTn id="137" presetID="42" presetClass="entr" presetSubtype="0" fill="hold" grpId="0" nodeType="afterEffect">
                                  <p:stCondLst>
                                    <p:cond delay="1716"/>
                                  </p:stCondLst>
                                  <p:childTnLst>
                                    <p:set>
                                      <p:cBhvr>
                                        <p:cTn id="138" dur="1" fill="hold">
                                          <p:stCondLst>
                                            <p:cond delay="0"/>
                                          </p:stCondLst>
                                        </p:cTn>
                                        <p:tgtEl>
                                          <p:spTgt spid="34"/>
                                        </p:tgtEl>
                                        <p:attrNameLst>
                                          <p:attrName>style.visibility</p:attrName>
                                        </p:attrNameLst>
                                      </p:cBhvr>
                                      <p:to>
                                        <p:strVal val="visible"/>
                                      </p:to>
                                    </p:set>
                                    <p:animEffect transition="in" filter="fade">
                                      <p:cBhvr>
                                        <p:cTn id="139" dur="380"/>
                                        <p:tgtEl>
                                          <p:spTgt spid="34"/>
                                        </p:tgtEl>
                                      </p:cBhvr>
                                    </p:animEffect>
                                    <p:anim calcmode="lin" valueType="num">
                                      <p:cBhvr additive="base">
                                        <p:cTn id="140" dur="380" fill="hold"/>
                                        <p:tgtEl>
                                          <p:spTgt spid="34"/>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 grpId="0"/>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p:bldP spid="33" grpId="0"/>
      <p:bldP spid="34" grpId="0"/>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37744"/>
          </a:xfrm>
          <a:prstGeom prst="rect">
            <a:avLst/>
          </a:prstGeom>
          <a:noFill/>
          <a:ln/>
        </p:spPr>
        <p:txBody>
          <a:bodyPr wrap="square" lIns="0" tIns="0" rIns="0" bIns="0" rtlCol="0" anchor="ctr"/>
          <a:lstStyle/>
          <a:p>
            <a:pPr indent="0" marL="0">
              <a:buNone/>
            </a:pPr>
            <a:r>
              <a:rPr lang="en-US" sz="1050" b="1" spc="200" kern="0" dirty="0">
                <a:solidFill>
                  <a:srgbClr val="00C39A"/>
                </a:solidFill>
                <a:latin typeface="Calibri" pitchFamily="34" charset="0"/>
                <a:ea typeface="Calibri" pitchFamily="34" charset="-122"/>
                <a:cs typeface="Calibri" pitchFamily="34" charset="-120"/>
              </a:rPr>
              <a:t>THE SOLUTION</a:t>
            </a:r>
            <a:endParaRPr lang="en-US" sz="1050" dirty="0"/>
          </a:p>
        </p:txBody>
      </p:sp>
      <p:sp>
        <p:nvSpPr>
          <p:cNvPr id="3" name="Text 1"/>
          <p:cNvSpPr/>
          <p:nvPr/>
        </p:nvSpPr>
        <p:spPr>
          <a:xfrm>
            <a:off x="548640" y="658368"/>
            <a:ext cx="11064240" cy="658368"/>
          </a:xfrm>
          <a:prstGeom prst="rect">
            <a:avLst/>
          </a:prstGeom>
          <a:noFill/>
          <a:ln/>
        </p:spPr>
        <p:txBody>
          <a:bodyPr wrap="square" lIns="0" tIns="0" rIns="0" bIns="0" rtlCol="0" anchor="t"/>
          <a:lstStyle/>
          <a:p>
            <a:pPr indent="0" marL="0">
              <a:buNone/>
            </a:pPr>
            <a:r>
              <a:rPr lang="en-US" sz="3400" b="1" dirty="0">
                <a:solidFill>
                  <a:srgbClr val="141B3D"/>
                </a:solidFill>
                <a:latin typeface="Cambria" pitchFamily="34" charset="0"/>
                <a:ea typeface="Cambria" pitchFamily="34" charset="-122"/>
                <a:cs typeface="Cambria" pitchFamily="34" charset="-120"/>
              </a:rPr>
              <a:t>One platform, from registration to published grade</a:t>
            </a:r>
            <a:endParaRPr lang="en-US" sz="3400" dirty="0"/>
          </a:p>
        </p:txBody>
      </p:sp>
      <p:sp>
        <p:nvSpPr>
          <p:cNvPr id="4" name="Shape 2"/>
          <p:cNvSpPr/>
          <p:nvPr/>
        </p:nvSpPr>
        <p:spPr>
          <a:xfrm>
            <a:off x="548640" y="1572768"/>
            <a:ext cx="5669280" cy="4224528"/>
          </a:xfrm>
          <a:prstGeom prst="roundRect">
            <a:avLst>
              <a:gd name="adj" fmla="val 1948"/>
            </a:avLst>
          </a:prstGeom>
          <a:solidFill>
            <a:srgbClr val="FFFFFF"/>
          </a:solidFill>
          <a:ln w="9525">
            <a:solidFill>
              <a:srgbClr val="FFFFFF"/>
            </a:solidFill>
            <a:prstDash val="solid"/>
          </a:ln>
          <a:effectLst>
            <a:outerShdw sx="100000" sy="100000" kx="0" ky="0" algn="bl" rotWithShape="0" blurRad="177800" dist="38100" dir="5400000">
              <a:srgbClr val="1E2761">
                <a:alpha val="10000"/>
              </a:srgbClr>
            </a:outerShdw>
          </a:effectLst>
        </p:spPr>
      </p:sp>
      <p:sp>
        <p:nvSpPr>
          <p:cNvPr id="5" name="Text 3"/>
          <p:cNvSpPr/>
          <p:nvPr/>
        </p:nvSpPr>
        <p:spPr>
          <a:xfrm>
            <a:off x="932688" y="1883664"/>
            <a:ext cx="4937760" cy="731520"/>
          </a:xfrm>
          <a:prstGeom prst="rect">
            <a:avLst/>
          </a:prstGeom>
          <a:noFill/>
          <a:ln/>
        </p:spPr>
        <p:txBody>
          <a:bodyPr wrap="square" lIns="0" tIns="0" rIns="0" bIns="0" rtlCol="0" anchor="ctr"/>
          <a:lstStyle/>
          <a:p>
            <a:pPr indent="0" marL="0">
              <a:lnSpc>
                <a:spcPts val="2800"/>
              </a:lnSpc>
              <a:buNone/>
            </a:pPr>
            <a:r>
              <a:rPr lang="en-US" sz="2100" b="1" dirty="0">
                <a:solidFill>
                  <a:srgbClr val="141B3D"/>
                </a:solidFill>
                <a:latin typeface="Cambria" pitchFamily="34" charset="0"/>
                <a:ea typeface="Cambria" pitchFamily="34" charset="-122"/>
                <a:cs typeface="Cambria" pitchFamily="34" charset="-120"/>
              </a:rPr>
              <a:t>LabSubmit is a role-based web platform that replaces the entire lab workflow end to end.</a:t>
            </a:r>
            <a:endParaRPr lang="en-US" sz="2100" dirty="0"/>
          </a:p>
        </p:txBody>
      </p:sp>
      <p:sp>
        <p:nvSpPr>
          <p:cNvPr id="6" name="Text 4"/>
          <p:cNvSpPr/>
          <p:nvPr/>
        </p:nvSpPr>
        <p:spPr>
          <a:xfrm>
            <a:off x="932688" y="2743200"/>
            <a:ext cx="4937760" cy="2651760"/>
          </a:xfrm>
          <a:prstGeom prst="rect">
            <a:avLst/>
          </a:prstGeom>
          <a:noFill/>
          <a:ln/>
        </p:spPr>
        <p:txBody>
          <a:bodyPr wrap="square" lIns="0" tIns="0" rIns="0" bIns="0" rtlCol="0" anchor="t"/>
          <a:lstStyle/>
          <a:p>
            <a:pPr marL="342900" indent="-342900">
              <a:lnSpc>
                <a:spcPts val="1700"/>
              </a:lnSpc>
              <a:spcAft>
                <a:spcPts val="900"/>
              </a:spcAft>
              <a:buSzPct val="100000"/>
              <a:buChar char="•"/>
            </a:pPr>
            <a:r>
              <a:rPr lang="en-US" sz="1300" dirty="0">
                <a:solidFill>
                  <a:srgbClr val="1A1F36"/>
                </a:solidFill>
                <a:latin typeface="Calibri" pitchFamily="34" charset="0"/>
                <a:ea typeface="Calibri" pitchFamily="34" charset="-122"/>
                <a:cs typeface="Calibri" pitchFamily="34" charset="-120"/>
              </a:rPr>
              <a:t>Roll-number-gated registration against Admin-authorised ranges</a:t>
            </a:r>
            <a:endParaRPr lang="en-US" sz="1300" dirty="0"/>
          </a:p>
          <a:p>
            <a:pPr marL="342900" indent="-342900">
              <a:lnSpc>
                <a:spcPts val="1700"/>
              </a:lnSpc>
              <a:spcAft>
                <a:spcPts val="900"/>
              </a:spcAft>
              <a:buSzPct val="100000"/>
              <a:buChar char="•"/>
            </a:pPr>
            <a:r>
              <a:rPr lang="en-US" sz="1300" dirty="0">
                <a:solidFill>
                  <a:srgbClr val="1A1F36"/>
                </a:solidFill>
                <a:latin typeface="Calibri" pitchFamily="34" charset="0"/>
                <a:ea typeface="Calibri" pitchFamily="34" charset="-122"/>
                <a:cs typeface="Calibri" pitchFamily="34" charset="-120"/>
              </a:rPr>
              <a:t>Faculty-authored lab assignments with due dates and constraints</a:t>
            </a:r>
            <a:endParaRPr lang="en-US" sz="1300" dirty="0"/>
          </a:p>
          <a:p>
            <a:pPr marL="342900" indent="-342900">
              <a:lnSpc>
                <a:spcPts val="1700"/>
              </a:lnSpc>
              <a:spcAft>
                <a:spcPts val="900"/>
              </a:spcAft>
              <a:buSzPct val="100000"/>
              <a:buChar char="•"/>
            </a:pPr>
            <a:r>
              <a:rPr lang="en-US" sz="1300" dirty="0">
                <a:solidFill>
                  <a:srgbClr val="1A1F36"/>
                </a:solidFill>
                <a:latin typeface="Calibri" pitchFamily="34" charset="0"/>
                <a:ea typeface="Calibri" pitchFamily="34" charset="-122"/>
                <a:cs typeface="Calibri" pitchFamily="34" charset="-120"/>
              </a:rPr>
              <a:t>An in-browser IDE that compiles on the server, not the student's machine</a:t>
            </a:r>
            <a:endParaRPr lang="en-US" sz="1300" dirty="0"/>
          </a:p>
          <a:p>
            <a:pPr marL="342900" indent="-342900">
              <a:lnSpc>
                <a:spcPts val="1700"/>
              </a:lnSpc>
              <a:spcAft>
                <a:spcPts val="900"/>
              </a:spcAft>
              <a:buSzPct val="100000"/>
              <a:buChar char="•"/>
            </a:pPr>
            <a:r>
              <a:rPr lang="en-US" sz="1300" dirty="0">
                <a:solidFill>
                  <a:srgbClr val="1A1F36"/>
                </a:solidFill>
                <a:latin typeface="Calibri" pitchFamily="34" charset="0"/>
                <a:ea typeface="Calibri" pitchFamily="34" charset="-122"/>
                <a:cs typeface="Calibri" pitchFamily="34" charset="-120"/>
              </a:rPr>
              <a:t>Editor-level anti-cheat controls and automatic submission locking</a:t>
            </a:r>
            <a:endParaRPr lang="en-US" sz="1300" dirty="0"/>
          </a:p>
          <a:p>
            <a:pPr marL="342900" indent="-342900">
              <a:lnSpc>
                <a:spcPts val="1700"/>
              </a:lnSpc>
              <a:spcAft>
                <a:spcPts val="900"/>
              </a:spcAft>
              <a:buSzPct val="100000"/>
              <a:buChar char="•"/>
            </a:pPr>
            <a:r>
              <a:rPr lang="en-US" sz="1300" dirty="0">
                <a:solidFill>
                  <a:srgbClr val="1A1F36"/>
                </a:solidFill>
                <a:latin typeface="Calibri" pitchFamily="34" charset="0"/>
                <a:ea typeface="Calibri" pitchFamily="34" charset="-122"/>
                <a:cs typeface="Calibri" pitchFamily="34" charset="-120"/>
              </a:rPr>
              <a:t>Marks, remarks and status that students see in real time</a:t>
            </a:r>
            <a:endParaRPr lang="en-US" sz="1300" dirty="0"/>
          </a:p>
        </p:txBody>
      </p:sp>
      <p:sp>
        <p:nvSpPr>
          <p:cNvPr id="7" name="Shape 5"/>
          <p:cNvSpPr/>
          <p:nvPr/>
        </p:nvSpPr>
        <p:spPr>
          <a:xfrm>
            <a:off x="6528816" y="1572768"/>
            <a:ext cx="2487168" cy="2011680"/>
          </a:xfrm>
          <a:prstGeom prst="roundRect">
            <a:avLst>
              <a:gd name="adj" fmla="val 4091"/>
            </a:avLst>
          </a:prstGeom>
          <a:solidFill>
            <a:srgbClr val="141B3D"/>
          </a:solidFill>
          <a:ln w="9525">
            <a:solidFill>
              <a:srgbClr val="141B3D"/>
            </a:solidFill>
            <a:prstDash val="solid"/>
          </a:ln>
          <a:effectLst>
            <a:outerShdw sx="100000" sy="100000" kx="0" ky="0" algn="bl" rotWithShape="0" blurRad="177800" dist="38100" dir="5400000">
              <a:srgbClr val="1E2761">
                <a:alpha val="10000"/>
              </a:srgbClr>
            </a:outerShdw>
          </a:effectLst>
        </p:spPr>
      </p:sp>
      <p:sp>
        <p:nvSpPr>
          <p:cNvPr id="8" name="Text 6"/>
          <p:cNvSpPr/>
          <p:nvPr/>
        </p:nvSpPr>
        <p:spPr>
          <a:xfrm>
            <a:off x="6766560" y="1773936"/>
            <a:ext cx="2029968" cy="749808"/>
          </a:xfrm>
          <a:prstGeom prst="rect">
            <a:avLst/>
          </a:prstGeom>
          <a:noFill/>
          <a:ln/>
        </p:spPr>
        <p:txBody>
          <a:bodyPr wrap="square" lIns="0" tIns="0" rIns="0" bIns="0" rtlCol="0" anchor="ctr"/>
          <a:lstStyle/>
          <a:p>
            <a:pPr indent="0" marL="0">
              <a:buNone/>
            </a:pPr>
            <a:r>
              <a:rPr lang="en-US" sz="4600" b="1" dirty="0">
                <a:solidFill>
                  <a:srgbClr val="00C39A"/>
                </a:solidFill>
                <a:latin typeface="Cambria" pitchFamily="34" charset="0"/>
                <a:ea typeface="Cambria" pitchFamily="34" charset="-122"/>
                <a:cs typeface="Cambria" pitchFamily="34" charset="-120"/>
              </a:rPr>
              <a:t>5</a:t>
            </a:r>
            <a:endParaRPr lang="en-US" sz="4600" dirty="0"/>
          </a:p>
        </p:txBody>
      </p:sp>
      <p:sp>
        <p:nvSpPr>
          <p:cNvPr id="9" name="Text 7"/>
          <p:cNvSpPr/>
          <p:nvPr/>
        </p:nvSpPr>
        <p:spPr>
          <a:xfrm>
            <a:off x="6766560" y="2560320"/>
            <a:ext cx="2029968" cy="530352"/>
          </a:xfrm>
          <a:prstGeom prst="rect">
            <a:avLst/>
          </a:prstGeom>
          <a:noFill/>
          <a:ln/>
        </p:spPr>
        <p:txBody>
          <a:bodyPr wrap="square" lIns="0" tIns="0" rIns="0" bIns="0" rtlCol="0" anchor="ctr"/>
          <a:lstStyle/>
          <a:p>
            <a:pPr indent="0" marL="0">
              <a:lnSpc>
                <a:spcPts val="1500"/>
              </a:lnSpc>
              <a:buNone/>
            </a:pPr>
            <a:r>
              <a:rPr lang="en-US" sz="1250" b="1" dirty="0">
                <a:solidFill>
                  <a:srgbClr val="FFFFFF"/>
                </a:solidFill>
                <a:latin typeface="Calibri" pitchFamily="34" charset="0"/>
                <a:ea typeface="Calibri" pitchFamily="34" charset="-122"/>
                <a:cs typeface="Calibri" pitchFamily="34" charset="-120"/>
              </a:rPr>
              <a:t>languages compiled server-side</a:t>
            </a:r>
            <a:endParaRPr lang="en-US" sz="1250" dirty="0"/>
          </a:p>
        </p:txBody>
      </p:sp>
      <p:sp>
        <p:nvSpPr>
          <p:cNvPr id="10" name="Text 8"/>
          <p:cNvSpPr/>
          <p:nvPr/>
        </p:nvSpPr>
        <p:spPr>
          <a:xfrm>
            <a:off x="6766560" y="3072384"/>
            <a:ext cx="2029968" cy="384048"/>
          </a:xfrm>
          <a:prstGeom prst="rect">
            <a:avLst/>
          </a:prstGeom>
          <a:noFill/>
          <a:ln/>
        </p:spPr>
        <p:txBody>
          <a:bodyPr wrap="square" lIns="0" tIns="0" rIns="0" bIns="0" rtlCol="0" anchor="ctr"/>
          <a:lstStyle/>
          <a:p>
            <a:pPr indent="0" marL="0">
              <a:lnSpc>
                <a:spcPts val="1300"/>
              </a:lnSpc>
              <a:buNone/>
            </a:pPr>
            <a:r>
              <a:rPr lang="en-US" sz="1000" dirty="0">
                <a:solidFill>
                  <a:srgbClr val="9AA6C4"/>
                </a:solidFill>
                <a:latin typeface="Calibri" pitchFamily="34" charset="0"/>
                <a:ea typeface="Calibri" pitchFamily="34" charset="-122"/>
                <a:cs typeface="Calibri" pitchFamily="34" charset="-120"/>
              </a:rPr>
              <a:t>C, C++, Java, Python, JavaScript</a:t>
            </a:r>
            <a:endParaRPr lang="en-US" sz="1000" dirty="0"/>
          </a:p>
        </p:txBody>
      </p:sp>
      <p:sp>
        <p:nvSpPr>
          <p:cNvPr id="11" name="Shape 9"/>
          <p:cNvSpPr/>
          <p:nvPr/>
        </p:nvSpPr>
        <p:spPr>
          <a:xfrm>
            <a:off x="9299448" y="1572768"/>
            <a:ext cx="2487168" cy="2011680"/>
          </a:xfrm>
          <a:prstGeom prst="roundRect">
            <a:avLst>
              <a:gd name="adj" fmla="val 4091"/>
            </a:avLst>
          </a:prstGeom>
          <a:solidFill>
            <a:srgbClr val="F4F6FC"/>
          </a:solidFill>
          <a:ln w="9525">
            <a:solidFill>
              <a:srgbClr val="F4F6FC"/>
            </a:solidFill>
            <a:prstDash val="solid"/>
          </a:ln>
          <a:effectLst>
            <a:outerShdw sx="100000" sy="100000" kx="0" ky="0" algn="bl" rotWithShape="0" blurRad="177800" dist="38100" dir="5400000">
              <a:srgbClr val="1E2761">
                <a:alpha val="10000"/>
              </a:srgbClr>
            </a:outerShdw>
          </a:effectLst>
        </p:spPr>
      </p:sp>
      <p:sp>
        <p:nvSpPr>
          <p:cNvPr id="12" name="Text 10"/>
          <p:cNvSpPr/>
          <p:nvPr/>
        </p:nvSpPr>
        <p:spPr>
          <a:xfrm>
            <a:off x="9537192" y="1773936"/>
            <a:ext cx="2029968" cy="749808"/>
          </a:xfrm>
          <a:prstGeom prst="rect">
            <a:avLst/>
          </a:prstGeom>
          <a:noFill/>
          <a:ln/>
        </p:spPr>
        <p:txBody>
          <a:bodyPr wrap="square" lIns="0" tIns="0" rIns="0" bIns="0" rtlCol="0" anchor="ctr"/>
          <a:lstStyle/>
          <a:p>
            <a:pPr indent="0" marL="0">
              <a:buNone/>
            </a:pPr>
            <a:r>
              <a:rPr lang="en-US" sz="4600" b="1" dirty="0">
                <a:solidFill>
                  <a:srgbClr val="141B3D"/>
                </a:solidFill>
                <a:latin typeface="Cambria" pitchFamily="34" charset="0"/>
                <a:ea typeface="Cambria" pitchFamily="34" charset="-122"/>
                <a:cs typeface="Cambria" pitchFamily="34" charset="-120"/>
              </a:rPr>
              <a:t>3</a:t>
            </a:r>
            <a:endParaRPr lang="en-US" sz="4600" dirty="0"/>
          </a:p>
        </p:txBody>
      </p:sp>
      <p:sp>
        <p:nvSpPr>
          <p:cNvPr id="13" name="Text 11"/>
          <p:cNvSpPr/>
          <p:nvPr/>
        </p:nvSpPr>
        <p:spPr>
          <a:xfrm>
            <a:off x="9537192" y="2560320"/>
            <a:ext cx="2029968" cy="530352"/>
          </a:xfrm>
          <a:prstGeom prst="rect">
            <a:avLst/>
          </a:prstGeom>
          <a:noFill/>
          <a:ln/>
        </p:spPr>
        <p:txBody>
          <a:bodyPr wrap="square" lIns="0" tIns="0" rIns="0" bIns="0" rtlCol="0" anchor="ctr"/>
          <a:lstStyle/>
          <a:p>
            <a:pPr indent="0" marL="0">
              <a:lnSpc>
                <a:spcPts val="1500"/>
              </a:lnSpc>
              <a:buNone/>
            </a:pPr>
            <a:r>
              <a:rPr lang="en-US" sz="1250" b="1" dirty="0">
                <a:solidFill>
                  <a:srgbClr val="141B3D"/>
                </a:solidFill>
                <a:latin typeface="Calibri" pitchFamily="34" charset="0"/>
                <a:ea typeface="Calibri" pitchFamily="34" charset="-122"/>
                <a:cs typeface="Calibri" pitchFamily="34" charset="-120"/>
              </a:rPr>
              <a:t>role-based dashboards</a:t>
            </a:r>
            <a:endParaRPr lang="en-US" sz="1250" dirty="0"/>
          </a:p>
        </p:txBody>
      </p:sp>
      <p:sp>
        <p:nvSpPr>
          <p:cNvPr id="14" name="Text 12"/>
          <p:cNvSpPr/>
          <p:nvPr/>
        </p:nvSpPr>
        <p:spPr>
          <a:xfrm>
            <a:off x="9537192" y="3072384"/>
            <a:ext cx="2029968" cy="384048"/>
          </a:xfrm>
          <a:prstGeom prst="rect">
            <a:avLst/>
          </a:prstGeom>
          <a:noFill/>
          <a:ln/>
        </p:spPr>
        <p:txBody>
          <a:bodyPr wrap="square" lIns="0" tIns="0" rIns="0" bIns="0" rtlCol="0" anchor="ctr"/>
          <a:lstStyle/>
          <a:p>
            <a:pPr indent="0" marL="0">
              <a:lnSpc>
                <a:spcPts val="1300"/>
              </a:lnSpc>
              <a:buNone/>
            </a:pPr>
            <a:r>
              <a:rPr lang="en-US" sz="1000" dirty="0">
                <a:solidFill>
                  <a:srgbClr val="646E8C"/>
                </a:solidFill>
                <a:latin typeface="Calibri" pitchFamily="34" charset="0"/>
                <a:ea typeface="Calibri" pitchFamily="34" charset="-122"/>
                <a:cs typeface="Calibri" pitchFamily="34" charset="-120"/>
              </a:rPr>
              <a:t>Administrator, Faculty, Student</a:t>
            </a:r>
            <a:endParaRPr lang="en-US" sz="1000" dirty="0"/>
          </a:p>
        </p:txBody>
      </p:sp>
      <p:sp>
        <p:nvSpPr>
          <p:cNvPr id="15" name="Shape 13"/>
          <p:cNvSpPr/>
          <p:nvPr/>
        </p:nvSpPr>
        <p:spPr>
          <a:xfrm>
            <a:off x="6528816" y="3785616"/>
            <a:ext cx="2487168" cy="2011680"/>
          </a:xfrm>
          <a:prstGeom prst="roundRect">
            <a:avLst>
              <a:gd name="adj" fmla="val 4091"/>
            </a:avLst>
          </a:prstGeom>
          <a:solidFill>
            <a:srgbClr val="F4F6FC"/>
          </a:solidFill>
          <a:ln w="9525">
            <a:solidFill>
              <a:srgbClr val="F4F6FC"/>
            </a:solidFill>
            <a:prstDash val="solid"/>
          </a:ln>
          <a:effectLst>
            <a:outerShdw sx="100000" sy="100000" kx="0" ky="0" algn="bl" rotWithShape="0" blurRad="177800" dist="38100" dir="5400000">
              <a:srgbClr val="1E2761">
                <a:alpha val="10000"/>
              </a:srgbClr>
            </a:outerShdw>
          </a:effectLst>
        </p:spPr>
      </p:sp>
      <p:sp>
        <p:nvSpPr>
          <p:cNvPr id="16" name="Text 14"/>
          <p:cNvSpPr/>
          <p:nvPr/>
        </p:nvSpPr>
        <p:spPr>
          <a:xfrm>
            <a:off x="6766560" y="3986784"/>
            <a:ext cx="2029968" cy="749808"/>
          </a:xfrm>
          <a:prstGeom prst="rect">
            <a:avLst/>
          </a:prstGeom>
          <a:noFill/>
          <a:ln/>
        </p:spPr>
        <p:txBody>
          <a:bodyPr wrap="square" lIns="0" tIns="0" rIns="0" bIns="0" rtlCol="0" anchor="ctr"/>
          <a:lstStyle/>
          <a:p>
            <a:pPr indent="0" marL="0">
              <a:buNone/>
            </a:pPr>
            <a:r>
              <a:rPr lang="en-US" sz="4600" b="1" dirty="0">
                <a:solidFill>
                  <a:srgbClr val="141B3D"/>
                </a:solidFill>
                <a:latin typeface="Cambria" pitchFamily="34" charset="0"/>
                <a:ea typeface="Cambria" pitchFamily="34" charset="-122"/>
                <a:cs typeface="Cambria" pitchFamily="34" charset="-120"/>
              </a:rPr>
              <a:t>₹0</a:t>
            </a:r>
            <a:endParaRPr lang="en-US" sz="4600" dirty="0"/>
          </a:p>
        </p:txBody>
      </p:sp>
      <p:sp>
        <p:nvSpPr>
          <p:cNvPr id="17" name="Text 15"/>
          <p:cNvSpPr/>
          <p:nvPr/>
        </p:nvSpPr>
        <p:spPr>
          <a:xfrm>
            <a:off x="6766560" y="4773168"/>
            <a:ext cx="2029968" cy="530352"/>
          </a:xfrm>
          <a:prstGeom prst="rect">
            <a:avLst/>
          </a:prstGeom>
          <a:noFill/>
          <a:ln/>
        </p:spPr>
        <p:txBody>
          <a:bodyPr wrap="square" lIns="0" tIns="0" rIns="0" bIns="0" rtlCol="0" anchor="ctr"/>
          <a:lstStyle/>
          <a:p>
            <a:pPr indent="0" marL="0">
              <a:lnSpc>
                <a:spcPts val="1500"/>
              </a:lnSpc>
              <a:buNone/>
            </a:pPr>
            <a:r>
              <a:rPr lang="en-US" sz="1250" b="1" dirty="0">
                <a:solidFill>
                  <a:srgbClr val="141B3D"/>
                </a:solidFill>
                <a:latin typeface="Calibri" pitchFamily="34" charset="0"/>
                <a:ea typeface="Calibri" pitchFamily="34" charset="-122"/>
                <a:cs typeface="Calibri" pitchFamily="34" charset="-120"/>
              </a:rPr>
              <a:t>licence and development cost</a:t>
            </a:r>
            <a:endParaRPr lang="en-US" sz="1250" dirty="0"/>
          </a:p>
        </p:txBody>
      </p:sp>
      <p:sp>
        <p:nvSpPr>
          <p:cNvPr id="18" name="Text 16"/>
          <p:cNvSpPr/>
          <p:nvPr/>
        </p:nvSpPr>
        <p:spPr>
          <a:xfrm>
            <a:off x="6766560" y="5285232"/>
            <a:ext cx="2029968" cy="384048"/>
          </a:xfrm>
          <a:prstGeom prst="rect">
            <a:avLst/>
          </a:prstGeom>
          <a:noFill/>
          <a:ln/>
        </p:spPr>
        <p:txBody>
          <a:bodyPr wrap="square" lIns="0" tIns="0" rIns="0" bIns="0" rtlCol="0" anchor="ctr"/>
          <a:lstStyle/>
          <a:p>
            <a:pPr indent="0" marL="0">
              <a:lnSpc>
                <a:spcPts val="1300"/>
              </a:lnSpc>
              <a:buNone/>
            </a:pPr>
            <a:r>
              <a:rPr lang="en-US" sz="1000" dirty="0">
                <a:solidFill>
                  <a:srgbClr val="646E8C"/>
                </a:solidFill>
                <a:latin typeface="Calibri" pitchFamily="34" charset="0"/>
                <a:ea typeface="Calibri" pitchFamily="34" charset="-122"/>
                <a:cs typeface="Calibri" pitchFamily="34" charset="-120"/>
              </a:rPr>
              <a:t>Open-source stack, already built</a:t>
            </a:r>
            <a:endParaRPr lang="en-US" sz="1000" dirty="0"/>
          </a:p>
        </p:txBody>
      </p:sp>
      <p:sp>
        <p:nvSpPr>
          <p:cNvPr id="19" name="Shape 17"/>
          <p:cNvSpPr/>
          <p:nvPr/>
        </p:nvSpPr>
        <p:spPr>
          <a:xfrm>
            <a:off x="9299448" y="3785616"/>
            <a:ext cx="2487168" cy="2011680"/>
          </a:xfrm>
          <a:prstGeom prst="roundRect">
            <a:avLst>
              <a:gd name="adj" fmla="val 4091"/>
            </a:avLst>
          </a:prstGeom>
          <a:solidFill>
            <a:srgbClr val="F4F6FC"/>
          </a:solidFill>
          <a:ln w="9525">
            <a:solidFill>
              <a:srgbClr val="F4F6FC"/>
            </a:solidFill>
            <a:prstDash val="solid"/>
          </a:ln>
          <a:effectLst>
            <a:outerShdw sx="100000" sy="100000" kx="0" ky="0" algn="bl" rotWithShape="0" blurRad="177800" dist="38100" dir="5400000">
              <a:srgbClr val="1E2761">
                <a:alpha val="10000"/>
              </a:srgbClr>
            </a:outerShdw>
          </a:effectLst>
        </p:spPr>
      </p:sp>
      <p:sp>
        <p:nvSpPr>
          <p:cNvPr id="20" name="Text 18"/>
          <p:cNvSpPr/>
          <p:nvPr/>
        </p:nvSpPr>
        <p:spPr>
          <a:xfrm>
            <a:off x="9537192" y="3986784"/>
            <a:ext cx="2029968" cy="749808"/>
          </a:xfrm>
          <a:prstGeom prst="rect">
            <a:avLst/>
          </a:prstGeom>
          <a:noFill/>
          <a:ln/>
        </p:spPr>
        <p:txBody>
          <a:bodyPr wrap="square" lIns="0" tIns="0" rIns="0" bIns="0" rtlCol="0" anchor="ctr"/>
          <a:lstStyle/>
          <a:p>
            <a:pPr indent="0" marL="0">
              <a:buNone/>
            </a:pPr>
            <a:r>
              <a:rPr lang="en-US" sz="4600" b="1" dirty="0">
                <a:solidFill>
                  <a:srgbClr val="141B3D"/>
                </a:solidFill>
                <a:latin typeface="Cambria" pitchFamily="34" charset="0"/>
                <a:ea typeface="Cambria" pitchFamily="34" charset="-122"/>
                <a:cs typeface="Cambria" pitchFamily="34" charset="-120"/>
              </a:rPr>
              <a:t>1</a:t>
            </a:r>
            <a:endParaRPr lang="en-US" sz="4600" dirty="0"/>
          </a:p>
        </p:txBody>
      </p:sp>
      <p:sp>
        <p:nvSpPr>
          <p:cNvPr id="21" name="Text 19"/>
          <p:cNvSpPr/>
          <p:nvPr/>
        </p:nvSpPr>
        <p:spPr>
          <a:xfrm>
            <a:off x="9537192" y="4773168"/>
            <a:ext cx="2029968" cy="530352"/>
          </a:xfrm>
          <a:prstGeom prst="rect">
            <a:avLst/>
          </a:prstGeom>
          <a:noFill/>
          <a:ln/>
        </p:spPr>
        <p:txBody>
          <a:bodyPr wrap="square" lIns="0" tIns="0" rIns="0" bIns="0" rtlCol="0" anchor="ctr"/>
          <a:lstStyle/>
          <a:p>
            <a:pPr indent="0" marL="0">
              <a:lnSpc>
                <a:spcPts val="1500"/>
              </a:lnSpc>
              <a:buNone/>
            </a:pPr>
            <a:r>
              <a:rPr lang="en-US" sz="1250" b="1" dirty="0">
                <a:solidFill>
                  <a:srgbClr val="141B3D"/>
                </a:solidFill>
                <a:latin typeface="Calibri" pitchFamily="34" charset="0"/>
                <a:ea typeface="Calibri" pitchFamily="34" charset="-122"/>
                <a:cs typeface="Calibri" pitchFamily="34" charset="-120"/>
              </a:rPr>
              <a:t>live public deployment</a:t>
            </a:r>
            <a:endParaRPr lang="en-US" sz="1250" dirty="0"/>
          </a:p>
        </p:txBody>
      </p:sp>
      <p:sp>
        <p:nvSpPr>
          <p:cNvPr id="22" name="Text 20"/>
          <p:cNvSpPr/>
          <p:nvPr/>
        </p:nvSpPr>
        <p:spPr>
          <a:xfrm>
            <a:off x="9537192" y="5285232"/>
            <a:ext cx="2029968" cy="384048"/>
          </a:xfrm>
          <a:prstGeom prst="rect">
            <a:avLst/>
          </a:prstGeom>
          <a:noFill/>
          <a:ln/>
        </p:spPr>
        <p:txBody>
          <a:bodyPr wrap="square" lIns="0" tIns="0" rIns="0" bIns="0" rtlCol="0" anchor="ctr"/>
          <a:lstStyle/>
          <a:p>
            <a:pPr indent="0" marL="0">
              <a:lnSpc>
                <a:spcPts val="1300"/>
              </a:lnSpc>
              <a:buNone/>
            </a:pPr>
            <a:r>
              <a:rPr lang="en-US" sz="1000" dirty="0">
                <a:solidFill>
                  <a:srgbClr val="646E8C"/>
                </a:solidFill>
                <a:latin typeface="Calibri" pitchFamily="34" charset="0"/>
                <a:ea typeface="Calibri" pitchFamily="34" charset="-122"/>
                <a:cs typeface="Calibri" pitchFamily="34" charset="-120"/>
              </a:rPr>
              <a:t>Reviewable before anything is approved</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65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
                                        </p:tgtEl>
                                        <p:attrNameLst>
                                          <p:attrName>style.visibility</p:attrName>
                                        </p:attrNameLst>
                                      </p:cBhvr>
                                      <p:to>
                                        <p:strVal val="visible"/>
                                      </p:to>
                                    </p:set>
                                    <p:animEffect transition="in" filter="fade">
                                      <p:cBhvr>
                                        <p:cTn id="7" dur="380"/>
                                        <p:tgtEl>
                                          <p:spTgt spid="1"/>
                                        </p:tgtEl>
                                      </p:cBhvr>
                                    </p:animEffect>
                                    <p:anim calcmode="lin" valueType="num">
                                      <p:cBhvr additive="base">
                                        <p:cTn id="8" dur="380" fill="hold"/>
                                        <p:tgtEl>
                                          <p:spTgt spid="1"/>
                                        </p:tgtEl>
                                        <p:attrNameLst>
                                          <p:attrName>ppt_y</p:attrName>
                                        </p:attrNameLst>
                                      </p:cBhvr>
                                      <p:tavLst>
                                        <p:tav tm="0">
                                          <p:val>
                                            <p:strVal val="#ppt_y+0.03"/>
                                          </p:val>
                                        </p:tav>
                                        <p:tav tm="100000">
                                          <p:val>
                                            <p:strVal val="#ppt_y"/>
                                          </p:val>
                                        </p:tav>
                                      </p:tavLst>
                                    </p:anim>
                                  </p:childTnLst>
                                </p:cTn>
                              </p:par>
                              <p:par>
                                <p:cTn id="9" presetID="42" presetClass="entr" presetSubtype="0" fill="hold" grpId="0" nodeType="afterEffect">
                                  <p:stCondLst>
                                    <p:cond delay="81"/>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380"/>
                                        <p:tgtEl>
                                          <p:spTgt spid="2"/>
                                        </p:tgtEl>
                                      </p:cBhvr>
                                    </p:animEffect>
                                    <p:anim calcmode="lin" valueType="num">
                                      <p:cBhvr additive="base">
                                        <p:cTn id="12" dur="380" fill="hold"/>
                                        <p:tgtEl>
                                          <p:spTgt spid="2"/>
                                        </p:tgtEl>
                                        <p:attrNameLst>
                                          <p:attrName>ppt_y</p:attrName>
                                        </p:attrNameLst>
                                      </p:cBhvr>
                                      <p:tavLst>
                                        <p:tav tm="0">
                                          <p:val>
                                            <p:strVal val="#ppt_y+0.03"/>
                                          </p:val>
                                        </p:tav>
                                        <p:tav tm="100000">
                                          <p:val>
                                            <p:strVal val="#ppt_y"/>
                                          </p:val>
                                        </p:tav>
                                      </p:tavLst>
                                    </p:anim>
                                  </p:childTnLst>
                                </p:cTn>
                              </p:par>
                              <p:par>
                                <p:cTn id="13" presetID="42" presetClass="entr" presetSubtype="0" fill="hold" grpId="0" nodeType="afterEffect">
                                  <p:stCondLst>
                                    <p:cond delay="162"/>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380"/>
                                        <p:tgtEl>
                                          <p:spTgt spid="3"/>
                                        </p:tgtEl>
                                      </p:cBhvr>
                                    </p:animEffect>
                                    <p:anim calcmode="lin" valueType="num">
                                      <p:cBhvr additive="base">
                                        <p:cTn id="16" dur="380" fill="hold"/>
                                        <p:tgtEl>
                                          <p:spTgt spid="3"/>
                                        </p:tgtEl>
                                        <p:attrNameLst>
                                          <p:attrName>ppt_y</p:attrName>
                                        </p:attrNameLst>
                                      </p:cBhvr>
                                      <p:tavLst>
                                        <p:tav tm="0">
                                          <p:val>
                                            <p:strVal val="#ppt_y+0.03"/>
                                          </p:val>
                                        </p:tav>
                                        <p:tav tm="100000">
                                          <p:val>
                                            <p:strVal val="#ppt_y"/>
                                          </p:val>
                                        </p:tav>
                                      </p:tavLst>
                                    </p:anim>
                                  </p:childTnLst>
                                </p:cTn>
                              </p:par>
                              <p:par>
                                <p:cTn id="17" presetID="42" presetClass="entr" presetSubtype="0" fill="hold" grpId="0" nodeType="afterEffect">
                                  <p:stCondLst>
                                    <p:cond delay="243"/>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380"/>
                                        <p:tgtEl>
                                          <p:spTgt spid="4"/>
                                        </p:tgtEl>
                                      </p:cBhvr>
                                    </p:animEffect>
                                    <p:anim calcmode="lin" valueType="num">
                                      <p:cBhvr additive="base">
                                        <p:cTn id="20" dur="380" fill="hold"/>
                                        <p:tgtEl>
                                          <p:spTgt spid="4"/>
                                        </p:tgtEl>
                                        <p:attrNameLst>
                                          <p:attrName>ppt_y</p:attrName>
                                        </p:attrNameLst>
                                      </p:cBhvr>
                                      <p:tavLst>
                                        <p:tav tm="0">
                                          <p:val>
                                            <p:strVal val="#ppt_y+0.03"/>
                                          </p:val>
                                        </p:tav>
                                        <p:tav tm="100000">
                                          <p:val>
                                            <p:strVal val="#ppt_y"/>
                                          </p:val>
                                        </p:tav>
                                      </p:tavLst>
                                    </p:anim>
                                  </p:childTnLst>
                                </p:cTn>
                              </p:par>
                              <p:par>
                                <p:cTn id="21" presetID="42" presetClass="entr" presetSubtype="0" fill="hold" grpId="0" nodeType="afterEffect">
                                  <p:stCondLst>
                                    <p:cond delay="324"/>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380"/>
                                        <p:tgtEl>
                                          <p:spTgt spid="5"/>
                                        </p:tgtEl>
                                      </p:cBhvr>
                                    </p:animEffect>
                                    <p:anim calcmode="lin" valueType="num">
                                      <p:cBhvr additive="base">
                                        <p:cTn id="24" dur="380" fill="hold"/>
                                        <p:tgtEl>
                                          <p:spTgt spid="5"/>
                                        </p:tgtEl>
                                        <p:attrNameLst>
                                          <p:attrName>ppt_y</p:attrName>
                                        </p:attrNameLst>
                                      </p:cBhvr>
                                      <p:tavLst>
                                        <p:tav tm="0">
                                          <p:val>
                                            <p:strVal val="#ppt_y+0.03"/>
                                          </p:val>
                                        </p:tav>
                                        <p:tav tm="100000">
                                          <p:val>
                                            <p:strVal val="#ppt_y"/>
                                          </p:val>
                                        </p:tav>
                                      </p:tavLst>
                                    </p:anim>
                                  </p:childTnLst>
                                </p:cTn>
                              </p:par>
                              <p:par>
                                <p:cTn id="25" presetID="42" presetClass="entr" presetSubtype="0" fill="hold" grpId="0" nodeType="afterEffect">
                                  <p:stCondLst>
                                    <p:cond delay="405"/>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380"/>
                                        <p:tgtEl>
                                          <p:spTgt spid="6"/>
                                        </p:tgtEl>
                                      </p:cBhvr>
                                    </p:animEffect>
                                    <p:anim calcmode="lin" valueType="num">
                                      <p:cBhvr additive="base">
                                        <p:cTn id="28" dur="380" fill="hold"/>
                                        <p:tgtEl>
                                          <p:spTgt spid="6"/>
                                        </p:tgtEl>
                                        <p:attrNameLst>
                                          <p:attrName>ppt_y</p:attrName>
                                        </p:attrNameLst>
                                      </p:cBhvr>
                                      <p:tavLst>
                                        <p:tav tm="0">
                                          <p:val>
                                            <p:strVal val="#ppt_y+0.03"/>
                                          </p:val>
                                        </p:tav>
                                        <p:tav tm="100000">
                                          <p:val>
                                            <p:strVal val="#ppt_y"/>
                                          </p:val>
                                        </p:tav>
                                      </p:tavLst>
                                    </p:anim>
                                  </p:childTnLst>
                                </p:cTn>
                              </p:par>
                              <p:par>
                                <p:cTn id="29" presetID="42" presetClass="entr" presetSubtype="0" fill="hold" grpId="0" nodeType="afterEffect">
                                  <p:stCondLst>
                                    <p:cond delay="486"/>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380"/>
                                        <p:tgtEl>
                                          <p:spTgt spid="7"/>
                                        </p:tgtEl>
                                      </p:cBhvr>
                                    </p:animEffect>
                                    <p:anim calcmode="lin" valueType="num">
                                      <p:cBhvr additive="base">
                                        <p:cTn id="32" dur="380" fill="hold"/>
                                        <p:tgtEl>
                                          <p:spTgt spid="7"/>
                                        </p:tgtEl>
                                        <p:attrNameLst>
                                          <p:attrName>ppt_y</p:attrName>
                                        </p:attrNameLst>
                                      </p:cBhvr>
                                      <p:tavLst>
                                        <p:tav tm="0">
                                          <p:val>
                                            <p:strVal val="#ppt_y+0.03"/>
                                          </p:val>
                                        </p:tav>
                                        <p:tav tm="100000">
                                          <p:val>
                                            <p:strVal val="#ppt_y"/>
                                          </p:val>
                                        </p:tav>
                                      </p:tavLst>
                                    </p:anim>
                                  </p:childTnLst>
                                </p:cTn>
                              </p:par>
                              <p:par>
                                <p:cTn id="33" presetID="42" presetClass="entr" presetSubtype="0" fill="hold" grpId="0" nodeType="afterEffect">
                                  <p:stCondLst>
                                    <p:cond delay="567"/>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380"/>
                                        <p:tgtEl>
                                          <p:spTgt spid="8"/>
                                        </p:tgtEl>
                                      </p:cBhvr>
                                    </p:animEffect>
                                    <p:anim calcmode="lin" valueType="num">
                                      <p:cBhvr additive="base">
                                        <p:cTn id="36" dur="380" fill="hold"/>
                                        <p:tgtEl>
                                          <p:spTgt spid="8"/>
                                        </p:tgtEl>
                                        <p:attrNameLst>
                                          <p:attrName>ppt_y</p:attrName>
                                        </p:attrNameLst>
                                      </p:cBhvr>
                                      <p:tavLst>
                                        <p:tav tm="0">
                                          <p:val>
                                            <p:strVal val="#ppt_y+0.03"/>
                                          </p:val>
                                        </p:tav>
                                        <p:tav tm="100000">
                                          <p:val>
                                            <p:strVal val="#ppt_y"/>
                                          </p:val>
                                        </p:tav>
                                      </p:tavLst>
                                    </p:anim>
                                  </p:childTnLst>
                                </p:cTn>
                              </p:par>
                              <p:par>
                                <p:cTn id="37" presetID="42" presetClass="entr" presetSubtype="0" fill="hold" grpId="0" nodeType="afterEffect">
                                  <p:stCondLst>
                                    <p:cond delay="648"/>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380"/>
                                        <p:tgtEl>
                                          <p:spTgt spid="9"/>
                                        </p:tgtEl>
                                      </p:cBhvr>
                                    </p:animEffect>
                                    <p:anim calcmode="lin" valueType="num">
                                      <p:cBhvr additive="base">
                                        <p:cTn id="40" dur="380" fill="hold"/>
                                        <p:tgtEl>
                                          <p:spTgt spid="9"/>
                                        </p:tgtEl>
                                        <p:attrNameLst>
                                          <p:attrName>ppt_y</p:attrName>
                                        </p:attrNameLst>
                                      </p:cBhvr>
                                      <p:tavLst>
                                        <p:tav tm="0">
                                          <p:val>
                                            <p:strVal val="#ppt_y+0.03"/>
                                          </p:val>
                                        </p:tav>
                                        <p:tav tm="100000">
                                          <p:val>
                                            <p:strVal val="#ppt_y"/>
                                          </p:val>
                                        </p:tav>
                                      </p:tavLst>
                                    </p:anim>
                                  </p:childTnLst>
                                </p:cTn>
                              </p:par>
                              <p:par>
                                <p:cTn id="41" presetID="42" presetClass="entr" presetSubtype="0" fill="hold" grpId="0" nodeType="afterEffect">
                                  <p:stCondLst>
                                    <p:cond delay="729"/>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380"/>
                                        <p:tgtEl>
                                          <p:spTgt spid="10"/>
                                        </p:tgtEl>
                                      </p:cBhvr>
                                    </p:animEffect>
                                    <p:anim calcmode="lin" valueType="num">
                                      <p:cBhvr additive="base">
                                        <p:cTn id="44" dur="380" fill="hold"/>
                                        <p:tgtEl>
                                          <p:spTgt spid="10"/>
                                        </p:tgtEl>
                                        <p:attrNameLst>
                                          <p:attrName>ppt_y</p:attrName>
                                        </p:attrNameLst>
                                      </p:cBhvr>
                                      <p:tavLst>
                                        <p:tav tm="0">
                                          <p:val>
                                            <p:strVal val="#ppt_y+0.03"/>
                                          </p:val>
                                        </p:tav>
                                        <p:tav tm="100000">
                                          <p:val>
                                            <p:strVal val="#ppt_y"/>
                                          </p:val>
                                        </p:tav>
                                      </p:tavLst>
                                    </p:anim>
                                  </p:childTnLst>
                                </p:cTn>
                              </p:par>
                              <p:par>
                                <p:cTn id="45" presetID="42" presetClass="entr" presetSubtype="0" fill="hold" grpId="0" nodeType="afterEffect">
                                  <p:stCondLst>
                                    <p:cond delay="81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380"/>
                                        <p:tgtEl>
                                          <p:spTgt spid="11"/>
                                        </p:tgtEl>
                                      </p:cBhvr>
                                    </p:animEffect>
                                    <p:anim calcmode="lin" valueType="num">
                                      <p:cBhvr additive="base">
                                        <p:cTn id="48" dur="380" fill="hold"/>
                                        <p:tgtEl>
                                          <p:spTgt spid="11"/>
                                        </p:tgtEl>
                                        <p:attrNameLst>
                                          <p:attrName>ppt_y</p:attrName>
                                        </p:attrNameLst>
                                      </p:cBhvr>
                                      <p:tavLst>
                                        <p:tav tm="0">
                                          <p:val>
                                            <p:strVal val="#ppt_y+0.03"/>
                                          </p:val>
                                        </p:tav>
                                        <p:tav tm="100000">
                                          <p:val>
                                            <p:strVal val="#ppt_y"/>
                                          </p:val>
                                        </p:tav>
                                      </p:tavLst>
                                    </p:anim>
                                  </p:childTnLst>
                                </p:cTn>
                              </p:par>
                              <p:par>
                                <p:cTn id="49" presetID="42" presetClass="entr" presetSubtype="0" fill="hold" grpId="0" nodeType="afterEffect">
                                  <p:stCondLst>
                                    <p:cond delay="891"/>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380"/>
                                        <p:tgtEl>
                                          <p:spTgt spid="12"/>
                                        </p:tgtEl>
                                      </p:cBhvr>
                                    </p:animEffect>
                                    <p:anim calcmode="lin" valueType="num">
                                      <p:cBhvr additive="base">
                                        <p:cTn id="52" dur="380" fill="hold"/>
                                        <p:tgtEl>
                                          <p:spTgt spid="12"/>
                                        </p:tgtEl>
                                        <p:attrNameLst>
                                          <p:attrName>ppt_y</p:attrName>
                                        </p:attrNameLst>
                                      </p:cBhvr>
                                      <p:tavLst>
                                        <p:tav tm="0">
                                          <p:val>
                                            <p:strVal val="#ppt_y+0.03"/>
                                          </p:val>
                                        </p:tav>
                                        <p:tav tm="100000">
                                          <p:val>
                                            <p:strVal val="#ppt_y"/>
                                          </p:val>
                                        </p:tav>
                                      </p:tavLst>
                                    </p:anim>
                                  </p:childTnLst>
                                </p:cTn>
                              </p:par>
                              <p:par>
                                <p:cTn id="53" presetID="42" presetClass="entr" presetSubtype="0" fill="hold" grpId="0" nodeType="afterEffect">
                                  <p:stCondLst>
                                    <p:cond delay="972"/>
                                  </p:stCondLst>
                                  <p:childTnLst>
                                    <p:set>
                                      <p:cBhvr>
                                        <p:cTn id="54" dur="1" fill="hold">
                                          <p:stCondLst>
                                            <p:cond delay="0"/>
                                          </p:stCondLst>
                                        </p:cTn>
                                        <p:tgtEl>
                                          <p:spTgt spid="13"/>
                                        </p:tgtEl>
                                        <p:attrNameLst>
                                          <p:attrName>style.visibility</p:attrName>
                                        </p:attrNameLst>
                                      </p:cBhvr>
                                      <p:to>
                                        <p:strVal val="visible"/>
                                      </p:to>
                                    </p:set>
                                    <p:animEffect transition="in" filter="fade">
                                      <p:cBhvr>
                                        <p:cTn id="55" dur="380"/>
                                        <p:tgtEl>
                                          <p:spTgt spid="13"/>
                                        </p:tgtEl>
                                      </p:cBhvr>
                                    </p:animEffect>
                                    <p:anim calcmode="lin" valueType="num">
                                      <p:cBhvr additive="base">
                                        <p:cTn id="56" dur="380" fill="hold"/>
                                        <p:tgtEl>
                                          <p:spTgt spid="13"/>
                                        </p:tgtEl>
                                        <p:attrNameLst>
                                          <p:attrName>ppt_y</p:attrName>
                                        </p:attrNameLst>
                                      </p:cBhvr>
                                      <p:tavLst>
                                        <p:tav tm="0">
                                          <p:val>
                                            <p:strVal val="#ppt_y+0.03"/>
                                          </p:val>
                                        </p:tav>
                                        <p:tav tm="100000">
                                          <p:val>
                                            <p:strVal val="#ppt_y"/>
                                          </p:val>
                                        </p:tav>
                                      </p:tavLst>
                                    </p:anim>
                                  </p:childTnLst>
                                </p:cTn>
                              </p:par>
                              <p:par>
                                <p:cTn id="57" presetID="42" presetClass="entr" presetSubtype="0" fill="hold" grpId="0" nodeType="afterEffect">
                                  <p:stCondLst>
                                    <p:cond delay="1053"/>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380"/>
                                        <p:tgtEl>
                                          <p:spTgt spid="14"/>
                                        </p:tgtEl>
                                      </p:cBhvr>
                                    </p:animEffect>
                                    <p:anim calcmode="lin" valueType="num">
                                      <p:cBhvr additive="base">
                                        <p:cTn id="60" dur="380" fill="hold"/>
                                        <p:tgtEl>
                                          <p:spTgt spid="14"/>
                                        </p:tgtEl>
                                        <p:attrNameLst>
                                          <p:attrName>ppt_y</p:attrName>
                                        </p:attrNameLst>
                                      </p:cBhvr>
                                      <p:tavLst>
                                        <p:tav tm="0">
                                          <p:val>
                                            <p:strVal val="#ppt_y+0.03"/>
                                          </p:val>
                                        </p:tav>
                                        <p:tav tm="100000">
                                          <p:val>
                                            <p:strVal val="#ppt_y"/>
                                          </p:val>
                                        </p:tav>
                                      </p:tavLst>
                                    </p:anim>
                                  </p:childTnLst>
                                </p:cTn>
                              </p:par>
                              <p:par>
                                <p:cTn id="61" presetID="42" presetClass="entr" presetSubtype="0" fill="hold" grpId="0" nodeType="afterEffect">
                                  <p:stCondLst>
                                    <p:cond delay="1134"/>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380"/>
                                        <p:tgtEl>
                                          <p:spTgt spid="15"/>
                                        </p:tgtEl>
                                      </p:cBhvr>
                                    </p:animEffect>
                                    <p:anim calcmode="lin" valueType="num">
                                      <p:cBhvr additive="base">
                                        <p:cTn id="64" dur="380" fill="hold"/>
                                        <p:tgtEl>
                                          <p:spTgt spid="15"/>
                                        </p:tgtEl>
                                        <p:attrNameLst>
                                          <p:attrName>ppt_y</p:attrName>
                                        </p:attrNameLst>
                                      </p:cBhvr>
                                      <p:tavLst>
                                        <p:tav tm="0">
                                          <p:val>
                                            <p:strVal val="#ppt_y+0.03"/>
                                          </p:val>
                                        </p:tav>
                                        <p:tav tm="100000">
                                          <p:val>
                                            <p:strVal val="#ppt_y"/>
                                          </p:val>
                                        </p:tav>
                                      </p:tavLst>
                                    </p:anim>
                                  </p:childTnLst>
                                </p:cTn>
                              </p:par>
                              <p:par>
                                <p:cTn id="65" presetID="42" presetClass="entr" presetSubtype="0" fill="hold" grpId="0" nodeType="afterEffect">
                                  <p:stCondLst>
                                    <p:cond delay="1215"/>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380"/>
                                        <p:tgtEl>
                                          <p:spTgt spid="16"/>
                                        </p:tgtEl>
                                      </p:cBhvr>
                                    </p:animEffect>
                                    <p:anim calcmode="lin" valueType="num">
                                      <p:cBhvr additive="base">
                                        <p:cTn id="68" dur="380" fill="hold"/>
                                        <p:tgtEl>
                                          <p:spTgt spid="16"/>
                                        </p:tgtEl>
                                        <p:attrNameLst>
                                          <p:attrName>ppt_y</p:attrName>
                                        </p:attrNameLst>
                                      </p:cBhvr>
                                      <p:tavLst>
                                        <p:tav tm="0">
                                          <p:val>
                                            <p:strVal val="#ppt_y+0.03"/>
                                          </p:val>
                                        </p:tav>
                                        <p:tav tm="100000">
                                          <p:val>
                                            <p:strVal val="#ppt_y"/>
                                          </p:val>
                                        </p:tav>
                                      </p:tavLst>
                                    </p:anim>
                                  </p:childTnLst>
                                </p:cTn>
                              </p:par>
                              <p:par>
                                <p:cTn id="69" presetID="42" presetClass="entr" presetSubtype="0" fill="hold" grpId="0" nodeType="afterEffect">
                                  <p:stCondLst>
                                    <p:cond delay="1296"/>
                                  </p:stCondLst>
                                  <p:childTnLst>
                                    <p:set>
                                      <p:cBhvr>
                                        <p:cTn id="70" dur="1" fill="hold">
                                          <p:stCondLst>
                                            <p:cond delay="0"/>
                                          </p:stCondLst>
                                        </p:cTn>
                                        <p:tgtEl>
                                          <p:spTgt spid="17"/>
                                        </p:tgtEl>
                                        <p:attrNameLst>
                                          <p:attrName>style.visibility</p:attrName>
                                        </p:attrNameLst>
                                      </p:cBhvr>
                                      <p:to>
                                        <p:strVal val="visible"/>
                                      </p:to>
                                    </p:set>
                                    <p:animEffect transition="in" filter="fade">
                                      <p:cBhvr>
                                        <p:cTn id="71" dur="380"/>
                                        <p:tgtEl>
                                          <p:spTgt spid="17"/>
                                        </p:tgtEl>
                                      </p:cBhvr>
                                    </p:animEffect>
                                    <p:anim calcmode="lin" valueType="num">
                                      <p:cBhvr additive="base">
                                        <p:cTn id="72" dur="380" fill="hold"/>
                                        <p:tgtEl>
                                          <p:spTgt spid="17"/>
                                        </p:tgtEl>
                                        <p:attrNameLst>
                                          <p:attrName>ppt_y</p:attrName>
                                        </p:attrNameLst>
                                      </p:cBhvr>
                                      <p:tavLst>
                                        <p:tav tm="0">
                                          <p:val>
                                            <p:strVal val="#ppt_y+0.03"/>
                                          </p:val>
                                        </p:tav>
                                        <p:tav tm="100000">
                                          <p:val>
                                            <p:strVal val="#ppt_y"/>
                                          </p:val>
                                        </p:tav>
                                      </p:tavLst>
                                    </p:anim>
                                  </p:childTnLst>
                                </p:cTn>
                              </p:par>
                              <p:par>
                                <p:cTn id="73" presetID="42" presetClass="entr" presetSubtype="0" fill="hold" grpId="0" nodeType="afterEffect">
                                  <p:stCondLst>
                                    <p:cond delay="1377"/>
                                  </p:stCondLst>
                                  <p:childTnLst>
                                    <p:set>
                                      <p:cBhvr>
                                        <p:cTn id="74" dur="1" fill="hold">
                                          <p:stCondLst>
                                            <p:cond delay="0"/>
                                          </p:stCondLst>
                                        </p:cTn>
                                        <p:tgtEl>
                                          <p:spTgt spid="18"/>
                                        </p:tgtEl>
                                        <p:attrNameLst>
                                          <p:attrName>style.visibility</p:attrName>
                                        </p:attrNameLst>
                                      </p:cBhvr>
                                      <p:to>
                                        <p:strVal val="visible"/>
                                      </p:to>
                                    </p:set>
                                    <p:animEffect transition="in" filter="fade">
                                      <p:cBhvr>
                                        <p:cTn id="75" dur="380"/>
                                        <p:tgtEl>
                                          <p:spTgt spid="18"/>
                                        </p:tgtEl>
                                      </p:cBhvr>
                                    </p:animEffect>
                                    <p:anim calcmode="lin" valueType="num">
                                      <p:cBhvr additive="base">
                                        <p:cTn id="76" dur="380" fill="hold"/>
                                        <p:tgtEl>
                                          <p:spTgt spid="18"/>
                                        </p:tgtEl>
                                        <p:attrNameLst>
                                          <p:attrName>ppt_y</p:attrName>
                                        </p:attrNameLst>
                                      </p:cBhvr>
                                      <p:tavLst>
                                        <p:tav tm="0">
                                          <p:val>
                                            <p:strVal val="#ppt_y+0.03"/>
                                          </p:val>
                                        </p:tav>
                                        <p:tav tm="100000">
                                          <p:val>
                                            <p:strVal val="#ppt_y"/>
                                          </p:val>
                                        </p:tav>
                                      </p:tavLst>
                                    </p:anim>
                                  </p:childTnLst>
                                </p:cTn>
                              </p:par>
                              <p:par>
                                <p:cTn id="77" presetID="42" presetClass="entr" presetSubtype="0" fill="hold" grpId="0" nodeType="afterEffect">
                                  <p:stCondLst>
                                    <p:cond delay="1458"/>
                                  </p:stCondLst>
                                  <p:childTnLst>
                                    <p:set>
                                      <p:cBhvr>
                                        <p:cTn id="78" dur="1" fill="hold">
                                          <p:stCondLst>
                                            <p:cond delay="0"/>
                                          </p:stCondLst>
                                        </p:cTn>
                                        <p:tgtEl>
                                          <p:spTgt spid="19"/>
                                        </p:tgtEl>
                                        <p:attrNameLst>
                                          <p:attrName>style.visibility</p:attrName>
                                        </p:attrNameLst>
                                      </p:cBhvr>
                                      <p:to>
                                        <p:strVal val="visible"/>
                                      </p:to>
                                    </p:set>
                                    <p:animEffect transition="in" filter="fade">
                                      <p:cBhvr>
                                        <p:cTn id="79" dur="380"/>
                                        <p:tgtEl>
                                          <p:spTgt spid="19"/>
                                        </p:tgtEl>
                                      </p:cBhvr>
                                    </p:animEffect>
                                    <p:anim calcmode="lin" valueType="num">
                                      <p:cBhvr additive="base">
                                        <p:cTn id="80" dur="380" fill="hold"/>
                                        <p:tgtEl>
                                          <p:spTgt spid="19"/>
                                        </p:tgtEl>
                                        <p:attrNameLst>
                                          <p:attrName>ppt_y</p:attrName>
                                        </p:attrNameLst>
                                      </p:cBhvr>
                                      <p:tavLst>
                                        <p:tav tm="0">
                                          <p:val>
                                            <p:strVal val="#ppt_y+0.03"/>
                                          </p:val>
                                        </p:tav>
                                        <p:tav tm="100000">
                                          <p:val>
                                            <p:strVal val="#ppt_y"/>
                                          </p:val>
                                        </p:tav>
                                      </p:tavLst>
                                    </p:anim>
                                  </p:childTnLst>
                                </p:cTn>
                              </p:par>
                              <p:par>
                                <p:cTn id="81" presetID="42" presetClass="entr" presetSubtype="0" fill="hold" grpId="0" nodeType="afterEffect">
                                  <p:stCondLst>
                                    <p:cond delay="1539"/>
                                  </p:stCondLst>
                                  <p:childTnLst>
                                    <p:set>
                                      <p:cBhvr>
                                        <p:cTn id="82" dur="1" fill="hold">
                                          <p:stCondLst>
                                            <p:cond delay="0"/>
                                          </p:stCondLst>
                                        </p:cTn>
                                        <p:tgtEl>
                                          <p:spTgt spid="20"/>
                                        </p:tgtEl>
                                        <p:attrNameLst>
                                          <p:attrName>style.visibility</p:attrName>
                                        </p:attrNameLst>
                                      </p:cBhvr>
                                      <p:to>
                                        <p:strVal val="visible"/>
                                      </p:to>
                                    </p:set>
                                    <p:animEffect transition="in" filter="fade">
                                      <p:cBhvr>
                                        <p:cTn id="83" dur="380"/>
                                        <p:tgtEl>
                                          <p:spTgt spid="20"/>
                                        </p:tgtEl>
                                      </p:cBhvr>
                                    </p:animEffect>
                                    <p:anim calcmode="lin" valueType="num">
                                      <p:cBhvr additive="base">
                                        <p:cTn id="84" dur="380" fill="hold"/>
                                        <p:tgtEl>
                                          <p:spTgt spid="20"/>
                                        </p:tgtEl>
                                        <p:attrNameLst>
                                          <p:attrName>ppt_y</p:attrName>
                                        </p:attrNameLst>
                                      </p:cBhvr>
                                      <p:tavLst>
                                        <p:tav tm="0">
                                          <p:val>
                                            <p:strVal val="#ppt_y+0.03"/>
                                          </p:val>
                                        </p:tav>
                                        <p:tav tm="100000">
                                          <p:val>
                                            <p:strVal val="#ppt_y"/>
                                          </p:val>
                                        </p:tav>
                                      </p:tavLst>
                                    </p:anim>
                                  </p:childTnLst>
                                </p:cTn>
                              </p:par>
                              <p:par>
                                <p:cTn id="85" presetID="42" presetClass="entr" presetSubtype="0" fill="hold" grpId="0" nodeType="afterEffect">
                                  <p:stCondLst>
                                    <p:cond delay="1620"/>
                                  </p:stCondLst>
                                  <p:childTnLst>
                                    <p:set>
                                      <p:cBhvr>
                                        <p:cTn id="86" dur="1" fill="hold">
                                          <p:stCondLst>
                                            <p:cond delay="0"/>
                                          </p:stCondLst>
                                        </p:cTn>
                                        <p:tgtEl>
                                          <p:spTgt spid="21"/>
                                        </p:tgtEl>
                                        <p:attrNameLst>
                                          <p:attrName>style.visibility</p:attrName>
                                        </p:attrNameLst>
                                      </p:cBhvr>
                                      <p:to>
                                        <p:strVal val="visible"/>
                                      </p:to>
                                    </p:set>
                                    <p:animEffect transition="in" filter="fade">
                                      <p:cBhvr>
                                        <p:cTn id="87" dur="380"/>
                                        <p:tgtEl>
                                          <p:spTgt spid="21"/>
                                        </p:tgtEl>
                                      </p:cBhvr>
                                    </p:animEffect>
                                    <p:anim calcmode="lin" valueType="num">
                                      <p:cBhvr additive="base">
                                        <p:cTn id="88" dur="380" fill="hold"/>
                                        <p:tgtEl>
                                          <p:spTgt spid="21"/>
                                        </p:tgtEl>
                                        <p:attrNameLst>
                                          <p:attrName>ppt_y</p:attrName>
                                        </p:attrNameLst>
                                      </p:cBhvr>
                                      <p:tavLst>
                                        <p:tav tm="0">
                                          <p:val>
                                            <p:strVal val="#ppt_y+0.03"/>
                                          </p:val>
                                        </p:tav>
                                        <p:tav tm="100000">
                                          <p:val>
                                            <p:strVal val="#ppt_y"/>
                                          </p:val>
                                        </p:tav>
                                      </p:tavLst>
                                    </p:anim>
                                  </p:childTnLst>
                                </p:cTn>
                              </p:par>
                              <p:par>
                                <p:cTn id="89" presetID="42" presetClass="entr" presetSubtype="0" fill="hold" grpId="0" nodeType="afterEffect">
                                  <p:stCondLst>
                                    <p:cond delay="1701"/>
                                  </p:stCondLst>
                                  <p:childTnLst>
                                    <p:set>
                                      <p:cBhvr>
                                        <p:cTn id="90" dur="1" fill="hold">
                                          <p:stCondLst>
                                            <p:cond delay="0"/>
                                          </p:stCondLst>
                                        </p:cTn>
                                        <p:tgtEl>
                                          <p:spTgt spid="22"/>
                                        </p:tgtEl>
                                        <p:attrNameLst>
                                          <p:attrName>style.visibility</p:attrName>
                                        </p:attrNameLst>
                                      </p:cBhvr>
                                      <p:to>
                                        <p:strVal val="visible"/>
                                      </p:to>
                                    </p:set>
                                    <p:animEffect transition="in" filter="fade">
                                      <p:cBhvr>
                                        <p:cTn id="91" dur="380"/>
                                        <p:tgtEl>
                                          <p:spTgt spid="22"/>
                                        </p:tgtEl>
                                      </p:cBhvr>
                                    </p:animEffect>
                                    <p:anim calcmode="lin" valueType="num">
                                      <p:cBhvr additive="base">
                                        <p:cTn id="92" dur="380" fill="hold"/>
                                        <p:tgtEl>
                                          <p:spTgt spid="22"/>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 grpId="0"/>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37744"/>
          </a:xfrm>
          <a:prstGeom prst="rect">
            <a:avLst/>
          </a:prstGeom>
          <a:noFill/>
          <a:ln/>
        </p:spPr>
        <p:txBody>
          <a:bodyPr wrap="square" lIns="0" tIns="0" rIns="0" bIns="0" rtlCol="0" anchor="ctr"/>
          <a:lstStyle/>
          <a:p>
            <a:pPr indent="0" marL="0">
              <a:buNone/>
            </a:pPr>
            <a:r>
              <a:rPr lang="en-US" sz="1050" b="1" spc="200" kern="0" dirty="0">
                <a:solidFill>
                  <a:srgbClr val="00C39A"/>
                </a:solidFill>
                <a:latin typeface="Calibri" pitchFamily="34" charset="0"/>
                <a:ea typeface="Calibri" pitchFamily="34" charset="-122"/>
                <a:cs typeface="Calibri" pitchFamily="34" charset="-120"/>
              </a:rPr>
              <a:t>WHO USES IT</a:t>
            </a:r>
            <a:endParaRPr lang="en-US" sz="1050" dirty="0"/>
          </a:p>
        </p:txBody>
      </p:sp>
      <p:sp>
        <p:nvSpPr>
          <p:cNvPr id="3" name="Text 1"/>
          <p:cNvSpPr/>
          <p:nvPr/>
        </p:nvSpPr>
        <p:spPr>
          <a:xfrm>
            <a:off x="548640" y="658368"/>
            <a:ext cx="11064240" cy="658368"/>
          </a:xfrm>
          <a:prstGeom prst="rect">
            <a:avLst/>
          </a:prstGeom>
          <a:noFill/>
          <a:ln/>
        </p:spPr>
        <p:txBody>
          <a:bodyPr wrap="square" lIns="0" tIns="0" rIns="0" bIns="0" rtlCol="0" anchor="t"/>
          <a:lstStyle/>
          <a:p>
            <a:pPr indent="0" marL="0">
              <a:buNone/>
            </a:pPr>
            <a:r>
              <a:rPr lang="en-US" sz="3400" b="1" dirty="0">
                <a:solidFill>
                  <a:srgbClr val="141B3D"/>
                </a:solidFill>
                <a:latin typeface="Cambria" pitchFamily="34" charset="0"/>
                <a:ea typeface="Cambria" pitchFamily="34" charset="-122"/>
                <a:cs typeface="Cambria" pitchFamily="34" charset="-120"/>
              </a:rPr>
              <a:t>Three roles, three dashboards, one system</a:t>
            </a:r>
            <a:endParaRPr lang="en-US" sz="3400" dirty="0"/>
          </a:p>
        </p:txBody>
      </p:sp>
      <p:sp>
        <p:nvSpPr>
          <p:cNvPr id="4" name="Text 2"/>
          <p:cNvSpPr/>
          <p:nvPr/>
        </p:nvSpPr>
        <p:spPr>
          <a:xfrm>
            <a:off x="548640" y="1371600"/>
            <a:ext cx="10424160" cy="329184"/>
          </a:xfrm>
          <a:prstGeom prst="rect">
            <a:avLst/>
          </a:prstGeom>
          <a:noFill/>
          <a:ln/>
        </p:spPr>
        <p:txBody>
          <a:bodyPr wrap="square" lIns="0" tIns="0" rIns="0" bIns="0" rtlCol="0" anchor="ctr"/>
          <a:lstStyle/>
          <a:p>
            <a:pPr indent="0" marL="0">
              <a:buNone/>
            </a:pPr>
            <a:r>
              <a:rPr lang="en-US" sz="1400" dirty="0">
                <a:solidFill>
                  <a:srgbClr val="646E8C"/>
                </a:solidFill>
                <a:latin typeface="Calibri" pitchFamily="34" charset="0"/>
                <a:ea typeface="Calibri" pitchFamily="34" charset="-122"/>
                <a:cs typeface="Calibri" pitchFamily="34" charset="-120"/>
              </a:rPr>
              <a:t>The platform maps directly onto how CBIT already organises students — by 12-digit roll number, branch, year and section.</a:t>
            </a:r>
            <a:endParaRPr lang="en-US" sz="1400" dirty="0"/>
          </a:p>
        </p:txBody>
      </p:sp>
      <p:sp>
        <p:nvSpPr>
          <p:cNvPr id="5" name="Shape 3"/>
          <p:cNvSpPr/>
          <p:nvPr/>
        </p:nvSpPr>
        <p:spPr>
          <a:xfrm>
            <a:off x="548640" y="1956816"/>
            <a:ext cx="3529584" cy="3035808"/>
          </a:xfrm>
          <a:prstGeom prst="roundRect">
            <a:avLst>
              <a:gd name="adj" fmla="val 2711"/>
            </a:avLst>
          </a:prstGeom>
          <a:solidFill>
            <a:srgbClr val="141B3D"/>
          </a:solidFill>
          <a:ln w="9525">
            <a:solidFill>
              <a:srgbClr val="141B3D"/>
            </a:solidFill>
            <a:prstDash val="solid"/>
          </a:ln>
          <a:effectLst>
            <a:outerShdw sx="100000" sy="100000" kx="0" ky="0" algn="bl" rotWithShape="0" blurRad="177800" dist="38100" dir="5400000">
              <a:srgbClr val="1E2761">
                <a:alpha val="10000"/>
              </a:srgbClr>
            </a:outerShdw>
          </a:effectLst>
        </p:spPr>
      </p:sp>
      <p:sp>
        <p:nvSpPr>
          <p:cNvPr id="6" name="Shape 4"/>
          <p:cNvSpPr/>
          <p:nvPr/>
        </p:nvSpPr>
        <p:spPr>
          <a:xfrm>
            <a:off x="841248" y="2267712"/>
            <a:ext cx="658368" cy="658368"/>
          </a:xfrm>
          <a:prstGeom prst="ellipse">
            <a:avLst/>
          </a:prstGeom>
          <a:solidFill>
            <a:srgbClr val="2B3560"/>
          </a:solidFill>
          <a:ln w="12700">
            <a:solidFill>
              <a:srgbClr val="2B3560"/>
            </a:solidFill>
            <a:prstDash val="solid"/>
          </a:ln>
        </p:spPr>
      </p:sp>
      <p:pic>
        <p:nvPicPr>
          <p:cNvPr id="7" name="Image 0" descr="preencoded.png">    </p:cNvPr>
          <p:cNvPicPr>
            <a:picLocks noChangeAspect="1"/>
          </p:cNvPicPr>
          <p:nvPr/>
        </p:nvPicPr>
        <p:blipFill>
          <a:blip r:embed="rId1"/>
          <a:stretch>
            <a:fillRect/>
          </a:stretch>
        </p:blipFill>
        <p:spPr>
          <a:xfrm>
            <a:off x="1032175" y="2458639"/>
            <a:ext cx="276515" cy="276515"/>
          </a:xfrm>
          <a:prstGeom prst="rect">
            <a:avLst/>
          </a:prstGeom>
        </p:spPr>
      </p:pic>
      <p:sp>
        <p:nvSpPr>
          <p:cNvPr id="8" name="Text 5"/>
          <p:cNvSpPr/>
          <p:nvPr/>
        </p:nvSpPr>
        <p:spPr>
          <a:xfrm>
            <a:off x="1645920" y="2322576"/>
            <a:ext cx="2203704" cy="548640"/>
          </a:xfrm>
          <a:prstGeom prst="rect">
            <a:avLst/>
          </a:prstGeom>
          <a:noFill/>
          <a:ln/>
        </p:spPr>
        <p:txBody>
          <a:bodyPr wrap="square" lIns="0" tIns="0" rIns="0" bIns="0" rtlCol="0" anchor="ctr"/>
          <a:lstStyle/>
          <a:p>
            <a:pPr indent="0" marL="0">
              <a:lnSpc>
                <a:spcPts val="2100"/>
              </a:lnSpc>
              <a:buNone/>
            </a:pPr>
            <a:r>
              <a:rPr lang="en-US" sz="1700" b="1" dirty="0">
                <a:solidFill>
                  <a:srgbClr val="FFFFFF"/>
                </a:solidFill>
                <a:latin typeface="Cambria" pitchFamily="34" charset="0"/>
                <a:ea typeface="Cambria" pitchFamily="34" charset="-122"/>
                <a:cs typeface="Cambria" pitchFamily="34" charset="-120"/>
              </a:rPr>
              <a:t>System Administrator</a:t>
            </a:r>
            <a:endParaRPr lang="en-US" sz="1700" dirty="0"/>
          </a:p>
        </p:txBody>
      </p:sp>
      <p:sp>
        <p:nvSpPr>
          <p:cNvPr id="9" name="Text 6"/>
          <p:cNvSpPr/>
          <p:nvPr/>
        </p:nvSpPr>
        <p:spPr>
          <a:xfrm>
            <a:off x="841248" y="3054096"/>
            <a:ext cx="2944368" cy="274320"/>
          </a:xfrm>
          <a:prstGeom prst="rect">
            <a:avLst/>
          </a:prstGeom>
          <a:noFill/>
          <a:ln/>
        </p:spPr>
        <p:txBody>
          <a:bodyPr wrap="square" lIns="0" tIns="0" rIns="0" bIns="0" rtlCol="0" anchor="ctr"/>
          <a:lstStyle/>
          <a:p>
            <a:pPr indent="0" marL="0">
              <a:buNone/>
            </a:pPr>
            <a:r>
              <a:rPr lang="en-US" sz="1150" b="1" dirty="0">
                <a:solidFill>
                  <a:srgbClr val="00C39A"/>
                </a:solidFill>
                <a:latin typeface="Calibri" pitchFamily="34" charset="0"/>
                <a:ea typeface="Calibri" pitchFamily="34" charset="-122"/>
                <a:cs typeface="Calibri" pitchFamily="34" charset="-120"/>
              </a:rPr>
              <a:t>admin@cbit.in</a:t>
            </a:r>
            <a:endParaRPr lang="en-US" sz="1150" dirty="0"/>
          </a:p>
        </p:txBody>
      </p:sp>
      <p:sp>
        <p:nvSpPr>
          <p:cNvPr id="10" name="Text 7"/>
          <p:cNvSpPr/>
          <p:nvPr/>
        </p:nvSpPr>
        <p:spPr>
          <a:xfrm>
            <a:off x="841248" y="3493008"/>
            <a:ext cx="2944368" cy="1810512"/>
          </a:xfrm>
          <a:prstGeom prst="rect">
            <a:avLst/>
          </a:prstGeom>
          <a:noFill/>
          <a:ln/>
        </p:spPr>
        <p:txBody>
          <a:bodyPr wrap="square" lIns="0" tIns="0" rIns="0" bIns="0" rtlCol="0" anchor="t"/>
          <a:lstStyle/>
          <a:p>
            <a:pPr marL="342900" indent="-342900">
              <a:lnSpc>
                <a:spcPts val="1600"/>
              </a:lnSpc>
              <a:spcAft>
                <a:spcPts val="800"/>
              </a:spcAft>
              <a:buSzPct val="100000"/>
              <a:buChar char="•"/>
            </a:pPr>
            <a:r>
              <a:rPr lang="en-US" sz="1200" dirty="0">
                <a:solidFill>
                  <a:srgbClr val="CADCFC"/>
                </a:solidFill>
                <a:latin typeface="Calibri" pitchFamily="34" charset="0"/>
                <a:ea typeface="Calibri" pitchFamily="34" charset="-122"/>
                <a:cs typeface="Calibri" pitchFamily="34" charset="-120"/>
              </a:rPr>
              <a:t>Create and manage faculty accounts</a:t>
            </a:r>
            <a:endParaRPr lang="en-US" sz="1200" dirty="0"/>
          </a:p>
          <a:p>
            <a:pPr marL="342900" indent="-342900">
              <a:lnSpc>
                <a:spcPts val="1600"/>
              </a:lnSpc>
              <a:spcAft>
                <a:spcPts val="800"/>
              </a:spcAft>
              <a:buSzPct val="100000"/>
              <a:buChar char="•"/>
            </a:pPr>
            <a:r>
              <a:rPr lang="en-US" sz="1200" dirty="0">
                <a:solidFill>
                  <a:srgbClr val="CADCFC"/>
                </a:solidFill>
                <a:latin typeface="Calibri" pitchFamily="34" charset="0"/>
                <a:ea typeface="Calibri" pitchFamily="34" charset="-122"/>
                <a:cs typeface="Calibri" pitchFamily="34" charset="-120"/>
              </a:rPr>
              <a:t>Allocate authorised roll-number ranges</a:t>
            </a:r>
            <a:endParaRPr lang="en-US" sz="1200" dirty="0"/>
          </a:p>
          <a:p>
            <a:pPr marL="342900" indent="-342900">
              <a:lnSpc>
                <a:spcPts val="1600"/>
              </a:lnSpc>
              <a:spcAft>
                <a:spcPts val="800"/>
              </a:spcAft>
              <a:buSzPct val="100000"/>
              <a:buChar char="•"/>
            </a:pPr>
            <a:r>
              <a:rPr lang="en-US" sz="1200" dirty="0">
                <a:solidFill>
                  <a:srgbClr val="CADCFC"/>
                </a:solidFill>
                <a:latin typeface="Calibri" pitchFamily="34" charset="0"/>
                <a:ea typeface="Calibri" pitchFamily="34" charset="-122"/>
                <a:cs typeface="Calibri" pitchFamily="34" charset="-120"/>
              </a:rPr>
              <a:t>Institution-wide student directory</a:t>
            </a:r>
            <a:endParaRPr lang="en-US" sz="1200" dirty="0"/>
          </a:p>
          <a:p>
            <a:pPr marL="342900" indent="-342900">
              <a:lnSpc>
                <a:spcPts val="1600"/>
              </a:lnSpc>
              <a:spcAft>
                <a:spcPts val="800"/>
              </a:spcAft>
              <a:buSzPct val="100000"/>
              <a:buChar char="•"/>
            </a:pPr>
            <a:r>
              <a:rPr lang="en-US" sz="1200" dirty="0">
                <a:solidFill>
                  <a:srgbClr val="CADCFC"/>
                </a:solidFill>
                <a:latin typeface="Calibri" pitchFamily="34" charset="0"/>
                <a:ea typeface="Calibri" pitchFamily="34" charset="-122"/>
                <a:cs typeface="Calibri" pitchFamily="34" charset="-120"/>
              </a:rPr>
              <a:t>System metrics and grading completion</a:t>
            </a:r>
            <a:endParaRPr lang="en-US" sz="1200" dirty="0"/>
          </a:p>
        </p:txBody>
      </p:sp>
      <p:sp>
        <p:nvSpPr>
          <p:cNvPr id="11" name="Shape 8"/>
          <p:cNvSpPr/>
          <p:nvPr/>
        </p:nvSpPr>
        <p:spPr>
          <a:xfrm>
            <a:off x="4425696" y="1956816"/>
            <a:ext cx="3529584" cy="3035808"/>
          </a:xfrm>
          <a:prstGeom prst="roundRect">
            <a:avLst>
              <a:gd name="adj" fmla="val 2711"/>
            </a:avLst>
          </a:prstGeom>
          <a:solidFill>
            <a:srgbClr val="1E2761"/>
          </a:solidFill>
          <a:ln w="9525">
            <a:solidFill>
              <a:srgbClr val="1E2761"/>
            </a:solidFill>
            <a:prstDash val="solid"/>
          </a:ln>
          <a:effectLst>
            <a:outerShdw sx="100000" sy="100000" kx="0" ky="0" algn="bl" rotWithShape="0" blurRad="177800" dist="38100" dir="5400000">
              <a:srgbClr val="1E2761">
                <a:alpha val="10000"/>
              </a:srgbClr>
            </a:outerShdw>
          </a:effectLst>
        </p:spPr>
      </p:sp>
      <p:sp>
        <p:nvSpPr>
          <p:cNvPr id="12" name="Shape 9"/>
          <p:cNvSpPr/>
          <p:nvPr/>
        </p:nvSpPr>
        <p:spPr>
          <a:xfrm>
            <a:off x="4718304" y="2267712"/>
            <a:ext cx="658368" cy="658368"/>
          </a:xfrm>
          <a:prstGeom prst="ellipse">
            <a:avLst/>
          </a:prstGeom>
          <a:solidFill>
            <a:srgbClr val="35407F"/>
          </a:solidFill>
          <a:ln w="12700">
            <a:solidFill>
              <a:srgbClr val="35407F"/>
            </a:solidFill>
            <a:prstDash val="solid"/>
          </a:ln>
        </p:spPr>
      </p:sp>
      <p:pic>
        <p:nvPicPr>
          <p:cNvPr id="13" name="Image 1" descr="preencoded.png">    </p:cNvPr>
          <p:cNvPicPr>
            <a:picLocks noChangeAspect="1"/>
          </p:cNvPicPr>
          <p:nvPr/>
        </p:nvPicPr>
        <p:blipFill>
          <a:blip r:embed="rId2"/>
          <a:stretch>
            <a:fillRect/>
          </a:stretch>
        </p:blipFill>
        <p:spPr>
          <a:xfrm>
            <a:off x="4909231" y="2458639"/>
            <a:ext cx="276515" cy="276515"/>
          </a:xfrm>
          <a:prstGeom prst="rect">
            <a:avLst/>
          </a:prstGeom>
        </p:spPr>
      </p:pic>
      <p:sp>
        <p:nvSpPr>
          <p:cNvPr id="14" name="Text 10"/>
          <p:cNvSpPr/>
          <p:nvPr/>
        </p:nvSpPr>
        <p:spPr>
          <a:xfrm>
            <a:off x="5522976" y="2322576"/>
            <a:ext cx="2203704" cy="548640"/>
          </a:xfrm>
          <a:prstGeom prst="rect">
            <a:avLst/>
          </a:prstGeom>
          <a:noFill/>
          <a:ln/>
        </p:spPr>
        <p:txBody>
          <a:bodyPr wrap="square" lIns="0" tIns="0" rIns="0" bIns="0" rtlCol="0" anchor="ctr"/>
          <a:lstStyle/>
          <a:p>
            <a:pPr indent="0" marL="0">
              <a:lnSpc>
                <a:spcPts val="2100"/>
              </a:lnSpc>
              <a:buNone/>
            </a:pPr>
            <a:r>
              <a:rPr lang="en-US" sz="1700" b="1" dirty="0">
                <a:solidFill>
                  <a:srgbClr val="FFFFFF"/>
                </a:solidFill>
                <a:latin typeface="Cambria" pitchFamily="34" charset="0"/>
                <a:ea typeface="Cambria" pitchFamily="34" charset="-122"/>
                <a:cs typeface="Cambria" pitchFamily="34" charset="-120"/>
              </a:rPr>
              <a:t>Faculty Lecturer</a:t>
            </a:r>
            <a:endParaRPr lang="en-US" sz="1700" dirty="0"/>
          </a:p>
        </p:txBody>
      </p:sp>
      <p:sp>
        <p:nvSpPr>
          <p:cNvPr id="15" name="Text 11"/>
          <p:cNvSpPr/>
          <p:nvPr/>
        </p:nvSpPr>
        <p:spPr>
          <a:xfrm>
            <a:off x="4718304" y="3054096"/>
            <a:ext cx="2944368" cy="274320"/>
          </a:xfrm>
          <a:prstGeom prst="rect">
            <a:avLst/>
          </a:prstGeom>
          <a:noFill/>
          <a:ln/>
        </p:spPr>
        <p:txBody>
          <a:bodyPr wrap="square" lIns="0" tIns="0" rIns="0" bIns="0" rtlCol="0" anchor="ctr"/>
          <a:lstStyle/>
          <a:p>
            <a:pPr indent="0" marL="0">
              <a:buNone/>
            </a:pPr>
            <a:r>
              <a:rPr lang="en-US" sz="1150" b="1" dirty="0">
                <a:solidFill>
                  <a:srgbClr val="00C39A"/>
                </a:solidFill>
                <a:latin typeface="Calibri" pitchFamily="34" charset="0"/>
                <a:ea typeface="Calibri" pitchFamily="34" charset="-122"/>
                <a:cs typeface="Calibri" pitchFamily="34" charset="-120"/>
              </a:rPr>
              <a:t>username@cbit.in</a:t>
            </a:r>
            <a:endParaRPr lang="en-US" sz="1150" dirty="0"/>
          </a:p>
        </p:txBody>
      </p:sp>
      <p:sp>
        <p:nvSpPr>
          <p:cNvPr id="16" name="Text 12"/>
          <p:cNvSpPr/>
          <p:nvPr/>
        </p:nvSpPr>
        <p:spPr>
          <a:xfrm>
            <a:off x="4718304" y="3493008"/>
            <a:ext cx="2944368" cy="1810512"/>
          </a:xfrm>
          <a:prstGeom prst="rect">
            <a:avLst/>
          </a:prstGeom>
          <a:noFill/>
          <a:ln/>
        </p:spPr>
        <p:txBody>
          <a:bodyPr wrap="square" lIns="0" tIns="0" rIns="0" bIns="0" rtlCol="0" anchor="t"/>
          <a:lstStyle/>
          <a:p>
            <a:pPr marL="342900" indent="-342900">
              <a:lnSpc>
                <a:spcPts val="1600"/>
              </a:lnSpc>
              <a:spcAft>
                <a:spcPts val="800"/>
              </a:spcAft>
              <a:buSzPct val="100000"/>
              <a:buChar char="•"/>
            </a:pPr>
            <a:r>
              <a:rPr lang="en-US" sz="1200" dirty="0">
                <a:solidFill>
                  <a:srgbClr val="CADCFC"/>
                </a:solidFill>
                <a:latin typeface="Calibri" pitchFamily="34" charset="0"/>
                <a:ea typeface="Calibri" pitchFamily="34" charset="-122"/>
                <a:cs typeface="Calibri" pitchFamily="34" charset="-120"/>
              </a:rPr>
              <a:t>Create and manage sections</a:t>
            </a:r>
            <a:endParaRPr lang="en-US" sz="1200" dirty="0"/>
          </a:p>
          <a:p>
            <a:pPr marL="342900" indent="-342900">
              <a:lnSpc>
                <a:spcPts val="1600"/>
              </a:lnSpc>
              <a:spcAft>
                <a:spcPts val="800"/>
              </a:spcAft>
              <a:buSzPct val="100000"/>
              <a:buChar char="•"/>
            </a:pPr>
            <a:r>
              <a:rPr lang="en-US" sz="1200" dirty="0">
                <a:solidFill>
                  <a:srgbClr val="CADCFC"/>
                </a:solidFill>
                <a:latin typeface="Calibri" pitchFamily="34" charset="0"/>
                <a:ea typeface="Calibri" pitchFamily="34" charset="-122"/>
                <a:cs typeface="Calibri" pitchFamily="34" charset="-120"/>
              </a:rPr>
              <a:t>Author lab assessments and due dates</a:t>
            </a:r>
            <a:endParaRPr lang="en-US" sz="1200" dirty="0"/>
          </a:p>
          <a:p>
            <a:pPr marL="342900" indent="-342900">
              <a:lnSpc>
                <a:spcPts val="1600"/>
              </a:lnSpc>
              <a:spcAft>
                <a:spcPts val="800"/>
              </a:spcAft>
              <a:buSzPct val="100000"/>
              <a:buChar char="•"/>
            </a:pPr>
            <a:r>
              <a:rPr lang="en-US" sz="1200" dirty="0">
                <a:solidFill>
                  <a:srgbClr val="CADCFC"/>
                </a:solidFill>
                <a:latin typeface="Calibri" pitchFamily="34" charset="0"/>
                <a:ea typeface="Calibri" pitchFamily="34" charset="-122"/>
                <a:cs typeface="Calibri" pitchFamily="34" charset="-120"/>
              </a:rPr>
              <a:t>Review submissions and re-run code</a:t>
            </a:r>
            <a:endParaRPr lang="en-US" sz="1200" dirty="0"/>
          </a:p>
          <a:p>
            <a:pPr marL="342900" indent="-342900">
              <a:lnSpc>
                <a:spcPts val="1600"/>
              </a:lnSpc>
              <a:spcAft>
                <a:spcPts val="800"/>
              </a:spcAft>
              <a:buSzPct val="100000"/>
              <a:buChar char="•"/>
            </a:pPr>
            <a:r>
              <a:rPr lang="en-US" sz="1200" dirty="0">
                <a:solidFill>
                  <a:srgbClr val="CADCFC"/>
                </a:solidFill>
                <a:latin typeface="Calibri" pitchFamily="34" charset="0"/>
                <a:ea typeface="Calibri" pitchFamily="34" charset="-122"/>
                <a:cs typeface="Calibri" pitchFamily="34" charset="-120"/>
              </a:rPr>
              <a:t>Award marks, remarks and status</a:t>
            </a:r>
            <a:endParaRPr lang="en-US" sz="1200" dirty="0"/>
          </a:p>
        </p:txBody>
      </p:sp>
      <p:sp>
        <p:nvSpPr>
          <p:cNvPr id="17" name="Shape 13"/>
          <p:cNvSpPr/>
          <p:nvPr/>
        </p:nvSpPr>
        <p:spPr>
          <a:xfrm>
            <a:off x="8302752" y="1956816"/>
            <a:ext cx="3529584" cy="3035808"/>
          </a:xfrm>
          <a:prstGeom prst="roundRect">
            <a:avLst>
              <a:gd name="adj" fmla="val 2711"/>
            </a:avLst>
          </a:prstGeom>
          <a:solidFill>
            <a:srgbClr val="3D5A9E"/>
          </a:solidFill>
          <a:ln w="9525">
            <a:solidFill>
              <a:srgbClr val="3D5A9E"/>
            </a:solidFill>
            <a:prstDash val="solid"/>
          </a:ln>
          <a:effectLst>
            <a:outerShdw sx="100000" sy="100000" kx="0" ky="0" algn="bl" rotWithShape="0" blurRad="177800" dist="38100" dir="5400000">
              <a:srgbClr val="1E2761">
                <a:alpha val="10000"/>
              </a:srgbClr>
            </a:outerShdw>
          </a:effectLst>
        </p:spPr>
      </p:sp>
      <p:sp>
        <p:nvSpPr>
          <p:cNvPr id="18" name="Shape 14"/>
          <p:cNvSpPr/>
          <p:nvPr/>
        </p:nvSpPr>
        <p:spPr>
          <a:xfrm>
            <a:off x="8595360" y="2267712"/>
            <a:ext cx="658368" cy="658368"/>
          </a:xfrm>
          <a:prstGeom prst="ellipse">
            <a:avLst/>
          </a:prstGeom>
          <a:solidFill>
            <a:srgbClr val="5877BC"/>
          </a:solidFill>
          <a:ln w="12700">
            <a:solidFill>
              <a:srgbClr val="5877BC"/>
            </a:solidFill>
            <a:prstDash val="solid"/>
          </a:ln>
        </p:spPr>
      </p:sp>
      <p:pic>
        <p:nvPicPr>
          <p:cNvPr id="19" name="Image 2" descr="preencoded.png">    </p:cNvPr>
          <p:cNvPicPr>
            <a:picLocks noChangeAspect="1"/>
          </p:cNvPicPr>
          <p:nvPr/>
        </p:nvPicPr>
        <p:blipFill>
          <a:blip r:embed="rId3"/>
          <a:stretch>
            <a:fillRect/>
          </a:stretch>
        </p:blipFill>
        <p:spPr>
          <a:xfrm>
            <a:off x="8786287" y="2458639"/>
            <a:ext cx="276515" cy="276515"/>
          </a:xfrm>
          <a:prstGeom prst="rect">
            <a:avLst/>
          </a:prstGeom>
        </p:spPr>
      </p:pic>
      <p:sp>
        <p:nvSpPr>
          <p:cNvPr id="20" name="Text 15"/>
          <p:cNvSpPr/>
          <p:nvPr/>
        </p:nvSpPr>
        <p:spPr>
          <a:xfrm>
            <a:off x="9400032" y="2322576"/>
            <a:ext cx="2203704" cy="548640"/>
          </a:xfrm>
          <a:prstGeom prst="rect">
            <a:avLst/>
          </a:prstGeom>
          <a:noFill/>
          <a:ln/>
        </p:spPr>
        <p:txBody>
          <a:bodyPr wrap="square" lIns="0" tIns="0" rIns="0" bIns="0" rtlCol="0" anchor="ctr"/>
          <a:lstStyle/>
          <a:p>
            <a:pPr indent="0" marL="0">
              <a:lnSpc>
                <a:spcPts val="2100"/>
              </a:lnSpc>
              <a:buNone/>
            </a:pPr>
            <a:r>
              <a:rPr lang="en-US" sz="1700" b="1" dirty="0">
                <a:solidFill>
                  <a:srgbClr val="FFFFFF"/>
                </a:solidFill>
                <a:latin typeface="Cambria" pitchFamily="34" charset="0"/>
                <a:ea typeface="Cambria" pitchFamily="34" charset="-122"/>
                <a:cs typeface="Cambria" pitchFamily="34" charset="-120"/>
              </a:rPr>
              <a:t>Student</a:t>
            </a:r>
            <a:endParaRPr lang="en-US" sz="1700" dirty="0"/>
          </a:p>
        </p:txBody>
      </p:sp>
      <p:sp>
        <p:nvSpPr>
          <p:cNvPr id="21" name="Text 16"/>
          <p:cNvSpPr/>
          <p:nvPr/>
        </p:nvSpPr>
        <p:spPr>
          <a:xfrm>
            <a:off x="8595360" y="3054096"/>
            <a:ext cx="2944368" cy="274320"/>
          </a:xfrm>
          <a:prstGeom prst="rect">
            <a:avLst/>
          </a:prstGeom>
          <a:noFill/>
          <a:ln/>
        </p:spPr>
        <p:txBody>
          <a:bodyPr wrap="square" lIns="0" tIns="0" rIns="0" bIns="0" rtlCol="0" anchor="ctr"/>
          <a:lstStyle/>
          <a:p>
            <a:pPr indent="0" marL="0">
              <a:buNone/>
            </a:pPr>
            <a:r>
              <a:rPr lang="en-US" sz="1150" b="1" dirty="0">
                <a:solidFill>
                  <a:srgbClr val="00C39A"/>
                </a:solidFill>
                <a:latin typeface="Calibri" pitchFamily="34" charset="0"/>
                <a:ea typeface="Calibri" pitchFamily="34" charset="-122"/>
                <a:cs typeface="Calibri" pitchFamily="34" charset="-120"/>
              </a:rPr>
              <a:t>12-digit CBIT roll number</a:t>
            </a:r>
            <a:endParaRPr lang="en-US" sz="1150" dirty="0"/>
          </a:p>
        </p:txBody>
      </p:sp>
      <p:sp>
        <p:nvSpPr>
          <p:cNvPr id="22" name="Text 17"/>
          <p:cNvSpPr/>
          <p:nvPr/>
        </p:nvSpPr>
        <p:spPr>
          <a:xfrm>
            <a:off x="8595360" y="3493008"/>
            <a:ext cx="2944368" cy="1810512"/>
          </a:xfrm>
          <a:prstGeom prst="rect">
            <a:avLst/>
          </a:prstGeom>
          <a:noFill/>
          <a:ln/>
        </p:spPr>
        <p:txBody>
          <a:bodyPr wrap="square" lIns="0" tIns="0" rIns="0" bIns="0" rtlCol="0" anchor="t"/>
          <a:lstStyle/>
          <a:p>
            <a:pPr marL="342900" indent="-342900">
              <a:lnSpc>
                <a:spcPts val="1600"/>
              </a:lnSpc>
              <a:spcAft>
                <a:spcPts val="800"/>
              </a:spcAft>
              <a:buSzPct val="100000"/>
              <a:buChar char="•"/>
            </a:pPr>
            <a:r>
              <a:rPr lang="en-US" sz="1200" dirty="0">
                <a:solidFill>
                  <a:srgbClr val="CADCFC"/>
                </a:solidFill>
                <a:latin typeface="Calibri" pitchFamily="34" charset="0"/>
                <a:ea typeface="Calibri" pitchFamily="34" charset="-122"/>
                <a:cs typeface="Calibri" pitchFamily="34" charset="-120"/>
              </a:rPr>
              <a:t>Register against an authorised range</a:t>
            </a:r>
            <a:endParaRPr lang="en-US" sz="1200" dirty="0"/>
          </a:p>
          <a:p>
            <a:pPr marL="342900" indent="-342900">
              <a:lnSpc>
                <a:spcPts val="1600"/>
              </a:lnSpc>
              <a:spcAft>
                <a:spcPts val="800"/>
              </a:spcAft>
              <a:buSzPct val="100000"/>
              <a:buChar char="•"/>
            </a:pPr>
            <a:r>
              <a:rPr lang="en-US" sz="1200" dirty="0">
                <a:solidFill>
                  <a:srgbClr val="CADCFC"/>
                </a:solidFill>
                <a:latin typeface="Calibri" pitchFamily="34" charset="0"/>
                <a:ea typeface="Calibri" pitchFamily="34" charset="-122"/>
                <a:cs typeface="Calibri" pitchFamily="34" charset="-120"/>
              </a:rPr>
              <a:t>Write and run code in the browser IDE</a:t>
            </a:r>
            <a:endParaRPr lang="en-US" sz="1200" dirty="0"/>
          </a:p>
          <a:p>
            <a:pPr marL="342900" indent="-342900">
              <a:lnSpc>
                <a:spcPts val="1600"/>
              </a:lnSpc>
              <a:spcAft>
                <a:spcPts val="800"/>
              </a:spcAft>
              <a:buSzPct val="100000"/>
              <a:buChar char="•"/>
            </a:pPr>
            <a:r>
              <a:rPr lang="en-US" sz="1200" dirty="0">
                <a:solidFill>
                  <a:srgbClr val="CADCFC"/>
                </a:solidFill>
                <a:latin typeface="Calibri" pitchFamily="34" charset="0"/>
                <a:ea typeface="Calibri" pitchFamily="34" charset="-122"/>
                <a:cs typeface="Calibri" pitchFamily="34" charset="-120"/>
              </a:rPr>
              <a:t>Submit once — workspace auto-locks</a:t>
            </a:r>
            <a:endParaRPr lang="en-US" sz="1200" dirty="0"/>
          </a:p>
          <a:p>
            <a:pPr marL="342900" indent="-342900">
              <a:lnSpc>
                <a:spcPts val="1600"/>
              </a:lnSpc>
              <a:spcAft>
                <a:spcPts val="800"/>
              </a:spcAft>
              <a:buSzPct val="100000"/>
              <a:buChar char="•"/>
            </a:pPr>
            <a:r>
              <a:rPr lang="en-US" sz="1200" dirty="0">
                <a:solidFill>
                  <a:srgbClr val="CADCFC"/>
                </a:solidFill>
                <a:latin typeface="Calibri" pitchFamily="34" charset="0"/>
                <a:ea typeface="Calibri" pitchFamily="34" charset="-122"/>
                <a:cs typeface="Calibri" pitchFamily="34" charset="-120"/>
              </a:rPr>
              <a:t>See marks and feedback in real time</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slow" p14:dur="65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
                                        </p:tgtEl>
                                        <p:attrNameLst>
                                          <p:attrName>style.visibility</p:attrName>
                                        </p:attrNameLst>
                                      </p:cBhvr>
                                      <p:to>
                                        <p:strVal val="visible"/>
                                      </p:to>
                                    </p:set>
                                    <p:animEffect transition="in" filter="fade">
                                      <p:cBhvr>
                                        <p:cTn id="7" dur="380"/>
                                        <p:tgtEl>
                                          <p:spTgt spid="1"/>
                                        </p:tgtEl>
                                      </p:cBhvr>
                                    </p:animEffect>
                                    <p:anim calcmode="lin" valueType="num">
                                      <p:cBhvr additive="base">
                                        <p:cTn id="8" dur="380" fill="hold"/>
                                        <p:tgtEl>
                                          <p:spTgt spid="1"/>
                                        </p:tgtEl>
                                        <p:attrNameLst>
                                          <p:attrName>ppt_y</p:attrName>
                                        </p:attrNameLst>
                                      </p:cBhvr>
                                      <p:tavLst>
                                        <p:tav tm="0">
                                          <p:val>
                                            <p:strVal val="#ppt_y+0.03"/>
                                          </p:val>
                                        </p:tav>
                                        <p:tav tm="100000">
                                          <p:val>
                                            <p:strVal val="#ppt_y"/>
                                          </p:val>
                                        </p:tav>
                                      </p:tavLst>
                                    </p:anim>
                                  </p:childTnLst>
                                </p:cTn>
                              </p:par>
                              <p:par>
                                <p:cTn id="9" presetID="42" presetClass="entr" presetSubtype="0" fill="hold" grpId="0" nodeType="afterEffect">
                                  <p:stCondLst>
                                    <p:cond delay="81"/>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380"/>
                                        <p:tgtEl>
                                          <p:spTgt spid="2"/>
                                        </p:tgtEl>
                                      </p:cBhvr>
                                    </p:animEffect>
                                    <p:anim calcmode="lin" valueType="num">
                                      <p:cBhvr additive="base">
                                        <p:cTn id="12" dur="380" fill="hold"/>
                                        <p:tgtEl>
                                          <p:spTgt spid="2"/>
                                        </p:tgtEl>
                                        <p:attrNameLst>
                                          <p:attrName>ppt_y</p:attrName>
                                        </p:attrNameLst>
                                      </p:cBhvr>
                                      <p:tavLst>
                                        <p:tav tm="0">
                                          <p:val>
                                            <p:strVal val="#ppt_y+0.03"/>
                                          </p:val>
                                        </p:tav>
                                        <p:tav tm="100000">
                                          <p:val>
                                            <p:strVal val="#ppt_y"/>
                                          </p:val>
                                        </p:tav>
                                      </p:tavLst>
                                    </p:anim>
                                  </p:childTnLst>
                                </p:cTn>
                              </p:par>
                              <p:par>
                                <p:cTn id="13" presetID="42" presetClass="entr" presetSubtype="0" fill="hold" grpId="0" nodeType="afterEffect">
                                  <p:stCondLst>
                                    <p:cond delay="162"/>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380"/>
                                        <p:tgtEl>
                                          <p:spTgt spid="3"/>
                                        </p:tgtEl>
                                      </p:cBhvr>
                                    </p:animEffect>
                                    <p:anim calcmode="lin" valueType="num">
                                      <p:cBhvr additive="base">
                                        <p:cTn id="16" dur="380" fill="hold"/>
                                        <p:tgtEl>
                                          <p:spTgt spid="3"/>
                                        </p:tgtEl>
                                        <p:attrNameLst>
                                          <p:attrName>ppt_y</p:attrName>
                                        </p:attrNameLst>
                                      </p:cBhvr>
                                      <p:tavLst>
                                        <p:tav tm="0">
                                          <p:val>
                                            <p:strVal val="#ppt_y+0.03"/>
                                          </p:val>
                                        </p:tav>
                                        <p:tav tm="100000">
                                          <p:val>
                                            <p:strVal val="#ppt_y"/>
                                          </p:val>
                                        </p:tav>
                                      </p:tavLst>
                                    </p:anim>
                                  </p:childTnLst>
                                </p:cTn>
                              </p:par>
                              <p:par>
                                <p:cTn id="17" presetID="42" presetClass="entr" presetSubtype="0" fill="hold" grpId="0" nodeType="afterEffect">
                                  <p:stCondLst>
                                    <p:cond delay="243"/>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380"/>
                                        <p:tgtEl>
                                          <p:spTgt spid="4"/>
                                        </p:tgtEl>
                                      </p:cBhvr>
                                    </p:animEffect>
                                    <p:anim calcmode="lin" valueType="num">
                                      <p:cBhvr additive="base">
                                        <p:cTn id="20" dur="380" fill="hold"/>
                                        <p:tgtEl>
                                          <p:spTgt spid="4"/>
                                        </p:tgtEl>
                                        <p:attrNameLst>
                                          <p:attrName>ppt_y</p:attrName>
                                        </p:attrNameLst>
                                      </p:cBhvr>
                                      <p:tavLst>
                                        <p:tav tm="0">
                                          <p:val>
                                            <p:strVal val="#ppt_y+0.03"/>
                                          </p:val>
                                        </p:tav>
                                        <p:tav tm="100000">
                                          <p:val>
                                            <p:strVal val="#ppt_y"/>
                                          </p:val>
                                        </p:tav>
                                      </p:tavLst>
                                    </p:anim>
                                  </p:childTnLst>
                                </p:cTn>
                              </p:par>
                              <p:par>
                                <p:cTn id="21" presetID="42" presetClass="entr" presetSubtype="0" fill="hold" grpId="0" nodeType="afterEffect">
                                  <p:stCondLst>
                                    <p:cond delay="324"/>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380"/>
                                        <p:tgtEl>
                                          <p:spTgt spid="5"/>
                                        </p:tgtEl>
                                      </p:cBhvr>
                                    </p:animEffect>
                                    <p:anim calcmode="lin" valueType="num">
                                      <p:cBhvr additive="base">
                                        <p:cTn id="24" dur="380" fill="hold"/>
                                        <p:tgtEl>
                                          <p:spTgt spid="5"/>
                                        </p:tgtEl>
                                        <p:attrNameLst>
                                          <p:attrName>ppt_y</p:attrName>
                                        </p:attrNameLst>
                                      </p:cBhvr>
                                      <p:tavLst>
                                        <p:tav tm="0">
                                          <p:val>
                                            <p:strVal val="#ppt_y+0.03"/>
                                          </p:val>
                                        </p:tav>
                                        <p:tav tm="100000">
                                          <p:val>
                                            <p:strVal val="#ppt_y"/>
                                          </p:val>
                                        </p:tav>
                                      </p:tavLst>
                                    </p:anim>
                                  </p:childTnLst>
                                </p:cTn>
                              </p:par>
                              <p:par>
                                <p:cTn id="25" presetID="42" presetClass="entr" presetSubtype="0" fill="hold" grpId="0" nodeType="afterEffect">
                                  <p:stCondLst>
                                    <p:cond delay="405"/>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380"/>
                                        <p:tgtEl>
                                          <p:spTgt spid="6"/>
                                        </p:tgtEl>
                                      </p:cBhvr>
                                    </p:animEffect>
                                    <p:anim calcmode="lin" valueType="num">
                                      <p:cBhvr additive="base">
                                        <p:cTn id="28" dur="380" fill="hold"/>
                                        <p:tgtEl>
                                          <p:spTgt spid="6"/>
                                        </p:tgtEl>
                                        <p:attrNameLst>
                                          <p:attrName>ppt_y</p:attrName>
                                        </p:attrNameLst>
                                      </p:cBhvr>
                                      <p:tavLst>
                                        <p:tav tm="0">
                                          <p:val>
                                            <p:strVal val="#ppt_y+0.03"/>
                                          </p:val>
                                        </p:tav>
                                        <p:tav tm="100000">
                                          <p:val>
                                            <p:strVal val="#ppt_y"/>
                                          </p:val>
                                        </p:tav>
                                      </p:tavLst>
                                    </p:anim>
                                  </p:childTnLst>
                                </p:cTn>
                              </p:par>
                              <p:par>
                                <p:cTn id="29" presetID="42" presetClass="entr" presetSubtype="0" fill="hold" grpId="0" nodeType="afterEffect">
                                  <p:stCondLst>
                                    <p:cond delay="486"/>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380"/>
                                        <p:tgtEl>
                                          <p:spTgt spid="7"/>
                                        </p:tgtEl>
                                      </p:cBhvr>
                                    </p:animEffect>
                                    <p:anim calcmode="lin" valueType="num">
                                      <p:cBhvr additive="base">
                                        <p:cTn id="32" dur="380" fill="hold"/>
                                        <p:tgtEl>
                                          <p:spTgt spid="7"/>
                                        </p:tgtEl>
                                        <p:attrNameLst>
                                          <p:attrName>ppt_y</p:attrName>
                                        </p:attrNameLst>
                                      </p:cBhvr>
                                      <p:tavLst>
                                        <p:tav tm="0">
                                          <p:val>
                                            <p:strVal val="#ppt_y+0.03"/>
                                          </p:val>
                                        </p:tav>
                                        <p:tav tm="100000">
                                          <p:val>
                                            <p:strVal val="#ppt_y"/>
                                          </p:val>
                                        </p:tav>
                                      </p:tavLst>
                                    </p:anim>
                                  </p:childTnLst>
                                </p:cTn>
                              </p:par>
                              <p:par>
                                <p:cTn id="33" presetID="42" presetClass="entr" presetSubtype="0" fill="hold" grpId="0" nodeType="afterEffect">
                                  <p:stCondLst>
                                    <p:cond delay="567"/>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380"/>
                                        <p:tgtEl>
                                          <p:spTgt spid="8"/>
                                        </p:tgtEl>
                                      </p:cBhvr>
                                    </p:animEffect>
                                    <p:anim calcmode="lin" valueType="num">
                                      <p:cBhvr additive="base">
                                        <p:cTn id="36" dur="380" fill="hold"/>
                                        <p:tgtEl>
                                          <p:spTgt spid="8"/>
                                        </p:tgtEl>
                                        <p:attrNameLst>
                                          <p:attrName>ppt_y</p:attrName>
                                        </p:attrNameLst>
                                      </p:cBhvr>
                                      <p:tavLst>
                                        <p:tav tm="0">
                                          <p:val>
                                            <p:strVal val="#ppt_y+0.03"/>
                                          </p:val>
                                        </p:tav>
                                        <p:tav tm="100000">
                                          <p:val>
                                            <p:strVal val="#ppt_y"/>
                                          </p:val>
                                        </p:tav>
                                      </p:tavLst>
                                    </p:anim>
                                  </p:childTnLst>
                                </p:cTn>
                              </p:par>
                              <p:par>
                                <p:cTn id="37" presetID="42" presetClass="entr" presetSubtype="0" fill="hold" grpId="0" nodeType="afterEffect">
                                  <p:stCondLst>
                                    <p:cond delay="648"/>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380"/>
                                        <p:tgtEl>
                                          <p:spTgt spid="9"/>
                                        </p:tgtEl>
                                      </p:cBhvr>
                                    </p:animEffect>
                                    <p:anim calcmode="lin" valueType="num">
                                      <p:cBhvr additive="base">
                                        <p:cTn id="40" dur="380" fill="hold"/>
                                        <p:tgtEl>
                                          <p:spTgt spid="9"/>
                                        </p:tgtEl>
                                        <p:attrNameLst>
                                          <p:attrName>ppt_y</p:attrName>
                                        </p:attrNameLst>
                                      </p:cBhvr>
                                      <p:tavLst>
                                        <p:tav tm="0">
                                          <p:val>
                                            <p:strVal val="#ppt_y+0.03"/>
                                          </p:val>
                                        </p:tav>
                                        <p:tav tm="100000">
                                          <p:val>
                                            <p:strVal val="#ppt_y"/>
                                          </p:val>
                                        </p:tav>
                                      </p:tavLst>
                                    </p:anim>
                                  </p:childTnLst>
                                </p:cTn>
                              </p:par>
                              <p:par>
                                <p:cTn id="41" presetID="42" presetClass="entr" presetSubtype="0" fill="hold" grpId="0" nodeType="afterEffect">
                                  <p:stCondLst>
                                    <p:cond delay="729"/>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380"/>
                                        <p:tgtEl>
                                          <p:spTgt spid="10"/>
                                        </p:tgtEl>
                                      </p:cBhvr>
                                    </p:animEffect>
                                    <p:anim calcmode="lin" valueType="num">
                                      <p:cBhvr additive="base">
                                        <p:cTn id="44" dur="380" fill="hold"/>
                                        <p:tgtEl>
                                          <p:spTgt spid="10"/>
                                        </p:tgtEl>
                                        <p:attrNameLst>
                                          <p:attrName>ppt_y</p:attrName>
                                        </p:attrNameLst>
                                      </p:cBhvr>
                                      <p:tavLst>
                                        <p:tav tm="0">
                                          <p:val>
                                            <p:strVal val="#ppt_y+0.03"/>
                                          </p:val>
                                        </p:tav>
                                        <p:tav tm="100000">
                                          <p:val>
                                            <p:strVal val="#ppt_y"/>
                                          </p:val>
                                        </p:tav>
                                      </p:tavLst>
                                    </p:anim>
                                  </p:childTnLst>
                                </p:cTn>
                              </p:par>
                              <p:par>
                                <p:cTn id="45" presetID="42" presetClass="entr" presetSubtype="0" fill="hold" grpId="0" nodeType="afterEffect">
                                  <p:stCondLst>
                                    <p:cond delay="81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380"/>
                                        <p:tgtEl>
                                          <p:spTgt spid="11"/>
                                        </p:tgtEl>
                                      </p:cBhvr>
                                    </p:animEffect>
                                    <p:anim calcmode="lin" valueType="num">
                                      <p:cBhvr additive="base">
                                        <p:cTn id="48" dur="380" fill="hold"/>
                                        <p:tgtEl>
                                          <p:spTgt spid="11"/>
                                        </p:tgtEl>
                                        <p:attrNameLst>
                                          <p:attrName>ppt_y</p:attrName>
                                        </p:attrNameLst>
                                      </p:cBhvr>
                                      <p:tavLst>
                                        <p:tav tm="0">
                                          <p:val>
                                            <p:strVal val="#ppt_y+0.03"/>
                                          </p:val>
                                        </p:tav>
                                        <p:tav tm="100000">
                                          <p:val>
                                            <p:strVal val="#ppt_y"/>
                                          </p:val>
                                        </p:tav>
                                      </p:tavLst>
                                    </p:anim>
                                  </p:childTnLst>
                                </p:cTn>
                              </p:par>
                              <p:par>
                                <p:cTn id="49" presetID="42" presetClass="entr" presetSubtype="0" fill="hold" grpId="0" nodeType="afterEffect">
                                  <p:stCondLst>
                                    <p:cond delay="891"/>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380"/>
                                        <p:tgtEl>
                                          <p:spTgt spid="12"/>
                                        </p:tgtEl>
                                      </p:cBhvr>
                                    </p:animEffect>
                                    <p:anim calcmode="lin" valueType="num">
                                      <p:cBhvr additive="base">
                                        <p:cTn id="52" dur="380" fill="hold"/>
                                        <p:tgtEl>
                                          <p:spTgt spid="12"/>
                                        </p:tgtEl>
                                        <p:attrNameLst>
                                          <p:attrName>ppt_y</p:attrName>
                                        </p:attrNameLst>
                                      </p:cBhvr>
                                      <p:tavLst>
                                        <p:tav tm="0">
                                          <p:val>
                                            <p:strVal val="#ppt_y+0.03"/>
                                          </p:val>
                                        </p:tav>
                                        <p:tav tm="100000">
                                          <p:val>
                                            <p:strVal val="#ppt_y"/>
                                          </p:val>
                                        </p:tav>
                                      </p:tavLst>
                                    </p:anim>
                                  </p:childTnLst>
                                </p:cTn>
                              </p:par>
                              <p:par>
                                <p:cTn id="53" presetID="42" presetClass="entr" presetSubtype="0" fill="hold" grpId="0" nodeType="afterEffect">
                                  <p:stCondLst>
                                    <p:cond delay="972"/>
                                  </p:stCondLst>
                                  <p:childTnLst>
                                    <p:set>
                                      <p:cBhvr>
                                        <p:cTn id="54" dur="1" fill="hold">
                                          <p:stCondLst>
                                            <p:cond delay="0"/>
                                          </p:stCondLst>
                                        </p:cTn>
                                        <p:tgtEl>
                                          <p:spTgt spid="13"/>
                                        </p:tgtEl>
                                        <p:attrNameLst>
                                          <p:attrName>style.visibility</p:attrName>
                                        </p:attrNameLst>
                                      </p:cBhvr>
                                      <p:to>
                                        <p:strVal val="visible"/>
                                      </p:to>
                                    </p:set>
                                    <p:animEffect transition="in" filter="fade">
                                      <p:cBhvr>
                                        <p:cTn id="55" dur="380"/>
                                        <p:tgtEl>
                                          <p:spTgt spid="13"/>
                                        </p:tgtEl>
                                      </p:cBhvr>
                                    </p:animEffect>
                                    <p:anim calcmode="lin" valueType="num">
                                      <p:cBhvr additive="base">
                                        <p:cTn id="56" dur="380" fill="hold"/>
                                        <p:tgtEl>
                                          <p:spTgt spid="13"/>
                                        </p:tgtEl>
                                        <p:attrNameLst>
                                          <p:attrName>ppt_y</p:attrName>
                                        </p:attrNameLst>
                                      </p:cBhvr>
                                      <p:tavLst>
                                        <p:tav tm="0">
                                          <p:val>
                                            <p:strVal val="#ppt_y+0.03"/>
                                          </p:val>
                                        </p:tav>
                                        <p:tav tm="100000">
                                          <p:val>
                                            <p:strVal val="#ppt_y"/>
                                          </p:val>
                                        </p:tav>
                                      </p:tavLst>
                                    </p:anim>
                                  </p:childTnLst>
                                </p:cTn>
                              </p:par>
                              <p:par>
                                <p:cTn id="57" presetID="42" presetClass="entr" presetSubtype="0" fill="hold" grpId="0" nodeType="afterEffect">
                                  <p:stCondLst>
                                    <p:cond delay="1053"/>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380"/>
                                        <p:tgtEl>
                                          <p:spTgt spid="14"/>
                                        </p:tgtEl>
                                      </p:cBhvr>
                                    </p:animEffect>
                                    <p:anim calcmode="lin" valueType="num">
                                      <p:cBhvr additive="base">
                                        <p:cTn id="60" dur="380" fill="hold"/>
                                        <p:tgtEl>
                                          <p:spTgt spid="14"/>
                                        </p:tgtEl>
                                        <p:attrNameLst>
                                          <p:attrName>ppt_y</p:attrName>
                                        </p:attrNameLst>
                                      </p:cBhvr>
                                      <p:tavLst>
                                        <p:tav tm="0">
                                          <p:val>
                                            <p:strVal val="#ppt_y+0.03"/>
                                          </p:val>
                                        </p:tav>
                                        <p:tav tm="100000">
                                          <p:val>
                                            <p:strVal val="#ppt_y"/>
                                          </p:val>
                                        </p:tav>
                                      </p:tavLst>
                                    </p:anim>
                                  </p:childTnLst>
                                </p:cTn>
                              </p:par>
                              <p:par>
                                <p:cTn id="61" presetID="42" presetClass="entr" presetSubtype="0" fill="hold" grpId="0" nodeType="afterEffect">
                                  <p:stCondLst>
                                    <p:cond delay="1134"/>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380"/>
                                        <p:tgtEl>
                                          <p:spTgt spid="15"/>
                                        </p:tgtEl>
                                      </p:cBhvr>
                                    </p:animEffect>
                                    <p:anim calcmode="lin" valueType="num">
                                      <p:cBhvr additive="base">
                                        <p:cTn id="64" dur="380" fill="hold"/>
                                        <p:tgtEl>
                                          <p:spTgt spid="15"/>
                                        </p:tgtEl>
                                        <p:attrNameLst>
                                          <p:attrName>ppt_y</p:attrName>
                                        </p:attrNameLst>
                                      </p:cBhvr>
                                      <p:tavLst>
                                        <p:tav tm="0">
                                          <p:val>
                                            <p:strVal val="#ppt_y+0.03"/>
                                          </p:val>
                                        </p:tav>
                                        <p:tav tm="100000">
                                          <p:val>
                                            <p:strVal val="#ppt_y"/>
                                          </p:val>
                                        </p:tav>
                                      </p:tavLst>
                                    </p:anim>
                                  </p:childTnLst>
                                </p:cTn>
                              </p:par>
                              <p:par>
                                <p:cTn id="65" presetID="42" presetClass="entr" presetSubtype="0" fill="hold" grpId="0" nodeType="afterEffect">
                                  <p:stCondLst>
                                    <p:cond delay="1215"/>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380"/>
                                        <p:tgtEl>
                                          <p:spTgt spid="16"/>
                                        </p:tgtEl>
                                      </p:cBhvr>
                                    </p:animEffect>
                                    <p:anim calcmode="lin" valueType="num">
                                      <p:cBhvr additive="base">
                                        <p:cTn id="68" dur="380" fill="hold"/>
                                        <p:tgtEl>
                                          <p:spTgt spid="16"/>
                                        </p:tgtEl>
                                        <p:attrNameLst>
                                          <p:attrName>ppt_y</p:attrName>
                                        </p:attrNameLst>
                                      </p:cBhvr>
                                      <p:tavLst>
                                        <p:tav tm="0">
                                          <p:val>
                                            <p:strVal val="#ppt_y+0.03"/>
                                          </p:val>
                                        </p:tav>
                                        <p:tav tm="100000">
                                          <p:val>
                                            <p:strVal val="#ppt_y"/>
                                          </p:val>
                                        </p:tav>
                                      </p:tavLst>
                                    </p:anim>
                                  </p:childTnLst>
                                </p:cTn>
                              </p:par>
                              <p:par>
                                <p:cTn id="69" presetID="42" presetClass="entr" presetSubtype="0" fill="hold" grpId="0" nodeType="afterEffect">
                                  <p:stCondLst>
                                    <p:cond delay="1296"/>
                                  </p:stCondLst>
                                  <p:childTnLst>
                                    <p:set>
                                      <p:cBhvr>
                                        <p:cTn id="70" dur="1" fill="hold">
                                          <p:stCondLst>
                                            <p:cond delay="0"/>
                                          </p:stCondLst>
                                        </p:cTn>
                                        <p:tgtEl>
                                          <p:spTgt spid="17"/>
                                        </p:tgtEl>
                                        <p:attrNameLst>
                                          <p:attrName>style.visibility</p:attrName>
                                        </p:attrNameLst>
                                      </p:cBhvr>
                                      <p:to>
                                        <p:strVal val="visible"/>
                                      </p:to>
                                    </p:set>
                                    <p:animEffect transition="in" filter="fade">
                                      <p:cBhvr>
                                        <p:cTn id="71" dur="380"/>
                                        <p:tgtEl>
                                          <p:spTgt spid="17"/>
                                        </p:tgtEl>
                                      </p:cBhvr>
                                    </p:animEffect>
                                    <p:anim calcmode="lin" valueType="num">
                                      <p:cBhvr additive="base">
                                        <p:cTn id="72" dur="380" fill="hold"/>
                                        <p:tgtEl>
                                          <p:spTgt spid="17"/>
                                        </p:tgtEl>
                                        <p:attrNameLst>
                                          <p:attrName>ppt_y</p:attrName>
                                        </p:attrNameLst>
                                      </p:cBhvr>
                                      <p:tavLst>
                                        <p:tav tm="0">
                                          <p:val>
                                            <p:strVal val="#ppt_y+0.03"/>
                                          </p:val>
                                        </p:tav>
                                        <p:tav tm="100000">
                                          <p:val>
                                            <p:strVal val="#ppt_y"/>
                                          </p:val>
                                        </p:tav>
                                      </p:tavLst>
                                    </p:anim>
                                  </p:childTnLst>
                                </p:cTn>
                              </p:par>
                              <p:par>
                                <p:cTn id="73" presetID="42" presetClass="entr" presetSubtype="0" fill="hold" grpId="0" nodeType="afterEffect">
                                  <p:stCondLst>
                                    <p:cond delay="1377"/>
                                  </p:stCondLst>
                                  <p:childTnLst>
                                    <p:set>
                                      <p:cBhvr>
                                        <p:cTn id="74" dur="1" fill="hold">
                                          <p:stCondLst>
                                            <p:cond delay="0"/>
                                          </p:stCondLst>
                                        </p:cTn>
                                        <p:tgtEl>
                                          <p:spTgt spid="18"/>
                                        </p:tgtEl>
                                        <p:attrNameLst>
                                          <p:attrName>style.visibility</p:attrName>
                                        </p:attrNameLst>
                                      </p:cBhvr>
                                      <p:to>
                                        <p:strVal val="visible"/>
                                      </p:to>
                                    </p:set>
                                    <p:animEffect transition="in" filter="fade">
                                      <p:cBhvr>
                                        <p:cTn id="75" dur="380"/>
                                        <p:tgtEl>
                                          <p:spTgt spid="18"/>
                                        </p:tgtEl>
                                      </p:cBhvr>
                                    </p:animEffect>
                                    <p:anim calcmode="lin" valueType="num">
                                      <p:cBhvr additive="base">
                                        <p:cTn id="76" dur="380" fill="hold"/>
                                        <p:tgtEl>
                                          <p:spTgt spid="18"/>
                                        </p:tgtEl>
                                        <p:attrNameLst>
                                          <p:attrName>ppt_y</p:attrName>
                                        </p:attrNameLst>
                                      </p:cBhvr>
                                      <p:tavLst>
                                        <p:tav tm="0">
                                          <p:val>
                                            <p:strVal val="#ppt_y+0.03"/>
                                          </p:val>
                                        </p:tav>
                                        <p:tav tm="100000">
                                          <p:val>
                                            <p:strVal val="#ppt_y"/>
                                          </p:val>
                                        </p:tav>
                                      </p:tavLst>
                                    </p:anim>
                                  </p:childTnLst>
                                </p:cTn>
                              </p:par>
                              <p:par>
                                <p:cTn id="77" presetID="42" presetClass="entr" presetSubtype="0" fill="hold" grpId="0" nodeType="afterEffect">
                                  <p:stCondLst>
                                    <p:cond delay="1458"/>
                                  </p:stCondLst>
                                  <p:childTnLst>
                                    <p:set>
                                      <p:cBhvr>
                                        <p:cTn id="78" dur="1" fill="hold">
                                          <p:stCondLst>
                                            <p:cond delay="0"/>
                                          </p:stCondLst>
                                        </p:cTn>
                                        <p:tgtEl>
                                          <p:spTgt spid="19"/>
                                        </p:tgtEl>
                                        <p:attrNameLst>
                                          <p:attrName>style.visibility</p:attrName>
                                        </p:attrNameLst>
                                      </p:cBhvr>
                                      <p:to>
                                        <p:strVal val="visible"/>
                                      </p:to>
                                    </p:set>
                                    <p:animEffect transition="in" filter="fade">
                                      <p:cBhvr>
                                        <p:cTn id="79" dur="380"/>
                                        <p:tgtEl>
                                          <p:spTgt spid="19"/>
                                        </p:tgtEl>
                                      </p:cBhvr>
                                    </p:animEffect>
                                    <p:anim calcmode="lin" valueType="num">
                                      <p:cBhvr additive="base">
                                        <p:cTn id="80" dur="380" fill="hold"/>
                                        <p:tgtEl>
                                          <p:spTgt spid="19"/>
                                        </p:tgtEl>
                                        <p:attrNameLst>
                                          <p:attrName>ppt_y</p:attrName>
                                        </p:attrNameLst>
                                      </p:cBhvr>
                                      <p:tavLst>
                                        <p:tav tm="0">
                                          <p:val>
                                            <p:strVal val="#ppt_y+0.03"/>
                                          </p:val>
                                        </p:tav>
                                        <p:tav tm="100000">
                                          <p:val>
                                            <p:strVal val="#ppt_y"/>
                                          </p:val>
                                        </p:tav>
                                      </p:tavLst>
                                    </p:anim>
                                  </p:childTnLst>
                                </p:cTn>
                              </p:par>
                              <p:par>
                                <p:cTn id="81" presetID="42" presetClass="entr" presetSubtype="0" fill="hold" grpId="0" nodeType="afterEffect">
                                  <p:stCondLst>
                                    <p:cond delay="1539"/>
                                  </p:stCondLst>
                                  <p:childTnLst>
                                    <p:set>
                                      <p:cBhvr>
                                        <p:cTn id="82" dur="1" fill="hold">
                                          <p:stCondLst>
                                            <p:cond delay="0"/>
                                          </p:stCondLst>
                                        </p:cTn>
                                        <p:tgtEl>
                                          <p:spTgt spid="20"/>
                                        </p:tgtEl>
                                        <p:attrNameLst>
                                          <p:attrName>style.visibility</p:attrName>
                                        </p:attrNameLst>
                                      </p:cBhvr>
                                      <p:to>
                                        <p:strVal val="visible"/>
                                      </p:to>
                                    </p:set>
                                    <p:animEffect transition="in" filter="fade">
                                      <p:cBhvr>
                                        <p:cTn id="83" dur="380"/>
                                        <p:tgtEl>
                                          <p:spTgt spid="20"/>
                                        </p:tgtEl>
                                      </p:cBhvr>
                                    </p:animEffect>
                                    <p:anim calcmode="lin" valueType="num">
                                      <p:cBhvr additive="base">
                                        <p:cTn id="84" dur="380" fill="hold"/>
                                        <p:tgtEl>
                                          <p:spTgt spid="20"/>
                                        </p:tgtEl>
                                        <p:attrNameLst>
                                          <p:attrName>ppt_y</p:attrName>
                                        </p:attrNameLst>
                                      </p:cBhvr>
                                      <p:tavLst>
                                        <p:tav tm="0">
                                          <p:val>
                                            <p:strVal val="#ppt_y+0.03"/>
                                          </p:val>
                                        </p:tav>
                                        <p:tav tm="100000">
                                          <p:val>
                                            <p:strVal val="#ppt_y"/>
                                          </p:val>
                                        </p:tav>
                                      </p:tavLst>
                                    </p:anim>
                                  </p:childTnLst>
                                </p:cTn>
                              </p:par>
                              <p:par>
                                <p:cTn id="85" presetID="42" presetClass="entr" presetSubtype="0" fill="hold" grpId="0" nodeType="afterEffect">
                                  <p:stCondLst>
                                    <p:cond delay="1620"/>
                                  </p:stCondLst>
                                  <p:childTnLst>
                                    <p:set>
                                      <p:cBhvr>
                                        <p:cTn id="86" dur="1" fill="hold">
                                          <p:stCondLst>
                                            <p:cond delay="0"/>
                                          </p:stCondLst>
                                        </p:cTn>
                                        <p:tgtEl>
                                          <p:spTgt spid="21"/>
                                        </p:tgtEl>
                                        <p:attrNameLst>
                                          <p:attrName>style.visibility</p:attrName>
                                        </p:attrNameLst>
                                      </p:cBhvr>
                                      <p:to>
                                        <p:strVal val="visible"/>
                                      </p:to>
                                    </p:set>
                                    <p:animEffect transition="in" filter="fade">
                                      <p:cBhvr>
                                        <p:cTn id="87" dur="380"/>
                                        <p:tgtEl>
                                          <p:spTgt spid="21"/>
                                        </p:tgtEl>
                                      </p:cBhvr>
                                    </p:animEffect>
                                    <p:anim calcmode="lin" valueType="num">
                                      <p:cBhvr additive="base">
                                        <p:cTn id="88" dur="380" fill="hold"/>
                                        <p:tgtEl>
                                          <p:spTgt spid="21"/>
                                        </p:tgtEl>
                                        <p:attrNameLst>
                                          <p:attrName>ppt_y</p:attrName>
                                        </p:attrNameLst>
                                      </p:cBhvr>
                                      <p:tavLst>
                                        <p:tav tm="0">
                                          <p:val>
                                            <p:strVal val="#ppt_y+0.03"/>
                                          </p:val>
                                        </p:tav>
                                        <p:tav tm="100000">
                                          <p:val>
                                            <p:strVal val="#ppt_y"/>
                                          </p:val>
                                        </p:tav>
                                      </p:tavLst>
                                    </p:anim>
                                  </p:childTnLst>
                                </p:cTn>
                              </p:par>
                              <p:par>
                                <p:cTn id="89" presetID="42" presetClass="entr" presetSubtype="0" fill="hold" grpId="0" nodeType="afterEffect">
                                  <p:stCondLst>
                                    <p:cond delay="1701"/>
                                  </p:stCondLst>
                                  <p:childTnLst>
                                    <p:set>
                                      <p:cBhvr>
                                        <p:cTn id="90" dur="1" fill="hold">
                                          <p:stCondLst>
                                            <p:cond delay="0"/>
                                          </p:stCondLst>
                                        </p:cTn>
                                        <p:tgtEl>
                                          <p:spTgt spid="22"/>
                                        </p:tgtEl>
                                        <p:attrNameLst>
                                          <p:attrName>style.visibility</p:attrName>
                                        </p:attrNameLst>
                                      </p:cBhvr>
                                      <p:to>
                                        <p:strVal val="visible"/>
                                      </p:to>
                                    </p:set>
                                    <p:animEffect transition="in" filter="fade">
                                      <p:cBhvr>
                                        <p:cTn id="91" dur="380"/>
                                        <p:tgtEl>
                                          <p:spTgt spid="22"/>
                                        </p:tgtEl>
                                      </p:cBhvr>
                                    </p:animEffect>
                                    <p:anim calcmode="lin" valueType="num">
                                      <p:cBhvr additive="base">
                                        <p:cTn id="92" dur="380" fill="hold"/>
                                        <p:tgtEl>
                                          <p:spTgt spid="22"/>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 grpId="0"/>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37744"/>
          </a:xfrm>
          <a:prstGeom prst="rect">
            <a:avLst/>
          </a:prstGeom>
          <a:noFill/>
          <a:ln/>
        </p:spPr>
        <p:txBody>
          <a:bodyPr wrap="square" lIns="0" tIns="0" rIns="0" bIns="0" rtlCol="0" anchor="ctr"/>
          <a:lstStyle/>
          <a:p>
            <a:pPr indent="0" marL="0">
              <a:buNone/>
            </a:pPr>
            <a:r>
              <a:rPr lang="en-US" sz="1050" b="1" spc="200" kern="0" dirty="0">
                <a:solidFill>
                  <a:srgbClr val="00C39A"/>
                </a:solidFill>
                <a:latin typeface="Calibri" pitchFamily="34" charset="0"/>
                <a:ea typeface="Calibri" pitchFamily="34" charset="-122"/>
                <a:cs typeface="Calibri" pitchFamily="34" charset="-120"/>
              </a:rPr>
              <a:t>FEATURES · 1 OF 3</a:t>
            </a:r>
            <a:endParaRPr lang="en-US" sz="1050" dirty="0"/>
          </a:p>
        </p:txBody>
      </p:sp>
      <p:sp>
        <p:nvSpPr>
          <p:cNvPr id="3" name="Text 1"/>
          <p:cNvSpPr/>
          <p:nvPr/>
        </p:nvSpPr>
        <p:spPr>
          <a:xfrm>
            <a:off x="548640" y="658368"/>
            <a:ext cx="11064240" cy="658368"/>
          </a:xfrm>
          <a:prstGeom prst="rect">
            <a:avLst/>
          </a:prstGeom>
          <a:noFill/>
          <a:ln/>
        </p:spPr>
        <p:txBody>
          <a:bodyPr wrap="square" lIns="0" tIns="0" rIns="0" bIns="0" rtlCol="0" anchor="t"/>
          <a:lstStyle/>
          <a:p>
            <a:pPr indent="0" marL="0">
              <a:buNone/>
            </a:pPr>
            <a:r>
              <a:rPr lang="en-US" sz="3400" b="1" dirty="0">
                <a:solidFill>
                  <a:srgbClr val="141B3D"/>
                </a:solidFill>
                <a:latin typeface="Cambria" pitchFamily="34" charset="0"/>
                <a:ea typeface="Cambria" pitchFamily="34" charset="-122"/>
                <a:cs typeface="Cambria" pitchFamily="34" charset="-120"/>
              </a:rPr>
              <a:t>Administrator</a:t>
            </a:r>
            <a:endParaRPr lang="en-US" sz="3400" dirty="0"/>
          </a:p>
        </p:txBody>
      </p:sp>
      <p:sp>
        <p:nvSpPr>
          <p:cNvPr id="4" name="Text 2"/>
          <p:cNvSpPr/>
          <p:nvPr/>
        </p:nvSpPr>
        <p:spPr>
          <a:xfrm>
            <a:off x="548640" y="1371600"/>
            <a:ext cx="7863840" cy="329184"/>
          </a:xfrm>
          <a:prstGeom prst="rect">
            <a:avLst/>
          </a:prstGeom>
          <a:noFill/>
          <a:ln/>
        </p:spPr>
        <p:txBody>
          <a:bodyPr wrap="square" lIns="0" tIns="0" rIns="0" bIns="0" rtlCol="0" anchor="ctr"/>
          <a:lstStyle/>
          <a:p>
            <a:pPr indent="0" marL="0">
              <a:buNone/>
            </a:pPr>
            <a:r>
              <a:rPr lang="en-US" sz="1400" dirty="0">
                <a:solidFill>
                  <a:srgbClr val="646E8C"/>
                </a:solidFill>
                <a:latin typeface="Calibri" pitchFamily="34" charset="0"/>
                <a:ea typeface="Calibri" pitchFamily="34" charset="-122"/>
                <a:cs typeface="Calibri" pitchFamily="34" charset="-120"/>
              </a:rPr>
              <a:t>Sets up the term and keeps institution-wide visibility.</a:t>
            </a:r>
            <a:endParaRPr lang="en-US" sz="1400" dirty="0"/>
          </a:p>
        </p:txBody>
      </p:sp>
      <p:sp>
        <p:nvSpPr>
          <p:cNvPr id="5" name="Shape 3"/>
          <p:cNvSpPr/>
          <p:nvPr/>
        </p:nvSpPr>
        <p:spPr>
          <a:xfrm>
            <a:off x="548640" y="1938528"/>
            <a:ext cx="8138160" cy="932688"/>
          </a:xfrm>
          <a:prstGeom prst="roundRect">
            <a:avLst>
              <a:gd name="adj" fmla="val 8824"/>
            </a:avLst>
          </a:prstGeom>
          <a:solidFill>
            <a:srgbClr val="FFFFFF"/>
          </a:solidFill>
          <a:ln w="9525">
            <a:solidFill>
              <a:srgbClr val="FFFFFF"/>
            </a:solidFill>
            <a:prstDash val="solid"/>
          </a:ln>
          <a:effectLst>
            <a:outerShdw sx="100000" sy="100000" kx="0" ky="0" algn="bl" rotWithShape="0" blurRad="177800" dist="38100" dir="5400000">
              <a:srgbClr val="1E2761">
                <a:alpha val="10000"/>
              </a:srgbClr>
            </a:outerShdw>
          </a:effectLst>
        </p:spPr>
      </p:sp>
      <p:sp>
        <p:nvSpPr>
          <p:cNvPr id="6" name="Shape 4"/>
          <p:cNvSpPr/>
          <p:nvPr/>
        </p:nvSpPr>
        <p:spPr>
          <a:xfrm>
            <a:off x="768096" y="2130552"/>
            <a:ext cx="548640" cy="548640"/>
          </a:xfrm>
          <a:prstGeom prst="ellipse">
            <a:avLst/>
          </a:prstGeom>
          <a:solidFill>
            <a:srgbClr val="F4F6FC"/>
          </a:solidFill>
          <a:ln w="12700">
            <a:solidFill>
              <a:srgbClr val="F4F6FC"/>
            </a:solidFill>
            <a:prstDash val="solid"/>
          </a:ln>
        </p:spPr>
      </p:sp>
      <p:pic>
        <p:nvPicPr>
          <p:cNvPr id="7" name="Image 0" descr="preencoded.png">    </p:cNvPr>
          <p:cNvPicPr>
            <a:picLocks noChangeAspect="1"/>
          </p:cNvPicPr>
          <p:nvPr/>
        </p:nvPicPr>
        <p:blipFill>
          <a:blip r:embed="rId1"/>
          <a:stretch>
            <a:fillRect/>
          </a:stretch>
        </p:blipFill>
        <p:spPr>
          <a:xfrm>
            <a:off x="927202" y="2289658"/>
            <a:ext cx="230429" cy="230429"/>
          </a:xfrm>
          <a:prstGeom prst="rect">
            <a:avLst/>
          </a:prstGeom>
        </p:spPr>
      </p:pic>
      <p:sp>
        <p:nvSpPr>
          <p:cNvPr id="8" name="Text 5"/>
          <p:cNvSpPr/>
          <p:nvPr/>
        </p:nvSpPr>
        <p:spPr>
          <a:xfrm>
            <a:off x="1463040" y="2066544"/>
            <a:ext cx="7040880" cy="310896"/>
          </a:xfrm>
          <a:prstGeom prst="rect">
            <a:avLst/>
          </a:prstGeom>
          <a:noFill/>
          <a:ln/>
        </p:spPr>
        <p:txBody>
          <a:bodyPr wrap="square" lIns="0" tIns="0" rIns="0" bIns="0" rtlCol="0" anchor="ctr"/>
          <a:lstStyle/>
          <a:p>
            <a:pPr indent="0" marL="0">
              <a:buNone/>
            </a:pPr>
            <a:r>
              <a:rPr lang="en-US" sz="1450" b="1" dirty="0">
                <a:solidFill>
                  <a:srgbClr val="141B3D"/>
                </a:solidFill>
                <a:latin typeface="Calibri" pitchFamily="34" charset="0"/>
                <a:ea typeface="Calibri" pitchFamily="34" charset="-122"/>
                <a:cs typeface="Calibri" pitchFamily="34" charset="-120"/>
              </a:rPr>
              <a:t>Faculty management</a:t>
            </a:r>
            <a:endParaRPr lang="en-US" sz="1450" dirty="0"/>
          </a:p>
        </p:txBody>
      </p:sp>
      <p:sp>
        <p:nvSpPr>
          <p:cNvPr id="9" name="Text 6"/>
          <p:cNvSpPr/>
          <p:nvPr/>
        </p:nvSpPr>
        <p:spPr>
          <a:xfrm>
            <a:off x="1463040" y="2395728"/>
            <a:ext cx="7040880" cy="384048"/>
          </a:xfrm>
          <a:prstGeom prst="rect">
            <a:avLst/>
          </a:prstGeom>
          <a:noFill/>
          <a:ln/>
        </p:spPr>
        <p:txBody>
          <a:bodyPr wrap="square" lIns="0" tIns="0" rIns="0" bIns="0" rtlCol="0" anchor="ctr"/>
          <a:lstStyle/>
          <a:p>
            <a:pPr indent="0" marL="0">
              <a:lnSpc>
                <a:spcPts val="1500"/>
              </a:lnSpc>
              <a:buNone/>
            </a:pPr>
            <a:r>
              <a:rPr lang="en-US" sz="1150" dirty="0">
                <a:solidFill>
                  <a:srgbClr val="646E8C"/>
                </a:solidFill>
                <a:latin typeface="Calibri" pitchFamily="34" charset="0"/>
                <a:ea typeface="Calibri" pitchFamily="34" charset="-122"/>
                <a:cs typeface="Calibri" pitchFamily="34" charset="-120"/>
              </a:rPr>
              <a:t>Create, edit and delete lecturer accounts, set student capacity limits, reset passwords.</a:t>
            </a:r>
            <a:endParaRPr lang="en-US" sz="1150" dirty="0"/>
          </a:p>
        </p:txBody>
      </p:sp>
      <p:sp>
        <p:nvSpPr>
          <p:cNvPr id="10" name="Shape 7"/>
          <p:cNvSpPr/>
          <p:nvPr/>
        </p:nvSpPr>
        <p:spPr>
          <a:xfrm>
            <a:off x="548640" y="2999232"/>
            <a:ext cx="8138160" cy="932688"/>
          </a:xfrm>
          <a:prstGeom prst="roundRect">
            <a:avLst>
              <a:gd name="adj" fmla="val 8824"/>
            </a:avLst>
          </a:prstGeom>
          <a:solidFill>
            <a:srgbClr val="FFFFFF"/>
          </a:solidFill>
          <a:ln w="9525">
            <a:solidFill>
              <a:srgbClr val="FFFFFF"/>
            </a:solidFill>
            <a:prstDash val="solid"/>
          </a:ln>
          <a:effectLst>
            <a:outerShdw sx="100000" sy="100000" kx="0" ky="0" algn="bl" rotWithShape="0" blurRad="177800" dist="38100" dir="5400000">
              <a:srgbClr val="1E2761">
                <a:alpha val="10000"/>
              </a:srgbClr>
            </a:outerShdw>
          </a:effectLst>
        </p:spPr>
      </p:sp>
      <p:sp>
        <p:nvSpPr>
          <p:cNvPr id="11" name="Shape 8"/>
          <p:cNvSpPr/>
          <p:nvPr/>
        </p:nvSpPr>
        <p:spPr>
          <a:xfrm>
            <a:off x="768096" y="3191256"/>
            <a:ext cx="548640" cy="548640"/>
          </a:xfrm>
          <a:prstGeom prst="ellipse">
            <a:avLst/>
          </a:prstGeom>
          <a:solidFill>
            <a:srgbClr val="F4F6FC"/>
          </a:solidFill>
          <a:ln w="12700">
            <a:solidFill>
              <a:srgbClr val="F4F6FC"/>
            </a:solidFill>
            <a:prstDash val="solid"/>
          </a:ln>
        </p:spPr>
      </p:sp>
      <p:pic>
        <p:nvPicPr>
          <p:cNvPr id="12" name="Image 1" descr="preencoded.png">    </p:cNvPr>
          <p:cNvPicPr>
            <a:picLocks noChangeAspect="1"/>
          </p:cNvPicPr>
          <p:nvPr/>
        </p:nvPicPr>
        <p:blipFill>
          <a:blip r:embed="rId2"/>
          <a:stretch>
            <a:fillRect/>
          </a:stretch>
        </p:blipFill>
        <p:spPr>
          <a:xfrm>
            <a:off x="927202" y="3350362"/>
            <a:ext cx="230429" cy="230429"/>
          </a:xfrm>
          <a:prstGeom prst="rect">
            <a:avLst/>
          </a:prstGeom>
        </p:spPr>
      </p:pic>
      <p:sp>
        <p:nvSpPr>
          <p:cNvPr id="13" name="Text 9"/>
          <p:cNvSpPr/>
          <p:nvPr/>
        </p:nvSpPr>
        <p:spPr>
          <a:xfrm>
            <a:off x="1463040" y="3127248"/>
            <a:ext cx="7040880" cy="310896"/>
          </a:xfrm>
          <a:prstGeom prst="rect">
            <a:avLst/>
          </a:prstGeom>
          <a:noFill/>
          <a:ln/>
        </p:spPr>
        <p:txBody>
          <a:bodyPr wrap="square" lIns="0" tIns="0" rIns="0" bIns="0" rtlCol="0" anchor="ctr"/>
          <a:lstStyle/>
          <a:p>
            <a:pPr indent="0" marL="0">
              <a:buNone/>
            </a:pPr>
            <a:r>
              <a:rPr lang="en-US" sz="1450" b="1" dirty="0">
                <a:solidFill>
                  <a:srgbClr val="141B3D"/>
                </a:solidFill>
                <a:latin typeface="Calibri" pitchFamily="34" charset="0"/>
                <a:ea typeface="Calibri" pitchFamily="34" charset="-122"/>
                <a:cs typeface="Calibri" pitchFamily="34" charset="-120"/>
              </a:rPr>
              <a:t>Roll-number allocation</a:t>
            </a:r>
            <a:endParaRPr lang="en-US" sz="1450" dirty="0"/>
          </a:p>
        </p:txBody>
      </p:sp>
      <p:sp>
        <p:nvSpPr>
          <p:cNvPr id="14" name="Text 10"/>
          <p:cNvSpPr/>
          <p:nvPr/>
        </p:nvSpPr>
        <p:spPr>
          <a:xfrm>
            <a:off x="1463040" y="3456432"/>
            <a:ext cx="7040880" cy="384048"/>
          </a:xfrm>
          <a:prstGeom prst="rect">
            <a:avLst/>
          </a:prstGeom>
          <a:noFill/>
          <a:ln/>
        </p:spPr>
        <p:txBody>
          <a:bodyPr wrap="square" lIns="0" tIns="0" rIns="0" bIns="0" rtlCol="0" anchor="ctr"/>
          <a:lstStyle/>
          <a:p>
            <a:pPr indent="0" marL="0">
              <a:lnSpc>
                <a:spcPts val="1500"/>
              </a:lnSpc>
              <a:buNone/>
            </a:pPr>
            <a:r>
              <a:rPr lang="en-US" sz="1150" dirty="0">
                <a:solidFill>
                  <a:srgbClr val="646E8C"/>
                </a:solidFill>
                <a:latin typeface="Calibri" pitchFamily="34" charset="0"/>
                <a:ea typeface="Calibri" pitchFamily="34" charset="-122"/>
                <a:cs typeface="Calibri" pitchFamily="34" charset="-120"/>
              </a:rPr>
              <a:t>Define authorised ranges (e.g. 160125000001–160125000120) and assign them to a lecturer.</a:t>
            </a:r>
            <a:endParaRPr lang="en-US" sz="1150" dirty="0"/>
          </a:p>
        </p:txBody>
      </p:sp>
      <p:sp>
        <p:nvSpPr>
          <p:cNvPr id="15" name="Shape 11"/>
          <p:cNvSpPr/>
          <p:nvPr/>
        </p:nvSpPr>
        <p:spPr>
          <a:xfrm>
            <a:off x="548640" y="4059936"/>
            <a:ext cx="8138160" cy="932688"/>
          </a:xfrm>
          <a:prstGeom prst="roundRect">
            <a:avLst>
              <a:gd name="adj" fmla="val 8824"/>
            </a:avLst>
          </a:prstGeom>
          <a:solidFill>
            <a:srgbClr val="FFFFFF"/>
          </a:solidFill>
          <a:ln w="9525">
            <a:solidFill>
              <a:srgbClr val="FFFFFF"/>
            </a:solidFill>
            <a:prstDash val="solid"/>
          </a:ln>
          <a:effectLst>
            <a:outerShdw sx="100000" sy="100000" kx="0" ky="0" algn="bl" rotWithShape="0" blurRad="177800" dist="38100" dir="5400000">
              <a:srgbClr val="1E2761">
                <a:alpha val="10000"/>
              </a:srgbClr>
            </a:outerShdw>
          </a:effectLst>
        </p:spPr>
      </p:sp>
      <p:sp>
        <p:nvSpPr>
          <p:cNvPr id="16" name="Shape 12"/>
          <p:cNvSpPr/>
          <p:nvPr/>
        </p:nvSpPr>
        <p:spPr>
          <a:xfrm>
            <a:off x="768096" y="4251960"/>
            <a:ext cx="548640" cy="548640"/>
          </a:xfrm>
          <a:prstGeom prst="ellipse">
            <a:avLst/>
          </a:prstGeom>
          <a:solidFill>
            <a:srgbClr val="F4F6FC"/>
          </a:solidFill>
          <a:ln w="12700">
            <a:solidFill>
              <a:srgbClr val="F4F6FC"/>
            </a:solidFill>
            <a:prstDash val="solid"/>
          </a:ln>
        </p:spPr>
      </p:sp>
      <p:pic>
        <p:nvPicPr>
          <p:cNvPr id="17" name="Image 2" descr="preencoded.png">    </p:cNvPr>
          <p:cNvPicPr>
            <a:picLocks noChangeAspect="1"/>
          </p:cNvPicPr>
          <p:nvPr/>
        </p:nvPicPr>
        <p:blipFill>
          <a:blip r:embed="rId3"/>
          <a:stretch>
            <a:fillRect/>
          </a:stretch>
        </p:blipFill>
        <p:spPr>
          <a:xfrm>
            <a:off x="927202" y="4411066"/>
            <a:ext cx="230429" cy="230429"/>
          </a:xfrm>
          <a:prstGeom prst="rect">
            <a:avLst/>
          </a:prstGeom>
        </p:spPr>
      </p:pic>
      <p:sp>
        <p:nvSpPr>
          <p:cNvPr id="18" name="Text 13"/>
          <p:cNvSpPr/>
          <p:nvPr/>
        </p:nvSpPr>
        <p:spPr>
          <a:xfrm>
            <a:off x="1463040" y="4187952"/>
            <a:ext cx="7040880" cy="310896"/>
          </a:xfrm>
          <a:prstGeom prst="rect">
            <a:avLst/>
          </a:prstGeom>
          <a:noFill/>
          <a:ln/>
        </p:spPr>
        <p:txBody>
          <a:bodyPr wrap="square" lIns="0" tIns="0" rIns="0" bIns="0" rtlCol="0" anchor="ctr"/>
          <a:lstStyle/>
          <a:p>
            <a:pPr indent="0" marL="0">
              <a:buNone/>
            </a:pPr>
            <a:r>
              <a:rPr lang="en-US" sz="1450" b="1" dirty="0">
                <a:solidFill>
                  <a:srgbClr val="141B3D"/>
                </a:solidFill>
                <a:latin typeface="Calibri" pitchFamily="34" charset="0"/>
                <a:ea typeface="Calibri" pitchFamily="34" charset="-122"/>
                <a:cs typeface="Calibri" pitchFamily="34" charset="-120"/>
              </a:rPr>
              <a:t>Institution-wide directory</a:t>
            </a:r>
            <a:endParaRPr lang="en-US" sz="1450" dirty="0"/>
          </a:p>
        </p:txBody>
      </p:sp>
      <p:sp>
        <p:nvSpPr>
          <p:cNvPr id="19" name="Text 14"/>
          <p:cNvSpPr/>
          <p:nvPr/>
        </p:nvSpPr>
        <p:spPr>
          <a:xfrm>
            <a:off x="1463040" y="4517136"/>
            <a:ext cx="7040880" cy="384048"/>
          </a:xfrm>
          <a:prstGeom prst="rect">
            <a:avLst/>
          </a:prstGeom>
          <a:noFill/>
          <a:ln/>
        </p:spPr>
        <p:txBody>
          <a:bodyPr wrap="square" lIns="0" tIns="0" rIns="0" bIns="0" rtlCol="0" anchor="ctr"/>
          <a:lstStyle/>
          <a:p>
            <a:pPr indent="0" marL="0">
              <a:lnSpc>
                <a:spcPts val="1500"/>
              </a:lnSpc>
              <a:buNone/>
            </a:pPr>
            <a:r>
              <a:rPr lang="en-US" sz="1150" dirty="0">
                <a:solidFill>
                  <a:srgbClr val="646E8C"/>
                </a:solidFill>
                <a:latin typeface="Calibri" pitchFamily="34" charset="0"/>
                <a:ea typeface="Calibri" pitchFamily="34" charset="-122"/>
                <a:cs typeface="Calibri" pitchFamily="34" charset="-120"/>
              </a:rPr>
              <a:t>Every registered student across departments, sorted automatically by roll number.</a:t>
            </a:r>
            <a:endParaRPr lang="en-US" sz="1150" dirty="0"/>
          </a:p>
        </p:txBody>
      </p:sp>
      <p:sp>
        <p:nvSpPr>
          <p:cNvPr id="20" name="Shape 15"/>
          <p:cNvSpPr/>
          <p:nvPr/>
        </p:nvSpPr>
        <p:spPr>
          <a:xfrm>
            <a:off x="548640" y="5120640"/>
            <a:ext cx="8138160" cy="932688"/>
          </a:xfrm>
          <a:prstGeom prst="roundRect">
            <a:avLst>
              <a:gd name="adj" fmla="val 8824"/>
            </a:avLst>
          </a:prstGeom>
          <a:solidFill>
            <a:srgbClr val="FFFFFF"/>
          </a:solidFill>
          <a:ln w="9525">
            <a:solidFill>
              <a:srgbClr val="FFFFFF"/>
            </a:solidFill>
            <a:prstDash val="solid"/>
          </a:ln>
          <a:effectLst>
            <a:outerShdw sx="100000" sy="100000" kx="0" ky="0" algn="bl" rotWithShape="0" blurRad="177800" dist="38100" dir="5400000">
              <a:srgbClr val="1E2761">
                <a:alpha val="10000"/>
              </a:srgbClr>
            </a:outerShdw>
          </a:effectLst>
        </p:spPr>
      </p:sp>
      <p:sp>
        <p:nvSpPr>
          <p:cNvPr id="21" name="Shape 16"/>
          <p:cNvSpPr/>
          <p:nvPr/>
        </p:nvSpPr>
        <p:spPr>
          <a:xfrm>
            <a:off x="768096" y="5312664"/>
            <a:ext cx="548640" cy="548640"/>
          </a:xfrm>
          <a:prstGeom prst="ellipse">
            <a:avLst/>
          </a:prstGeom>
          <a:solidFill>
            <a:srgbClr val="F4F6FC"/>
          </a:solidFill>
          <a:ln w="12700">
            <a:solidFill>
              <a:srgbClr val="F4F6FC"/>
            </a:solidFill>
            <a:prstDash val="solid"/>
          </a:ln>
        </p:spPr>
      </p:sp>
      <p:pic>
        <p:nvPicPr>
          <p:cNvPr id="22" name="Image 3" descr="preencoded.png">    </p:cNvPr>
          <p:cNvPicPr>
            <a:picLocks noChangeAspect="1"/>
          </p:cNvPicPr>
          <p:nvPr/>
        </p:nvPicPr>
        <p:blipFill>
          <a:blip r:embed="rId4"/>
          <a:stretch>
            <a:fillRect/>
          </a:stretch>
        </p:blipFill>
        <p:spPr>
          <a:xfrm>
            <a:off x="927202" y="5471770"/>
            <a:ext cx="230429" cy="230429"/>
          </a:xfrm>
          <a:prstGeom prst="rect">
            <a:avLst/>
          </a:prstGeom>
        </p:spPr>
      </p:pic>
      <p:sp>
        <p:nvSpPr>
          <p:cNvPr id="23" name="Text 17"/>
          <p:cNvSpPr/>
          <p:nvPr/>
        </p:nvSpPr>
        <p:spPr>
          <a:xfrm>
            <a:off x="1463040" y="5248656"/>
            <a:ext cx="7040880" cy="310896"/>
          </a:xfrm>
          <a:prstGeom prst="rect">
            <a:avLst/>
          </a:prstGeom>
          <a:noFill/>
          <a:ln/>
        </p:spPr>
        <p:txBody>
          <a:bodyPr wrap="square" lIns="0" tIns="0" rIns="0" bIns="0" rtlCol="0" anchor="ctr"/>
          <a:lstStyle/>
          <a:p>
            <a:pPr indent="0" marL="0">
              <a:buNone/>
            </a:pPr>
            <a:r>
              <a:rPr lang="en-US" sz="1450" b="1" dirty="0">
                <a:solidFill>
                  <a:srgbClr val="141B3D"/>
                </a:solidFill>
                <a:latin typeface="Calibri" pitchFamily="34" charset="0"/>
                <a:ea typeface="Calibri" pitchFamily="34" charset="-122"/>
                <a:cs typeface="Calibri" pitchFamily="34" charset="-120"/>
              </a:rPr>
              <a:t>Metrics and reporting</a:t>
            </a:r>
            <a:endParaRPr lang="en-US" sz="1450" dirty="0"/>
          </a:p>
        </p:txBody>
      </p:sp>
      <p:sp>
        <p:nvSpPr>
          <p:cNvPr id="24" name="Text 18"/>
          <p:cNvSpPr/>
          <p:nvPr/>
        </p:nvSpPr>
        <p:spPr>
          <a:xfrm>
            <a:off x="1463040" y="5577840"/>
            <a:ext cx="7040880" cy="384048"/>
          </a:xfrm>
          <a:prstGeom prst="rect">
            <a:avLst/>
          </a:prstGeom>
          <a:noFill/>
          <a:ln/>
        </p:spPr>
        <p:txBody>
          <a:bodyPr wrap="square" lIns="0" tIns="0" rIns="0" bIns="0" rtlCol="0" anchor="ctr"/>
          <a:lstStyle/>
          <a:p>
            <a:pPr indent="0" marL="0">
              <a:lnSpc>
                <a:spcPts val="1500"/>
              </a:lnSpc>
              <a:buNone/>
            </a:pPr>
            <a:r>
              <a:rPr lang="en-US" sz="1150" dirty="0">
                <a:solidFill>
                  <a:srgbClr val="646E8C"/>
                </a:solidFill>
                <a:latin typeface="Calibri" pitchFamily="34" charset="0"/>
                <a:ea typeface="Calibri" pitchFamily="34" charset="-122"/>
                <a:cs typeface="Calibri" pitchFamily="34" charset="-120"/>
              </a:rPr>
              <a:t>Total submissions, grading completion rates and performance statistics across faculty.</a:t>
            </a:r>
            <a:endParaRPr lang="en-US" sz="1150" dirty="0"/>
          </a:p>
        </p:txBody>
      </p:sp>
      <p:sp>
        <p:nvSpPr>
          <p:cNvPr id="25" name="Shape 19"/>
          <p:cNvSpPr/>
          <p:nvPr/>
        </p:nvSpPr>
        <p:spPr>
          <a:xfrm>
            <a:off x="8906256" y="1938528"/>
            <a:ext cx="2743200" cy="4114800"/>
          </a:xfrm>
          <a:prstGeom prst="roundRect">
            <a:avLst>
              <a:gd name="adj" fmla="val 3000"/>
            </a:avLst>
          </a:prstGeom>
          <a:solidFill>
            <a:srgbClr val="141B3D"/>
          </a:solidFill>
          <a:ln w="9525">
            <a:solidFill>
              <a:srgbClr val="141B3D"/>
            </a:solidFill>
            <a:prstDash val="solid"/>
          </a:ln>
          <a:effectLst>
            <a:outerShdw sx="100000" sy="100000" kx="0" ky="0" algn="bl" rotWithShape="0" blurRad="177800" dist="38100" dir="5400000">
              <a:srgbClr val="1E2761">
                <a:alpha val="10000"/>
              </a:srgbClr>
            </a:outerShdw>
          </a:effectLst>
        </p:spPr>
      </p:sp>
      <p:sp>
        <p:nvSpPr>
          <p:cNvPr id="26" name="Text 20"/>
          <p:cNvSpPr/>
          <p:nvPr/>
        </p:nvSpPr>
        <p:spPr>
          <a:xfrm>
            <a:off x="9144000" y="2212848"/>
            <a:ext cx="2286000" cy="329184"/>
          </a:xfrm>
          <a:prstGeom prst="rect">
            <a:avLst/>
          </a:prstGeom>
          <a:noFill/>
          <a:ln/>
        </p:spPr>
        <p:txBody>
          <a:bodyPr wrap="square" lIns="0" tIns="0" rIns="0" bIns="0" rtlCol="0" anchor="ctr"/>
          <a:lstStyle/>
          <a:p>
            <a:pPr indent="0" marL="0">
              <a:buNone/>
            </a:pPr>
            <a:r>
              <a:rPr lang="en-US" sz="1000" b="1" spc="140" kern="0" dirty="0">
                <a:solidFill>
                  <a:srgbClr val="00C39A"/>
                </a:solidFill>
                <a:latin typeface="Calibri" pitchFamily="34" charset="0"/>
                <a:ea typeface="Calibri" pitchFamily="34" charset="-122"/>
                <a:cs typeface="Calibri" pitchFamily="34" charset="-120"/>
              </a:rPr>
              <a:t>ONE-TIME SETUP</a:t>
            </a:r>
            <a:endParaRPr lang="en-US" sz="1000" dirty="0"/>
          </a:p>
        </p:txBody>
      </p:sp>
      <p:sp>
        <p:nvSpPr>
          <p:cNvPr id="27" name="Text 21"/>
          <p:cNvSpPr/>
          <p:nvPr/>
        </p:nvSpPr>
        <p:spPr>
          <a:xfrm>
            <a:off x="9144000" y="2578608"/>
            <a:ext cx="2286000" cy="1371600"/>
          </a:xfrm>
          <a:prstGeom prst="rect">
            <a:avLst/>
          </a:prstGeom>
          <a:noFill/>
          <a:ln/>
        </p:spPr>
        <p:txBody>
          <a:bodyPr wrap="square" lIns="0" tIns="0" rIns="0" bIns="0" rtlCol="0" anchor="ctr"/>
          <a:lstStyle/>
          <a:p>
            <a:pPr indent="0" marL="0">
              <a:lnSpc>
                <a:spcPts val="2700"/>
              </a:lnSpc>
              <a:buNone/>
            </a:pPr>
            <a:r>
              <a:rPr lang="en-US" sz="2200" b="1" dirty="0">
                <a:solidFill>
                  <a:srgbClr val="FFFFFF"/>
                </a:solidFill>
                <a:latin typeface="Cambria" pitchFamily="34" charset="0"/>
                <a:ea typeface="Cambria" pitchFamily="34" charset="-122"/>
                <a:cs typeface="Cambria" pitchFamily="34" charset="-120"/>
              </a:rPr>
              <a:t>The term is configured once, in minutes.</a:t>
            </a:r>
            <a:endParaRPr lang="en-US" sz="2200" dirty="0"/>
          </a:p>
        </p:txBody>
      </p:sp>
      <p:sp>
        <p:nvSpPr>
          <p:cNvPr id="28" name="Text 22"/>
          <p:cNvSpPr/>
          <p:nvPr/>
        </p:nvSpPr>
        <p:spPr>
          <a:xfrm>
            <a:off x="9144000" y="4041648"/>
            <a:ext cx="2286000" cy="1737360"/>
          </a:xfrm>
          <a:prstGeom prst="rect">
            <a:avLst/>
          </a:prstGeom>
          <a:noFill/>
          <a:ln/>
        </p:spPr>
        <p:txBody>
          <a:bodyPr wrap="square" lIns="0" tIns="0" rIns="0" bIns="0" rtlCol="0" anchor="t"/>
          <a:lstStyle/>
          <a:p>
            <a:pPr indent="0" marL="0">
              <a:lnSpc>
                <a:spcPts val="1700"/>
              </a:lnSpc>
              <a:buNone/>
            </a:pPr>
            <a:r>
              <a:rPr lang="en-US" sz="1200" dirty="0">
                <a:solidFill>
                  <a:srgbClr val="CADCFC"/>
                </a:solidFill>
                <a:latin typeface="Calibri" pitchFamily="34" charset="0"/>
                <a:ea typeface="Calibri" pitchFamily="34" charset="-122"/>
                <a:cs typeface="Calibri" pitchFamily="34" charset="-120"/>
              </a:rPr>
              <a:t>After that, registration polices itself — out-of-range roll numbers simply cannot create an account.</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slow" p14:dur="65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
                                        </p:tgtEl>
                                        <p:attrNameLst>
                                          <p:attrName>style.visibility</p:attrName>
                                        </p:attrNameLst>
                                      </p:cBhvr>
                                      <p:to>
                                        <p:strVal val="visible"/>
                                      </p:to>
                                    </p:set>
                                    <p:animEffect transition="in" filter="fade">
                                      <p:cBhvr>
                                        <p:cTn id="7" dur="380"/>
                                        <p:tgtEl>
                                          <p:spTgt spid="1"/>
                                        </p:tgtEl>
                                      </p:cBhvr>
                                    </p:animEffect>
                                    <p:anim calcmode="lin" valueType="num">
                                      <p:cBhvr additive="base">
                                        <p:cTn id="8" dur="380" fill="hold"/>
                                        <p:tgtEl>
                                          <p:spTgt spid="1"/>
                                        </p:tgtEl>
                                        <p:attrNameLst>
                                          <p:attrName>ppt_y</p:attrName>
                                        </p:attrNameLst>
                                      </p:cBhvr>
                                      <p:tavLst>
                                        <p:tav tm="0">
                                          <p:val>
                                            <p:strVal val="#ppt_y+0.03"/>
                                          </p:val>
                                        </p:tav>
                                        <p:tav tm="100000">
                                          <p:val>
                                            <p:strVal val="#ppt_y"/>
                                          </p:val>
                                        </p:tav>
                                      </p:tavLst>
                                    </p:anim>
                                  </p:childTnLst>
                                </p:cTn>
                              </p:par>
                              <p:par>
                                <p:cTn id="9" presetID="42" presetClass="entr" presetSubtype="0" fill="hold" grpId="0" nodeType="afterEffect">
                                  <p:stCondLst>
                                    <p:cond delay="64"/>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380"/>
                                        <p:tgtEl>
                                          <p:spTgt spid="2"/>
                                        </p:tgtEl>
                                      </p:cBhvr>
                                    </p:animEffect>
                                    <p:anim calcmode="lin" valueType="num">
                                      <p:cBhvr additive="base">
                                        <p:cTn id="12" dur="380" fill="hold"/>
                                        <p:tgtEl>
                                          <p:spTgt spid="2"/>
                                        </p:tgtEl>
                                        <p:attrNameLst>
                                          <p:attrName>ppt_y</p:attrName>
                                        </p:attrNameLst>
                                      </p:cBhvr>
                                      <p:tavLst>
                                        <p:tav tm="0">
                                          <p:val>
                                            <p:strVal val="#ppt_y+0.03"/>
                                          </p:val>
                                        </p:tav>
                                        <p:tav tm="100000">
                                          <p:val>
                                            <p:strVal val="#ppt_y"/>
                                          </p:val>
                                        </p:tav>
                                      </p:tavLst>
                                    </p:anim>
                                  </p:childTnLst>
                                </p:cTn>
                              </p:par>
                              <p:par>
                                <p:cTn id="13" presetID="42" presetClass="entr" presetSubtype="0" fill="hold" grpId="0" nodeType="afterEffect">
                                  <p:stCondLst>
                                    <p:cond delay="128"/>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380"/>
                                        <p:tgtEl>
                                          <p:spTgt spid="3"/>
                                        </p:tgtEl>
                                      </p:cBhvr>
                                    </p:animEffect>
                                    <p:anim calcmode="lin" valueType="num">
                                      <p:cBhvr additive="base">
                                        <p:cTn id="16" dur="380" fill="hold"/>
                                        <p:tgtEl>
                                          <p:spTgt spid="3"/>
                                        </p:tgtEl>
                                        <p:attrNameLst>
                                          <p:attrName>ppt_y</p:attrName>
                                        </p:attrNameLst>
                                      </p:cBhvr>
                                      <p:tavLst>
                                        <p:tav tm="0">
                                          <p:val>
                                            <p:strVal val="#ppt_y+0.03"/>
                                          </p:val>
                                        </p:tav>
                                        <p:tav tm="100000">
                                          <p:val>
                                            <p:strVal val="#ppt_y"/>
                                          </p:val>
                                        </p:tav>
                                      </p:tavLst>
                                    </p:anim>
                                  </p:childTnLst>
                                </p:cTn>
                              </p:par>
                              <p:par>
                                <p:cTn id="17" presetID="42" presetClass="entr" presetSubtype="0" fill="hold" grpId="0" nodeType="afterEffect">
                                  <p:stCondLst>
                                    <p:cond delay="192"/>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380"/>
                                        <p:tgtEl>
                                          <p:spTgt spid="4"/>
                                        </p:tgtEl>
                                      </p:cBhvr>
                                    </p:animEffect>
                                    <p:anim calcmode="lin" valueType="num">
                                      <p:cBhvr additive="base">
                                        <p:cTn id="20" dur="380" fill="hold"/>
                                        <p:tgtEl>
                                          <p:spTgt spid="4"/>
                                        </p:tgtEl>
                                        <p:attrNameLst>
                                          <p:attrName>ppt_y</p:attrName>
                                        </p:attrNameLst>
                                      </p:cBhvr>
                                      <p:tavLst>
                                        <p:tav tm="0">
                                          <p:val>
                                            <p:strVal val="#ppt_y+0.03"/>
                                          </p:val>
                                        </p:tav>
                                        <p:tav tm="100000">
                                          <p:val>
                                            <p:strVal val="#ppt_y"/>
                                          </p:val>
                                        </p:tav>
                                      </p:tavLst>
                                    </p:anim>
                                  </p:childTnLst>
                                </p:cTn>
                              </p:par>
                              <p:par>
                                <p:cTn id="21" presetID="42" presetClass="entr" presetSubtype="0" fill="hold" grpId="0" nodeType="afterEffect">
                                  <p:stCondLst>
                                    <p:cond delay="256"/>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380"/>
                                        <p:tgtEl>
                                          <p:spTgt spid="5"/>
                                        </p:tgtEl>
                                      </p:cBhvr>
                                    </p:animEffect>
                                    <p:anim calcmode="lin" valueType="num">
                                      <p:cBhvr additive="base">
                                        <p:cTn id="24" dur="380" fill="hold"/>
                                        <p:tgtEl>
                                          <p:spTgt spid="5"/>
                                        </p:tgtEl>
                                        <p:attrNameLst>
                                          <p:attrName>ppt_y</p:attrName>
                                        </p:attrNameLst>
                                      </p:cBhvr>
                                      <p:tavLst>
                                        <p:tav tm="0">
                                          <p:val>
                                            <p:strVal val="#ppt_y+0.03"/>
                                          </p:val>
                                        </p:tav>
                                        <p:tav tm="100000">
                                          <p:val>
                                            <p:strVal val="#ppt_y"/>
                                          </p:val>
                                        </p:tav>
                                      </p:tavLst>
                                    </p:anim>
                                  </p:childTnLst>
                                </p:cTn>
                              </p:par>
                              <p:par>
                                <p:cTn id="25" presetID="42" presetClass="entr" presetSubtype="0" fill="hold" grpId="0" nodeType="afterEffect">
                                  <p:stCondLst>
                                    <p:cond delay="32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380"/>
                                        <p:tgtEl>
                                          <p:spTgt spid="6"/>
                                        </p:tgtEl>
                                      </p:cBhvr>
                                    </p:animEffect>
                                    <p:anim calcmode="lin" valueType="num">
                                      <p:cBhvr additive="base">
                                        <p:cTn id="28" dur="380" fill="hold"/>
                                        <p:tgtEl>
                                          <p:spTgt spid="6"/>
                                        </p:tgtEl>
                                        <p:attrNameLst>
                                          <p:attrName>ppt_y</p:attrName>
                                        </p:attrNameLst>
                                      </p:cBhvr>
                                      <p:tavLst>
                                        <p:tav tm="0">
                                          <p:val>
                                            <p:strVal val="#ppt_y+0.03"/>
                                          </p:val>
                                        </p:tav>
                                        <p:tav tm="100000">
                                          <p:val>
                                            <p:strVal val="#ppt_y"/>
                                          </p:val>
                                        </p:tav>
                                      </p:tavLst>
                                    </p:anim>
                                  </p:childTnLst>
                                </p:cTn>
                              </p:par>
                              <p:par>
                                <p:cTn id="29" presetID="42" presetClass="entr" presetSubtype="0" fill="hold" grpId="0" nodeType="afterEffect">
                                  <p:stCondLst>
                                    <p:cond delay="384"/>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380"/>
                                        <p:tgtEl>
                                          <p:spTgt spid="7"/>
                                        </p:tgtEl>
                                      </p:cBhvr>
                                    </p:animEffect>
                                    <p:anim calcmode="lin" valueType="num">
                                      <p:cBhvr additive="base">
                                        <p:cTn id="32" dur="380" fill="hold"/>
                                        <p:tgtEl>
                                          <p:spTgt spid="7"/>
                                        </p:tgtEl>
                                        <p:attrNameLst>
                                          <p:attrName>ppt_y</p:attrName>
                                        </p:attrNameLst>
                                      </p:cBhvr>
                                      <p:tavLst>
                                        <p:tav tm="0">
                                          <p:val>
                                            <p:strVal val="#ppt_y+0.03"/>
                                          </p:val>
                                        </p:tav>
                                        <p:tav tm="100000">
                                          <p:val>
                                            <p:strVal val="#ppt_y"/>
                                          </p:val>
                                        </p:tav>
                                      </p:tavLst>
                                    </p:anim>
                                  </p:childTnLst>
                                </p:cTn>
                              </p:par>
                              <p:par>
                                <p:cTn id="33" presetID="42" presetClass="entr" presetSubtype="0" fill="hold" grpId="0" nodeType="afterEffect">
                                  <p:stCondLst>
                                    <p:cond delay="448"/>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380"/>
                                        <p:tgtEl>
                                          <p:spTgt spid="8"/>
                                        </p:tgtEl>
                                      </p:cBhvr>
                                    </p:animEffect>
                                    <p:anim calcmode="lin" valueType="num">
                                      <p:cBhvr additive="base">
                                        <p:cTn id="36" dur="380" fill="hold"/>
                                        <p:tgtEl>
                                          <p:spTgt spid="8"/>
                                        </p:tgtEl>
                                        <p:attrNameLst>
                                          <p:attrName>ppt_y</p:attrName>
                                        </p:attrNameLst>
                                      </p:cBhvr>
                                      <p:tavLst>
                                        <p:tav tm="0">
                                          <p:val>
                                            <p:strVal val="#ppt_y+0.03"/>
                                          </p:val>
                                        </p:tav>
                                        <p:tav tm="100000">
                                          <p:val>
                                            <p:strVal val="#ppt_y"/>
                                          </p:val>
                                        </p:tav>
                                      </p:tavLst>
                                    </p:anim>
                                  </p:childTnLst>
                                </p:cTn>
                              </p:par>
                              <p:par>
                                <p:cTn id="37" presetID="42" presetClass="entr" presetSubtype="0" fill="hold" grpId="0" nodeType="afterEffect">
                                  <p:stCondLst>
                                    <p:cond delay="512"/>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380"/>
                                        <p:tgtEl>
                                          <p:spTgt spid="9"/>
                                        </p:tgtEl>
                                      </p:cBhvr>
                                    </p:animEffect>
                                    <p:anim calcmode="lin" valueType="num">
                                      <p:cBhvr additive="base">
                                        <p:cTn id="40" dur="380" fill="hold"/>
                                        <p:tgtEl>
                                          <p:spTgt spid="9"/>
                                        </p:tgtEl>
                                        <p:attrNameLst>
                                          <p:attrName>ppt_y</p:attrName>
                                        </p:attrNameLst>
                                      </p:cBhvr>
                                      <p:tavLst>
                                        <p:tav tm="0">
                                          <p:val>
                                            <p:strVal val="#ppt_y+0.03"/>
                                          </p:val>
                                        </p:tav>
                                        <p:tav tm="100000">
                                          <p:val>
                                            <p:strVal val="#ppt_y"/>
                                          </p:val>
                                        </p:tav>
                                      </p:tavLst>
                                    </p:anim>
                                  </p:childTnLst>
                                </p:cTn>
                              </p:par>
                              <p:par>
                                <p:cTn id="41" presetID="42" presetClass="entr" presetSubtype="0" fill="hold" grpId="0" nodeType="afterEffect">
                                  <p:stCondLst>
                                    <p:cond delay="576"/>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380"/>
                                        <p:tgtEl>
                                          <p:spTgt spid="10"/>
                                        </p:tgtEl>
                                      </p:cBhvr>
                                    </p:animEffect>
                                    <p:anim calcmode="lin" valueType="num">
                                      <p:cBhvr additive="base">
                                        <p:cTn id="44" dur="380" fill="hold"/>
                                        <p:tgtEl>
                                          <p:spTgt spid="10"/>
                                        </p:tgtEl>
                                        <p:attrNameLst>
                                          <p:attrName>ppt_y</p:attrName>
                                        </p:attrNameLst>
                                      </p:cBhvr>
                                      <p:tavLst>
                                        <p:tav tm="0">
                                          <p:val>
                                            <p:strVal val="#ppt_y+0.03"/>
                                          </p:val>
                                        </p:tav>
                                        <p:tav tm="100000">
                                          <p:val>
                                            <p:strVal val="#ppt_y"/>
                                          </p:val>
                                        </p:tav>
                                      </p:tavLst>
                                    </p:anim>
                                  </p:childTnLst>
                                </p:cTn>
                              </p:par>
                              <p:par>
                                <p:cTn id="45" presetID="42" presetClass="entr" presetSubtype="0" fill="hold" grpId="0" nodeType="afterEffect">
                                  <p:stCondLst>
                                    <p:cond delay="64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380"/>
                                        <p:tgtEl>
                                          <p:spTgt spid="11"/>
                                        </p:tgtEl>
                                      </p:cBhvr>
                                    </p:animEffect>
                                    <p:anim calcmode="lin" valueType="num">
                                      <p:cBhvr additive="base">
                                        <p:cTn id="48" dur="380" fill="hold"/>
                                        <p:tgtEl>
                                          <p:spTgt spid="11"/>
                                        </p:tgtEl>
                                        <p:attrNameLst>
                                          <p:attrName>ppt_y</p:attrName>
                                        </p:attrNameLst>
                                      </p:cBhvr>
                                      <p:tavLst>
                                        <p:tav tm="0">
                                          <p:val>
                                            <p:strVal val="#ppt_y+0.03"/>
                                          </p:val>
                                        </p:tav>
                                        <p:tav tm="100000">
                                          <p:val>
                                            <p:strVal val="#ppt_y"/>
                                          </p:val>
                                        </p:tav>
                                      </p:tavLst>
                                    </p:anim>
                                  </p:childTnLst>
                                </p:cTn>
                              </p:par>
                              <p:par>
                                <p:cTn id="49" presetID="42" presetClass="entr" presetSubtype="0" fill="hold" grpId="0" nodeType="afterEffect">
                                  <p:stCondLst>
                                    <p:cond delay="704"/>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380"/>
                                        <p:tgtEl>
                                          <p:spTgt spid="12"/>
                                        </p:tgtEl>
                                      </p:cBhvr>
                                    </p:animEffect>
                                    <p:anim calcmode="lin" valueType="num">
                                      <p:cBhvr additive="base">
                                        <p:cTn id="52" dur="380" fill="hold"/>
                                        <p:tgtEl>
                                          <p:spTgt spid="12"/>
                                        </p:tgtEl>
                                        <p:attrNameLst>
                                          <p:attrName>ppt_y</p:attrName>
                                        </p:attrNameLst>
                                      </p:cBhvr>
                                      <p:tavLst>
                                        <p:tav tm="0">
                                          <p:val>
                                            <p:strVal val="#ppt_y+0.03"/>
                                          </p:val>
                                        </p:tav>
                                        <p:tav tm="100000">
                                          <p:val>
                                            <p:strVal val="#ppt_y"/>
                                          </p:val>
                                        </p:tav>
                                      </p:tavLst>
                                    </p:anim>
                                  </p:childTnLst>
                                </p:cTn>
                              </p:par>
                              <p:par>
                                <p:cTn id="53" presetID="42" presetClass="entr" presetSubtype="0" fill="hold" grpId="0" nodeType="afterEffect">
                                  <p:stCondLst>
                                    <p:cond delay="768"/>
                                  </p:stCondLst>
                                  <p:childTnLst>
                                    <p:set>
                                      <p:cBhvr>
                                        <p:cTn id="54" dur="1" fill="hold">
                                          <p:stCondLst>
                                            <p:cond delay="0"/>
                                          </p:stCondLst>
                                        </p:cTn>
                                        <p:tgtEl>
                                          <p:spTgt spid="13"/>
                                        </p:tgtEl>
                                        <p:attrNameLst>
                                          <p:attrName>style.visibility</p:attrName>
                                        </p:attrNameLst>
                                      </p:cBhvr>
                                      <p:to>
                                        <p:strVal val="visible"/>
                                      </p:to>
                                    </p:set>
                                    <p:animEffect transition="in" filter="fade">
                                      <p:cBhvr>
                                        <p:cTn id="55" dur="380"/>
                                        <p:tgtEl>
                                          <p:spTgt spid="13"/>
                                        </p:tgtEl>
                                      </p:cBhvr>
                                    </p:animEffect>
                                    <p:anim calcmode="lin" valueType="num">
                                      <p:cBhvr additive="base">
                                        <p:cTn id="56" dur="380" fill="hold"/>
                                        <p:tgtEl>
                                          <p:spTgt spid="13"/>
                                        </p:tgtEl>
                                        <p:attrNameLst>
                                          <p:attrName>ppt_y</p:attrName>
                                        </p:attrNameLst>
                                      </p:cBhvr>
                                      <p:tavLst>
                                        <p:tav tm="0">
                                          <p:val>
                                            <p:strVal val="#ppt_y+0.03"/>
                                          </p:val>
                                        </p:tav>
                                        <p:tav tm="100000">
                                          <p:val>
                                            <p:strVal val="#ppt_y"/>
                                          </p:val>
                                        </p:tav>
                                      </p:tavLst>
                                    </p:anim>
                                  </p:childTnLst>
                                </p:cTn>
                              </p:par>
                              <p:par>
                                <p:cTn id="57" presetID="42" presetClass="entr" presetSubtype="0" fill="hold" grpId="0" nodeType="afterEffect">
                                  <p:stCondLst>
                                    <p:cond delay="832"/>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380"/>
                                        <p:tgtEl>
                                          <p:spTgt spid="14"/>
                                        </p:tgtEl>
                                      </p:cBhvr>
                                    </p:animEffect>
                                    <p:anim calcmode="lin" valueType="num">
                                      <p:cBhvr additive="base">
                                        <p:cTn id="60" dur="380" fill="hold"/>
                                        <p:tgtEl>
                                          <p:spTgt spid="14"/>
                                        </p:tgtEl>
                                        <p:attrNameLst>
                                          <p:attrName>ppt_y</p:attrName>
                                        </p:attrNameLst>
                                      </p:cBhvr>
                                      <p:tavLst>
                                        <p:tav tm="0">
                                          <p:val>
                                            <p:strVal val="#ppt_y+0.03"/>
                                          </p:val>
                                        </p:tav>
                                        <p:tav tm="100000">
                                          <p:val>
                                            <p:strVal val="#ppt_y"/>
                                          </p:val>
                                        </p:tav>
                                      </p:tavLst>
                                    </p:anim>
                                  </p:childTnLst>
                                </p:cTn>
                              </p:par>
                              <p:par>
                                <p:cTn id="61" presetID="42" presetClass="entr" presetSubtype="0" fill="hold" grpId="0" nodeType="afterEffect">
                                  <p:stCondLst>
                                    <p:cond delay="896"/>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380"/>
                                        <p:tgtEl>
                                          <p:spTgt spid="15"/>
                                        </p:tgtEl>
                                      </p:cBhvr>
                                    </p:animEffect>
                                    <p:anim calcmode="lin" valueType="num">
                                      <p:cBhvr additive="base">
                                        <p:cTn id="64" dur="380" fill="hold"/>
                                        <p:tgtEl>
                                          <p:spTgt spid="15"/>
                                        </p:tgtEl>
                                        <p:attrNameLst>
                                          <p:attrName>ppt_y</p:attrName>
                                        </p:attrNameLst>
                                      </p:cBhvr>
                                      <p:tavLst>
                                        <p:tav tm="0">
                                          <p:val>
                                            <p:strVal val="#ppt_y+0.03"/>
                                          </p:val>
                                        </p:tav>
                                        <p:tav tm="100000">
                                          <p:val>
                                            <p:strVal val="#ppt_y"/>
                                          </p:val>
                                        </p:tav>
                                      </p:tavLst>
                                    </p:anim>
                                  </p:childTnLst>
                                </p:cTn>
                              </p:par>
                              <p:par>
                                <p:cTn id="65" presetID="42" presetClass="entr" presetSubtype="0" fill="hold" grpId="0" nodeType="afterEffect">
                                  <p:stCondLst>
                                    <p:cond delay="96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380"/>
                                        <p:tgtEl>
                                          <p:spTgt spid="16"/>
                                        </p:tgtEl>
                                      </p:cBhvr>
                                    </p:animEffect>
                                    <p:anim calcmode="lin" valueType="num">
                                      <p:cBhvr additive="base">
                                        <p:cTn id="68" dur="380" fill="hold"/>
                                        <p:tgtEl>
                                          <p:spTgt spid="16"/>
                                        </p:tgtEl>
                                        <p:attrNameLst>
                                          <p:attrName>ppt_y</p:attrName>
                                        </p:attrNameLst>
                                      </p:cBhvr>
                                      <p:tavLst>
                                        <p:tav tm="0">
                                          <p:val>
                                            <p:strVal val="#ppt_y+0.03"/>
                                          </p:val>
                                        </p:tav>
                                        <p:tav tm="100000">
                                          <p:val>
                                            <p:strVal val="#ppt_y"/>
                                          </p:val>
                                        </p:tav>
                                      </p:tavLst>
                                    </p:anim>
                                  </p:childTnLst>
                                </p:cTn>
                              </p:par>
                              <p:par>
                                <p:cTn id="69" presetID="42" presetClass="entr" presetSubtype="0" fill="hold" grpId="0" nodeType="afterEffect">
                                  <p:stCondLst>
                                    <p:cond delay="1024"/>
                                  </p:stCondLst>
                                  <p:childTnLst>
                                    <p:set>
                                      <p:cBhvr>
                                        <p:cTn id="70" dur="1" fill="hold">
                                          <p:stCondLst>
                                            <p:cond delay="0"/>
                                          </p:stCondLst>
                                        </p:cTn>
                                        <p:tgtEl>
                                          <p:spTgt spid="17"/>
                                        </p:tgtEl>
                                        <p:attrNameLst>
                                          <p:attrName>style.visibility</p:attrName>
                                        </p:attrNameLst>
                                      </p:cBhvr>
                                      <p:to>
                                        <p:strVal val="visible"/>
                                      </p:to>
                                    </p:set>
                                    <p:animEffect transition="in" filter="fade">
                                      <p:cBhvr>
                                        <p:cTn id="71" dur="380"/>
                                        <p:tgtEl>
                                          <p:spTgt spid="17"/>
                                        </p:tgtEl>
                                      </p:cBhvr>
                                    </p:animEffect>
                                    <p:anim calcmode="lin" valueType="num">
                                      <p:cBhvr additive="base">
                                        <p:cTn id="72" dur="380" fill="hold"/>
                                        <p:tgtEl>
                                          <p:spTgt spid="17"/>
                                        </p:tgtEl>
                                        <p:attrNameLst>
                                          <p:attrName>ppt_y</p:attrName>
                                        </p:attrNameLst>
                                      </p:cBhvr>
                                      <p:tavLst>
                                        <p:tav tm="0">
                                          <p:val>
                                            <p:strVal val="#ppt_y+0.03"/>
                                          </p:val>
                                        </p:tav>
                                        <p:tav tm="100000">
                                          <p:val>
                                            <p:strVal val="#ppt_y"/>
                                          </p:val>
                                        </p:tav>
                                      </p:tavLst>
                                    </p:anim>
                                  </p:childTnLst>
                                </p:cTn>
                              </p:par>
                              <p:par>
                                <p:cTn id="73" presetID="42" presetClass="entr" presetSubtype="0" fill="hold" grpId="0" nodeType="afterEffect">
                                  <p:stCondLst>
                                    <p:cond delay="1088"/>
                                  </p:stCondLst>
                                  <p:childTnLst>
                                    <p:set>
                                      <p:cBhvr>
                                        <p:cTn id="74" dur="1" fill="hold">
                                          <p:stCondLst>
                                            <p:cond delay="0"/>
                                          </p:stCondLst>
                                        </p:cTn>
                                        <p:tgtEl>
                                          <p:spTgt spid="18"/>
                                        </p:tgtEl>
                                        <p:attrNameLst>
                                          <p:attrName>style.visibility</p:attrName>
                                        </p:attrNameLst>
                                      </p:cBhvr>
                                      <p:to>
                                        <p:strVal val="visible"/>
                                      </p:to>
                                    </p:set>
                                    <p:animEffect transition="in" filter="fade">
                                      <p:cBhvr>
                                        <p:cTn id="75" dur="380"/>
                                        <p:tgtEl>
                                          <p:spTgt spid="18"/>
                                        </p:tgtEl>
                                      </p:cBhvr>
                                    </p:animEffect>
                                    <p:anim calcmode="lin" valueType="num">
                                      <p:cBhvr additive="base">
                                        <p:cTn id="76" dur="380" fill="hold"/>
                                        <p:tgtEl>
                                          <p:spTgt spid="18"/>
                                        </p:tgtEl>
                                        <p:attrNameLst>
                                          <p:attrName>ppt_y</p:attrName>
                                        </p:attrNameLst>
                                      </p:cBhvr>
                                      <p:tavLst>
                                        <p:tav tm="0">
                                          <p:val>
                                            <p:strVal val="#ppt_y+0.03"/>
                                          </p:val>
                                        </p:tav>
                                        <p:tav tm="100000">
                                          <p:val>
                                            <p:strVal val="#ppt_y"/>
                                          </p:val>
                                        </p:tav>
                                      </p:tavLst>
                                    </p:anim>
                                  </p:childTnLst>
                                </p:cTn>
                              </p:par>
                              <p:par>
                                <p:cTn id="77" presetID="42" presetClass="entr" presetSubtype="0" fill="hold" grpId="0" nodeType="afterEffect">
                                  <p:stCondLst>
                                    <p:cond delay="1152"/>
                                  </p:stCondLst>
                                  <p:childTnLst>
                                    <p:set>
                                      <p:cBhvr>
                                        <p:cTn id="78" dur="1" fill="hold">
                                          <p:stCondLst>
                                            <p:cond delay="0"/>
                                          </p:stCondLst>
                                        </p:cTn>
                                        <p:tgtEl>
                                          <p:spTgt spid="19"/>
                                        </p:tgtEl>
                                        <p:attrNameLst>
                                          <p:attrName>style.visibility</p:attrName>
                                        </p:attrNameLst>
                                      </p:cBhvr>
                                      <p:to>
                                        <p:strVal val="visible"/>
                                      </p:to>
                                    </p:set>
                                    <p:animEffect transition="in" filter="fade">
                                      <p:cBhvr>
                                        <p:cTn id="79" dur="380"/>
                                        <p:tgtEl>
                                          <p:spTgt spid="19"/>
                                        </p:tgtEl>
                                      </p:cBhvr>
                                    </p:animEffect>
                                    <p:anim calcmode="lin" valueType="num">
                                      <p:cBhvr additive="base">
                                        <p:cTn id="80" dur="380" fill="hold"/>
                                        <p:tgtEl>
                                          <p:spTgt spid="19"/>
                                        </p:tgtEl>
                                        <p:attrNameLst>
                                          <p:attrName>ppt_y</p:attrName>
                                        </p:attrNameLst>
                                      </p:cBhvr>
                                      <p:tavLst>
                                        <p:tav tm="0">
                                          <p:val>
                                            <p:strVal val="#ppt_y+0.03"/>
                                          </p:val>
                                        </p:tav>
                                        <p:tav tm="100000">
                                          <p:val>
                                            <p:strVal val="#ppt_y"/>
                                          </p:val>
                                        </p:tav>
                                      </p:tavLst>
                                    </p:anim>
                                  </p:childTnLst>
                                </p:cTn>
                              </p:par>
                              <p:par>
                                <p:cTn id="81" presetID="42" presetClass="entr" presetSubtype="0" fill="hold" grpId="0" nodeType="afterEffect">
                                  <p:stCondLst>
                                    <p:cond delay="1216"/>
                                  </p:stCondLst>
                                  <p:childTnLst>
                                    <p:set>
                                      <p:cBhvr>
                                        <p:cTn id="82" dur="1" fill="hold">
                                          <p:stCondLst>
                                            <p:cond delay="0"/>
                                          </p:stCondLst>
                                        </p:cTn>
                                        <p:tgtEl>
                                          <p:spTgt spid="20"/>
                                        </p:tgtEl>
                                        <p:attrNameLst>
                                          <p:attrName>style.visibility</p:attrName>
                                        </p:attrNameLst>
                                      </p:cBhvr>
                                      <p:to>
                                        <p:strVal val="visible"/>
                                      </p:to>
                                    </p:set>
                                    <p:animEffect transition="in" filter="fade">
                                      <p:cBhvr>
                                        <p:cTn id="83" dur="380"/>
                                        <p:tgtEl>
                                          <p:spTgt spid="20"/>
                                        </p:tgtEl>
                                      </p:cBhvr>
                                    </p:animEffect>
                                    <p:anim calcmode="lin" valueType="num">
                                      <p:cBhvr additive="base">
                                        <p:cTn id="84" dur="380" fill="hold"/>
                                        <p:tgtEl>
                                          <p:spTgt spid="20"/>
                                        </p:tgtEl>
                                        <p:attrNameLst>
                                          <p:attrName>ppt_y</p:attrName>
                                        </p:attrNameLst>
                                      </p:cBhvr>
                                      <p:tavLst>
                                        <p:tav tm="0">
                                          <p:val>
                                            <p:strVal val="#ppt_y+0.03"/>
                                          </p:val>
                                        </p:tav>
                                        <p:tav tm="100000">
                                          <p:val>
                                            <p:strVal val="#ppt_y"/>
                                          </p:val>
                                        </p:tav>
                                      </p:tavLst>
                                    </p:anim>
                                  </p:childTnLst>
                                </p:cTn>
                              </p:par>
                              <p:par>
                                <p:cTn id="85" presetID="42" presetClass="entr" presetSubtype="0" fill="hold" grpId="0" nodeType="afterEffect">
                                  <p:stCondLst>
                                    <p:cond delay="1280"/>
                                  </p:stCondLst>
                                  <p:childTnLst>
                                    <p:set>
                                      <p:cBhvr>
                                        <p:cTn id="86" dur="1" fill="hold">
                                          <p:stCondLst>
                                            <p:cond delay="0"/>
                                          </p:stCondLst>
                                        </p:cTn>
                                        <p:tgtEl>
                                          <p:spTgt spid="21"/>
                                        </p:tgtEl>
                                        <p:attrNameLst>
                                          <p:attrName>style.visibility</p:attrName>
                                        </p:attrNameLst>
                                      </p:cBhvr>
                                      <p:to>
                                        <p:strVal val="visible"/>
                                      </p:to>
                                    </p:set>
                                    <p:animEffect transition="in" filter="fade">
                                      <p:cBhvr>
                                        <p:cTn id="87" dur="380"/>
                                        <p:tgtEl>
                                          <p:spTgt spid="21"/>
                                        </p:tgtEl>
                                      </p:cBhvr>
                                    </p:animEffect>
                                    <p:anim calcmode="lin" valueType="num">
                                      <p:cBhvr additive="base">
                                        <p:cTn id="88" dur="380" fill="hold"/>
                                        <p:tgtEl>
                                          <p:spTgt spid="21"/>
                                        </p:tgtEl>
                                        <p:attrNameLst>
                                          <p:attrName>ppt_y</p:attrName>
                                        </p:attrNameLst>
                                      </p:cBhvr>
                                      <p:tavLst>
                                        <p:tav tm="0">
                                          <p:val>
                                            <p:strVal val="#ppt_y+0.03"/>
                                          </p:val>
                                        </p:tav>
                                        <p:tav tm="100000">
                                          <p:val>
                                            <p:strVal val="#ppt_y"/>
                                          </p:val>
                                        </p:tav>
                                      </p:tavLst>
                                    </p:anim>
                                  </p:childTnLst>
                                </p:cTn>
                              </p:par>
                              <p:par>
                                <p:cTn id="89" presetID="42" presetClass="entr" presetSubtype="0" fill="hold" grpId="0" nodeType="afterEffect">
                                  <p:stCondLst>
                                    <p:cond delay="1344"/>
                                  </p:stCondLst>
                                  <p:childTnLst>
                                    <p:set>
                                      <p:cBhvr>
                                        <p:cTn id="90" dur="1" fill="hold">
                                          <p:stCondLst>
                                            <p:cond delay="0"/>
                                          </p:stCondLst>
                                        </p:cTn>
                                        <p:tgtEl>
                                          <p:spTgt spid="22"/>
                                        </p:tgtEl>
                                        <p:attrNameLst>
                                          <p:attrName>style.visibility</p:attrName>
                                        </p:attrNameLst>
                                      </p:cBhvr>
                                      <p:to>
                                        <p:strVal val="visible"/>
                                      </p:to>
                                    </p:set>
                                    <p:animEffect transition="in" filter="fade">
                                      <p:cBhvr>
                                        <p:cTn id="91" dur="380"/>
                                        <p:tgtEl>
                                          <p:spTgt spid="22"/>
                                        </p:tgtEl>
                                      </p:cBhvr>
                                    </p:animEffect>
                                    <p:anim calcmode="lin" valueType="num">
                                      <p:cBhvr additive="base">
                                        <p:cTn id="92" dur="380" fill="hold"/>
                                        <p:tgtEl>
                                          <p:spTgt spid="22"/>
                                        </p:tgtEl>
                                        <p:attrNameLst>
                                          <p:attrName>ppt_y</p:attrName>
                                        </p:attrNameLst>
                                      </p:cBhvr>
                                      <p:tavLst>
                                        <p:tav tm="0">
                                          <p:val>
                                            <p:strVal val="#ppt_y+0.03"/>
                                          </p:val>
                                        </p:tav>
                                        <p:tav tm="100000">
                                          <p:val>
                                            <p:strVal val="#ppt_y"/>
                                          </p:val>
                                        </p:tav>
                                      </p:tavLst>
                                    </p:anim>
                                  </p:childTnLst>
                                </p:cTn>
                              </p:par>
                              <p:par>
                                <p:cTn id="93" presetID="42" presetClass="entr" presetSubtype="0" fill="hold" grpId="0" nodeType="afterEffect">
                                  <p:stCondLst>
                                    <p:cond delay="1408"/>
                                  </p:stCondLst>
                                  <p:childTnLst>
                                    <p:set>
                                      <p:cBhvr>
                                        <p:cTn id="94" dur="1" fill="hold">
                                          <p:stCondLst>
                                            <p:cond delay="0"/>
                                          </p:stCondLst>
                                        </p:cTn>
                                        <p:tgtEl>
                                          <p:spTgt spid="23"/>
                                        </p:tgtEl>
                                        <p:attrNameLst>
                                          <p:attrName>style.visibility</p:attrName>
                                        </p:attrNameLst>
                                      </p:cBhvr>
                                      <p:to>
                                        <p:strVal val="visible"/>
                                      </p:to>
                                    </p:set>
                                    <p:animEffect transition="in" filter="fade">
                                      <p:cBhvr>
                                        <p:cTn id="95" dur="380"/>
                                        <p:tgtEl>
                                          <p:spTgt spid="23"/>
                                        </p:tgtEl>
                                      </p:cBhvr>
                                    </p:animEffect>
                                    <p:anim calcmode="lin" valueType="num">
                                      <p:cBhvr additive="base">
                                        <p:cTn id="96" dur="380" fill="hold"/>
                                        <p:tgtEl>
                                          <p:spTgt spid="23"/>
                                        </p:tgtEl>
                                        <p:attrNameLst>
                                          <p:attrName>ppt_y</p:attrName>
                                        </p:attrNameLst>
                                      </p:cBhvr>
                                      <p:tavLst>
                                        <p:tav tm="0">
                                          <p:val>
                                            <p:strVal val="#ppt_y+0.03"/>
                                          </p:val>
                                        </p:tav>
                                        <p:tav tm="100000">
                                          <p:val>
                                            <p:strVal val="#ppt_y"/>
                                          </p:val>
                                        </p:tav>
                                      </p:tavLst>
                                    </p:anim>
                                  </p:childTnLst>
                                </p:cTn>
                              </p:par>
                              <p:par>
                                <p:cTn id="97" presetID="42" presetClass="entr" presetSubtype="0" fill="hold" grpId="0" nodeType="afterEffect">
                                  <p:stCondLst>
                                    <p:cond delay="1472"/>
                                  </p:stCondLst>
                                  <p:childTnLst>
                                    <p:set>
                                      <p:cBhvr>
                                        <p:cTn id="98" dur="1" fill="hold">
                                          <p:stCondLst>
                                            <p:cond delay="0"/>
                                          </p:stCondLst>
                                        </p:cTn>
                                        <p:tgtEl>
                                          <p:spTgt spid="24"/>
                                        </p:tgtEl>
                                        <p:attrNameLst>
                                          <p:attrName>style.visibility</p:attrName>
                                        </p:attrNameLst>
                                      </p:cBhvr>
                                      <p:to>
                                        <p:strVal val="visible"/>
                                      </p:to>
                                    </p:set>
                                    <p:animEffect transition="in" filter="fade">
                                      <p:cBhvr>
                                        <p:cTn id="99" dur="380"/>
                                        <p:tgtEl>
                                          <p:spTgt spid="24"/>
                                        </p:tgtEl>
                                      </p:cBhvr>
                                    </p:animEffect>
                                    <p:anim calcmode="lin" valueType="num">
                                      <p:cBhvr additive="base">
                                        <p:cTn id="100" dur="380" fill="hold"/>
                                        <p:tgtEl>
                                          <p:spTgt spid="24"/>
                                        </p:tgtEl>
                                        <p:attrNameLst>
                                          <p:attrName>ppt_y</p:attrName>
                                        </p:attrNameLst>
                                      </p:cBhvr>
                                      <p:tavLst>
                                        <p:tav tm="0">
                                          <p:val>
                                            <p:strVal val="#ppt_y+0.03"/>
                                          </p:val>
                                        </p:tav>
                                        <p:tav tm="100000">
                                          <p:val>
                                            <p:strVal val="#ppt_y"/>
                                          </p:val>
                                        </p:tav>
                                      </p:tavLst>
                                    </p:anim>
                                  </p:childTnLst>
                                </p:cTn>
                              </p:par>
                              <p:par>
                                <p:cTn id="101" presetID="42" presetClass="entr" presetSubtype="0" fill="hold" grpId="0" nodeType="afterEffect">
                                  <p:stCondLst>
                                    <p:cond delay="1536"/>
                                  </p:stCondLst>
                                  <p:childTnLst>
                                    <p:set>
                                      <p:cBhvr>
                                        <p:cTn id="102" dur="1" fill="hold">
                                          <p:stCondLst>
                                            <p:cond delay="0"/>
                                          </p:stCondLst>
                                        </p:cTn>
                                        <p:tgtEl>
                                          <p:spTgt spid="25"/>
                                        </p:tgtEl>
                                        <p:attrNameLst>
                                          <p:attrName>style.visibility</p:attrName>
                                        </p:attrNameLst>
                                      </p:cBhvr>
                                      <p:to>
                                        <p:strVal val="visible"/>
                                      </p:to>
                                    </p:set>
                                    <p:animEffect transition="in" filter="fade">
                                      <p:cBhvr>
                                        <p:cTn id="103" dur="380"/>
                                        <p:tgtEl>
                                          <p:spTgt spid="25"/>
                                        </p:tgtEl>
                                      </p:cBhvr>
                                    </p:animEffect>
                                    <p:anim calcmode="lin" valueType="num">
                                      <p:cBhvr additive="base">
                                        <p:cTn id="104" dur="380" fill="hold"/>
                                        <p:tgtEl>
                                          <p:spTgt spid="25"/>
                                        </p:tgtEl>
                                        <p:attrNameLst>
                                          <p:attrName>ppt_y</p:attrName>
                                        </p:attrNameLst>
                                      </p:cBhvr>
                                      <p:tavLst>
                                        <p:tav tm="0">
                                          <p:val>
                                            <p:strVal val="#ppt_y+0.03"/>
                                          </p:val>
                                        </p:tav>
                                        <p:tav tm="100000">
                                          <p:val>
                                            <p:strVal val="#ppt_y"/>
                                          </p:val>
                                        </p:tav>
                                      </p:tavLst>
                                    </p:anim>
                                  </p:childTnLst>
                                </p:cTn>
                              </p:par>
                              <p:par>
                                <p:cTn id="105" presetID="42" presetClass="entr" presetSubtype="0" fill="hold" grpId="0" nodeType="afterEffect">
                                  <p:stCondLst>
                                    <p:cond delay="1600"/>
                                  </p:stCondLst>
                                  <p:childTnLst>
                                    <p:set>
                                      <p:cBhvr>
                                        <p:cTn id="106" dur="1" fill="hold">
                                          <p:stCondLst>
                                            <p:cond delay="0"/>
                                          </p:stCondLst>
                                        </p:cTn>
                                        <p:tgtEl>
                                          <p:spTgt spid="26"/>
                                        </p:tgtEl>
                                        <p:attrNameLst>
                                          <p:attrName>style.visibility</p:attrName>
                                        </p:attrNameLst>
                                      </p:cBhvr>
                                      <p:to>
                                        <p:strVal val="visible"/>
                                      </p:to>
                                    </p:set>
                                    <p:animEffect transition="in" filter="fade">
                                      <p:cBhvr>
                                        <p:cTn id="107" dur="380"/>
                                        <p:tgtEl>
                                          <p:spTgt spid="26"/>
                                        </p:tgtEl>
                                      </p:cBhvr>
                                    </p:animEffect>
                                    <p:anim calcmode="lin" valueType="num">
                                      <p:cBhvr additive="base">
                                        <p:cTn id="108" dur="380" fill="hold"/>
                                        <p:tgtEl>
                                          <p:spTgt spid="26"/>
                                        </p:tgtEl>
                                        <p:attrNameLst>
                                          <p:attrName>ppt_y</p:attrName>
                                        </p:attrNameLst>
                                      </p:cBhvr>
                                      <p:tavLst>
                                        <p:tav tm="0">
                                          <p:val>
                                            <p:strVal val="#ppt_y+0.03"/>
                                          </p:val>
                                        </p:tav>
                                        <p:tav tm="100000">
                                          <p:val>
                                            <p:strVal val="#ppt_y"/>
                                          </p:val>
                                        </p:tav>
                                      </p:tavLst>
                                    </p:anim>
                                  </p:childTnLst>
                                </p:cTn>
                              </p:par>
                              <p:par>
                                <p:cTn id="109" presetID="42" presetClass="entr" presetSubtype="0" fill="hold" grpId="0" nodeType="afterEffect">
                                  <p:stCondLst>
                                    <p:cond delay="1664"/>
                                  </p:stCondLst>
                                  <p:childTnLst>
                                    <p:set>
                                      <p:cBhvr>
                                        <p:cTn id="110" dur="1" fill="hold">
                                          <p:stCondLst>
                                            <p:cond delay="0"/>
                                          </p:stCondLst>
                                        </p:cTn>
                                        <p:tgtEl>
                                          <p:spTgt spid="27"/>
                                        </p:tgtEl>
                                        <p:attrNameLst>
                                          <p:attrName>style.visibility</p:attrName>
                                        </p:attrNameLst>
                                      </p:cBhvr>
                                      <p:to>
                                        <p:strVal val="visible"/>
                                      </p:to>
                                    </p:set>
                                    <p:animEffect transition="in" filter="fade">
                                      <p:cBhvr>
                                        <p:cTn id="111" dur="380"/>
                                        <p:tgtEl>
                                          <p:spTgt spid="27"/>
                                        </p:tgtEl>
                                      </p:cBhvr>
                                    </p:animEffect>
                                    <p:anim calcmode="lin" valueType="num">
                                      <p:cBhvr additive="base">
                                        <p:cTn id="112" dur="380" fill="hold"/>
                                        <p:tgtEl>
                                          <p:spTgt spid="27"/>
                                        </p:tgtEl>
                                        <p:attrNameLst>
                                          <p:attrName>ppt_y</p:attrName>
                                        </p:attrNameLst>
                                      </p:cBhvr>
                                      <p:tavLst>
                                        <p:tav tm="0">
                                          <p:val>
                                            <p:strVal val="#ppt_y+0.03"/>
                                          </p:val>
                                        </p:tav>
                                        <p:tav tm="100000">
                                          <p:val>
                                            <p:strVal val="#ppt_y"/>
                                          </p:val>
                                        </p:tav>
                                      </p:tavLst>
                                    </p:anim>
                                  </p:childTnLst>
                                </p:cTn>
                              </p:par>
                              <p:par>
                                <p:cTn id="113" presetID="42" presetClass="entr" presetSubtype="0" fill="hold" grpId="0" nodeType="afterEffect">
                                  <p:stCondLst>
                                    <p:cond delay="1728"/>
                                  </p:stCondLst>
                                  <p:childTnLst>
                                    <p:set>
                                      <p:cBhvr>
                                        <p:cTn id="114" dur="1" fill="hold">
                                          <p:stCondLst>
                                            <p:cond delay="0"/>
                                          </p:stCondLst>
                                        </p:cTn>
                                        <p:tgtEl>
                                          <p:spTgt spid="28"/>
                                        </p:tgtEl>
                                        <p:attrNameLst>
                                          <p:attrName>style.visibility</p:attrName>
                                        </p:attrNameLst>
                                      </p:cBhvr>
                                      <p:to>
                                        <p:strVal val="visible"/>
                                      </p:to>
                                    </p:set>
                                    <p:animEffect transition="in" filter="fade">
                                      <p:cBhvr>
                                        <p:cTn id="115" dur="380"/>
                                        <p:tgtEl>
                                          <p:spTgt spid="28"/>
                                        </p:tgtEl>
                                      </p:cBhvr>
                                    </p:animEffect>
                                    <p:anim calcmode="lin" valueType="num">
                                      <p:cBhvr additive="base">
                                        <p:cTn id="116" dur="380" fill="hold"/>
                                        <p:tgtEl>
                                          <p:spTgt spid="28"/>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 grpId="0"/>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37744"/>
          </a:xfrm>
          <a:prstGeom prst="rect">
            <a:avLst/>
          </a:prstGeom>
          <a:noFill/>
          <a:ln/>
        </p:spPr>
        <p:txBody>
          <a:bodyPr wrap="square" lIns="0" tIns="0" rIns="0" bIns="0" rtlCol="0" anchor="ctr"/>
          <a:lstStyle/>
          <a:p>
            <a:pPr indent="0" marL="0">
              <a:buNone/>
            </a:pPr>
            <a:r>
              <a:rPr lang="en-US" sz="1050" b="1" spc="200" kern="0" dirty="0">
                <a:solidFill>
                  <a:srgbClr val="00C39A"/>
                </a:solidFill>
                <a:latin typeface="Calibri" pitchFamily="34" charset="0"/>
                <a:ea typeface="Calibri" pitchFamily="34" charset="-122"/>
                <a:cs typeface="Calibri" pitchFamily="34" charset="-120"/>
              </a:rPr>
              <a:t>FEATURES · 2 OF 3</a:t>
            </a:r>
            <a:endParaRPr lang="en-US" sz="1050" dirty="0"/>
          </a:p>
        </p:txBody>
      </p:sp>
      <p:sp>
        <p:nvSpPr>
          <p:cNvPr id="3" name="Text 1"/>
          <p:cNvSpPr/>
          <p:nvPr/>
        </p:nvSpPr>
        <p:spPr>
          <a:xfrm>
            <a:off x="548640" y="658368"/>
            <a:ext cx="11064240" cy="658368"/>
          </a:xfrm>
          <a:prstGeom prst="rect">
            <a:avLst/>
          </a:prstGeom>
          <a:noFill/>
          <a:ln/>
        </p:spPr>
        <p:txBody>
          <a:bodyPr wrap="square" lIns="0" tIns="0" rIns="0" bIns="0" rtlCol="0" anchor="t"/>
          <a:lstStyle/>
          <a:p>
            <a:pPr indent="0" marL="0">
              <a:buNone/>
            </a:pPr>
            <a:r>
              <a:rPr lang="en-US" sz="3400" b="1" dirty="0">
                <a:solidFill>
                  <a:srgbClr val="141B3D"/>
                </a:solidFill>
                <a:latin typeface="Cambria" pitchFamily="34" charset="0"/>
                <a:ea typeface="Cambria" pitchFamily="34" charset="-122"/>
                <a:cs typeface="Cambria" pitchFamily="34" charset="-120"/>
              </a:rPr>
              <a:t>Faculty Lecturer</a:t>
            </a:r>
            <a:endParaRPr lang="en-US" sz="3400" dirty="0"/>
          </a:p>
        </p:txBody>
      </p:sp>
      <p:sp>
        <p:nvSpPr>
          <p:cNvPr id="4" name="Text 2"/>
          <p:cNvSpPr/>
          <p:nvPr/>
        </p:nvSpPr>
        <p:spPr>
          <a:xfrm>
            <a:off x="548640" y="1371600"/>
            <a:ext cx="7863840" cy="329184"/>
          </a:xfrm>
          <a:prstGeom prst="rect">
            <a:avLst/>
          </a:prstGeom>
          <a:noFill/>
          <a:ln/>
        </p:spPr>
        <p:txBody>
          <a:bodyPr wrap="square" lIns="0" tIns="0" rIns="0" bIns="0" rtlCol="0" anchor="ctr"/>
          <a:lstStyle/>
          <a:p>
            <a:pPr indent="0" marL="0">
              <a:buNone/>
            </a:pPr>
            <a:r>
              <a:rPr lang="en-US" sz="1400" dirty="0">
                <a:solidFill>
                  <a:srgbClr val="646E8C"/>
                </a:solidFill>
                <a:latin typeface="Calibri" pitchFamily="34" charset="0"/>
                <a:ea typeface="Calibri" pitchFamily="34" charset="-122"/>
                <a:cs typeface="Calibri" pitchFamily="34" charset="-120"/>
              </a:rPr>
              <a:t>Authors labs, runs student code and grades — all in one panel.</a:t>
            </a:r>
            <a:endParaRPr lang="en-US" sz="1400" dirty="0"/>
          </a:p>
        </p:txBody>
      </p:sp>
      <p:sp>
        <p:nvSpPr>
          <p:cNvPr id="5" name="Shape 3"/>
          <p:cNvSpPr/>
          <p:nvPr/>
        </p:nvSpPr>
        <p:spPr>
          <a:xfrm>
            <a:off x="548640" y="1938528"/>
            <a:ext cx="8138160" cy="932688"/>
          </a:xfrm>
          <a:prstGeom prst="roundRect">
            <a:avLst>
              <a:gd name="adj" fmla="val 8824"/>
            </a:avLst>
          </a:prstGeom>
          <a:solidFill>
            <a:srgbClr val="FFFFFF"/>
          </a:solidFill>
          <a:ln w="9525">
            <a:solidFill>
              <a:srgbClr val="FFFFFF"/>
            </a:solidFill>
            <a:prstDash val="solid"/>
          </a:ln>
          <a:effectLst>
            <a:outerShdw sx="100000" sy="100000" kx="0" ky="0" algn="bl" rotWithShape="0" blurRad="177800" dist="38100" dir="5400000">
              <a:srgbClr val="1E2761">
                <a:alpha val="10000"/>
              </a:srgbClr>
            </a:outerShdw>
          </a:effectLst>
        </p:spPr>
      </p:sp>
      <p:sp>
        <p:nvSpPr>
          <p:cNvPr id="6" name="Shape 4"/>
          <p:cNvSpPr/>
          <p:nvPr/>
        </p:nvSpPr>
        <p:spPr>
          <a:xfrm>
            <a:off x="768096" y="2130552"/>
            <a:ext cx="548640" cy="548640"/>
          </a:xfrm>
          <a:prstGeom prst="ellipse">
            <a:avLst/>
          </a:prstGeom>
          <a:solidFill>
            <a:srgbClr val="F4F6FC"/>
          </a:solidFill>
          <a:ln w="12700">
            <a:solidFill>
              <a:srgbClr val="F4F6FC"/>
            </a:solidFill>
            <a:prstDash val="solid"/>
          </a:ln>
        </p:spPr>
      </p:sp>
      <p:pic>
        <p:nvPicPr>
          <p:cNvPr id="7" name="Image 0" descr="preencoded.png">    </p:cNvPr>
          <p:cNvPicPr>
            <a:picLocks noChangeAspect="1"/>
          </p:cNvPicPr>
          <p:nvPr/>
        </p:nvPicPr>
        <p:blipFill>
          <a:blip r:embed="rId1"/>
          <a:stretch>
            <a:fillRect/>
          </a:stretch>
        </p:blipFill>
        <p:spPr>
          <a:xfrm>
            <a:off x="927202" y="2289658"/>
            <a:ext cx="230429" cy="230429"/>
          </a:xfrm>
          <a:prstGeom prst="rect">
            <a:avLst/>
          </a:prstGeom>
        </p:spPr>
      </p:pic>
      <p:sp>
        <p:nvSpPr>
          <p:cNvPr id="8" name="Text 5"/>
          <p:cNvSpPr/>
          <p:nvPr/>
        </p:nvSpPr>
        <p:spPr>
          <a:xfrm>
            <a:off x="1463040" y="2066544"/>
            <a:ext cx="7040880" cy="310896"/>
          </a:xfrm>
          <a:prstGeom prst="rect">
            <a:avLst/>
          </a:prstGeom>
          <a:noFill/>
          <a:ln/>
        </p:spPr>
        <p:txBody>
          <a:bodyPr wrap="square" lIns="0" tIns="0" rIns="0" bIns="0" rtlCol="0" anchor="ctr"/>
          <a:lstStyle/>
          <a:p>
            <a:pPr indent="0" marL="0">
              <a:buNone/>
            </a:pPr>
            <a:r>
              <a:rPr lang="en-US" sz="1450" b="1" dirty="0">
                <a:solidFill>
                  <a:srgbClr val="141B3D"/>
                </a:solidFill>
                <a:latin typeface="Calibri" pitchFamily="34" charset="0"/>
                <a:ea typeface="Calibri" pitchFamily="34" charset="-122"/>
                <a:cs typeface="Calibri" pitchFamily="34" charset="-120"/>
              </a:rPr>
              <a:t>Section management</a:t>
            </a:r>
            <a:endParaRPr lang="en-US" sz="1450" dirty="0"/>
          </a:p>
        </p:txBody>
      </p:sp>
      <p:sp>
        <p:nvSpPr>
          <p:cNvPr id="9" name="Text 6"/>
          <p:cNvSpPr/>
          <p:nvPr/>
        </p:nvSpPr>
        <p:spPr>
          <a:xfrm>
            <a:off x="1463040" y="2395728"/>
            <a:ext cx="7040880" cy="384048"/>
          </a:xfrm>
          <a:prstGeom prst="rect">
            <a:avLst/>
          </a:prstGeom>
          <a:noFill/>
          <a:ln/>
        </p:spPr>
        <p:txBody>
          <a:bodyPr wrap="square" lIns="0" tIns="0" rIns="0" bIns="0" rtlCol="0" anchor="ctr"/>
          <a:lstStyle/>
          <a:p>
            <a:pPr indent="0" marL="0">
              <a:lnSpc>
                <a:spcPts val="1500"/>
              </a:lnSpc>
              <a:buNone/>
            </a:pPr>
            <a:r>
              <a:rPr lang="en-US" sz="1150" dirty="0">
                <a:solidFill>
                  <a:srgbClr val="646E8C"/>
                </a:solidFill>
                <a:latin typeface="Calibri" pitchFamily="34" charset="0"/>
                <a:ea typeface="Calibri" pitchFamily="34" charset="-122"/>
                <a:cs typeface="Calibri" pitchFamily="34" charset="-120"/>
              </a:rPr>
              <a:t>Create, rename and delete sections for 1st–4th year students, such as CSE-1 or CIC-1.</a:t>
            </a:r>
            <a:endParaRPr lang="en-US" sz="1150" dirty="0"/>
          </a:p>
        </p:txBody>
      </p:sp>
      <p:sp>
        <p:nvSpPr>
          <p:cNvPr id="10" name="Shape 7"/>
          <p:cNvSpPr/>
          <p:nvPr/>
        </p:nvSpPr>
        <p:spPr>
          <a:xfrm>
            <a:off x="548640" y="2999232"/>
            <a:ext cx="8138160" cy="932688"/>
          </a:xfrm>
          <a:prstGeom prst="roundRect">
            <a:avLst>
              <a:gd name="adj" fmla="val 8824"/>
            </a:avLst>
          </a:prstGeom>
          <a:solidFill>
            <a:srgbClr val="FFFFFF"/>
          </a:solidFill>
          <a:ln w="9525">
            <a:solidFill>
              <a:srgbClr val="FFFFFF"/>
            </a:solidFill>
            <a:prstDash val="solid"/>
          </a:ln>
          <a:effectLst>
            <a:outerShdw sx="100000" sy="100000" kx="0" ky="0" algn="bl" rotWithShape="0" blurRad="177800" dist="38100" dir="5400000">
              <a:srgbClr val="1E2761">
                <a:alpha val="10000"/>
              </a:srgbClr>
            </a:outerShdw>
          </a:effectLst>
        </p:spPr>
      </p:sp>
      <p:sp>
        <p:nvSpPr>
          <p:cNvPr id="11" name="Shape 8"/>
          <p:cNvSpPr/>
          <p:nvPr/>
        </p:nvSpPr>
        <p:spPr>
          <a:xfrm>
            <a:off x="768096" y="3191256"/>
            <a:ext cx="548640" cy="548640"/>
          </a:xfrm>
          <a:prstGeom prst="ellipse">
            <a:avLst/>
          </a:prstGeom>
          <a:solidFill>
            <a:srgbClr val="F4F6FC"/>
          </a:solidFill>
          <a:ln w="12700">
            <a:solidFill>
              <a:srgbClr val="F4F6FC"/>
            </a:solidFill>
            <a:prstDash val="solid"/>
          </a:ln>
        </p:spPr>
      </p:sp>
      <p:pic>
        <p:nvPicPr>
          <p:cNvPr id="12" name="Image 1" descr="preencoded.png">    </p:cNvPr>
          <p:cNvPicPr>
            <a:picLocks noChangeAspect="1"/>
          </p:cNvPicPr>
          <p:nvPr/>
        </p:nvPicPr>
        <p:blipFill>
          <a:blip r:embed="rId2"/>
          <a:stretch>
            <a:fillRect/>
          </a:stretch>
        </p:blipFill>
        <p:spPr>
          <a:xfrm>
            <a:off x="927202" y="3350362"/>
            <a:ext cx="230429" cy="230429"/>
          </a:xfrm>
          <a:prstGeom prst="rect">
            <a:avLst/>
          </a:prstGeom>
        </p:spPr>
      </p:pic>
      <p:sp>
        <p:nvSpPr>
          <p:cNvPr id="13" name="Text 9"/>
          <p:cNvSpPr/>
          <p:nvPr/>
        </p:nvSpPr>
        <p:spPr>
          <a:xfrm>
            <a:off x="1463040" y="3127248"/>
            <a:ext cx="7040880" cy="310896"/>
          </a:xfrm>
          <a:prstGeom prst="rect">
            <a:avLst/>
          </a:prstGeom>
          <a:noFill/>
          <a:ln/>
        </p:spPr>
        <p:txBody>
          <a:bodyPr wrap="square" lIns="0" tIns="0" rIns="0" bIns="0" rtlCol="0" anchor="ctr"/>
          <a:lstStyle/>
          <a:p>
            <a:pPr indent="0" marL="0">
              <a:buNone/>
            </a:pPr>
            <a:r>
              <a:rPr lang="en-US" sz="1450" b="1" dirty="0">
                <a:solidFill>
                  <a:srgbClr val="141B3D"/>
                </a:solidFill>
                <a:latin typeface="Calibri" pitchFamily="34" charset="0"/>
                <a:ea typeface="Calibri" pitchFamily="34" charset="-122"/>
                <a:cs typeface="Calibri" pitchFamily="34" charset="-120"/>
              </a:rPr>
              <a:t>Lab assessment authoring</a:t>
            </a:r>
            <a:endParaRPr lang="en-US" sz="1450" dirty="0"/>
          </a:p>
        </p:txBody>
      </p:sp>
      <p:sp>
        <p:nvSpPr>
          <p:cNvPr id="14" name="Text 10"/>
          <p:cNvSpPr/>
          <p:nvPr/>
        </p:nvSpPr>
        <p:spPr>
          <a:xfrm>
            <a:off x="1463040" y="3456432"/>
            <a:ext cx="7040880" cy="384048"/>
          </a:xfrm>
          <a:prstGeom prst="rect">
            <a:avLst/>
          </a:prstGeom>
          <a:noFill/>
          <a:ln/>
        </p:spPr>
        <p:txBody>
          <a:bodyPr wrap="square" lIns="0" tIns="0" rIns="0" bIns="0" rtlCol="0" anchor="ctr"/>
          <a:lstStyle/>
          <a:p>
            <a:pPr indent="0" marL="0">
              <a:lnSpc>
                <a:spcPts val="1500"/>
              </a:lnSpc>
              <a:buNone/>
            </a:pPr>
            <a:r>
              <a:rPr lang="en-US" sz="1150" dirty="0">
                <a:solidFill>
                  <a:srgbClr val="646E8C"/>
                </a:solidFill>
                <a:latin typeface="Calibri" pitchFamily="34" charset="0"/>
                <a:ea typeface="Calibri" pitchFamily="34" charset="-122"/>
                <a:cs typeface="Calibri" pitchFamily="34" charset="-120"/>
              </a:rPr>
              <a:t>Write problem statements, set due dates and specify input / output constraints.</a:t>
            </a:r>
            <a:endParaRPr lang="en-US" sz="1150" dirty="0"/>
          </a:p>
        </p:txBody>
      </p:sp>
      <p:sp>
        <p:nvSpPr>
          <p:cNvPr id="15" name="Shape 11"/>
          <p:cNvSpPr/>
          <p:nvPr/>
        </p:nvSpPr>
        <p:spPr>
          <a:xfrm>
            <a:off x="548640" y="4059936"/>
            <a:ext cx="8138160" cy="932688"/>
          </a:xfrm>
          <a:prstGeom prst="roundRect">
            <a:avLst>
              <a:gd name="adj" fmla="val 8824"/>
            </a:avLst>
          </a:prstGeom>
          <a:solidFill>
            <a:srgbClr val="FFFFFF"/>
          </a:solidFill>
          <a:ln w="9525">
            <a:solidFill>
              <a:srgbClr val="FFFFFF"/>
            </a:solidFill>
            <a:prstDash val="solid"/>
          </a:ln>
          <a:effectLst>
            <a:outerShdw sx="100000" sy="100000" kx="0" ky="0" algn="bl" rotWithShape="0" blurRad="177800" dist="38100" dir="5400000">
              <a:srgbClr val="1E2761">
                <a:alpha val="10000"/>
              </a:srgbClr>
            </a:outerShdw>
          </a:effectLst>
        </p:spPr>
      </p:sp>
      <p:sp>
        <p:nvSpPr>
          <p:cNvPr id="16" name="Shape 12"/>
          <p:cNvSpPr/>
          <p:nvPr/>
        </p:nvSpPr>
        <p:spPr>
          <a:xfrm>
            <a:off x="768096" y="4251960"/>
            <a:ext cx="548640" cy="548640"/>
          </a:xfrm>
          <a:prstGeom prst="ellipse">
            <a:avLst/>
          </a:prstGeom>
          <a:solidFill>
            <a:srgbClr val="F4F6FC"/>
          </a:solidFill>
          <a:ln w="12700">
            <a:solidFill>
              <a:srgbClr val="F4F6FC"/>
            </a:solidFill>
            <a:prstDash val="solid"/>
          </a:ln>
        </p:spPr>
      </p:sp>
      <p:pic>
        <p:nvPicPr>
          <p:cNvPr id="17" name="Image 2" descr="preencoded.png">    </p:cNvPr>
          <p:cNvPicPr>
            <a:picLocks noChangeAspect="1"/>
          </p:cNvPicPr>
          <p:nvPr/>
        </p:nvPicPr>
        <p:blipFill>
          <a:blip r:embed="rId3"/>
          <a:stretch>
            <a:fillRect/>
          </a:stretch>
        </p:blipFill>
        <p:spPr>
          <a:xfrm>
            <a:off x="927202" y="4411066"/>
            <a:ext cx="230429" cy="230429"/>
          </a:xfrm>
          <a:prstGeom prst="rect">
            <a:avLst/>
          </a:prstGeom>
        </p:spPr>
      </p:pic>
      <p:sp>
        <p:nvSpPr>
          <p:cNvPr id="18" name="Text 13"/>
          <p:cNvSpPr/>
          <p:nvPr/>
        </p:nvSpPr>
        <p:spPr>
          <a:xfrm>
            <a:off x="1463040" y="4187952"/>
            <a:ext cx="7040880" cy="310896"/>
          </a:xfrm>
          <a:prstGeom prst="rect">
            <a:avLst/>
          </a:prstGeom>
          <a:noFill/>
          <a:ln/>
        </p:spPr>
        <p:txBody>
          <a:bodyPr wrap="square" lIns="0" tIns="0" rIns="0" bIns="0" rtlCol="0" anchor="ctr"/>
          <a:lstStyle/>
          <a:p>
            <a:pPr indent="0" marL="0">
              <a:buNone/>
            </a:pPr>
            <a:r>
              <a:rPr lang="en-US" sz="1450" b="1" dirty="0">
                <a:solidFill>
                  <a:srgbClr val="141B3D"/>
                </a:solidFill>
                <a:latin typeface="Calibri" pitchFamily="34" charset="0"/>
                <a:ea typeface="Calibri" pitchFamily="34" charset="-122"/>
                <a:cs typeface="Calibri" pitchFamily="34" charset="-120"/>
              </a:rPr>
              <a:t>Submission viewer &amp; code runner</a:t>
            </a:r>
            <a:endParaRPr lang="en-US" sz="1450" dirty="0"/>
          </a:p>
        </p:txBody>
      </p:sp>
      <p:sp>
        <p:nvSpPr>
          <p:cNvPr id="19" name="Text 14"/>
          <p:cNvSpPr/>
          <p:nvPr/>
        </p:nvSpPr>
        <p:spPr>
          <a:xfrm>
            <a:off x="1463040" y="4517136"/>
            <a:ext cx="7040880" cy="384048"/>
          </a:xfrm>
          <a:prstGeom prst="rect">
            <a:avLst/>
          </a:prstGeom>
          <a:noFill/>
          <a:ln/>
        </p:spPr>
        <p:txBody>
          <a:bodyPr wrap="square" lIns="0" tIns="0" rIns="0" bIns="0" rtlCol="0" anchor="ctr"/>
          <a:lstStyle/>
          <a:p>
            <a:pPr indent="0" marL="0">
              <a:lnSpc>
                <a:spcPts val="1500"/>
              </a:lnSpc>
              <a:buNone/>
            </a:pPr>
            <a:r>
              <a:rPr lang="en-US" sz="1150" dirty="0">
                <a:solidFill>
                  <a:srgbClr val="646E8C"/>
                </a:solidFill>
                <a:latin typeface="Calibri" pitchFamily="34" charset="0"/>
                <a:ea typeface="Calibri" pitchFamily="34" charset="-122"/>
                <a:cs typeface="Calibri" pitchFamily="34" charset="-120"/>
              </a:rPr>
              <a:t>Inspect multi-file submissions, execute code live and download source files.</a:t>
            </a:r>
            <a:endParaRPr lang="en-US" sz="1150" dirty="0"/>
          </a:p>
        </p:txBody>
      </p:sp>
      <p:sp>
        <p:nvSpPr>
          <p:cNvPr id="20" name="Shape 15"/>
          <p:cNvSpPr/>
          <p:nvPr/>
        </p:nvSpPr>
        <p:spPr>
          <a:xfrm>
            <a:off x="548640" y="5120640"/>
            <a:ext cx="8138160" cy="932688"/>
          </a:xfrm>
          <a:prstGeom prst="roundRect">
            <a:avLst>
              <a:gd name="adj" fmla="val 8824"/>
            </a:avLst>
          </a:prstGeom>
          <a:solidFill>
            <a:srgbClr val="FFFFFF"/>
          </a:solidFill>
          <a:ln w="9525">
            <a:solidFill>
              <a:srgbClr val="FFFFFF"/>
            </a:solidFill>
            <a:prstDash val="solid"/>
          </a:ln>
          <a:effectLst>
            <a:outerShdw sx="100000" sy="100000" kx="0" ky="0" algn="bl" rotWithShape="0" blurRad="177800" dist="38100" dir="5400000">
              <a:srgbClr val="1E2761">
                <a:alpha val="10000"/>
              </a:srgbClr>
            </a:outerShdw>
          </a:effectLst>
        </p:spPr>
      </p:sp>
      <p:sp>
        <p:nvSpPr>
          <p:cNvPr id="21" name="Shape 16"/>
          <p:cNvSpPr/>
          <p:nvPr/>
        </p:nvSpPr>
        <p:spPr>
          <a:xfrm>
            <a:off x="768096" y="5312664"/>
            <a:ext cx="548640" cy="548640"/>
          </a:xfrm>
          <a:prstGeom prst="ellipse">
            <a:avLst/>
          </a:prstGeom>
          <a:solidFill>
            <a:srgbClr val="F4F6FC"/>
          </a:solidFill>
          <a:ln w="12700">
            <a:solidFill>
              <a:srgbClr val="F4F6FC"/>
            </a:solidFill>
            <a:prstDash val="solid"/>
          </a:ln>
        </p:spPr>
      </p:sp>
      <p:pic>
        <p:nvPicPr>
          <p:cNvPr id="22" name="Image 3" descr="preencoded.png">    </p:cNvPr>
          <p:cNvPicPr>
            <a:picLocks noChangeAspect="1"/>
          </p:cNvPicPr>
          <p:nvPr/>
        </p:nvPicPr>
        <p:blipFill>
          <a:blip r:embed="rId4"/>
          <a:stretch>
            <a:fillRect/>
          </a:stretch>
        </p:blipFill>
        <p:spPr>
          <a:xfrm>
            <a:off x="927202" y="5471770"/>
            <a:ext cx="230429" cy="230429"/>
          </a:xfrm>
          <a:prstGeom prst="rect">
            <a:avLst/>
          </a:prstGeom>
        </p:spPr>
      </p:pic>
      <p:sp>
        <p:nvSpPr>
          <p:cNvPr id="23" name="Text 17"/>
          <p:cNvSpPr/>
          <p:nvPr/>
        </p:nvSpPr>
        <p:spPr>
          <a:xfrm>
            <a:off x="1463040" y="5248656"/>
            <a:ext cx="7040880" cy="310896"/>
          </a:xfrm>
          <a:prstGeom prst="rect">
            <a:avLst/>
          </a:prstGeom>
          <a:noFill/>
          <a:ln/>
        </p:spPr>
        <p:txBody>
          <a:bodyPr wrap="square" lIns="0" tIns="0" rIns="0" bIns="0" rtlCol="0" anchor="ctr"/>
          <a:lstStyle/>
          <a:p>
            <a:pPr indent="0" marL="0">
              <a:buNone/>
            </a:pPr>
            <a:r>
              <a:rPr lang="en-US" sz="1450" b="1" dirty="0">
                <a:solidFill>
                  <a:srgbClr val="141B3D"/>
                </a:solidFill>
                <a:latin typeface="Calibri" pitchFamily="34" charset="0"/>
                <a:ea typeface="Calibri" pitchFamily="34" charset="-122"/>
                <a:cs typeface="Calibri" pitchFamily="34" charset="-120"/>
              </a:rPr>
              <a:t>Evaluation &amp; grading</a:t>
            </a:r>
            <a:endParaRPr lang="en-US" sz="1450" dirty="0"/>
          </a:p>
        </p:txBody>
      </p:sp>
      <p:sp>
        <p:nvSpPr>
          <p:cNvPr id="24" name="Text 18"/>
          <p:cNvSpPr/>
          <p:nvPr/>
        </p:nvSpPr>
        <p:spPr>
          <a:xfrm>
            <a:off x="1463040" y="5577840"/>
            <a:ext cx="7040880" cy="384048"/>
          </a:xfrm>
          <a:prstGeom prst="rect">
            <a:avLst/>
          </a:prstGeom>
          <a:noFill/>
          <a:ln/>
        </p:spPr>
        <p:txBody>
          <a:bodyPr wrap="square" lIns="0" tIns="0" rIns="0" bIns="0" rtlCol="0" anchor="ctr"/>
          <a:lstStyle/>
          <a:p>
            <a:pPr indent="0" marL="0">
              <a:lnSpc>
                <a:spcPts val="1500"/>
              </a:lnSpc>
              <a:buNone/>
            </a:pPr>
            <a:r>
              <a:rPr lang="en-US" sz="1150" dirty="0">
                <a:solidFill>
                  <a:srgbClr val="646E8C"/>
                </a:solidFill>
                <a:latin typeface="Calibri" pitchFamily="34" charset="0"/>
                <a:ea typeface="Calibri" pitchFamily="34" charset="-122"/>
                <a:cs typeface="Calibri" pitchFamily="34" charset="-120"/>
              </a:rPr>
              <a:t>Marks 0–100, remarks, status (Approved / Rejected / Needs Correction), reopen a workspace.</a:t>
            </a:r>
            <a:endParaRPr lang="en-US" sz="1150" dirty="0"/>
          </a:p>
        </p:txBody>
      </p:sp>
      <p:sp>
        <p:nvSpPr>
          <p:cNvPr id="25" name="Shape 19"/>
          <p:cNvSpPr/>
          <p:nvPr/>
        </p:nvSpPr>
        <p:spPr>
          <a:xfrm>
            <a:off x="8906256" y="1938528"/>
            <a:ext cx="2743200" cy="4114800"/>
          </a:xfrm>
          <a:prstGeom prst="roundRect">
            <a:avLst>
              <a:gd name="adj" fmla="val 3000"/>
            </a:avLst>
          </a:prstGeom>
          <a:solidFill>
            <a:srgbClr val="141B3D"/>
          </a:solidFill>
          <a:ln w="9525">
            <a:solidFill>
              <a:srgbClr val="141B3D"/>
            </a:solidFill>
            <a:prstDash val="solid"/>
          </a:ln>
          <a:effectLst>
            <a:outerShdw sx="100000" sy="100000" kx="0" ky="0" algn="bl" rotWithShape="0" blurRad="177800" dist="38100" dir="5400000">
              <a:srgbClr val="1E2761">
                <a:alpha val="10000"/>
              </a:srgbClr>
            </a:outerShdw>
          </a:effectLst>
        </p:spPr>
      </p:sp>
      <p:sp>
        <p:nvSpPr>
          <p:cNvPr id="26" name="Text 20"/>
          <p:cNvSpPr/>
          <p:nvPr/>
        </p:nvSpPr>
        <p:spPr>
          <a:xfrm>
            <a:off x="9144000" y="2212848"/>
            <a:ext cx="2286000" cy="329184"/>
          </a:xfrm>
          <a:prstGeom prst="rect">
            <a:avLst/>
          </a:prstGeom>
          <a:noFill/>
          <a:ln/>
        </p:spPr>
        <p:txBody>
          <a:bodyPr wrap="square" lIns="0" tIns="0" rIns="0" bIns="0" rtlCol="0" anchor="ctr"/>
          <a:lstStyle/>
          <a:p>
            <a:pPr indent="0" marL="0">
              <a:buNone/>
            </a:pPr>
            <a:r>
              <a:rPr lang="en-US" sz="1000" b="1" spc="140" kern="0" dirty="0">
                <a:solidFill>
                  <a:srgbClr val="00C39A"/>
                </a:solidFill>
                <a:latin typeface="Calibri" pitchFamily="34" charset="0"/>
                <a:ea typeface="Calibri" pitchFamily="34" charset="-122"/>
                <a:cs typeface="Calibri" pitchFamily="34" charset="-120"/>
              </a:rPr>
              <a:t>NO MANUAL COMPILATION</a:t>
            </a:r>
            <a:endParaRPr lang="en-US" sz="1000" dirty="0"/>
          </a:p>
        </p:txBody>
      </p:sp>
      <p:sp>
        <p:nvSpPr>
          <p:cNvPr id="27" name="Text 21"/>
          <p:cNvSpPr/>
          <p:nvPr/>
        </p:nvSpPr>
        <p:spPr>
          <a:xfrm>
            <a:off x="9144000" y="2578608"/>
            <a:ext cx="2286000" cy="1371600"/>
          </a:xfrm>
          <a:prstGeom prst="rect">
            <a:avLst/>
          </a:prstGeom>
          <a:noFill/>
          <a:ln/>
        </p:spPr>
        <p:txBody>
          <a:bodyPr wrap="square" lIns="0" tIns="0" rIns="0" bIns="0" rtlCol="0" anchor="ctr"/>
          <a:lstStyle/>
          <a:p>
            <a:pPr indent="0" marL="0">
              <a:lnSpc>
                <a:spcPts val="2700"/>
              </a:lnSpc>
              <a:buNone/>
            </a:pPr>
            <a:r>
              <a:rPr lang="en-US" sz="2200" b="1" dirty="0">
                <a:solidFill>
                  <a:srgbClr val="FFFFFF"/>
                </a:solidFill>
                <a:latin typeface="Cambria" pitchFamily="34" charset="0"/>
                <a:ea typeface="Cambria" pitchFamily="34" charset="-122"/>
                <a:cs typeface="Cambria" pitchFamily="34" charset="-120"/>
              </a:rPr>
              <a:t>Code runs from the grading panel itself.</a:t>
            </a:r>
            <a:endParaRPr lang="en-US" sz="2200" dirty="0"/>
          </a:p>
        </p:txBody>
      </p:sp>
      <p:sp>
        <p:nvSpPr>
          <p:cNvPr id="28" name="Text 22"/>
          <p:cNvSpPr/>
          <p:nvPr/>
        </p:nvSpPr>
        <p:spPr>
          <a:xfrm>
            <a:off x="9144000" y="4041648"/>
            <a:ext cx="2286000" cy="1737360"/>
          </a:xfrm>
          <a:prstGeom prst="rect">
            <a:avLst/>
          </a:prstGeom>
          <a:noFill/>
          <a:ln/>
        </p:spPr>
        <p:txBody>
          <a:bodyPr wrap="square" lIns="0" tIns="0" rIns="0" bIns="0" rtlCol="0" anchor="t"/>
          <a:lstStyle/>
          <a:p>
            <a:pPr indent="0" marL="0">
              <a:lnSpc>
                <a:spcPts val="1700"/>
              </a:lnSpc>
              <a:buNone/>
            </a:pPr>
            <a:r>
              <a:rPr lang="en-US" sz="1200" dirty="0">
                <a:solidFill>
                  <a:srgbClr val="CADCFC"/>
                </a:solidFill>
                <a:latin typeface="Calibri" pitchFamily="34" charset="0"/>
                <a:ea typeface="Calibri" pitchFamily="34" charset="-122"/>
                <a:cs typeface="Calibri" pitchFamily="34" charset="-120"/>
              </a:rPr>
              <a:t>Faculty stop copying files onto their own machine to check whether a submission compiles.</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slow" p14:dur="800">
        <p159:morph xmlns:p159="http://schemas.microsoft.com/office/powerpoint/2015/09/main"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
                                        </p:tgtEl>
                                        <p:attrNameLst>
                                          <p:attrName>style.visibility</p:attrName>
                                        </p:attrNameLst>
                                      </p:cBhvr>
                                      <p:to>
                                        <p:strVal val="visible"/>
                                      </p:to>
                                    </p:set>
                                    <p:animEffect transition="in" filter="fade">
                                      <p:cBhvr>
                                        <p:cTn id="7" dur="380"/>
                                        <p:tgtEl>
                                          <p:spTgt spid="1"/>
                                        </p:tgtEl>
                                      </p:cBhvr>
                                    </p:animEffect>
                                    <p:anim calcmode="lin" valueType="num">
                                      <p:cBhvr additive="base">
                                        <p:cTn id="8" dur="380" fill="hold"/>
                                        <p:tgtEl>
                                          <p:spTgt spid="1"/>
                                        </p:tgtEl>
                                        <p:attrNameLst>
                                          <p:attrName>ppt_y</p:attrName>
                                        </p:attrNameLst>
                                      </p:cBhvr>
                                      <p:tavLst>
                                        <p:tav tm="0">
                                          <p:val>
                                            <p:strVal val="#ppt_y+0.03"/>
                                          </p:val>
                                        </p:tav>
                                        <p:tav tm="100000">
                                          <p:val>
                                            <p:strVal val="#ppt_y"/>
                                          </p:val>
                                        </p:tav>
                                      </p:tavLst>
                                    </p:anim>
                                  </p:childTnLst>
                                </p:cTn>
                              </p:par>
                              <p:par>
                                <p:cTn id="9" presetID="42" presetClass="entr" presetSubtype="0" fill="hold" grpId="0" nodeType="afterEffect">
                                  <p:stCondLst>
                                    <p:cond delay="64"/>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380"/>
                                        <p:tgtEl>
                                          <p:spTgt spid="2"/>
                                        </p:tgtEl>
                                      </p:cBhvr>
                                    </p:animEffect>
                                    <p:anim calcmode="lin" valueType="num">
                                      <p:cBhvr additive="base">
                                        <p:cTn id="12" dur="380" fill="hold"/>
                                        <p:tgtEl>
                                          <p:spTgt spid="2"/>
                                        </p:tgtEl>
                                        <p:attrNameLst>
                                          <p:attrName>ppt_y</p:attrName>
                                        </p:attrNameLst>
                                      </p:cBhvr>
                                      <p:tavLst>
                                        <p:tav tm="0">
                                          <p:val>
                                            <p:strVal val="#ppt_y+0.03"/>
                                          </p:val>
                                        </p:tav>
                                        <p:tav tm="100000">
                                          <p:val>
                                            <p:strVal val="#ppt_y"/>
                                          </p:val>
                                        </p:tav>
                                      </p:tavLst>
                                    </p:anim>
                                  </p:childTnLst>
                                </p:cTn>
                              </p:par>
                              <p:par>
                                <p:cTn id="13" presetID="42" presetClass="entr" presetSubtype="0" fill="hold" grpId="0" nodeType="afterEffect">
                                  <p:stCondLst>
                                    <p:cond delay="128"/>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380"/>
                                        <p:tgtEl>
                                          <p:spTgt spid="3"/>
                                        </p:tgtEl>
                                      </p:cBhvr>
                                    </p:animEffect>
                                    <p:anim calcmode="lin" valueType="num">
                                      <p:cBhvr additive="base">
                                        <p:cTn id="16" dur="380" fill="hold"/>
                                        <p:tgtEl>
                                          <p:spTgt spid="3"/>
                                        </p:tgtEl>
                                        <p:attrNameLst>
                                          <p:attrName>ppt_y</p:attrName>
                                        </p:attrNameLst>
                                      </p:cBhvr>
                                      <p:tavLst>
                                        <p:tav tm="0">
                                          <p:val>
                                            <p:strVal val="#ppt_y+0.03"/>
                                          </p:val>
                                        </p:tav>
                                        <p:tav tm="100000">
                                          <p:val>
                                            <p:strVal val="#ppt_y"/>
                                          </p:val>
                                        </p:tav>
                                      </p:tavLst>
                                    </p:anim>
                                  </p:childTnLst>
                                </p:cTn>
                              </p:par>
                              <p:par>
                                <p:cTn id="17" presetID="42" presetClass="entr" presetSubtype="0" fill="hold" grpId="0" nodeType="afterEffect">
                                  <p:stCondLst>
                                    <p:cond delay="192"/>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380"/>
                                        <p:tgtEl>
                                          <p:spTgt spid="4"/>
                                        </p:tgtEl>
                                      </p:cBhvr>
                                    </p:animEffect>
                                    <p:anim calcmode="lin" valueType="num">
                                      <p:cBhvr additive="base">
                                        <p:cTn id="20" dur="380" fill="hold"/>
                                        <p:tgtEl>
                                          <p:spTgt spid="4"/>
                                        </p:tgtEl>
                                        <p:attrNameLst>
                                          <p:attrName>ppt_y</p:attrName>
                                        </p:attrNameLst>
                                      </p:cBhvr>
                                      <p:tavLst>
                                        <p:tav tm="0">
                                          <p:val>
                                            <p:strVal val="#ppt_y+0.03"/>
                                          </p:val>
                                        </p:tav>
                                        <p:tav tm="100000">
                                          <p:val>
                                            <p:strVal val="#ppt_y"/>
                                          </p:val>
                                        </p:tav>
                                      </p:tavLst>
                                    </p:anim>
                                  </p:childTnLst>
                                </p:cTn>
                              </p:par>
                              <p:par>
                                <p:cTn id="21" presetID="42" presetClass="entr" presetSubtype="0" fill="hold" grpId="0" nodeType="afterEffect">
                                  <p:stCondLst>
                                    <p:cond delay="256"/>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380"/>
                                        <p:tgtEl>
                                          <p:spTgt spid="5"/>
                                        </p:tgtEl>
                                      </p:cBhvr>
                                    </p:animEffect>
                                    <p:anim calcmode="lin" valueType="num">
                                      <p:cBhvr additive="base">
                                        <p:cTn id="24" dur="380" fill="hold"/>
                                        <p:tgtEl>
                                          <p:spTgt spid="5"/>
                                        </p:tgtEl>
                                        <p:attrNameLst>
                                          <p:attrName>ppt_y</p:attrName>
                                        </p:attrNameLst>
                                      </p:cBhvr>
                                      <p:tavLst>
                                        <p:tav tm="0">
                                          <p:val>
                                            <p:strVal val="#ppt_y+0.03"/>
                                          </p:val>
                                        </p:tav>
                                        <p:tav tm="100000">
                                          <p:val>
                                            <p:strVal val="#ppt_y"/>
                                          </p:val>
                                        </p:tav>
                                      </p:tavLst>
                                    </p:anim>
                                  </p:childTnLst>
                                </p:cTn>
                              </p:par>
                              <p:par>
                                <p:cTn id="25" presetID="42" presetClass="entr" presetSubtype="0" fill="hold" grpId="0" nodeType="afterEffect">
                                  <p:stCondLst>
                                    <p:cond delay="32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380"/>
                                        <p:tgtEl>
                                          <p:spTgt spid="6"/>
                                        </p:tgtEl>
                                      </p:cBhvr>
                                    </p:animEffect>
                                    <p:anim calcmode="lin" valueType="num">
                                      <p:cBhvr additive="base">
                                        <p:cTn id="28" dur="380" fill="hold"/>
                                        <p:tgtEl>
                                          <p:spTgt spid="6"/>
                                        </p:tgtEl>
                                        <p:attrNameLst>
                                          <p:attrName>ppt_y</p:attrName>
                                        </p:attrNameLst>
                                      </p:cBhvr>
                                      <p:tavLst>
                                        <p:tav tm="0">
                                          <p:val>
                                            <p:strVal val="#ppt_y+0.03"/>
                                          </p:val>
                                        </p:tav>
                                        <p:tav tm="100000">
                                          <p:val>
                                            <p:strVal val="#ppt_y"/>
                                          </p:val>
                                        </p:tav>
                                      </p:tavLst>
                                    </p:anim>
                                  </p:childTnLst>
                                </p:cTn>
                              </p:par>
                              <p:par>
                                <p:cTn id="29" presetID="42" presetClass="entr" presetSubtype="0" fill="hold" grpId="0" nodeType="afterEffect">
                                  <p:stCondLst>
                                    <p:cond delay="384"/>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380"/>
                                        <p:tgtEl>
                                          <p:spTgt spid="7"/>
                                        </p:tgtEl>
                                      </p:cBhvr>
                                    </p:animEffect>
                                    <p:anim calcmode="lin" valueType="num">
                                      <p:cBhvr additive="base">
                                        <p:cTn id="32" dur="380" fill="hold"/>
                                        <p:tgtEl>
                                          <p:spTgt spid="7"/>
                                        </p:tgtEl>
                                        <p:attrNameLst>
                                          <p:attrName>ppt_y</p:attrName>
                                        </p:attrNameLst>
                                      </p:cBhvr>
                                      <p:tavLst>
                                        <p:tav tm="0">
                                          <p:val>
                                            <p:strVal val="#ppt_y+0.03"/>
                                          </p:val>
                                        </p:tav>
                                        <p:tav tm="100000">
                                          <p:val>
                                            <p:strVal val="#ppt_y"/>
                                          </p:val>
                                        </p:tav>
                                      </p:tavLst>
                                    </p:anim>
                                  </p:childTnLst>
                                </p:cTn>
                              </p:par>
                              <p:par>
                                <p:cTn id="33" presetID="42" presetClass="entr" presetSubtype="0" fill="hold" grpId="0" nodeType="afterEffect">
                                  <p:stCondLst>
                                    <p:cond delay="448"/>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380"/>
                                        <p:tgtEl>
                                          <p:spTgt spid="8"/>
                                        </p:tgtEl>
                                      </p:cBhvr>
                                    </p:animEffect>
                                    <p:anim calcmode="lin" valueType="num">
                                      <p:cBhvr additive="base">
                                        <p:cTn id="36" dur="380" fill="hold"/>
                                        <p:tgtEl>
                                          <p:spTgt spid="8"/>
                                        </p:tgtEl>
                                        <p:attrNameLst>
                                          <p:attrName>ppt_y</p:attrName>
                                        </p:attrNameLst>
                                      </p:cBhvr>
                                      <p:tavLst>
                                        <p:tav tm="0">
                                          <p:val>
                                            <p:strVal val="#ppt_y+0.03"/>
                                          </p:val>
                                        </p:tav>
                                        <p:tav tm="100000">
                                          <p:val>
                                            <p:strVal val="#ppt_y"/>
                                          </p:val>
                                        </p:tav>
                                      </p:tavLst>
                                    </p:anim>
                                  </p:childTnLst>
                                </p:cTn>
                              </p:par>
                              <p:par>
                                <p:cTn id="37" presetID="42" presetClass="entr" presetSubtype="0" fill="hold" grpId="0" nodeType="afterEffect">
                                  <p:stCondLst>
                                    <p:cond delay="512"/>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380"/>
                                        <p:tgtEl>
                                          <p:spTgt spid="9"/>
                                        </p:tgtEl>
                                      </p:cBhvr>
                                    </p:animEffect>
                                    <p:anim calcmode="lin" valueType="num">
                                      <p:cBhvr additive="base">
                                        <p:cTn id="40" dur="380" fill="hold"/>
                                        <p:tgtEl>
                                          <p:spTgt spid="9"/>
                                        </p:tgtEl>
                                        <p:attrNameLst>
                                          <p:attrName>ppt_y</p:attrName>
                                        </p:attrNameLst>
                                      </p:cBhvr>
                                      <p:tavLst>
                                        <p:tav tm="0">
                                          <p:val>
                                            <p:strVal val="#ppt_y+0.03"/>
                                          </p:val>
                                        </p:tav>
                                        <p:tav tm="100000">
                                          <p:val>
                                            <p:strVal val="#ppt_y"/>
                                          </p:val>
                                        </p:tav>
                                      </p:tavLst>
                                    </p:anim>
                                  </p:childTnLst>
                                </p:cTn>
                              </p:par>
                              <p:par>
                                <p:cTn id="41" presetID="42" presetClass="entr" presetSubtype="0" fill="hold" grpId="0" nodeType="afterEffect">
                                  <p:stCondLst>
                                    <p:cond delay="576"/>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380"/>
                                        <p:tgtEl>
                                          <p:spTgt spid="10"/>
                                        </p:tgtEl>
                                      </p:cBhvr>
                                    </p:animEffect>
                                    <p:anim calcmode="lin" valueType="num">
                                      <p:cBhvr additive="base">
                                        <p:cTn id="44" dur="380" fill="hold"/>
                                        <p:tgtEl>
                                          <p:spTgt spid="10"/>
                                        </p:tgtEl>
                                        <p:attrNameLst>
                                          <p:attrName>ppt_y</p:attrName>
                                        </p:attrNameLst>
                                      </p:cBhvr>
                                      <p:tavLst>
                                        <p:tav tm="0">
                                          <p:val>
                                            <p:strVal val="#ppt_y+0.03"/>
                                          </p:val>
                                        </p:tav>
                                        <p:tav tm="100000">
                                          <p:val>
                                            <p:strVal val="#ppt_y"/>
                                          </p:val>
                                        </p:tav>
                                      </p:tavLst>
                                    </p:anim>
                                  </p:childTnLst>
                                </p:cTn>
                              </p:par>
                              <p:par>
                                <p:cTn id="45" presetID="42" presetClass="entr" presetSubtype="0" fill="hold" grpId="0" nodeType="afterEffect">
                                  <p:stCondLst>
                                    <p:cond delay="64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380"/>
                                        <p:tgtEl>
                                          <p:spTgt spid="11"/>
                                        </p:tgtEl>
                                      </p:cBhvr>
                                    </p:animEffect>
                                    <p:anim calcmode="lin" valueType="num">
                                      <p:cBhvr additive="base">
                                        <p:cTn id="48" dur="380" fill="hold"/>
                                        <p:tgtEl>
                                          <p:spTgt spid="11"/>
                                        </p:tgtEl>
                                        <p:attrNameLst>
                                          <p:attrName>ppt_y</p:attrName>
                                        </p:attrNameLst>
                                      </p:cBhvr>
                                      <p:tavLst>
                                        <p:tav tm="0">
                                          <p:val>
                                            <p:strVal val="#ppt_y+0.03"/>
                                          </p:val>
                                        </p:tav>
                                        <p:tav tm="100000">
                                          <p:val>
                                            <p:strVal val="#ppt_y"/>
                                          </p:val>
                                        </p:tav>
                                      </p:tavLst>
                                    </p:anim>
                                  </p:childTnLst>
                                </p:cTn>
                              </p:par>
                              <p:par>
                                <p:cTn id="49" presetID="42" presetClass="entr" presetSubtype="0" fill="hold" grpId="0" nodeType="afterEffect">
                                  <p:stCondLst>
                                    <p:cond delay="704"/>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380"/>
                                        <p:tgtEl>
                                          <p:spTgt spid="12"/>
                                        </p:tgtEl>
                                      </p:cBhvr>
                                    </p:animEffect>
                                    <p:anim calcmode="lin" valueType="num">
                                      <p:cBhvr additive="base">
                                        <p:cTn id="52" dur="380" fill="hold"/>
                                        <p:tgtEl>
                                          <p:spTgt spid="12"/>
                                        </p:tgtEl>
                                        <p:attrNameLst>
                                          <p:attrName>ppt_y</p:attrName>
                                        </p:attrNameLst>
                                      </p:cBhvr>
                                      <p:tavLst>
                                        <p:tav tm="0">
                                          <p:val>
                                            <p:strVal val="#ppt_y+0.03"/>
                                          </p:val>
                                        </p:tav>
                                        <p:tav tm="100000">
                                          <p:val>
                                            <p:strVal val="#ppt_y"/>
                                          </p:val>
                                        </p:tav>
                                      </p:tavLst>
                                    </p:anim>
                                  </p:childTnLst>
                                </p:cTn>
                              </p:par>
                              <p:par>
                                <p:cTn id="53" presetID="42" presetClass="entr" presetSubtype="0" fill="hold" grpId="0" nodeType="afterEffect">
                                  <p:stCondLst>
                                    <p:cond delay="768"/>
                                  </p:stCondLst>
                                  <p:childTnLst>
                                    <p:set>
                                      <p:cBhvr>
                                        <p:cTn id="54" dur="1" fill="hold">
                                          <p:stCondLst>
                                            <p:cond delay="0"/>
                                          </p:stCondLst>
                                        </p:cTn>
                                        <p:tgtEl>
                                          <p:spTgt spid="13"/>
                                        </p:tgtEl>
                                        <p:attrNameLst>
                                          <p:attrName>style.visibility</p:attrName>
                                        </p:attrNameLst>
                                      </p:cBhvr>
                                      <p:to>
                                        <p:strVal val="visible"/>
                                      </p:to>
                                    </p:set>
                                    <p:animEffect transition="in" filter="fade">
                                      <p:cBhvr>
                                        <p:cTn id="55" dur="380"/>
                                        <p:tgtEl>
                                          <p:spTgt spid="13"/>
                                        </p:tgtEl>
                                      </p:cBhvr>
                                    </p:animEffect>
                                    <p:anim calcmode="lin" valueType="num">
                                      <p:cBhvr additive="base">
                                        <p:cTn id="56" dur="380" fill="hold"/>
                                        <p:tgtEl>
                                          <p:spTgt spid="13"/>
                                        </p:tgtEl>
                                        <p:attrNameLst>
                                          <p:attrName>ppt_y</p:attrName>
                                        </p:attrNameLst>
                                      </p:cBhvr>
                                      <p:tavLst>
                                        <p:tav tm="0">
                                          <p:val>
                                            <p:strVal val="#ppt_y+0.03"/>
                                          </p:val>
                                        </p:tav>
                                        <p:tav tm="100000">
                                          <p:val>
                                            <p:strVal val="#ppt_y"/>
                                          </p:val>
                                        </p:tav>
                                      </p:tavLst>
                                    </p:anim>
                                  </p:childTnLst>
                                </p:cTn>
                              </p:par>
                              <p:par>
                                <p:cTn id="57" presetID="42" presetClass="entr" presetSubtype="0" fill="hold" grpId="0" nodeType="afterEffect">
                                  <p:stCondLst>
                                    <p:cond delay="832"/>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380"/>
                                        <p:tgtEl>
                                          <p:spTgt spid="14"/>
                                        </p:tgtEl>
                                      </p:cBhvr>
                                    </p:animEffect>
                                    <p:anim calcmode="lin" valueType="num">
                                      <p:cBhvr additive="base">
                                        <p:cTn id="60" dur="380" fill="hold"/>
                                        <p:tgtEl>
                                          <p:spTgt spid="14"/>
                                        </p:tgtEl>
                                        <p:attrNameLst>
                                          <p:attrName>ppt_y</p:attrName>
                                        </p:attrNameLst>
                                      </p:cBhvr>
                                      <p:tavLst>
                                        <p:tav tm="0">
                                          <p:val>
                                            <p:strVal val="#ppt_y+0.03"/>
                                          </p:val>
                                        </p:tav>
                                        <p:tav tm="100000">
                                          <p:val>
                                            <p:strVal val="#ppt_y"/>
                                          </p:val>
                                        </p:tav>
                                      </p:tavLst>
                                    </p:anim>
                                  </p:childTnLst>
                                </p:cTn>
                              </p:par>
                              <p:par>
                                <p:cTn id="61" presetID="42" presetClass="entr" presetSubtype="0" fill="hold" grpId="0" nodeType="afterEffect">
                                  <p:stCondLst>
                                    <p:cond delay="896"/>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380"/>
                                        <p:tgtEl>
                                          <p:spTgt spid="15"/>
                                        </p:tgtEl>
                                      </p:cBhvr>
                                    </p:animEffect>
                                    <p:anim calcmode="lin" valueType="num">
                                      <p:cBhvr additive="base">
                                        <p:cTn id="64" dur="380" fill="hold"/>
                                        <p:tgtEl>
                                          <p:spTgt spid="15"/>
                                        </p:tgtEl>
                                        <p:attrNameLst>
                                          <p:attrName>ppt_y</p:attrName>
                                        </p:attrNameLst>
                                      </p:cBhvr>
                                      <p:tavLst>
                                        <p:tav tm="0">
                                          <p:val>
                                            <p:strVal val="#ppt_y+0.03"/>
                                          </p:val>
                                        </p:tav>
                                        <p:tav tm="100000">
                                          <p:val>
                                            <p:strVal val="#ppt_y"/>
                                          </p:val>
                                        </p:tav>
                                      </p:tavLst>
                                    </p:anim>
                                  </p:childTnLst>
                                </p:cTn>
                              </p:par>
                              <p:par>
                                <p:cTn id="65" presetID="42" presetClass="entr" presetSubtype="0" fill="hold" grpId="0" nodeType="afterEffect">
                                  <p:stCondLst>
                                    <p:cond delay="96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380"/>
                                        <p:tgtEl>
                                          <p:spTgt spid="16"/>
                                        </p:tgtEl>
                                      </p:cBhvr>
                                    </p:animEffect>
                                    <p:anim calcmode="lin" valueType="num">
                                      <p:cBhvr additive="base">
                                        <p:cTn id="68" dur="380" fill="hold"/>
                                        <p:tgtEl>
                                          <p:spTgt spid="16"/>
                                        </p:tgtEl>
                                        <p:attrNameLst>
                                          <p:attrName>ppt_y</p:attrName>
                                        </p:attrNameLst>
                                      </p:cBhvr>
                                      <p:tavLst>
                                        <p:tav tm="0">
                                          <p:val>
                                            <p:strVal val="#ppt_y+0.03"/>
                                          </p:val>
                                        </p:tav>
                                        <p:tav tm="100000">
                                          <p:val>
                                            <p:strVal val="#ppt_y"/>
                                          </p:val>
                                        </p:tav>
                                      </p:tavLst>
                                    </p:anim>
                                  </p:childTnLst>
                                </p:cTn>
                              </p:par>
                              <p:par>
                                <p:cTn id="69" presetID="42" presetClass="entr" presetSubtype="0" fill="hold" grpId="0" nodeType="afterEffect">
                                  <p:stCondLst>
                                    <p:cond delay="1024"/>
                                  </p:stCondLst>
                                  <p:childTnLst>
                                    <p:set>
                                      <p:cBhvr>
                                        <p:cTn id="70" dur="1" fill="hold">
                                          <p:stCondLst>
                                            <p:cond delay="0"/>
                                          </p:stCondLst>
                                        </p:cTn>
                                        <p:tgtEl>
                                          <p:spTgt spid="17"/>
                                        </p:tgtEl>
                                        <p:attrNameLst>
                                          <p:attrName>style.visibility</p:attrName>
                                        </p:attrNameLst>
                                      </p:cBhvr>
                                      <p:to>
                                        <p:strVal val="visible"/>
                                      </p:to>
                                    </p:set>
                                    <p:animEffect transition="in" filter="fade">
                                      <p:cBhvr>
                                        <p:cTn id="71" dur="380"/>
                                        <p:tgtEl>
                                          <p:spTgt spid="17"/>
                                        </p:tgtEl>
                                      </p:cBhvr>
                                    </p:animEffect>
                                    <p:anim calcmode="lin" valueType="num">
                                      <p:cBhvr additive="base">
                                        <p:cTn id="72" dur="380" fill="hold"/>
                                        <p:tgtEl>
                                          <p:spTgt spid="17"/>
                                        </p:tgtEl>
                                        <p:attrNameLst>
                                          <p:attrName>ppt_y</p:attrName>
                                        </p:attrNameLst>
                                      </p:cBhvr>
                                      <p:tavLst>
                                        <p:tav tm="0">
                                          <p:val>
                                            <p:strVal val="#ppt_y+0.03"/>
                                          </p:val>
                                        </p:tav>
                                        <p:tav tm="100000">
                                          <p:val>
                                            <p:strVal val="#ppt_y"/>
                                          </p:val>
                                        </p:tav>
                                      </p:tavLst>
                                    </p:anim>
                                  </p:childTnLst>
                                </p:cTn>
                              </p:par>
                              <p:par>
                                <p:cTn id="73" presetID="42" presetClass="entr" presetSubtype="0" fill="hold" grpId="0" nodeType="afterEffect">
                                  <p:stCondLst>
                                    <p:cond delay="1088"/>
                                  </p:stCondLst>
                                  <p:childTnLst>
                                    <p:set>
                                      <p:cBhvr>
                                        <p:cTn id="74" dur="1" fill="hold">
                                          <p:stCondLst>
                                            <p:cond delay="0"/>
                                          </p:stCondLst>
                                        </p:cTn>
                                        <p:tgtEl>
                                          <p:spTgt spid="18"/>
                                        </p:tgtEl>
                                        <p:attrNameLst>
                                          <p:attrName>style.visibility</p:attrName>
                                        </p:attrNameLst>
                                      </p:cBhvr>
                                      <p:to>
                                        <p:strVal val="visible"/>
                                      </p:to>
                                    </p:set>
                                    <p:animEffect transition="in" filter="fade">
                                      <p:cBhvr>
                                        <p:cTn id="75" dur="380"/>
                                        <p:tgtEl>
                                          <p:spTgt spid="18"/>
                                        </p:tgtEl>
                                      </p:cBhvr>
                                    </p:animEffect>
                                    <p:anim calcmode="lin" valueType="num">
                                      <p:cBhvr additive="base">
                                        <p:cTn id="76" dur="380" fill="hold"/>
                                        <p:tgtEl>
                                          <p:spTgt spid="18"/>
                                        </p:tgtEl>
                                        <p:attrNameLst>
                                          <p:attrName>ppt_y</p:attrName>
                                        </p:attrNameLst>
                                      </p:cBhvr>
                                      <p:tavLst>
                                        <p:tav tm="0">
                                          <p:val>
                                            <p:strVal val="#ppt_y+0.03"/>
                                          </p:val>
                                        </p:tav>
                                        <p:tav tm="100000">
                                          <p:val>
                                            <p:strVal val="#ppt_y"/>
                                          </p:val>
                                        </p:tav>
                                      </p:tavLst>
                                    </p:anim>
                                  </p:childTnLst>
                                </p:cTn>
                              </p:par>
                              <p:par>
                                <p:cTn id="77" presetID="42" presetClass="entr" presetSubtype="0" fill="hold" grpId="0" nodeType="afterEffect">
                                  <p:stCondLst>
                                    <p:cond delay="1152"/>
                                  </p:stCondLst>
                                  <p:childTnLst>
                                    <p:set>
                                      <p:cBhvr>
                                        <p:cTn id="78" dur="1" fill="hold">
                                          <p:stCondLst>
                                            <p:cond delay="0"/>
                                          </p:stCondLst>
                                        </p:cTn>
                                        <p:tgtEl>
                                          <p:spTgt spid="19"/>
                                        </p:tgtEl>
                                        <p:attrNameLst>
                                          <p:attrName>style.visibility</p:attrName>
                                        </p:attrNameLst>
                                      </p:cBhvr>
                                      <p:to>
                                        <p:strVal val="visible"/>
                                      </p:to>
                                    </p:set>
                                    <p:animEffect transition="in" filter="fade">
                                      <p:cBhvr>
                                        <p:cTn id="79" dur="380"/>
                                        <p:tgtEl>
                                          <p:spTgt spid="19"/>
                                        </p:tgtEl>
                                      </p:cBhvr>
                                    </p:animEffect>
                                    <p:anim calcmode="lin" valueType="num">
                                      <p:cBhvr additive="base">
                                        <p:cTn id="80" dur="380" fill="hold"/>
                                        <p:tgtEl>
                                          <p:spTgt spid="19"/>
                                        </p:tgtEl>
                                        <p:attrNameLst>
                                          <p:attrName>ppt_y</p:attrName>
                                        </p:attrNameLst>
                                      </p:cBhvr>
                                      <p:tavLst>
                                        <p:tav tm="0">
                                          <p:val>
                                            <p:strVal val="#ppt_y+0.03"/>
                                          </p:val>
                                        </p:tav>
                                        <p:tav tm="100000">
                                          <p:val>
                                            <p:strVal val="#ppt_y"/>
                                          </p:val>
                                        </p:tav>
                                      </p:tavLst>
                                    </p:anim>
                                  </p:childTnLst>
                                </p:cTn>
                              </p:par>
                              <p:par>
                                <p:cTn id="81" presetID="42" presetClass="entr" presetSubtype="0" fill="hold" grpId="0" nodeType="afterEffect">
                                  <p:stCondLst>
                                    <p:cond delay="1216"/>
                                  </p:stCondLst>
                                  <p:childTnLst>
                                    <p:set>
                                      <p:cBhvr>
                                        <p:cTn id="82" dur="1" fill="hold">
                                          <p:stCondLst>
                                            <p:cond delay="0"/>
                                          </p:stCondLst>
                                        </p:cTn>
                                        <p:tgtEl>
                                          <p:spTgt spid="20"/>
                                        </p:tgtEl>
                                        <p:attrNameLst>
                                          <p:attrName>style.visibility</p:attrName>
                                        </p:attrNameLst>
                                      </p:cBhvr>
                                      <p:to>
                                        <p:strVal val="visible"/>
                                      </p:to>
                                    </p:set>
                                    <p:animEffect transition="in" filter="fade">
                                      <p:cBhvr>
                                        <p:cTn id="83" dur="380"/>
                                        <p:tgtEl>
                                          <p:spTgt spid="20"/>
                                        </p:tgtEl>
                                      </p:cBhvr>
                                    </p:animEffect>
                                    <p:anim calcmode="lin" valueType="num">
                                      <p:cBhvr additive="base">
                                        <p:cTn id="84" dur="380" fill="hold"/>
                                        <p:tgtEl>
                                          <p:spTgt spid="20"/>
                                        </p:tgtEl>
                                        <p:attrNameLst>
                                          <p:attrName>ppt_y</p:attrName>
                                        </p:attrNameLst>
                                      </p:cBhvr>
                                      <p:tavLst>
                                        <p:tav tm="0">
                                          <p:val>
                                            <p:strVal val="#ppt_y+0.03"/>
                                          </p:val>
                                        </p:tav>
                                        <p:tav tm="100000">
                                          <p:val>
                                            <p:strVal val="#ppt_y"/>
                                          </p:val>
                                        </p:tav>
                                      </p:tavLst>
                                    </p:anim>
                                  </p:childTnLst>
                                </p:cTn>
                              </p:par>
                              <p:par>
                                <p:cTn id="85" presetID="42" presetClass="entr" presetSubtype="0" fill="hold" grpId="0" nodeType="afterEffect">
                                  <p:stCondLst>
                                    <p:cond delay="1280"/>
                                  </p:stCondLst>
                                  <p:childTnLst>
                                    <p:set>
                                      <p:cBhvr>
                                        <p:cTn id="86" dur="1" fill="hold">
                                          <p:stCondLst>
                                            <p:cond delay="0"/>
                                          </p:stCondLst>
                                        </p:cTn>
                                        <p:tgtEl>
                                          <p:spTgt spid="21"/>
                                        </p:tgtEl>
                                        <p:attrNameLst>
                                          <p:attrName>style.visibility</p:attrName>
                                        </p:attrNameLst>
                                      </p:cBhvr>
                                      <p:to>
                                        <p:strVal val="visible"/>
                                      </p:to>
                                    </p:set>
                                    <p:animEffect transition="in" filter="fade">
                                      <p:cBhvr>
                                        <p:cTn id="87" dur="380"/>
                                        <p:tgtEl>
                                          <p:spTgt spid="21"/>
                                        </p:tgtEl>
                                      </p:cBhvr>
                                    </p:animEffect>
                                    <p:anim calcmode="lin" valueType="num">
                                      <p:cBhvr additive="base">
                                        <p:cTn id="88" dur="380" fill="hold"/>
                                        <p:tgtEl>
                                          <p:spTgt spid="21"/>
                                        </p:tgtEl>
                                        <p:attrNameLst>
                                          <p:attrName>ppt_y</p:attrName>
                                        </p:attrNameLst>
                                      </p:cBhvr>
                                      <p:tavLst>
                                        <p:tav tm="0">
                                          <p:val>
                                            <p:strVal val="#ppt_y+0.03"/>
                                          </p:val>
                                        </p:tav>
                                        <p:tav tm="100000">
                                          <p:val>
                                            <p:strVal val="#ppt_y"/>
                                          </p:val>
                                        </p:tav>
                                      </p:tavLst>
                                    </p:anim>
                                  </p:childTnLst>
                                </p:cTn>
                              </p:par>
                              <p:par>
                                <p:cTn id="89" presetID="42" presetClass="entr" presetSubtype="0" fill="hold" grpId="0" nodeType="afterEffect">
                                  <p:stCondLst>
                                    <p:cond delay="1344"/>
                                  </p:stCondLst>
                                  <p:childTnLst>
                                    <p:set>
                                      <p:cBhvr>
                                        <p:cTn id="90" dur="1" fill="hold">
                                          <p:stCondLst>
                                            <p:cond delay="0"/>
                                          </p:stCondLst>
                                        </p:cTn>
                                        <p:tgtEl>
                                          <p:spTgt spid="22"/>
                                        </p:tgtEl>
                                        <p:attrNameLst>
                                          <p:attrName>style.visibility</p:attrName>
                                        </p:attrNameLst>
                                      </p:cBhvr>
                                      <p:to>
                                        <p:strVal val="visible"/>
                                      </p:to>
                                    </p:set>
                                    <p:animEffect transition="in" filter="fade">
                                      <p:cBhvr>
                                        <p:cTn id="91" dur="380"/>
                                        <p:tgtEl>
                                          <p:spTgt spid="22"/>
                                        </p:tgtEl>
                                      </p:cBhvr>
                                    </p:animEffect>
                                    <p:anim calcmode="lin" valueType="num">
                                      <p:cBhvr additive="base">
                                        <p:cTn id="92" dur="380" fill="hold"/>
                                        <p:tgtEl>
                                          <p:spTgt spid="22"/>
                                        </p:tgtEl>
                                        <p:attrNameLst>
                                          <p:attrName>ppt_y</p:attrName>
                                        </p:attrNameLst>
                                      </p:cBhvr>
                                      <p:tavLst>
                                        <p:tav tm="0">
                                          <p:val>
                                            <p:strVal val="#ppt_y+0.03"/>
                                          </p:val>
                                        </p:tav>
                                        <p:tav tm="100000">
                                          <p:val>
                                            <p:strVal val="#ppt_y"/>
                                          </p:val>
                                        </p:tav>
                                      </p:tavLst>
                                    </p:anim>
                                  </p:childTnLst>
                                </p:cTn>
                              </p:par>
                              <p:par>
                                <p:cTn id="93" presetID="42" presetClass="entr" presetSubtype="0" fill="hold" grpId="0" nodeType="afterEffect">
                                  <p:stCondLst>
                                    <p:cond delay="1408"/>
                                  </p:stCondLst>
                                  <p:childTnLst>
                                    <p:set>
                                      <p:cBhvr>
                                        <p:cTn id="94" dur="1" fill="hold">
                                          <p:stCondLst>
                                            <p:cond delay="0"/>
                                          </p:stCondLst>
                                        </p:cTn>
                                        <p:tgtEl>
                                          <p:spTgt spid="23"/>
                                        </p:tgtEl>
                                        <p:attrNameLst>
                                          <p:attrName>style.visibility</p:attrName>
                                        </p:attrNameLst>
                                      </p:cBhvr>
                                      <p:to>
                                        <p:strVal val="visible"/>
                                      </p:to>
                                    </p:set>
                                    <p:animEffect transition="in" filter="fade">
                                      <p:cBhvr>
                                        <p:cTn id="95" dur="380"/>
                                        <p:tgtEl>
                                          <p:spTgt spid="23"/>
                                        </p:tgtEl>
                                      </p:cBhvr>
                                    </p:animEffect>
                                    <p:anim calcmode="lin" valueType="num">
                                      <p:cBhvr additive="base">
                                        <p:cTn id="96" dur="380" fill="hold"/>
                                        <p:tgtEl>
                                          <p:spTgt spid="23"/>
                                        </p:tgtEl>
                                        <p:attrNameLst>
                                          <p:attrName>ppt_y</p:attrName>
                                        </p:attrNameLst>
                                      </p:cBhvr>
                                      <p:tavLst>
                                        <p:tav tm="0">
                                          <p:val>
                                            <p:strVal val="#ppt_y+0.03"/>
                                          </p:val>
                                        </p:tav>
                                        <p:tav tm="100000">
                                          <p:val>
                                            <p:strVal val="#ppt_y"/>
                                          </p:val>
                                        </p:tav>
                                      </p:tavLst>
                                    </p:anim>
                                  </p:childTnLst>
                                </p:cTn>
                              </p:par>
                              <p:par>
                                <p:cTn id="97" presetID="42" presetClass="entr" presetSubtype="0" fill="hold" grpId="0" nodeType="afterEffect">
                                  <p:stCondLst>
                                    <p:cond delay="1472"/>
                                  </p:stCondLst>
                                  <p:childTnLst>
                                    <p:set>
                                      <p:cBhvr>
                                        <p:cTn id="98" dur="1" fill="hold">
                                          <p:stCondLst>
                                            <p:cond delay="0"/>
                                          </p:stCondLst>
                                        </p:cTn>
                                        <p:tgtEl>
                                          <p:spTgt spid="24"/>
                                        </p:tgtEl>
                                        <p:attrNameLst>
                                          <p:attrName>style.visibility</p:attrName>
                                        </p:attrNameLst>
                                      </p:cBhvr>
                                      <p:to>
                                        <p:strVal val="visible"/>
                                      </p:to>
                                    </p:set>
                                    <p:animEffect transition="in" filter="fade">
                                      <p:cBhvr>
                                        <p:cTn id="99" dur="380"/>
                                        <p:tgtEl>
                                          <p:spTgt spid="24"/>
                                        </p:tgtEl>
                                      </p:cBhvr>
                                    </p:animEffect>
                                    <p:anim calcmode="lin" valueType="num">
                                      <p:cBhvr additive="base">
                                        <p:cTn id="100" dur="380" fill="hold"/>
                                        <p:tgtEl>
                                          <p:spTgt spid="24"/>
                                        </p:tgtEl>
                                        <p:attrNameLst>
                                          <p:attrName>ppt_y</p:attrName>
                                        </p:attrNameLst>
                                      </p:cBhvr>
                                      <p:tavLst>
                                        <p:tav tm="0">
                                          <p:val>
                                            <p:strVal val="#ppt_y+0.03"/>
                                          </p:val>
                                        </p:tav>
                                        <p:tav tm="100000">
                                          <p:val>
                                            <p:strVal val="#ppt_y"/>
                                          </p:val>
                                        </p:tav>
                                      </p:tavLst>
                                    </p:anim>
                                  </p:childTnLst>
                                </p:cTn>
                              </p:par>
                              <p:par>
                                <p:cTn id="101" presetID="42" presetClass="entr" presetSubtype="0" fill="hold" grpId="0" nodeType="afterEffect">
                                  <p:stCondLst>
                                    <p:cond delay="1536"/>
                                  </p:stCondLst>
                                  <p:childTnLst>
                                    <p:set>
                                      <p:cBhvr>
                                        <p:cTn id="102" dur="1" fill="hold">
                                          <p:stCondLst>
                                            <p:cond delay="0"/>
                                          </p:stCondLst>
                                        </p:cTn>
                                        <p:tgtEl>
                                          <p:spTgt spid="25"/>
                                        </p:tgtEl>
                                        <p:attrNameLst>
                                          <p:attrName>style.visibility</p:attrName>
                                        </p:attrNameLst>
                                      </p:cBhvr>
                                      <p:to>
                                        <p:strVal val="visible"/>
                                      </p:to>
                                    </p:set>
                                    <p:animEffect transition="in" filter="fade">
                                      <p:cBhvr>
                                        <p:cTn id="103" dur="380"/>
                                        <p:tgtEl>
                                          <p:spTgt spid="25"/>
                                        </p:tgtEl>
                                      </p:cBhvr>
                                    </p:animEffect>
                                    <p:anim calcmode="lin" valueType="num">
                                      <p:cBhvr additive="base">
                                        <p:cTn id="104" dur="380" fill="hold"/>
                                        <p:tgtEl>
                                          <p:spTgt spid="25"/>
                                        </p:tgtEl>
                                        <p:attrNameLst>
                                          <p:attrName>ppt_y</p:attrName>
                                        </p:attrNameLst>
                                      </p:cBhvr>
                                      <p:tavLst>
                                        <p:tav tm="0">
                                          <p:val>
                                            <p:strVal val="#ppt_y+0.03"/>
                                          </p:val>
                                        </p:tav>
                                        <p:tav tm="100000">
                                          <p:val>
                                            <p:strVal val="#ppt_y"/>
                                          </p:val>
                                        </p:tav>
                                      </p:tavLst>
                                    </p:anim>
                                  </p:childTnLst>
                                </p:cTn>
                              </p:par>
                              <p:par>
                                <p:cTn id="105" presetID="42" presetClass="entr" presetSubtype="0" fill="hold" grpId="0" nodeType="afterEffect">
                                  <p:stCondLst>
                                    <p:cond delay="1600"/>
                                  </p:stCondLst>
                                  <p:childTnLst>
                                    <p:set>
                                      <p:cBhvr>
                                        <p:cTn id="106" dur="1" fill="hold">
                                          <p:stCondLst>
                                            <p:cond delay="0"/>
                                          </p:stCondLst>
                                        </p:cTn>
                                        <p:tgtEl>
                                          <p:spTgt spid="26"/>
                                        </p:tgtEl>
                                        <p:attrNameLst>
                                          <p:attrName>style.visibility</p:attrName>
                                        </p:attrNameLst>
                                      </p:cBhvr>
                                      <p:to>
                                        <p:strVal val="visible"/>
                                      </p:to>
                                    </p:set>
                                    <p:animEffect transition="in" filter="fade">
                                      <p:cBhvr>
                                        <p:cTn id="107" dur="380"/>
                                        <p:tgtEl>
                                          <p:spTgt spid="26"/>
                                        </p:tgtEl>
                                      </p:cBhvr>
                                    </p:animEffect>
                                    <p:anim calcmode="lin" valueType="num">
                                      <p:cBhvr additive="base">
                                        <p:cTn id="108" dur="380" fill="hold"/>
                                        <p:tgtEl>
                                          <p:spTgt spid="26"/>
                                        </p:tgtEl>
                                        <p:attrNameLst>
                                          <p:attrName>ppt_y</p:attrName>
                                        </p:attrNameLst>
                                      </p:cBhvr>
                                      <p:tavLst>
                                        <p:tav tm="0">
                                          <p:val>
                                            <p:strVal val="#ppt_y+0.03"/>
                                          </p:val>
                                        </p:tav>
                                        <p:tav tm="100000">
                                          <p:val>
                                            <p:strVal val="#ppt_y"/>
                                          </p:val>
                                        </p:tav>
                                      </p:tavLst>
                                    </p:anim>
                                  </p:childTnLst>
                                </p:cTn>
                              </p:par>
                              <p:par>
                                <p:cTn id="109" presetID="42" presetClass="entr" presetSubtype="0" fill="hold" grpId="0" nodeType="afterEffect">
                                  <p:stCondLst>
                                    <p:cond delay="1664"/>
                                  </p:stCondLst>
                                  <p:childTnLst>
                                    <p:set>
                                      <p:cBhvr>
                                        <p:cTn id="110" dur="1" fill="hold">
                                          <p:stCondLst>
                                            <p:cond delay="0"/>
                                          </p:stCondLst>
                                        </p:cTn>
                                        <p:tgtEl>
                                          <p:spTgt spid="27"/>
                                        </p:tgtEl>
                                        <p:attrNameLst>
                                          <p:attrName>style.visibility</p:attrName>
                                        </p:attrNameLst>
                                      </p:cBhvr>
                                      <p:to>
                                        <p:strVal val="visible"/>
                                      </p:to>
                                    </p:set>
                                    <p:animEffect transition="in" filter="fade">
                                      <p:cBhvr>
                                        <p:cTn id="111" dur="380"/>
                                        <p:tgtEl>
                                          <p:spTgt spid="27"/>
                                        </p:tgtEl>
                                      </p:cBhvr>
                                    </p:animEffect>
                                    <p:anim calcmode="lin" valueType="num">
                                      <p:cBhvr additive="base">
                                        <p:cTn id="112" dur="380" fill="hold"/>
                                        <p:tgtEl>
                                          <p:spTgt spid="27"/>
                                        </p:tgtEl>
                                        <p:attrNameLst>
                                          <p:attrName>ppt_y</p:attrName>
                                        </p:attrNameLst>
                                      </p:cBhvr>
                                      <p:tavLst>
                                        <p:tav tm="0">
                                          <p:val>
                                            <p:strVal val="#ppt_y+0.03"/>
                                          </p:val>
                                        </p:tav>
                                        <p:tav tm="100000">
                                          <p:val>
                                            <p:strVal val="#ppt_y"/>
                                          </p:val>
                                        </p:tav>
                                      </p:tavLst>
                                    </p:anim>
                                  </p:childTnLst>
                                </p:cTn>
                              </p:par>
                              <p:par>
                                <p:cTn id="113" presetID="42" presetClass="entr" presetSubtype="0" fill="hold" grpId="0" nodeType="afterEffect">
                                  <p:stCondLst>
                                    <p:cond delay="1728"/>
                                  </p:stCondLst>
                                  <p:childTnLst>
                                    <p:set>
                                      <p:cBhvr>
                                        <p:cTn id="114" dur="1" fill="hold">
                                          <p:stCondLst>
                                            <p:cond delay="0"/>
                                          </p:stCondLst>
                                        </p:cTn>
                                        <p:tgtEl>
                                          <p:spTgt spid="28"/>
                                        </p:tgtEl>
                                        <p:attrNameLst>
                                          <p:attrName>style.visibility</p:attrName>
                                        </p:attrNameLst>
                                      </p:cBhvr>
                                      <p:to>
                                        <p:strVal val="visible"/>
                                      </p:to>
                                    </p:set>
                                    <p:animEffect transition="in" filter="fade">
                                      <p:cBhvr>
                                        <p:cTn id="115" dur="380"/>
                                        <p:tgtEl>
                                          <p:spTgt spid="28"/>
                                        </p:tgtEl>
                                      </p:cBhvr>
                                    </p:animEffect>
                                    <p:anim calcmode="lin" valueType="num">
                                      <p:cBhvr additive="base">
                                        <p:cTn id="116" dur="380" fill="hold"/>
                                        <p:tgtEl>
                                          <p:spTgt spid="28"/>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 grpId="0"/>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37744"/>
          </a:xfrm>
          <a:prstGeom prst="rect">
            <a:avLst/>
          </a:prstGeom>
          <a:noFill/>
          <a:ln/>
        </p:spPr>
        <p:txBody>
          <a:bodyPr wrap="square" lIns="0" tIns="0" rIns="0" bIns="0" rtlCol="0" anchor="ctr"/>
          <a:lstStyle/>
          <a:p>
            <a:pPr indent="0" marL="0">
              <a:buNone/>
            </a:pPr>
            <a:r>
              <a:rPr lang="en-US" sz="1050" b="1" spc="200" kern="0" dirty="0">
                <a:solidFill>
                  <a:srgbClr val="00C39A"/>
                </a:solidFill>
                <a:latin typeface="Calibri" pitchFamily="34" charset="0"/>
                <a:ea typeface="Calibri" pitchFamily="34" charset="-122"/>
                <a:cs typeface="Calibri" pitchFamily="34" charset="-120"/>
              </a:rPr>
              <a:t>FEATURES · 3 OF 3</a:t>
            </a:r>
            <a:endParaRPr lang="en-US" sz="1050" dirty="0"/>
          </a:p>
        </p:txBody>
      </p:sp>
      <p:sp>
        <p:nvSpPr>
          <p:cNvPr id="3" name="Text 1"/>
          <p:cNvSpPr/>
          <p:nvPr/>
        </p:nvSpPr>
        <p:spPr>
          <a:xfrm>
            <a:off x="548640" y="658368"/>
            <a:ext cx="11064240" cy="658368"/>
          </a:xfrm>
          <a:prstGeom prst="rect">
            <a:avLst/>
          </a:prstGeom>
          <a:noFill/>
          <a:ln/>
        </p:spPr>
        <p:txBody>
          <a:bodyPr wrap="square" lIns="0" tIns="0" rIns="0" bIns="0" rtlCol="0" anchor="t"/>
          <a:lstStyle/>
          <a:p>
            <a:pPr indent="0" marL="0">
              <a:buNone/>
            </a:pPr>
            <a:r>
              <a:rPr lang="en-US" sz="3400" b="1" dirty="0">
                <a:solidFill>
                  <a:srgbClr val="141B3D"/>
                </a:solidFill>
                <a:latin typeface="Cambria" pitchFamily="34" charset="0"/>
                <a:ea typeface="Cambria" pitchFamily="34" charset="-122"/>
                <a:cs typeface="Cambria" pitchFamily="34" charset="-120"/>
              </a:rPr>
              <a:t>Student</a:t>
            </a:r>
            <a:endParaRPr lang="en-US" sz="3400" dirty="0"/>
          </a:p>
        </p:txBody>
      </p:sp>
      <p:sp>
        <p:nvSpPr>
          <p:cNvPr id="4" name="Text 2"/>
          <p:cNvSpPr/>
          <p:nvPr/>
        </p:nvSpPr>
        <p:spPr>
          <a:xfrm>
            <a:off x="548640" y="1371600"/>
            <a:ext cx="7863840" cy="329184"/>
          </a:xfrm>
          <a:prstGeom prst="rect">
            <a:avLst/>
          </a:prstGeom>
          <a:noFill/>
          <a:ln/>
        </p:spPr>
        <p:txBody>
          <a:bodyPr wrap="square" lIns="0" tIns="0" rIns="0" bIns="0" rtlCol="0" anchor="ctr"/>
          <a:lstStyle/>
          <a:p>
            <a:pPr indent="0" marL="0">
              <a:buNone/>
            </a:pPr>
            <a:r>
              <a:rPr lang="en-US" sz="1400" dirty="0">
                <a:solidFill>
                  <a:srgbClr val="646E8C"/>
                </a:solidFill>
                <a:latin typeface="Calibri" pitchFamily="34" charset="0"/>
                <a:ea typeface="Calibri" pitchFamily="34" charset="-122"/>
                <a:cs typeface="Calibri" pitchFamily="34" charset="-120"/>
              </a:rPr>
              <a:t>Registers, codes, submits and sees results — without leaving the browser.</a:t>
            </a:r>
            <a:endParaRPr lang="en-US" sz="1400" dirty="0"/>
          </a:p>
        </p:txBody>
      </p:sp>
      <p:sp>
        <p:nvSpPr>
          <p:cNvPr id="5" name="Shape 3"/>
          <p:cNvSpPr/>
          <p:nvPr/>
        </p:nvSpPr>
        <p:spPr>
          <a:xfrm>
            <a:off x="548640" y="1938528"/>
            <a:ext cx="8138160" cy="932688"/>
          </a:xfrm>
          <a:prstGeom prst="roundRect">
            <a:avLst>
              <a:gd name="adj" fmla="val 8824"/>
            </a:avLst>
          </a:prstGeom>
          <a:solidFill>
            <a:srgbClr val="FFFFFF"/>
          </a:solidFill>
          <a:ln w="9525">
            <a:solidFill>
              <a:srgbClr val="FFFFFF"/>
            </a:solidFill>
            <a:prstDash val="solid"/>
          </a:ln>
          <a:effectLst>
            <a:outerShdw sx="100000" sy="100000" kx="0" ky="0" algn="bl" rotWithShape="0" blurRad="177800" dist="38100" dir="5400000">
              <a:srgbClr val="1E2761">
                <a:alpha val="10000"/>
              </a:srgbClr>
            </a:outerShdw>
          </a:effectLst>
        </p:spPr>
      </p:sp>
      <p:sp>
        <p:nvSpPr>
          <p:cNvPr id="6" name="Shape 4"/>
          <p:cNvSpPr/>
          <p:nvPr/>
        </p:nvSpPr>
        <p:spPr>
          <a:xfrm>
            <a:off x="768096" y="2130552"/>
            <a:ext cx="548640" cy="548640"/>
          </a:xfrm>
          <a:prstGeom prst="ellipse">
            <a:avLst/>
          </a:prstGeom>
          <a:solidFill>
            <a:srgbClr val="F4F6FC"/>
          </a:solidFill>
          <a:ln w="12700">
            <a:solidFill>
              <a:srgbClr val="F4F6FC"/>
            </a:solidFill>
            <a:prstDash val="solid"/>
          </a:ln>
        </p:spPr>
      </p:sp>
      <p:pic>
        <p:nvPicPr>
          <p:cNvPr id="7" name="Image 0" descr="preencoded.png">    </p:cNvPr>
          <p:cNvPicPr>
            <a:picLocks noChangeAspect="1"/>
          </p:cNvPicPr>
          <p:nvPr/>
        </p:nvPicPr>
        <p:blipFill>
          <a:blip r:embed="rId1"/>
          <a:stretch>
            <a:fillRect/>
          </a:stretch>
        </p:blipFill>
        <p:spPr>
          <a:xfrm>
            <a:off x="927202" y="2289658"/>
            <a:ext cx="230429" cy="230429"/>
          </a:xfrm>
          <a:prstGeom prst="rect">
            <a:avLst/>
          </a:prstGeom>
        </p:spPr>
      </p:pic>
      <p:sp>
        <p:nvSpPr>
          <p:cNvPr id="8" name="Text 5"/>
          <p:cNvSpPr/>
          <p:nvPr/>
        </p:nvSpPr>
        <p:spPr>
          <a:xfrm>
            <a:off x="1463040" y="2066544"/>
            <a:ext cx="7040880" cy="310896"/>
          </a:xfrm>
          <a:prstGeom prst="rect">
            <a:avLst/>
          </a:prstGeom>
          <a:noFill/>
          <a:ln/>
        </p:spPr>
        <p:txBody>
          <a:bodyPr wrap="square" lIns="0" tIns="0" rIns="0" bIns="0" rtlCol="0" anchor="ctr"/>
          <a:lstStyle/>
          <a:p>
            <a:pPr indent="0" marL="0">
              <a:buNone/>
            </a:pPr>
            <a:r>
              <a:rPr lang="en-US" sz="1450" b="1" dirty="0">
                <a:solidFill>
                  <a:srgbClr val="141B3D"/>
                </a:solidFill>
                <a:latin typeface="Calibri" pitchFamily="34" charset="0"/>
                <a:ea typeface="Calibri" pitchFamily="34" charset="-122"/>
                <a:cs typeface="Calibri" pitchFamily="34" charset="-120"/>
              </a:rPr>
              <a:t>Controlled self-registration</a:t>
            </a:r>
            <a:endParaRPr lang="en-US" sz="1450" dirty="0"/>
          </a:p>
        </p:txBody>
      </p:sp>
      <p:sp>
        <p:nvSpPr>
          <p:cNvPr id="9" name="Text 6"/>
          <p:cNvSpPr/>
          <p:nvPr/>
        </p:nvSpPr>
        <p:spPr>
          <a:xfrm>
            <a:off x="1463040" y="2395728"/>
            <a:ext cx="7040880" cy="384048"/>
          </a:xfrm>
          <a:prstGeom prst="rect">
            <a:avLst/>
          </a:prstGeom>
          <a:noFill/>
          <a:ln/>
        </p:spPr>
        <p:txBody>
          <a:bodyPr wrap="square" lIns="0" tIns="0" rIns="0" bIns="0" rtlCol="0" anchor="ctr"/>
          <a:lstStyle/>
          <a:p>
            <a:pPr indent="0" marL="0">
              <a:lnSpc>
                <a:spcPts val="1500"/>
              </a:lnSpc>
              <a:buNone/>
            </a:pPr>
            <a:r>
              <a:rPr lang="en-US" sz="1150" dirty="0">
                <a:solidFill>
                  <a:srgbClr val="646E8C"/>
                </a:solidFill>
                <a:latin typeface="Calibri" pitchFamily="34" charset="0"/>
                <a:ea typeface="Calibri" pitchFamily="34" charset="-122"/>
                <a:cs typeface="Calibri" pitchFamily="34" charset="-120"/>
              </a:rPr>
              <a:t>Validated against a 12-digit roll number inside an Admin-authorised range.</a:t>
            </a:r>
            <a:endParaRPr lang="en-US" sz="1150" dirty="0"/>
          </a:p>
        </p:txBody>
      </p:sp>
      <p:sp>
        <p:nvSpPr>
          <p:cNvPr id="10" name="Shape 7"/>
          <p:cNvSpPr/>
          <p:nvPr/>
        </p:nvSpPr>
        <p:spPr>
          <a:xfrm>
            <a:off x="548640" y="2999232"/>
            <a:ext cx="8138160" cy="932688"/>
          </a:xfrm>
          <a:prstGeom prst="roundRect">
            <a:avLst>
              <a:gd name="adj" fmla="val 8824"/>
            </a:avLst>
          </a:prstGeom>
          <a:solidFill>
            <a:srgbClr val="FFFFFF"/>
          </a:solidFill>
          <a:ln w="9525">
            <a:solidFill>
              <a:srgbClr val="FFFFFF"/>
            </a:solidFill>
            <a:prstDash val="solid"/>
          </a:ln>
          <a:effectLst>
            <a:outerShdw sx="100000" sy="100000" kx="0" ky="0" algn="bl" rotWithShape="0" blurRad="177800" dist="38100" dir="5400000">
              <a:srgbClr val="1E2761">
                <a:alpha val="10000"/>
              </a:srgbClr>
            </a:outerShdw>
          </a:effectLst>
        </p:spPr>
      </p:sp>
      <p:sp>
        <p:nvSpPr>
          <p:cNvPr id="11" name="Shape 8"/>
          <p:cNvSpPr/>
          <p:nvPr/>
        </p:nvSpPr>
        <p:spPr>
          <a:xfrm>
            <a:off x="768096" y="3191256"/>
            <a:ext cx="548640" cy="548640"/>
          </a:xfrm>
          <a:prstGeom prst="ellipse">
            <a:avLst/>
          </a:prstGeom>
          <a:solidFill>
            <a:srgbClr val="F4F6FC"/>
          </a:solidFill>
          <a:ln w="12700">
            <a:solidFill>
              <a:srgbClr val="F4F6FC"/>
            </a:solidFill>
            <a:prstDash val="solid"/>
          </a:ln>
        </p:spPr>
      </p:sp>
      <p:pic>
        <p:nvPicPr>
          <p:cNvPr id="12" name="Image 1" descr="preencoded.png">    </p:cNvPr>
          <p:cNvPicPr>
            <a:picLocks noChangeAspect="1"/>
          </p:cNvPicPr>
          <p:nvPr/>
        </p:nvPicPr>
        <p:blipFill>
          <a:blip r:embed="rId2"/>
          <a:stretch>
            <a:fillRect/>
          </a:stretch>
        </p:blipFill>
        <p:spPr>
          <a:xfrm>
            <a:off x="927202" y="3350362"/>
            <a:ext cx="230429" cy="230429"/>
          </a:xfrm>
          <a:prstGeom prst="rect">
            <a:avLst/>
          </a:prstGeom>
        </p:spPr>
      </p:pic>
      <p:sp>
        <p:nvSpPr>
          <p:cNvPr id="13" name="Text 9"/>
          <p:cNvSpPr/>
          <p:nvPr/>
        </p:nvSpPr>
        <p:spPr>
          <a:xfrm>
            <a:off x="1463040" y="3127248"/>
            <a:ext cx="7040880" cy="310896"/>
          </a:xfrm>
          <a:prstGeom prst="rect">
            <a:avLst/>
          </a:prstGeom>
          <a:noFill/>
          <a:ln/>
        </p:spPr>
        <p:txBody>
          <a:bodyPr wrap="square" lIns="0" tIns="0" rIns="0" bIns="0" rtlCol="0" anchor="ctr"/>
          <a:lstStyle/>
          <a:p>
            <a:pPr indent="0" marL="0">
              <a:buNone/>
            </a:pPr>
            <a:r>
              <a:rPr lang="en-US" sz="1450" b="1" dirty="0">
                <a:solidFill>
                  <a:srgbClr val="141B3D"/>
                </a:solidFill>
                <a:latin typeface="Calibri" pitchFamily="34" charset="0"/>
                <a:ea typeface="Calibri" pitchFamily="34" charset="-122"/>
                <a:cs typeface="Calibri" pitchFamily="34" charset="-120"/>
              </a:rPr>
              <a:t>Monaco online IDE</a:t>
            </a:r>
            <a:endParaRPr lang="en-US" sz="1450" dirty="0"/>
          </a:p>
        </p:txBody>
      </p:sp>
      <p:sp>
        <p:nvSpPr>
          <p:cNvPr id="14" name="Text 10"/>
          <p:cNvSpPr/>
          <p:nvPr/>
        </p:nvSpPr>
        <p:spPr>
          <a:xfrm>
            <a:off x="1463040" y="3456432"/>
            <a:ext cx="7040880" cy="384048"/>
          </a:xfrm>
          <a:prstGeom prst="rect">
            <a:avLst/>
          </a:prstGeom>
          <a:noFill/>
          <a:ln/>
        </p:spPr>
        <p:txBody>
          <a:bodyPr wrap="square" lIns="0" tIns="0" rIns="0" bIns="0" rtlCol="0" anchor="ctr"/>
          <a:lstStyle/>
          <a:p>
            <a:pPr indent="0" marL="0">
              <a:lnSpc>
                <a:spcPts val="1500"/>
              </a:lnSpc>
              <a:buNone/>
            </a:pPr>
            <a:r>
              <a:rPr lang="en-US" sz="1150" dirty="0">
                <a:solidFill>
                  <a:srgbClr val="646E8C"/>
                </a:solidFill>
                <a:latin typeface="Calibri" pitchFamily="34" charset="0"/>
                <a:ea typeface="Calibri" pitchFamily="34" charset="-122"/>
                <a:cs typeface="Calibri" pitchFamily="34" charset="-120"/>
              </a:rPr>
              <a:t>Tabbed, multi-file editor with syntax highlighting for C, C++, Java, Python and JavaScript.</a:t>
            </a:r>
            <a:endParaRPr lang="en-US" sz="1150" dirty="0"/>
          </a:p>
        </p:txBody>
      </p:sp>
      <p:sp>
        <p:nvSpPr>
          <p:cNvPr id="15" name="Shape 11"/>
          <p:cNvSpPr/>
          <p:nvPr/>
        </p:nvSpPr>
        <p:spPr>
          <a:xfrm>
            <a:off x="548640" y="4059936"/>
            <a:ext cx="8138160" cy="932688"/>
          </a:xfrm>
          <a:prstGeom prst="roundRect">
            <a:avLst>
              <a:gd name="adj" fmla="val 8824"/>
            </a:avLst>
          </a:prstGeom>
          <a:solidFill>
            <a:srgbClr val="FFFFFF"/>
          </a:solidFill>
          <a:ln w="9525">
            <a:solidFill>
              <a:srgbClr val="FFFFFF"/>
            </a:solidFill>
            <a:prstDash val="solid"/>
          </a:ln>
          <a:effectLst>
            <a:outerShdw sx="100000" sy="100000" kx="0" ky="0" algn="bl" rotWithShape="0" blurRad="177800" dist="38100" dir="5400000">
              <a:srgbClr val="1E2761">
                <a:alpha val="10000"/>
              </a:srgbClr>
            </a:outerShdw>
          </a:effectLst>
        </p:spPr>
      </p:sp>
      <p:sp>
        <p:nvSpPr>
          <p:cNvPr id="16" name="Shape 12"/>
          <p:cNvSpPr/>
          <p:nvPr/>
        </p:nvSpPr>
        <p:spPr>
          <a:xfrm>
            <a:off x="768096" y="4251960"/>
            <a:ext cx="548640" cy="548640"/>
          </a:xfrm>
          <a:prstGeom prst="ellipse">
            <a:avLst/>
          </a:prstGeom>
          <a:solidFill>
            <a:srgbClr val="F4F6FC"/>
          </a:solidFill>
          <a:ln w="12700">
            <a:solidFill>
              <a:srgbClr val="F4F6FC"/>
            </a:solidFill>
            <a:prstDash val="solid"/>
          </a:ln>
        </p:spPr>
      </p:sp>
      <p:pic>
        <p:nvPicPr>
          <p:cNvPr id="17" name="Image 2" descr="preencoded.png">    </p:cNvPr>
          <p:cNvPicPr>
            <a:picLocks noChangeAspect="1"/>
          </p:cNvPicPr>
          <p:nvPr/>
        </p:nvPicPr>
        <p:blipFill>
          <a:blip r:embed="rId3"/>
          <a:stretch>
            <a:fillRect/>
          </a:stretch>
        </p:blipFill>
        <p:spPr>
          <a:xfrm>
            <a:off x="927202" y="4411066"/>
            <a:ext cx="230429" cy="230429"/>
          </a:xfrm>
          <a:prstGeom prst="rect">
            <a:avLst/>
          </a:prstGeom>
        </p:spPr>
      </p:pic>
      <p:sp>
        <p:nvSpPr>
          <p:cNvPr id="18" name="Text 13"/>
          <p:cNvSpPr/>
          <p:nvPr/>
        </p:nvSpPr>
        <p:spPr>
          <a:xfrm>
            <a:off x="1463040" y="4187952"/>
            <a:ext cx="7040880" cy="310896"/>
          </a:xfrm>
          <a:prstGeom prst="rect">
            <a:avLst/>
          </a:prstGeom>
          <a:noFill/>
          <a:ln/>
        </p:spPr>
        <p:txBody>
          <a:bodyPr wrap="square" lIns="0" tIns="0" rIns="0" bIns="0" rtlCol="0" anchor="ctr"/>
          <a:lstStyle/>
          <a:p>
            <a:pPr indent="0" marL="0">
              <a:buNone/>
            </a:pPr>
            <a:r>
              <a:rPr lang="en-US" sz="1450" b="1" dirty="0">
                <a:solidFill>
                  <a:srgbClr val="141B3D"/>
                </a:solidFill>
                <a:latin typeface="Calibri" pitchFamily="34" charset="0"/>
                <a:ea typeface="Calibri" pitchFamily="34" charset="-122"/>
                <a:cs typeface="Calibri" pitchFamily="34" charset="-120"/>
              </a:rPr>
              <a:t>Anti-cheat protection</a:t>
            </a:r>
            <a:endParaRPr lang="en-US" sz="1450" dirty="0"/>
          </a:p>
        </p:txBody>
      </p:sp>
      <p:sp>
        <p:nvSpPr>
          <p:cNvPr id="19" name="Text 14"/>
          <p:cNvSpPr/>
          <p:nvPr/>
        </p:nvSpPr>
        <p:spPr>
          <a:xfrm>
            <a:off x="1463040" y="4517136"/>
            <a:ext cx="7040880" cy="384048"/>
          </a:xfrm>
          <a:prstGeom prst="rect">
            <a:avLst/>
          </a:prstGeom>
          <a:noFill/>
          <a:ln/>
        </p:spPr>
        <p:txBody>
          <a:bodyPr wrap="square" lIns="0" tIns="0" rIns="0" bIns="0" rtlCol="0" anchor="ctr"/>
          <a:lstStyle/>
          <a:p>
            <a:pPr indent="0" marL="0">
              <a:lnSpc>
                <a:spcPts val="1500"/>
              </a:lnSpc>
              <a:buNone/>
            </a:pPr>
            <a:r>
              <a:rPr lang="en-US" sz="1150" dirty="0">
                <a:solidFill>
                  <a:srgbClr val="646E8C"/>
                </a:solidFill>
                <a:latin typeface="Calibri" pitchFamily="34" charset="0"/>
                <a:ea typeface="Calibri" pitchFamily="34" charset="-122"/>
                <a:cs typeface="Calibri" pitchFamily="34" charset="-120"/>
              </a:rPr>
              <a:t>Copy, paste, cut, right-click, shortcuts and drag-and-drop are blocked; fullscreen exits are logged.</a:t>
            </a:r>
            <a:endParaRPr lang="en-US" sz="1150" dirty="0"/>
          </a:p>
        </p:txBody>
      </p:sp>
      <p:sp>
        <p:nvSpPr>
          <p:cNvPr id="20" name="Shape 15"/>
          <p:cNvSpPr/>
          <p:nvPr/>
        </p:nvSpPr>
        <p:spPr>
          <a:xfrm>
            <a:off x="548640" y="5120640"/>
            <a:ext cx="8138160" cy="932688"/>
          </a:xfrm>
          <a:prstGeom prst="roundRect">
            <a:avLst>
              <a:gd name="adj" fmla="val 8824"/>
            </a:avLst>
          </a:prstGeom>
          <a:solidFill>
            <a:srgbClr val="FFFFFF"/>
          </a:solidFill>
          <a:ln w="9525">
            <a:solidFill>
              <a:srgbClr val="FFFFFF"/>
            </a:solidFill>
            <a:prstDash val="solid"/>
          </a:ln>
          <a:effectLst>
            <a:outerShdw sx="100000" sy="100000" kx="0" ky="0" algn="bl" rotWithShape="0" blurRad="177800" dist="38100" dir="5400000">
              <a:srgbClr val="1E2761">
                <a:alpha val="10000"/>
              </a:srgbClr>
            </a:outerShdw>
          </a:effectLst>
        </p:spPr>
      </p:sp>
      <p:sp>
        <p:nvSpPr>
          <p:cNvPr id="21" name="Shape 16"/>
          <p:cNvSpPr/>
          <p:nvPr/>
        </p:nvSpPr>
        <p:spPr>
          <a:xfrm>
            <a:off x="768096" y="5312664"/>
            <a:ext cx="548640" cy="548640"/>
          </a:xfrm>
          <a:prstGeom prst="ellipse">
            <a:avLst/>
          </a:prstGeom>
          <a:solidFill>
            <a:srgbClr val="F4F6FC"/>
          </a:solidFill>
          <a:ln w="12700">
            <a:solidFill>
              <a:srgbClr val="F4F6FC"/>
            </a:solidFill>
            <a:prstDash val="solid"/>
          </a:ln>
        </p:spPr>
      </p:sp>
      <p:pic>
        <p:nvPicPr>
          <p:cNvPr id="22" name="Image 3" descr="preencoded.png">    </p:cNvPr>
          <p:cNvPicPr>
            <a:picLocks noChangeAspect="1"/>
          </p:cNvPicPr>
          <p:nvPr/>
        </p:nvPicPr>
        <p:blipFill>
          <a:blip r:embed="rId4"/>
          <a:stretch>
            <a:fillRect/>
          </a:stretch>
        </p:blipFill>
        <p:spPr>
          <a:xfrm>
            <a:off x="927202" y="5471770"/>
            <a:ext cx="230429" cy="230429"/>
          </a:xfrm>
          <a:prstGeom prst="rect">
            <a:avLst/>
          </a:prstGeom>
        </p:spPr>
      </p:pic>
      <p:sp>
        <p:nvSpPr>
          <p:cNvPr id="23" name="Text 17"/>
          <p:cNvSpPr/>
          <p:nvPr/>
        </p:nvSpPr>
        <p:spPr>
          <a:xfrm>
            <a:off x="1463040" y="5248656"/>
            <a:ext cx="7040880" cy="310896"/>
          </a:xfrm>
          <a:prstGeom prst="rect">
            <a:avLst/>
          </a:prstGeom>
          <a:noFill/>
          <a:ln/>
        </p:spPr>
        <p:txBody>
          <a:bodyPr wrap="square" lIns="0" tIns="0" rIns="0" bIns="0" rtlCol="0" anchor="ctr"/>
          <a:lstStyle/>
          <a:p>
            <a:pPr indent="0" marL="0">
              <a:buNone/>
            </a:pPr>
            <a:r>
              <a:rPr lang="en-US" sz="1450" b="1" dirty="0">
                <a:solidFill>
                  <a:srgbClr val="141B3D"/>
                </a:solidFill>
                <a:latin typeface="Calibri" pitchFamily="34" charset="0"/>
                <a:ea typeface="Calibri" pitchFamily="34" charset="-122"/>
                <a:cs typeface="Calibri" pitchFamily="34" charset="-120"/>
              </a:rPr>
              <a:t>Single-submission locking &amp; live grades</a:t>
            </a:r>
            <a:endParaRPr lang="en-US" sz="1450" dirty="0"/>
          </a:p>
        </p:txBody>
      </p:sp>
      <p:sp>
        <p:nvSpPr>
          <p:cNvPr id="24" name="Text 18"/>
          <p:cNvSpPr/>
          <p:nvPr/>
        </p:nvSpPr>
        <p:spPr>
          <a:xfrm>
            <a:off x="1463040" y="5577840"/>
            <a:ext cx="7040880" cy="384048"/>
          </a:xfrm>
          <a:prstGeom prst="rect">
            <a:avLst/>
          </a:prstGeom>
          <a:noFill/>
          <a:ln/>
        </p:spPr>
        <p:txBody>
          <a:bodyPr wrap="square" lIns="0" tIns="0" rIns="0" bIns="0" rtlCol="0" anchor="ctr"/>
          <a:lstStyle/>
          <a:p>
            <a:pPr indent="0" marL="0">
              <a:lnSpc>
                <a:spcPts val="1500"/>
              </a:lnSpc>
              <a:buNone/>
            </a:pPr>
            <a:r>
              <a:rPr lang="en-US" sz="1150" dirty="0">
                <a:solidFill>
                  <a:srgbClr val="646E8C"/>
                </a:solidFill>
                <a:latin typeface="Calibri" pitchFamily="34" charset="0"/>
                <a:ea typeface="Calibri" pitchFamily="34" charset="-122"/>
                <a:cs typeface="Calibri" pitchFamily="34" charset="-120"/>
              </a:rPr>
              <a:t>The workspace turns read-only on submit; published marks and remarks appear immediately.</a:t>
            </a:r>
            <a:endParaRPr lang="en-US" sz="1150" dirty="0"/>
          </a:p>
        </p:txBody>
      </p:sp>
      <p:sp>
        <p:nvSpPr>
          <p:cNvPr id="25" name="Shape 19"/>
          <p:cNvSpPr/>
          <p:nvPr/>
        </p:nvSpPr>
        <p:spPr>
          <a:xfrm>
            <a:off x="8906256" y="1938528"/>
            <a:ext cx="2743200" cy="4114800"/>
          </a:xfrm>
          <a:prstGeom prst="roundRect">
            <a:avLst>
              <a:gd name="adj" fmla="val 3000"/>
            </a:avLst>
          </a:prstGeom>
          <a:solidFill>
            <a:srgbClr val="141B3D"/>
          </a:solidFill>
          <a:ln w="9525">
            <a:solidFill>
              <a:srgbClr val="141B3D"/>
            </a:solidFill>
            <a:prstDash val="solid"/>
          </a:ln>
          <a:effectLst>
            <a:outerShdw sx="100000" sy="100000" kx="0" ky="0" algn="bl" rotWithShape="0" blurRad="177800" dist="38100" dir="5400000">
              <a:srgbClr val="1E2761">
                <a:alpha val="10000"/>
              </a:srgbClr>
            </a:outerShdw>
          </a:effectLst>
        </p:spPr>
      </p:sp>
      <p:sp>
        <p:nvSpPr>
          <p:cNvPr id="26" name="Text 20"/>
          <p:cNvSpPr/>
          <p:nvPr/>
        </p:nvSpPr>
        <p:spPr>
          <a:xfrm>
            <a:off x="9144000" y="2212848"/>
            <a:ext cx="2286000" cy="329184"/>
          </a:xfrm>
          <a:prstGeom prst="rect">
            <a:avLst/>
          </a:prstGeom>
          <a:noFill/>
          <a:ln/>
        </p:spPr>
        <p:txBody>
          <a:bodyPr wrap="square" lIns="0" tIns="0" rIns="0" bIns="0" rtlCol="0" anchor="ctr"/>
          <a:lstStyle/>
          <a:p>
            <a:pPr indent="0" marL="0">
              <a:buNone/>
            </a:pPr>
            <a:r>
              <a:rPr lang="en-US" sz="1000" b="1" spc="140" kern="0" dirty="0">
                <a:solidFill>
                  <a:srgbClr val="00C39A"/>
                </a:solidFill>
                <a:latin typeface="Calibri" pitchFamily="34" charset="0"/>
                <a:ea typeface="Calibri" pitchFamily="34" charset="-122"/>
                <a:cs typeface="Calibri" pitchFamily="34" charset="-120"/>
              </a:rPr>
              <a:t>THE ORIGINAL MOTIVE</a:t>
            </a:r>
            <a:endParaRPr lang="en-US" sz="1000" dirty="0"/>
          </a:p>
        </p:txBody>
      </p:sp>
      <p:sp>
        <p:nvSpPr>
          <p:cNvPr id="27" name="Text 21"/>
          <p:cNvSpPr/>
          <p:nvPr/>
        </p:nvSpPr>
        <p:spPr>
          <a:xfrm>
            <a:off x="9144000" y="2578608"/>
            <a:ext cx="2286000" cy="1371600"/>
          </a:xfrm>
          <a:prstGeom prst="rect">
            <a:avLst/>
          </a:prstGeom>
          <a:noFill/>
          <a:ln/>
        </p:spPr>
        <p:txBody>
          <a:bodyPr wrap="square" lIns="0" tIns="0" rIns="0" bIns="0" rtlCol="0" anchor="ctr"/>
          <a:lstStyle/>
          <a:p>
            <a:pPr indent="0" marL="0">
              <a:lnSpc>
                <a:spcPts val="2700"/>
              </a:lnSpc>
              <a:buNone/>
            </a:pPr>
            <a:r>
              <a:rPr lang="en-US" sz="2200" b="1" dirty="0">
                <a:solidFill>
                  <a:srgbClr val="FFFFFF"/>
                </a:solidFill>
                <a:latin typeface="Cambria" pitchFamily="34" charset="0"/>
                <a:ea typeface="Cambria" pitchFamily="34" charset="-122"/>
                <a:cs typeface="Cambria" pitchFamily="34" charset="-120"/>
              </a:rPr>
              <a:t>Stop copy-paste during a timed assessment.</a:t>
            </a:r>
            <a:endParaRPr lang="en-US" sz="2200" dirty="0"/>
          </a:p>
        </p:txBody>
      </p:sp>
      <p:sp>
        <p:nvSpPr>
          <p:cNvPr id="28" name="Text 22"/>
          <p:cNvSpPr/>
          <p:nvPr/>
        </p:nvSpPr>
        <p:spPr>
          <a:xfrm>
            <a:off x="9144000" y="4041648"/>
            <a:ext cx="2286000" cy="1737360"/>
          </a:xfrm>
          <a:prstGeom prst="rect">
            <a:avLst/>
          </a:prstGeom>
          <a:noFill/>
          <a:ln/>
        </p:spPr>
        <p:txBody>
          <a:bodyPr wrap="square" lIns="0" tIns="0" rIns="0" bIns="0" rtlCol="0" anchor="t"/>
          <a:lstStyle/>
          <a:p>
            <a:pPr indent="0" marL="0">
              <a:lnSpc>
                <a:spcPts val="1700"/>
              </a:lnSpc>
              <a:buNone/>
            </a:pPr>
            <a:r>
              <a:rPr lang="en-US" sz="1200" dirty="0">
                <a:solidFill>
                  <a:srgbClr val="CADCFC"/>
                </a:solidFill>
                <a:latin typeface="Calibri" pitchFamily="34" charset="0"/>
                <a:ea typeface="Calibri" pitchFamily="34" charset="-122"/>
                <a:cs typeface="Calibri" pitchFamily="34" charset="-120"/>
              </a:rPr>
              <a:t>The platform supplements invigilation rather than replacing it — flagged events go to the lecturer.</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slow" p14:dur="800">
        <p159:morph xmlns:p159="http://schemas.microsoft.com/office/powerpoint/2015/09/main"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
                                        </p:tgtEl>
                                        <p:attrNameLst>
                                          <p:attrName>style.visibility</p:attrName>
                                        </p:attrNameLst>
                                      </p:cBhvr>
                                      <p:to>
                                        <p:strVal val="visible"/>
                                      </p:to>
                                    </p:set>
                                    <p:animEffect transition="in" filter="fade">
                                      <p:cBhvr>
                                        <p:cTn id="7" dur="380"/>
                                        <p:tgtEl>
                                          <p:spTgt spid="1"/>
                                        </p:tgtEl>
                                      </p:cBhvr>
                                    </p:animEffect>
                                    <p:anim calcmode="lin" valueType="num">
                                      <p:cBhvr additive="base">
                                        <p:cTn id="8" dur="380" fill="hold"/>
                                        <p:tgtEl>
                                          <p:spTgt spid="1"/>
                                        </p:tgtEl>
                                        <p:attrNameLst>
                                          <p:attrName>ppt_y</p:attrName>
                                        </p:attrNameLst>
                                      </p:cBhvr>
                                      <p:tavLst>
                                        <p:tav tm="0">
                                          <p:val>
                                            <p:strVal val="#ppt_y+0.03"/>
                                          </p:val>
                                        </p:tav>
                                        <p:tav tm="100000">
                                          <p:val>
                                            <p:strVal val="#ppt_y"/>
                                          </p:val>
                                        </p:tav>
                                      </p:tavLst>
                                    </p:anim>
                                  </p:childTnLst>
                                </p:cTn>
                              </p:par>
                              <p:par>
                                <p:cTn id="9" presetID="42" presetClass="entr" presetSubtype="0" fill="hold" grpId="0" nodeType="afterEffect">
                                  <p:stCondLst>
                                    <p:cond delay="64"/>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380"/>
                                        <p:tgtEl>
                                          <p:spTgt spid="2"/>
                                        </p:tgtEl>
                                      </p:cBhvr>
                                    </p:animEffect>
                                    <p:anim calcmode="lin" valueType="num">
                                      <p:cBhvr additive="base">
                                        <p:cTn id="12" dur="380" fill="hold"/>
                                        <p:tgtEl>
                                          <p:spTgt spid="2"/>
                                        </p:tgtEl>
                                        <p:attrNameLst>
                                          <p:attrName>ppt_y</p:attrName>
                                        </p:attrNameLst>
                                      </p:cBhvr>
                                      <p:tavLst>
                                        <p:tav tm="0">
                                          <p:val>
                                            <p:strVal val="#ppt_y+0.03"/>
                                          </p:val>
                                        </p:tav>
                                        <p:tav tm="100000">
                                          <p:val>
                                            <p:strVal val="#ppt_y"/>
                                          </p:val>
                                        </p:tav>
                                      </p:tavLst>
                                    </p:anim>
                                  </p:childTnLst>
                                </p:cTn>
                              </p:par>
                              <p:par>
                                <p:cTn id="13" presetID="42" presetClass="entr" presetSubtype="0" fill="hold" grpId="0" nodeType="afterEffect">
                                  <p:stCondLst>
                                    <p:cond delay="128"/>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380"/>
                                        <p:tgtEl>
                                          <p:spTgt spid="3"/>
                                        </p:tgtEl>
                                      </p:cBhvr>
                                    </p:animEffect>
                                    <p:anim calcmode="lin" valueType="num">
                                      <p:cBhvr additive="base">
                                        <p:cTn id="16" dur="380" fill="hold"/>
                                        <p:tgtEl>
                                          <p:spTgt spid="3"/>
                                        </p:tgtEl>
                                        <p:attrNameLst>
                                          <p:attrName>ppt_y</p:attrName>
                                        </p:attrNameLst>
                                      </p:cBhvr>
                                      <p:tavLst>
                                        <p:tav tm="0">
                                          <p:val>
                                            <p:strVal val="#ppt_y+0.03"/>
                                          </p:val>
                                        </p:tav>
                                        <p:tav tm="100000">
                                          <p:val>
                                            <p:strVal val="#ppt_y"/>
                                          </p:val>
                                        </p:tav>
                                      </p:tavLst>
                                    </p:anim>
                                  </p:childTnLst>
                                </p:cTn>
                              </p:par>
                              <p:par>
                                <p:cTn id="17" presetID="42" presetClass="entr" presetSubtype="0" fill="hold" grpId="0" nodeType="afterEffect">
                                  <p:stCondLst>
                                    <p:cond delay="192"/>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380"/>
                                        <p:tgtEl>
                                          <p:spTgt spid="4"/>
                                        </p:tgtEl>
                                      </p:cBhvr>
                                    </p:animEffect>
                                    <p:anim calcmode="lin" valueType="num">
                                      <p:cBhvr additive="base">
                                        <p:cTn id="20" dur="380" fill="hold"/>
                                        <p:tgtEl>
                                          <p:spTgt spid="4"/>
                                        </p:tgtEl>
                                        <p:attrNameLst>
                                          <p:attrName>ppt_y</p:attrName>
                                        </p:attrNameLst>
                                      </p:cBhvr>
                                      <p:tavLst>
                                        <p:tav tm="0">
                                          <p:val>
                                            <p:strVal val="#ppt_y+0.03"/>
                                          </p:val>
                                        </p:tav>
                                        <p:tav tm="100000">
                                          <p:val>
                                            <p:strVal val="#ppt_y"/>
                                          </p:val>
                                        </p:tav>
                                      </p:tavLst>
                                    </p:anim>
                                  </p:childTnLst>
                                </p:cTn>
                              </p:par>
                              <p:par>
                                <p:cTn id="21" presetID="42" presetClass="entr" presetSubtype="0" fill="hold" grpId="0" nodeType="afterEffect">
                                  <p:stCondLst>
                                    <p:cond delay="256"/>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380"/>
                                        <p:tgtEl>
                                          <p:spTgt spid="5"/>
                                        </p:tgtEl>
                                      </p:cBhvr>
                                    </p:animEffect>
                                    <p:anim calcmode="lin" valueType="num">
                                      <p:cBhvr additive="base">
                                        <p:cTn id="24" dur="380" fill="hold"/>
                                        <p:tgtEl>
                                          <p:spTgt spid="5"/>
                                        </p:tgtEl>
                                        <p:attrNameLst>
                                          <p:attrName>ppt_y</p:attrName>
                                        </p:attrNameLst>
                                      </p:cBhvr>
                                      <p:tavLst>
                                        <p:tav tm="0">
                                          <p:val>
                                            <p:strVal val="#ppt_y+0.03"/>
                                          </p:val>
                                        </p:tav>
                                        <p:tav tm="100000">
                                          <p:val>
                                            <p:strVal val="#ppt_y"/>
                                          </p:val>
                                        </p:tav>
                                      </p:tavLst>
                                    </p:anim>
                                  </p:childTnLst>
                                </p:cTn>
                              </p:par>
                              <p:par>
                                <p:cTn id="25" presetID="42" presetClass="entr" presetSubtype="0" fill="hold" grpId="0" nodeType="afterEffect">
                                  <p:stCondLst>
                                    <p:cond delay="32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380"/>
                                        <p:tgtEl>
                                          <p:spTgt spid="6"/>
                                        </p:tgtEl>
                                      </p:cBhvr>
                                    </p:animEffect>
                                    <p:anim calcmode="lin" valueType="num">
                                      <p:cBhvr additive="base">
                                        <p:cTn id="28" dur="380" fill="hold"/>
                                        <p:tgtEl>
                                          <p:spTgt spid="6"/>
                                        </p:tgtEl>
                                        <p:attrNameLst>
                                          <p:attrName>ppt_y</p:attrName>
                                        </p:attrNameLst>
                                      </p:cBhvr>
                                      <p:tavLst>
                                        <p:tav tm="0">
                                          <p:val>
                                            <p:strVal val="#ppt_y+0.03"/>
                                          </p:val>
                                        </p:tav>
                                        <p:tav tm="100000">
                                          <p:val>
                                            <p:strVal val="#ppt_y"/>
                                          </p:val>
                                        </p:tav>
                                      </p:tavLst>
                                    </p:anim>
                                  </p:childTnLst>
                                </p:cTn>
                              </p:par>
                              <p:par>
                                <p:cTn id="29" presetID="42" presetClass="entr" presetSubtype="0" fill="hold" grpId="0" nodeType="afterEffect">
                                  <p:stCondLst>
                                    <p:cond delay="384"/>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380"/>
                                        <p:tgtEl>
                                          <p:spTgt spid="7"/>
                                        </p:tgtEl>
                                      </p:cBhvr>
                                    </p:animEffect>
                                    <p:anim calcmode="lin" valueType="num">
                                      <p:cBhvr additive="base">
                                        <p:cTn id="32" dur="380" fill="hold"/>
                                        <p:tgtEl>
                                          <p:spTgt spid="7"/>
                                        </p:tgtEl>
                                        <p:attrNameLst>
                                          <p:attrName>ppt_y</p:attrName>
                                        </p:attrNameLst>
                                      </p:cBhvr>
                                      <p:tavLst>
                                        <p:tav tm="0">
                                          <p:val>
                                            <p:strVal val="#ppt_y+0.03"/>
                                          </p:val>
                                        </p:tav>
                                        <p:tav tm="100000">
                                          <p:val>
                                            <p:strVal val="#ppt_y"/>
                                          </p:val>
                                        </p:tav>
                                      </p:tavLst>
                                    </p:anim>
                                  </p:childTnLst>
                                </p:cTn>
                              </p:par>
                              <p:par>
                                <p:cTn id="33" presetID="42" presetClass="entr" presetSubtype="0" fill="hold" grpId="0" nodeType="afterEffect">
                                  <p:stCondLst>
                                    <p:cond delay="448"/>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380"/>
                                        <p:tgtEl>
                                          <p:spTgt spid="8"/>
                                        </p:tgtEl>
                                      </p:cBhvr>
                                    </p:animEffect>
                                    <p:anim calcmode="lin" valueType="num">
                                      <p:cBhvr additive="base">
                                        <p:cTn id="36" dur="380" fill="hold"/>
                                        <p:tgtEl>
                                          <p:spTgt spid="8"/>
                                        </p:tgtEl>
                                        <p:attrNameLst>
                                          <p:attrName>ppt_y</p:attrName>
                                        </p:attrNameLst>
                                      </p:cBhvr>
                                      <p:tavLst>
                                        <p:tav tm="0">
                                          <p:val>
                                            <p:strVal val="#ppt_y+0.03"/>
                                          </p:val>
                                        </p:tav>
                                        <p:tav tm="100000">
                                          <p:val>
                                            <p:strVal val="#ppt_y"/>
                                          </p:val>
                                        </p:tav>
                                      </p:tavLst>
                                    </p:anim>
                                  </p:childTnLst>
                                </p:cTn>
                              </p:par>
                              <p:par>
                                <p:cTn id="37" presetID="42" presetClass="entr" presetSubtype="0" fill="hold" grpId="0" nodeType="afterEffect">
                                  <p:stCondLst>
                                    <p:cond delay="512"/>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380"/>
                                        <p:tgtEl>
                                          <p:spTgt spid="9"/>
                                        </p:tgtEl>
                                      </p:cBhvr>
                                    </p:animEffect>
                                    <p:anim calcmode="lin" valueType="num">
                                      <p:cBhvr additive="base">
                                        <p:cTn id="40" dur="380" fill="hold"/>
                                        <p:tgtEl>
                                          <p:spTgt spid="9"/>
                                        </p:tgtEl>
                                        <p:attrNameLst>
                                          <p:attrName>ppt_y</p:attrName>
                                        </p:attrNameLst>
                                      </p:cBhvr>
                                      <p:tavLst>
                                        <p:tav tm="0">
                                          <p:val>
                                            <p:strVal val="#ppt_y+0.03"/>
                                          </p:val>
                                        </p:tav>
                                        <p:tav tm="100000">
                                          <p:val>
                                            <p:strVal val="#ppt_y"/>
                                          </p:val>
                                        </p:tav>
                                      </p:tavLst>
                                    </p:anim>
                                  </p:childTnLst>
                                </p:cTn>
                              </p:par>
                              <p:par>
                                <p:cTn id="41" presetID="42" presetClass="entr" presetSubtype="0" fill="hold" grpId="0" nodeType="afterEffect">
                                  <p:stCondLst>
                                    <p:cond delay="576"/>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380"/>
                                        <p:tgtEl>
                                          <p:spTgt spid="10"/>
                                        </p:tgtEl>
                                      </p:cBhvr>
                                    </p:animEffect>
                                    <p:anim calcmode="lin" valueType="num">
                                      <p:cBhvr additive="base">
                                        <p:cTn id="44" dur="380" fill="hold"/>
                                        <p:tgtEl>
                                          <p:spTgt spid="10"/>
                                        </p:tgtEl>
                                        <p:attrNameLst>
                                          <p:attrName>ppt_y</p:attrName>
                                        </p:attrNameLst>
                                      </p:cBhvr>
                                      <p:tavLst>
                                        <p:tav tm="0">
                                          <p:val>
                                            <p:strVal val="#ppt_y+0.03"/>
                                          </p:val>
                                        </p:tav>
                                        <p:tav tm="100000">
                                          <p:val>
                                            <p:strVal val="#ppt_y"/>
                                          </p:val>
                                        </p:tav>
                                      </p:tavLst>
                                    </p:anim>
                                  </p:childTnLst>
                                </p:cTn>
                              </p:par>
                              <p:par>
                                <p:cTn id="45" presetID="42" presetClass="entr" presetSubtype="0" fill="hold" grpId="0" nodeType="afterEffect">
                                  <p:stCondLst>
                                    <p:cond delay="64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380"/>
                                        <p:tgtEl>
                                          <p:spTgt spid="11"/>
                                        </p:tgtEl>
                                      </p:cBhvr>
                                    </p:animEffect>
                                    <p:anim calcmode="lin" valueType="num">
                                      <p:cBhvr additive="base">
                                        <p:cTn id="48" dur="380" fill="hold"/>
                                        <p:tgtEl>
                                          <p:spTgt spid="11"/>
                                        </p:tgtEl>
                                        <p:attrNameLst>
                                          <p:attrName>ppt_y</p:attrName>
                                        </p:attrNameLst>
                                      </p:cBhvr>
                                      <p:tavLst>
                                        <p:tav tm="0">
                                          <p:val>
                                            <p:strVal val="#ppt_y+0.03"/>
                                          </p:val>
                                        </p:tav>
                                        <p:tav tm="100000">
                                          <p:val>
                                            <p:strVal val="#ppt_y"/>
                                          </p:val>
                                        </p:tav>
                                      </p:tavLst>
                                    </p:anim>
                                  </p:childTnLst>
                                </p:cTn>
                              </p:par>
                              <p:par>
                                <p:cTn id="49" presetID="42" presetClass="entr" presetSubtype="0" fill="hold" grpId="0" nodeType="afterEffect">
                                  <p:stCondLst>
                                    <p:cond delay="704"/>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380"/>
                                        <p:tgtEl>
                                          <p:spTgt spid="12"/>
                                        </p:tgtEl>
                                      </p:cBhvr>
                                    </p:animEffect>
                                    <p:anim calcmode="lin" valueType="num">
                                      <p:cBhvr additive="base">
                                        <p:cTn id="52" dur="380" fill="hold"/>
                                        <p:tgtEl>
                                          <p:spTgt spid="12"/>
                                        </p:tgtEl>
                                        <p:attrNameLst>
                                          <p:attrName>ppt_y</p:attrName>
                                        </p:attrNameLst>
                                      </p:cBhvr>
                                      <p:tavLst>
                                        <p:tav tm="0">
                                          <p:val>
                                            <p:strVal val="#ppt_y+0.03"/>
                                          </p:val>
                                        </p:tav>
                                        <p:tav tm="100000">
                                          <p:val>
                                            <p:strVal val="#ppt_y"/>
                                          </p:val>
                                        </p:tav>
                                      </p:tavLst>
                                    </p:anim>
                                  </p:childTnLst>
                                </p:cTn>
                              </p:par>
                              <p:par>
                                <p:cTn id="53" presetID="42" presetClass="entr" presetSubtype="0" fill="hold" grpId="0" nodeType="afterEffect">
                                  <p:stCondLst>
                                    <p:cond delay="768"/>
                                  </p:stCondLst>
                                  <p:childTnLst>
                                    <p:set>
                                      <p:cBhvr>
                                        <p:cTn id="54" dur="1" fill="hold">
                                          <p:stCondLst>
                                            <p:cond delay="0"/>
                                          </p:stCondLst>
                                        </p:cTn>
                                        <p:tgtEl>
                                          <p:spTgt spid="13"/>
                                        </p:tgtEl>
                                        <p:attrNameLst>
                                          <p:attrName>style.visibility</p:attrName>
                                        </p:attrNameLst>
                                      </p:cBhvr>
                                      <p:to>
                                        <p:strVal val="visible"/>
                                      </p:to>
                                    </p:set>
                                    <p:animEffect transition="in" filter="fade">
                                      <p:cBhvr>
                                        <p:cTn id="55" dur="380"/>
                                        <p:tgtEl>
                                          <p:spTgt spid="13"/>
                                        </p:tgtEl>
                                      </p:cBhvr>
                                    </p:animEffect>
                                    <p:anim calcmode="lin" valueType="num">
                                      <p:cBhvr additive="base">
                                        <p:cTn id="56" dur="380" fill="hold"/>
                                        <p:tgtEl>
                                          <p:spTgt spid="13"/>
                                        </p:tgtEl>
                                        <p:attrNameLst>
                                          <p:attrName>ppt_y</p:attrName>
                                        </p:attrNameLst>
                                      </p:cBhvr>
                                      <p:tavLst>
                                        <p:tav tm="0">
                                          <p:val>
                                            <p:strVal val="#ppt_y+0.03"/>
                                          </p:val>
                                        </p:tav>
                                        <p:tav tm="100000">
                                          <p:val>
                                            <p:strVal val="#ppt_y"/>
                                          </p:val>
                                        </p:tav>
                                      </p:tavLst>
                                    </p:anim>
                                  </p:childTnLst>
                                </p:cTn>
                              </p:par>
                              <p:par>
                                <p:cTn id="57" presetID="42" presetClass="entr" presetSubtype="0" fill="hold" grpId="0" nodeType="afterEffect">
                                  <p:stCondLst>
                                    <p:cond delay="832"/>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380"/>
                                        <p:tgtEl>
                                          <p:spTgt spid="14"/>
                                        </p:tgtEl>
                                      </p:cBhvr>
                                    </p:animEffect>
                                    <p:anim calcmode="lin" valueType="num">
                                      <p:cBhvr additive="base">
                                        <p:cTn id="60" dur="380" fill="hold"/>
                                        <p:tgtEl>
                                          <p:spTgt spid="14"/>
                                        </p:tgtEl>
                                        <p:attrNameLst>
                                          <p:attrName>ppt_y</p:attrName>
                                        </p:attrNameLst>
                                      </p:cBhvr>
                                      <p:tavLst>
                                        <p:tav tm="0">
                                          <p:val>
                                            <p:strVal val="#ppt_y+0.03"/>
                                          </p:val>
                                        </p:tav>
                                        <p:tav tm="100000">
                                          <p:val>
                                            <p:strVal val="#ppt_y"/>
                                          </p:val>
                                        </p:tav>
                                      </p:tavLst>
                                    </p:anim>
                                  </p:childTnLst>
                                </p:cTn>
                              </p:par>
                              <p:par>
                                <p:cTn id="61" presetID="42" presetClass="entr" presetSubtype="0" fill="hold" grpId="0" nodeType="afterEffect">
                                  <p:stCondLst>
                                    <p:cond delay="896"/>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380"/>
                                        <p:tgtEl>
                                          <p:spTgt spid="15"/>
                                        </p:tgtEl>
                                      </p:cBhvr>
                                    </p:animEffect>
                                    <p:anim calcmode="lin" valueType="num">
                                      <p:cBhvr additive="base">
                                        <p:cTn id="64" dur="380" fill="hold"/>
                                        <p:tgtEl>
                                          <p:spTgt spid="15"/>
                                        </p:tgtEl>
                                        <p:attrNameLst>
                                          <p:attrName>ppt_y</p:attrName>
                                        </p:attrNameLst>
                                      </p:cBhvr>
                                      <p:tavLst>
                                        <p:tav tm="0">
                                          <p:val>
                                            <p:strVal val="#ppt_y+0.03"/>
                                          </p:val>
                                        </p:tav>
                                        <p:tav tm="100000">
                                          <p:val>
                                            <p:strVal val="#ppt_y"/>
                                          </p:val>
                                        </p:tav>
                                      </p:tavLst>
                                    </p:anim>
                                  </p:childTnLst>
                                </p:cTn>
                              </p:par>
                              <p:par>
                                <p:cTn id="65" presetID="42" presetClass="entr" presetSubtype="0" fill="hold" grpId="0" nodeType="afterEffect">
                                  <p:stCondLst>
                                    <p:cond delay="96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380"/>
                                        <p:tgtEl>
                                          <p:spTgt spid="16"/>
                                        </p:tgtEl>
                                      </p:cBhvr>
                                    </p:animEffect>
                                    <p:anim calcmode="lin" valueType="num">
                                      <p:cBhvr additive="base">
                                        <p:cTn id="68" dur="380" fill="hold"/>
                                        <p:tgtEl>
                                          <p:spTgt spid="16"/>
                                        </p:tgtEl>
                                        <p:attrNameLst>
                                          <p:attrName>ppt_y</p:attrName>
                                        </p:attrNameLst>
                                      </p:cBhvr>
                                      <p:tavLst>
                                        <p:tav tm="0">
                                          <p:val>
                                            <p:strVal val="#ppt_y+0.03"/>
                                          </p:val>
                                        </p:tav>
                                        <p:tav tm="100000">
                                          <p:val>
                                            <p:strVal val="#ppt_y"/>
                                          </p:val>
                                        </p:tav>
                                      </p:tavLst>
                                    </p:anim>
                                  </p:childTnLst>
                                </p:cTn>
                              </p:par>
                              <p:par>
                                <p:cTn id="69" presetID="42" presetClass="entr" presetSubtype="0" fill="hold" grpId="0" nodeType="afterEffect">
                                  <p:stCondLst>
                                    <p:cond delay="1024"/>
                                  </p:stCondLst>
                                  <p:childTnLst>
                                    <p:set>
                                      <p:cBhvr>
                                        <p:cTn id="70" dur="1" fill="hold">
                                          <p:stCondLst>
                                            <p:cond delay="0"/>
                                          </p:stCondLst>
                                        </p:cTn>
                                        <p:tgtEl>
                                          <p:spTgt spid="17"/>
                                        </p:tgtEl>
                                        <p:attrNameLst>
                                          <p:attrName>style.visibility</p:attrName>
                                        </p:attrNameLst>
                                      </p:cBhvr>
                                      <p:to>
                                        <p:strVal val="visible"/>
                                      </p:to>
                                    </p:set>
                                    <p:animEffect transition="in" filter="fade">
                                      <p:cBhvr>
                                        <p:cTn id="71" dur="380"/>
                                        <p:tgtEl>
                                          <p:spTgt spid="17"/>
                                        </p:tgtEl>
                                      </p:cBhvr>
                                    </p:animEffect>
                                    <p:anim calcmode="lin" valueType="num">
                                      <p:cBhvr additive="base">
                                        <p:cTn id="72" dur="380" fill="hold"/>
                                        <p:tgtEl>
                                          <p:spTgt spid="17"/>
                                        </p:tgtEl>
                                        <p:attrNameLst>
                                          <p:attrName>ppt_y</p:attrName>
                                        </p:attrNameLst>
                                      </p:cBhvr>
                                      <p:tavLst>
                                        <p:tav tm="0">
                                          <p:val>
                                            <p:strVal val="#ppt_y+0.03"/>
                                          </p:val>
                                        </p:tav>
                                        <p:tav tm="100000">
                                          <p:val>
                                            <p:strVal val="#ppt_y"/>
                                          </p:val>
                                        </p:tav>
                                      </p:tavLst>
                                    </p:anim>
                                  </p:childTnLst>
                                </p:cTn>
                              </p:par>
                              <p:par>
                                <p:cTn id="73" presetID="42" presetClass="entr" presetSubtype="0" fill="hold" grpId="0" nodeType="afterEffect">
                                  <p:stCondLst>
                                    <p:cond delay="1088"/>
                                  </p:stCondLst>
                                  <p:childTnLst>
                                    <p:set>
                                      <p:cBhvr>
                                        <p:cTn id="74" dur="1" fill="hold">
                                          <p:stCondLst>
                                            <p:cond delay="0"/>
                                          </p:stCondLst>
                                        </p:cTn>
                                        <p:tgtEl>
                                          <p:spTgt spid="18"/>
                                        </p:tgtEl>
                                        <p:attrNameLst>
                                          <p:attrName>style.visibility</p:attrName>
                                        </p:attrNameLst>
                                      </p:cBhvr>
                                      <p:to>
                                        <p:strVal val="visible"/>
                                      </p:to>
                                    </p:set>
                                    <p:animEffect transition="in" filter="fade">
                                      <p:cBhvr>
                                        <p:cTn id="75" dur="380"/>
                                        <p:tgtEl>
                                          <p:spTgt spid="18"/>
                                        </p:tgtEl>
                                      </p:cBhvr>
                                    </p:animEffect>
                                    <p:anim calcmode="lin" valueType="num">
                                      <p:cBhvr additive="base">
                                        <p:cTn id="76" dur="380" fill="hold"/>
                                        <p:tgtEl>
                                          <p:spTgt spid="18"/>
                                        </p:tgtEl>
                                        <p:attrNameLst>
                                          <p:attrName>ppt_y</p:attrName>
                                        </p:attrNameLst>
                                      </p:cBhvr>
                                      <p:tavLst>
                                        <p:tav tm="0">
                                          <p:val>
                                            <p:strVal val="#ppt_y+0.03"/>
                                          </p:val>
                                        </p:tav>
                                        <p:tav tm="100000">
                                          <p:val>
                                            <p:strVal val="#ppt_y"/>
                                          </p:val>
                                        </p:tav>
                                      </p:tavLst>
                                    </p:anim>
                                  </p:childTnLst>
                                </p:cTn>
                              </p:par>
                              <p:par>
                                <p:cTn id="77" presetID="42" presetClass="entr" presetSubtype="0" fill="hold" grpId="0" nodeType="afterEffect">
                                  <p:stCondLst>
                                    <p:cond delay="1152"/>
                                  </p:stCondLst>
                                  <p:childTnLst>
                                    <p:set>
                                      <p:cBhvr>
                                        <p:cTn id="78" dur="1" fill="hold">
                                          <p:stCondLst>
                                            <p:cond delay="0"/>
                                          </p:stCondLst>
                                        </p:cTn>
                                        <p:tgtEl>
                                          <p:spTgt spid="19"/>
                                        </p:tgtEl>
                                        <p:attrNameLst>
                                          <p:attrName>style.visibility</p:attrName>
                                        </p:attrNameLst>
                                      </p:cBhvr>
                                      <p:to>
                                        <p:strVal val="visible"/>
                                      </p:to>
                                    </p:set>
                                    <p:animEffect transition="in" filter="fade">
                                      <p:cBhvr>
                                        <p:cTn id="79" dur="380"/>
                                        <p:tgtEl>
                                          <p:spTgt spid="19"/>
                                        </p:tgtEl>
                                      </p:cBhvr>
                                    </p:animEffect>
                                    <p:anim calcmode="lin" valueType="num">
                                      <p:cBhvr additive="base">
                                        <p:cTn id="80" dur="380" fill="hold"/>
                                        <p:tgtEl>
                                          <p:spTgt spid="19"/>
                                        </p:tgtEl>
                                        <p:attrNameLst>
                                          <p:attrName>ppt_y</p:attrName>
                                        </p:attrNameLst>
                                      </p:cBhvr>
                                      <p:tavLst>
                                        <p:tav tm="0">
                                          <p:val>
                                            <p:strVal val="#ppt_y+0.03"/>
                                          </p:val>
                                        </p:tav>
                                        <p:tav tm="100000">
                                          <p:val>
                                            <p:strVal val="#ppt_y"/>
                                          </p:val>
                                        </p:tav>
                                      </p:tavLst>
                                    </p:anim>
                                  </p:childTnLst>
                                </p:cTn>
                              </p:par>
                              <p:par>
                                <p:cTn id="81" presetID="42" presetClass="entr" presetSubtype="0" fill="hold" grpId="0" nodeType="afterEffect">
                                  <p:stCondLst>
                                    <p:cond delay="1216"/>
                                  </p:stCondLst>
                                  <p:childTnLst>
                                    <p:set>
                                      <p:cBhvr>
                                        <p:cTn id="82" dur="1" fill="hold">
                                          <p:stCondLst>
                                            <p:cond delay="0"/>
                                          </p:stCondLst>
                                        </p:cTn>
                                        <p:tgtEl>
                                          <p:spTgt spid="20"/>
                                        </p:tgtEl>
                                        <p:attrNameLst>
                                          <p:attrName>style.visibility</p:attrName>
                                        </p:attrNameLst>
                                      </p:cBhvr>
                                      <p:to>
                                        <p:strVal val="visible"/>
                                      </p:to>
                                    </p:set>
                                    <p:animEffect transition="in" filter="fade">
                                      <p:cBhvr>
                                        <p:cTn id="83" dur="380"/>
                                        <p:tgtEl>
                                          <p:spTgt spid="20"/>
                                        </p:tgtEl>
                                      </p:cBhvr>
                                    </p:animEffect>
                                    <p:anim calcmode="lin" valueType="num">
                                      <p:cBhvr additive="base">
                                        <p:cTn id="84" dur="380" fill="hold"/>
                                        <p:tgtEl>
                                          <p:spTgt spid="20"/>
                                        </p:tgtEl>
                                        <p:attrNameLst>
                                          <p:attrName>ppt_y</p:attrName>
                                        </p:attrNameLst>
                                      </p:cBhvr>
                                      <p:tavLst>
                                        <p:tav tm="0">
                                          <p:val>
                                            <p:strVal val="#ppt_y+0.03"/>
                                          </p:val>
                                        </p:tav>
                                        <p:tav tm="100000">
                                          <p:val>
                                            <p:strVal val="#ppt_y"/>
                                          </p:val>
                                        </p:tav>
                                      </p:tavLst>
                                    </p:anim>
                                  </p:childTnLst>
                                </p:cTn>
                              </p:par>
                              <p:par>
                                <p:cTn id="85" presetID="42" presetClass="entr" presetSubtype="0" fill="hold" grpId="0" nodeType="afterEffect">
                                  <p:stCondLst>
                                    <p:cond delay="1280"/>
                                  </p:stCondLst>
                                  <p:childTnLst>
                                    <p:set>
                                      <p:cBhvr>
                                        <p:cTn id="86" dur="1" fill="hold">
                                          <p:stCondLst>
                                            <p:cond delay="0"/>
                                          </p:stCondLst>
                                        </p:cTn>
                                        <p:tgtEl>
                                          <p:spTgt spid="21"/>
                                        </p:tgtEl>
                                        <p:attrNameLst>
                                          <p:attrName>style.visibility</p:attrName>
                                        </p:attrNameLst>
                                      </p:cBhvr>
                                      <p:to>
                                        <p:strVal val="visible"/>
                                      </p:to>
                                    </p:set>
                                    <p:animEffect transition="in" filter="fade">
                                      <p:cBhvr>
                                        <p:cTn id="87" dur="380"/>
                                        <p:tgtEl>
                                          <p:spTgt spid="21"/>
                                        </p:tgtEl>
                                      </p:cBhvr>
                                    </p:animEffect>
                                    <p:anim calcmode="lin" valueType="num">
                                      <p:cBhvr additive="base">
                                        <p:cTn id="88" dur="380" fill="hold"/>
                                        <p:tgtEl>
                                          <p:spTgt spid="21"/>
                                        </p:tgtEl>
                                        <p:attrNameLst>
                                          <p:attrName>ppt_y</p:attrName>
                                        </p:attrNameLst>
                                      </p:cBhvr>
                                      <p:tavLst>
                                        <p:tav tm="0">
                                          <p:val>
                                            <p:strVal val="#ppt_y+0.03"/>
                                          </p:val>
                                        </p:tav>
                                        <p:tav tm="100000">
                                          <p:val>
                                            <p:strVal val="#ppt_y"/>
                                          </p:val>
                                        </p:tav>
                                      </p:tavLst>
                                    </p:anim>
                                  </p:childTnLst>
                                </p:cTn>
                              </p:par>
                              <p:par>
                                <p:cTn id="89" presetID="42" presetClass="entr" presetSubtype="0" fill="hold" grpId="0" nodeType="afterEffect">
                                  <p:stCondLst>
                                    <p:cond delay="1344"/>
                                  </p:stCondLst>
                                  <p:childTnLst>
                                    <p:set>
                                      <p:cBhvr>
                                        <p:cTn id="90" dur="1" fill="hold">
                                          <p:stCondLst>
                                            <p:cond delay="0"/>
                                          </p:stCondLst>
                                        </p:cTn>
                                        <p:tgtEl>
                                          <p:spTgt spid="22"/>
                                        </p:tgtEl>
                                        <p:attrNameLst>
                                          <p:attrName>style.visibility</p:attrName>
                                        </p:attrNameLst>
                                      </p:cBhvr>
                                      <p:to>
                                        <p:strVal val="visible"/>
                                      </p:to>
                                    </p:set>
                                    <p:animEffect transition="in" filter="fade">
                                      <p:cBhvr>
                                        <p:cTn id="91" dur="380"/>
                                        <p:tgtEl>
                                          <p:spTgt spid="22"/>
                                        </p:tgtEl>
                                      </p:cBhvr>
                                    </p:animEffect>
                                    <p:anim calcmode="lin" valueType="num">
                                      <p:cBhvr additive="base">
                                        <p:cTn id="92" dur="380" fill="hold"/>
                                        <p:tgtEl>
                                          <p:spTgt spid="22"/>
                                        </p:tgtEl>
                                        <p:attrNameLst>
                                          <p:attrName>ppt_y</p:attrName>
                                        </p:attrNameLst>
                                      </p:cBhvr>
                                      <p:tavLst>
                                        <p:tav tm="0">
                                          <p:val>
                                            <p:strVal val="#ppt_y+0.03"/>
                                          </p:val>
                                        </p:tav>
                                        <p:tav tm="100000">
                                          <p:val>
                                            <p:strVal val="#ppt_y"/>
                                          </p:val>
                                        </p:tav>
                                      </p:tavLst>
                                    </p:anim>
                                  </p:childTnLst>
                                </p:cTn>
                              </p:par>
                              <p:par>
                                <p:cTn id="93" presetID="42" presetClass="entr" presetSubtype="0" fill="hold" grpId="0" nodeType="afterEffect">
                                  <p:stCondLst>
                                    <p:cond delay="1408"/>
                                  </p:stCondLst>
                                  <p:childTnLst>
                                    <p:set>
                                      <p:cBhvr>
                                        <p:cTn id="94" dur="1" fill="hold">
                                          <p:stCondLst>
                                            <p:cond delay="0"/>
                                          </p:stCondLst>
                                        </p:cTn>
                                        <p:tgtEl>
                                          <p:spTgt spid="23"/>
                                        </p:tgtEl>
                                        <p:attrNameLst>
                                          <p:attrName>style.visibility</p:attrName>
                                        </p:attrNameLst>
                                      </p:cBhvr>
                                      <p:to>
                                        <p:strVal val="visible"/>
                                      </p:to>
                                    </p:set>
                                    <p:animEffect transition="in" filter="fade">
                                      <p:cBhvr>
                                        <p:cTn id="95" dur="380"/>
                                        <p:tgtEl>
                                          <p:spTgt spid="23"/>
                                        </p:tgtEl>
                                      </p:cBhvr>
                                    </p:animEffect>
                                    <p:anim calcmode="lin" valueType="num">
                                      <p:cBhvr additive="base">
                                        <p:cTn id="96" dur="380" fill="hold"/>
                                        <p:tgtEl>
                                          <p:spTgt spid="23"/>
                                        </p:tgtEl>
                                        <p:attrNameLst>
                                          <p:attrName>ppt_y</p:attrName>
                                        </p:attrNameLst>
                                      </p:cBhvr>
                                      <p:tavLst>
                                        <p:tav tm="0">
                                          <p:val>
                                            <p:strVal val="#ppt_y+0.03"/>
                                          </p:val>
                                        </p:tav>
                                        <p:tav tm="100000">
                                          <p:val>
                                            <p:strVal val="#ppt_y"/>
                                          </p:val>
                                        </p:tav>
                                      </p:tavLst>
                                    </p:anim>
                                  </p:childTnLst>
                                </p:cTn>
                              </p:par>
                              <p:par>
                                <p:cTn id="97" presetID="42" presetClass="entr" presetSubtype="0" fill="hold" grpId="0" nodeType="afterEffect">
                                  <p:stCondLst>
                                    <p:cond delay="1472"/>
                                  </p:stCondLst>
                                  <p:childTnLst>
                                    <p:set>
                                      <p:cBhvr>
                                        <p:cTn id="98" dur="1" fill="hold">
                                          <p:stCondLst>
                                            <p:cond delay="0"/>
                                          </p:stCondLst>
                                        </p:cTn>
                                        <p:tgtEl>
                                          <p:spTgt spid="24"/>
                                        </p:tgtEl>
                                        <p:attrNameLst>
                                          <p:attrName>style.visibility</p:attrName>
                                        </p:attrNameLst>
                                      </p:cBhvr>
                                      <p:to>
                                        <p:strVal val="visible"/>
                                      </p:to>
                                    </p:set>
                                    <p:animEffect transition="in" filter="fade">
                                      <p:cBhvr>
                                        <p:cTn id="99" dur="380"/>
                                        <p:tgtEl>
                                          <p:spTgt spid="24"/>
                                        </p:tgtEl>
                                      </p:cBhvr>
                                    </p:animEffect>
                                    <p:anim calcmode="lin" valueType="num">
                                      <p:cBhvr additive="base">
                                        <p:cTn id="100" dur="380" fill="hold"/>
                                        <p:tgtEl>
                                          <p:spTgt spid="24"/>
                                        </p:tgtEl>
                                        <p:attrNameLst>
                                          <p:attrName>ppt_y</p:attrName>
                                        </p:attrNameLst>
                                      </p:cBhvr>
                                      <p:tavLst>
                                        <p:tav tm="0">
                                          <p:val>
                                            <p:strVal val="#ppt_y+0.03"/>
                                          </p:val>
                                        </p:tav>
                                        <p:tav tm="100000">
                                          <p:val>
                                            <p:strVal val="#ppt_y"/>
                                          </p:val>
                                        </p:tav>
                                      </p:tavLst>
                                    </p:anim>
                                  </p:childTnLst>
                                </p:cTn>
                              </p:par>
                              <p:par>
                                <p:cTn id="101" presetID="42" presetClass="entr" presetSubtype="0" fill="hold" grpId="0" nodeType="afterEffect">
                                  <p:stCondLst>
                                    <p:cond delay="1536"/>
                                  </p:stCondLst>
                                  <p:childTnLst>
                                    <p:set>
                                      <p:cBhvr>
                                        <p:cTn id="102" dur="1" fill="hold">
                                          <p:stCondLst>
                                            <p:cond delay="0"/>
                                          </p:stCondLst>
                                        </p:cTn>
                                        <p:tgtEl>
                                          <p:spTgt spid="25"/>
                                        </p:tgtEl>
                                        <p:attrNameLst>
                                          <p:attrName>style.visibility</p:attrName>
                                        </p:attrNameLst>
                                      </p:cBhvr>
                                      <p:to>
                                        <p:strVal val="visible"/>
                                      </p:to>
                                    </p:set>
                                    <p:animEffect transition="in" filter="fade">
                                      <p:cBhvr>
                                        <p:cTn id="103" dur="380"/>
                                        <p:tgtEl>
                                          <p:spTgt spid="25"/>
                                        </p:tgtEl>
                                      </p:cBhvr>
                                    </p:animEffect>
                                    <p:anim calcmode="lin" valueType="num">
                                      <p:cBhvr additive="base">
                                        <p:cTn id="104" dur="380" fill="hold"/>
                                        <p:tgtEl>
                                          <p:spTgt spid="25"/>
                                        </p:tgtEl>
                                        <p:attrNameLst>
                                          <p:attrName>ppt_y</p:attrName>
                                        </p:attrNameLst>
                                      </p:cBhvr>
                                      <p:tavLst>
                                        <p:tav tm="0">
                                          <p:val>
                                            <p:strVal val="#ppt_y+0.03"/>
                                          </p:val>
                                        </p:tav>
                                        <p:tav tm="100000">
                                          <p:val>
                                            <p:strVal val="#ppt_y"/>
                                          </p:val>
                                        </p:tav>
                                      </p:tavLst>
                                    </p:anim>
                                  </p:childTnLst>
                                </p:cTn>
                              </p:par>
                              <p:par>
                                <p:cTn id="105" presetID="42" presetClass="entr" presetSubtype="0" fill="hold" grpId="0" nodeType="afterEffect">
                                  <p:stCondLst>
                                    <p:cond delay="1600"/>
                                  </p:stCondLst>
                                  <p:childTnLst>
                                    <p:set>
                                      <p:cBhvr>
                                        <p:cTn id="106" dur="1" fill="hold">
                                          <p:stCondLst>
                                            <p:cond delay="0"/>
                                          </p:stCondLst>
                                        </p:cTn>
                                        <p:tgtEl>
                                          <p:spTgt spid="26"/>
                                        </p:tgtEl>
                                        <p:attrNameLst>
                                          <p:attrName>style.visibility</p:attrName>
                                        </p:attrNameLst>
                                      </p:cBhvr>
                                      <p:to>
                                        <p:strVal val="visible"/>
                                      </p:to>
                                    </p:set>
                                    <p:animEffect transition="in" filter="fade">
                                      <p:cBhvr>
                                        <p:cTn id="107" dur="380"/>
                                        <p:tgtEl>
                                          <p:spTgt spid="26"/>
                                        </p:tgtEl>
                                      </p:cBhvr>
                                    </p:animEffect>
                                    <p:anim calcmode="lin" valueType="num">
                                      <p:cBhvr additive="base">
                                        <p:cTn id="108" dur="380" fill="hold"/>
                                        <p:tgtEl>
                                          <p:spTgt spid="26"/>
                                        </p:tgtEl>
                                        <p:attrNameLst>
                                          <p:attrName>ppt_y</p:attrName>
                                        </p:attrNameLst>
                                      </p:cBhvr>
                                      <p:tavLst>
                                        <p:tav tm="0">
                                          <p:val>
                                            <p:strVal val="#ppt_y+0.03"/>
                                          </p:val>
                                        </p:tav>
                                        <p:tav tm="100000">
                                          <p:val>
                                            <p:strVal val="#ppt_y"/>
                                          </p:val>
                                        </p:tav>
                                      </p:tavLst>
                                    </p:anim>
                                  </p:childTnLst>
                                </p:cTn>
                              </p:par>
                              <p:par>
                                <p:cTn id="109" presetID="42" presetClass="entr" presetSubtype="0" fill="hold" grpId="0" nodeType="afterEffect">
                                  <p:stCondLst>
                                    <p:cond delay="1664"/>
                                  </p:stCondLst>
                                  <p:childTnLst>
                                    <p:set>
                                      <p:cBhvr>
                                        <p:cTn id="110" dur="1" fill="hold">
                                          <p:stCondLst>
                                            <p:cond delay="0"/>
                                          </p:stCondLst>
                                        </p:cTn>
                                        <p:tgtEl>
                                          <p:spTgt spid="27"/>
                                        </p:tgtEl>
                                        <p:attrNameLst>
                                          <p:attrName>style.visibility</p:attrName>
                                        </p:attrNameLst>
                                      </p:cBhvr>
                                      <p:to>
                                        <p:strVal val="visible"/>
                                      </p:to>
                                    </p:set>
                                    <p:animEffect transition="in" filter="fade">
                                      <p:cBhvr>
                                        <p:cTn id="111" dur="380"/>
                                        <p:tgtEl>
                                          <p:spTgt spid="27"/>
                                        </p:tgtEl>
                                      </p:cBhvr>
                                    </p:animEffect>
                                    <p:anim calcmode="lin" valueType="num">
                                      <p:cBhvr additive="base">
                                        <p:cTn id="112" dur="380" fill="hold"/>
                                        <p:tgtEl>
                                          <p:spTgt spid="27"/>
                                        </p:tgtEl>
                                        <p:attrNameLst>
                                          <p:attrName>ppt_y</p:attrName>
                                        </p:attrNameLst>
                                      </p:cBhvr>
                                      <p:tavLst>
                                        <p:tav tm="0">
                                          <p:val>
                                            <p:strVal val="#ppt_y+0.03"/>
                                          </p:val>
                                        </p:tav>
                                        <p:tav tm="100000">
                                          <p:val>
                                            <p:strVal val="#ppt_y"/>
                                          </p:val>
                                        </p:tav>
                                      </p:tavLst>
                                    </p:anim>
                                  </p:childTnLst>
                                </p:cTn>
                              </p:par>
                              <p:par>
                                <p:cTn id="113" presetID="42" presetClass="entr" presetSubtype="0" fill="hold" grpId="0" nodeType="afterEffect">
                                  <p:stCondLst>
                                    <p:cond delay="1728"/>
                                  </p:stCondLst>
                                  <p:childTnLst>
                                    <p:set>
                                      <p:cBhvr>
                                        <p:cTn id="114" dur="1" fill="hold">
                                          <p:stCondLst>
                                            <p:cond delay="0"/>
                                          </p:stCondLst>
                                        </p:cTn>
                                        <p:tgtEl>
                                          <p:spTgt spid="28"/>
                                        </p:tgtEl>
                                        <p:attrNameLst>
                                          <p:attrName>style.visibility</p:attrName>
                                        </p:attrNameLst>
                                      </p:cBhvr>
                                      <p:to>
                                        <p:strVal val="visible"/>
                                      </p:to>
                                    </p:set>
                                    <p:animEffect transition="in" filter="fade">
                                      <p:cBhvr>
                                        <p:cTn id="115" dur="380"/>
                                        <p:tgtEl>
                                          <p:spTgt spid="28"/>
                                        </p:tgtEl>
                                      </p:cBhvr>
                                    </p:animEffect>
                                    <p:anim calcmode="lin" valueType="num">
                                      <p:cBhvr additive="base">
                                        <p:cTn id="116" dur="380" fill="hold"/>
                                        <p:tgtEl>
                                          <p:spTgt spid="28"/>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 grpId="0"/>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37744"/>
          </a:xfrm>
          <a:prstGeom prst="rect">
            <a:avLst/>
          </a:prstGeom>
          <a:noFill/>
          <a:ln/>
        </p:spPr>
        <p:txBody>
          <a:bodyPr wrap="square" lIns="0" tIns="0" rIns="0" bIns="0" rtlCol="0" anchor="ctr"/>
          <a:lstStyle/>
          <a:p>
            <a:pPr indent="0" marL="0">
              <a:buNone/>
            </a:pPr>
            <a:r>
              <a:rPr lang="en-US" sz="1050" b="1" spc="200" kern="0" dirty="0">
                <a:solidFill>
                  <a:srgbClr val="00C39A"/>
                </a:solidFill>
                <a:latin typeface="Calibri" pitchFamily="34" charset="0"/>
                <a:ea typeface="Calibri" pitchFamily="34" charset="-122"/>
                <a:cs typeface="Calibri" pitchFamily="34" charset="-120"/>
              </a:rPr>
              <a:t>ARCHITECTURE &amp; STACK</a:t>
            </a:r>
            <a:endParaRPr lang="en-US" sz="1050" dirty="0"/>
          </a:p>
        </p:txBody>
      </p:sp>
      <p:sp>
        <p:nvSpPr>
          <p:cNvPr id="3" name="Text 1"/>
          <p:cNvSpPr/>
          <p:nvPr/>
        </p:nvSpPr>
        <p:spPr>
          <a:xfrm>
            <a:off x="548640" y="658368"/>
            <a:ext cx="11064240" cy="658368"/>
          </a:xfrm>
          <a:prstGeom prst="rect">
            <a:avLst/>
          </a:prstGeom>
          <a:noFill/>
          <a:ln/>
        </p:spPr>
        <p:txBody>
          <a:bodyPr wrap="square" lIns="0" tIns="0" rIns="0" bIns="0" rtlCol="0" anchor="t"/>
          <a:lstStyle/>
          <a:p>
            <a:pPr indent="0" marL="0">
              <a:buNone/>
            </a:pPr>
            <a:r>
              <a:rPr lang="en-US" sz="3400" b="1" dirty="0">
                <a:solidFill>
                  <a:srgbClr val="141B3D"/>
                </a:solidFill>
                <a:latin typeface="Cambria" pitchFamily="34" charset="0"/>
                <a:ea typeface="Cambria" pitchFamily="34" charset="-122"/>
                <a:cs typeface="Cambria" pitchFamily="34" charset="-120"/>
              </a:rPr>
              <a:t>Built on open-source, self-hostable throughout</a:t>
            </a:r>
            <a:endParaRPr lang="en-US" sz="3400" dirty="0"/>
          </a:p>
        </p:txBody>
      </p:sp>
      <p:sp>
        <p:nvSpPr>
          <p:cNvPr id="4" name="Text 2"/>
          <p:cNvSpPr/>
          <p:nvPr/>
        </p:nvSpPr>
        <p:spPr>
          <a:xfrm>
            <a:off x="548640" y="1371600"/>
            <a:ext cx="10424160" cy="329184"/>
          </a:xfrm>
          <a:prstGeom prst="rect">
            <a:avLst/>
          </a:prstGeom>
          <a:noFill/>
          <a:ln/>
        </p:spPr>
        <p:txBody>
          <a:bodyPr wrap="square" lIns="0" tIns="0" rIns="0" bIns="0" rtlCol="0" anchor="ctr"/>
          <a:lstStyle/>
          <a:p>
            <a:pPr indent="0" marL="0">
              <a:buNone/>
            </a:pPr>
            <a:r>
              <a:rPr lang="en-US" sz="1400" dirty="0">
                <a:solidFill>
                  <a:srgbClr val="646E8C"/>
                </a:solidFill>
                <a:latin typeface="Calibri" pitchFamily="34" charset="0"/>
                <a:ea typeface="Calibri" pitchFamily="34" charset="-122"/>
                <a:cs typeface="Calibri" pitchFamily="34" charset="-120"/>
              </a:rPr>
              <a:t>No licensing cost to the institution at any layer. The same Docker image runs on cloud hosting or a college virtual machine.</a:t>
            </a:r>
            <a:endParaRPr lang="en-US" sz="1400" dirty="0"/>
          </a:p>
        </p:txBody>
      </p:sp>
      <p:sp>
        <p:nvSpPr>
          <p:cNvPr id="5" name="Shape 3"/>
          <p:cNvSpPr/>
          <p:nvPr/>
        </p:nvSpPr>
        <p:spPr>
          <a:xfrm>
            <a:off x="499720" y="1956816"/>
            <a:ext cx="2578608" cy="1938528"/>
          </a:xfrm>
          <a:prstGeom prst="roundRect">
            <a:avLst>
              <a:gd name="adj" fmla="val 4245"/>
            </a:avLst>
          </a:prstGeom>
          <a:solidFill>
            <a:srgbClr val="F4F6FC"/>
          </a:solidFill>
          <a:ln w="9525">
            <a:solidFill>
              <a:srgbClr val="F4F6FC"/>
            </a:solidFill>
            <a:prstDash val="solid"/>
          </a:ln>
          <a:effectLst>
            <a:outerShdw sx="100000" sy="100000" kx="0" ky="0" algn="bl" rotWithShape="0" blurRad="177800" dist="38100" dir="5400000">
              <a:srgbClr val="1E2761">
                <a:alpha val="10000"/>
              </a:srgbClr>
            </a:outerShdw>
          </a:effectLst>
        </p:spPr>
      </p:sp>
      <p:sp>
        <p:nvSpPr>
          <p:cNvPr id="6" name="Shape 4"/>
          <p:cNvSpPr/>
          <p:nvPr/>
        </p:nvSpPr>
        <p:spPr>
          <a:xfrm>
            <a:off x="719176" y="2157984"/>
            <a:ext cx="493776" cy="493776"/>
          </a:xfrm>
          <a:prstGeom prst="ellipse">
            <a:avLst/>
          </a:prstGeom>
          <a:solidFill>
            <a:srgbClr val="1E2761"/>
          </a:solidFill>
          <a:ln w="12700">
            <a:solidFill>
              <a:srgbClr val="1E2761"/>
            </a:solidFill>
            <a:prstDash val="solid"/>
          </a:ln>
        </p:spPr>
      </p:sp>
      <p:pic>
        <p:nvPicPr>
          <p:cNvPr id="7" name="Image 0" descr="preencoded.png">    </p:cNvPr>
          <p:cNvPicPr>
            <a:picLocks noChangeAspect="1"/>
          </p:cNvPicPr>
          <p:nvPr/>
        </p:nvPicPr>
        <p:blipFill>
          <a:blip r:embed="rId1"/>
          <a:stretch>
            <a:fillRect/>
          </a:stretch>
        </p:blipFill>
        <p:spPr>
          <a:xfrm>
            <a:off x="862371" y="2301179"/>
            <a:ext cx="207386" cy="207386"/>
          </a:xfrm>
          <a:prstGeom prst="rect">
            <a:avLst/>
          </a:prstGeom>
        </p:spPr>
      </p:pic>
      <p:sp>
        <p:nvSpPr>
          <p:cNvPr id="8" name="Text 5"/>
          <p:cNvSpPr/>
          <p:nvPr/>
        </p:nvSpPr>
        <p:spPr>
          <a:xfrm>
            <a:off x="1322680" y="2157984"/>
            <a:ext cx="1572768" cy="493776"/>
          </a:xfrm>
          <a:prstGeom prst="rect">
            <a:avLst/>
          </a:prstGeom>
          <a:noFill/>
          <a:ln/>
        </p:spPr>
        <p:txBody>
          <a:bodyPr wrap="square" lIns="0" tIns="0" rIns="0" bIns="0" rtlCol="0" anchor="ctr"/>
          <a:lstStyle/>
          <a:p>
            <a:pPr indent="0" marL="0">
              <a:buNone/>
            </a:pPr>
            <a:r>
              <a:rPr lang="en-US" sz="1350" b="1" dirty="0">
                <a:solidFill>
                  <a:srgbClr val="141B3D"/>
                </a:solidFill>
                <a:latin typeface="Calibri" pitchFamily="34" charset="0"/>
                <a:ea typeface="Calibri" pitchFamily="34" charset="-122"/>
                <a:cs typeface="Calibri" pitchFamily="34" charset="-120"/>
              </a:rPr>
              <a:t>Frontend</a:t>
            </a:r>
            <a:endParaRPr lang="en-US" sz="1350" dirty="0"/>
          </a:p>
        </p:txBody>
      </p:sp>
      <p:sp>
        <p:nvSpPr>
          <p:cNvPr id="9" name="Text 6"/>
          <p:cNvSpPr/>
          <p:nvPr/>
        </p:nvSpPr>
        <p:spPr>
          <a:xfrm>
            <a:off x="719176" y="2743200"/>
            <a:ext cx="2139696" cy="603504"/>
          </a:xfrm>
          <a:prstGeom prst="rect">
            <a:avLst/>
          </a:prstGeom>
          <a:noFill/>
          <a:ln/>
        </p:spPr>
        <p:txBody>
          <a:bodyPr wrap="square" lIns="0" tIns="0" rIns="0" bIns="0" rtlCol="0" anchor="t"/>
          <a:lstStyle/>
          <a:p>
            <a:pPr indent="0" marL="0">
              <a:lnSpc>
                <a:spcPts val="1400"/>
              </a:lnSpc>
              <a:buNone/>
            </a:pPr>
            <a:r>
              <a:rPr lang="en-US" sz="1100" b="1" dirty="0">
                <a:solidFill>
                  <a:srgbClr val="3D5A9E"/>
                </a:solidFill>
                <a:latin typeface="Calibri" pitchFamily="34" charset="0"/>
                <a:ea typeface="Calibri" pitchFamily="34" charset="-122"/>
                <a:cs typeface="Calibri" pitchFamily="34" charset="-120"/>
              </a:rPr>
              <a:t>Next.js 14 · TypeScript · Tailwind</a:t>
            </a:r>
            <a:endParaRPr lang="en-US" sz="1100" dirty="0"/>
          </a:p>
        </p:txBody>
      </p:sp>
      <p:sp>
        <p:nvSpPr>
          <p:cNvPr id="10" name="Text 7"/>
          <p:cNvSpPr/>
          <p:nvPr/>
        </p:nvSpPr>
        <p:spPr>
          <a:xfrm>
            <a:off x="719176" y="3364992"/>
            <a:ext cx="2139696" cy="420624"/>
          </a:xfrm>
          <a:prstGeom prst="rect">
            <a:avLst/>
          </a:prstGeom>
          <a:noFill/>
          <a:ln/>
        </p:spPr>
        <p:txBody>
          <a:bodyPr wrap="square" lIns="0" tIns="0" rIns="0" bIns="0" rtlCol="0" anchor="t"/>
          <a:lstStyle/>
          <a:p>
            <a:pPr indent="0" marL="0">
              <a:lnSpc>
                <a:spcPts val="1250"/>
              </a:lnSpc>
              <a:buNone/>
            </a:pPr>
            <a:r>
              <a:rPr lang="en-US" sz="950" dirty="0">
                <a:solidFill>
                  <a:srgbClr val="646E8C"/>
                </a:solidFill>
                <a:latin typeface="Calibri" pitchFamily="34" charset="0"/>
                <a:ea typeface="Calibri" pitchFamily="34" charset="-122"/>
                <a:cs typeface="Calibri" pitchFamily="34" charset="-120"/>
              </a:rPr>
              <a:t>Admin, faculty and student portals</a:t>
            </a:r>
            <a:endParaRPr lang="en-US" sz="950" dirty="0"/>
          </a:p>
        </p:txBody>
      </p:sp>
      <p:sp>
        <p:nvSpPr>
          <p:cNvPr id="11" name="Shape 8"/>
          <p:cNvSpPr/>
          <p:nvPr/>
        </p:nvSpPr>
        <p:spPr>
          <a:xfrm>
            <a:off x="3370936" y="1956816"/>
            <a:ext cx="2578608" cy="1938528"/>
          </a:xfrm>
          <a:prstGeom prst="roundRect">
            <a:avLst>
              <a:gd name="adj" fmla="val 4245"/>
            </a:avLst>
          </a:prstGeom>
          <a:solidFill>
            <a:srgbClr val="F4F6FC"/>
          </a:solidFill>
          <a:ln w="9525">
            <a:solidFill>
              <a:srgbClr val="F4F6FC"/>
            </a:solidFill>
            <a:prstDash val="solid"/>
          </a:ln>
          <a:effectLst>
            <a:outerShdw sx="100000" sy="100000" kx="0" ky="0" algn="bl" rotWithShape="0" blurRad="177800" dist="38100" dir="5400000">
              <a:srgbClr val="1E2761">
                <a:alpha val="10000"/>
              </a:srgbClr>
            </a:outerShdw>
          </a:effectLst>
        </p:spPr>
      </p:sp>
      <p:sp>
        <p:nvSpPr>
          <p:cNvPr id="12" name="Shape 9"/>
          <p:cNvSpPr/>
          <p:nvPr/>
        </p:nvSpPr>
        <p:spPr>
          <a:xfrm>
            <a:off x="3590392" y="2157984"/>
            <a:ext cx="493776" cy="493776"/>
          </a:xfrm>
          <a:prstGeom prst="ellipse">
            <a:avLst/>
          </a:prstGeom>
          <a:solidFill>
            <a:srgbClr val="1E2761"/>
          </a:solidFill>
          <a:ln w="12700">
            <a:solidFill>
              <a:srgbClr val="1E2761"/>
            </a:solidFill>
            <a:prstDash val="solid"/>
          </a:ln>
        </p:spPr>
      </p:sp>
      <p:pic>
        <p:nvPicPr>
          <p:cNvPr id="13" name="Image 1" descr="preencoded.png">    </p:cNvPr>
          <p:cNvPicPr>
            <a:picLocks noChangeAspect="1"/>
          </p:cNvPicPr>
          <p:nvPr/>
        </p:nvPicPr>
        <p:blipFill>
          <a:blip r:embed="rId2"/>
          <a:stretch>
            <a:fillRect/>
          </a:stretch>
        </p:blipFill>
        <p:spPr>
          <a:xfrm>
            <a:off x="3733587" y="2301179"/>
            <a:ext cx="207386" cy="207386"/>
          </a:xfrm>
          <a:prstGeom prst="rect">
            <a:avLst/>
          </a:prstGeom>
        </p:spPr>
      </p:pic>
      <p:sp>
        <p:nvSpPr>
          <p:cNvPr id="14" name="Text 10"/>
          <p:cNvSpPr/>
          <p:nvPr/>
        </p:nvSpPr>
        <p:spPr>
          <a:xfrm>
            <a:off x="4193896" y="2157984"/>
            <a:ext cx="1572768" cy="493776"/>
          </a:xfrm>
          <a:prstGeom prst="rect">
            <a:avLst/>
          </a:prstGeom>
          <a:noFill/>
          <a:ln/>
        </p:spPr>
        <p:txBody>
          <a:bodyPr wrap="square" lIns="0" tIns="0" rIns="0" bIns="0" rtlCol="0" anchor="ctr"/>
          <a:lstStyle/>
          <a:p>
            <a:pPr indent="0" marL="0">
              <a:buNone/>
            </a:pPr>
            <a:r>
              <a:rPr lang="en-US" sz="1350" b="1" dirty="0">
                <a:solidFill>
                  <a:srgbClr val="141B3D"/>
                </a:solidFill>
                <a:latin typeface="Calibri" pitchFamily="34" charset="0"/>
                <a:ea typeface="Calibri" pitchFamily="34" charset="-122"/>
                <a:cs typeface="Calibri" pitchFamily="34" charset="-120"/>
              </a:rPr>
              <a:t>Code editor</a:t>
            </a:r>
            <a:endParaRPr lang="en-US" sz="1350" dirty="0"/>
          </a:p>
        </p:txBody>
      </p:sp>
      <p:sp>
        <p:nvSpPr>
          <p:cNvPr id="15" name="Text 11"/>
          <p:cNvSpPr/>
          <p:nvPr/>
        </p:nvSpPr>
        <p:spPr>
          <a:xfrm>
            <a:off x="3590392" y="2743200"/>
            <a:ext cx="2139696" cy="603504"/>
          </a:xfrm>
          <a:prstGeom prst="rect">
            <a:avLst/>
          </a:prstGeom>
          <a:noFill/>
          <a:ln/>
        </p:spPr>
        <p:txBody>
          <a:bodyPr wrap="square" lIns="0" tIns="0" rIns="0" bIns="0" rtlCol="0" anchor="t"/>
          <a:lstStyle/>
          <a:p>
            <a:pPr indent="0" marL="0">
              <a:lnSpc>
                <a:spcPts val="1400"/>
              </a:lnSpc>
              <a:buNone/>
            </a:pPr>
            <a:r>
              <a:rPr lang="en-US" sz="1100" b="1" dirty="0">
                <a:solidFill>
                  <a:srgbClr val="3D5A9E"/>
                </a:solidFill>
                <a:latin typeface="Calibri" pitchFamily="34" charset="0"/>
                <a:ea typeface="Calibri" pitchFamily="34" charset="-122"/>
                <a:cs typeface="Calibri" pitchFamily="34" charset="-120"/>
              </a:rPr>
              <a:t>Monaco Editor</a:t>
            </a:r>
            <a:endParaRPr lang="en-US" sz="1100" dirty="0"/>
          </a:p>
        </p:txBody>
      </p:sp>
      <p:sp>
        <p:nvSpPr>
          <p:cNvPr id="16" name="Text 12"/>
          <p:cNvSpPr/>
          <p:nvPr/>
        </p:nvSpPr>
        <p:spPr>
          <a:xfrm>
            <a:off x="3590392" y="3364992"/>
            <a:ext cx="2139696" cy="420624"/>
          </a:xfrm>
          <a:prstGeom prst="rect">
            <a:avLst/>
          </a:prstGeom>
          <a:noFill/>
          <a:ln/>
        </p:spPr>
        <p:txBody>
          <a:bodyPr wrap="square" lIns="0" tIns="0" rIns="0" bIns="0" rtlCol="0" anchor="t"/>
          <a:lstStyle/>
          <a:p>
            <a:pPr indent="0" marL="0">
              <a:lnSpc>
                <a:spcPts val="1250"/>
              </a:lnSpc>
              <a:buNone/>
            </a:pPr>
            <a:r>
              <a:rPr lang="en-US" sz="950" dirty="0">
                <a:solidFill>
                  <a:srgbClr val="646E8C"/>
                </a:solidFill>
                <a:latin typeface="Calibri" pitchFamily="34" charset="0"/>
                <a:ea typeface="Calibri" pitchFamily="34" charset="-122"/>
                <a:cs typeface="Calibri" pitchFamily="34" charset="-120"/>
              </a:rPr>
              <a:t>Multi-file in-browser IDE, 5 languages</a:t>
            </a:r>
            <a:endParaRPr lang="en-US" sz="950" dirty="0"/>
          </a:p>
        </p:txBody>
      </p:sp>
      <p:sp>
        <p:nvSpPr>
          <p:cNvPr id="17" name="Shape 13"/>
          <p:cNvSpPr/>
          <p:nvPr/>
        </p:nvSpPr>
        <p:spPr>
          <a:xfrm>
            <a:off x="6242152" y="1956816"/>
            <a:ext cx="2578608" cy="1938528"/>
          </a:xfrm>
          <a:prstGeom prst="roundRect">
            <a:avLst>
              <a:gd name="adj" fmla="val 4245"/>
            </a:avLst>
          </a:prstGeom>
          <a:solidFill>
            <a:srgbClr val="F4F6FC"/>
          </a:solidFill>
          <a:ln w="9525">
            <a:solidFill>
              <a:srgbClr val="F4F6FC"/>
            </a:solidFill>
            <a:prstDash val="solid"/>
          </a:ln>
          <a:effectLst>
            <a:outerShdw sx="100000" sy="100000" kx="0" ky="0" algn="bl" rotWithShape="0" blurRad="177800" dist="38100" dir="5400000">
              <a:srgbClr val="1E2761">
                <a:alpha val="10000"/>
              </a:srgbClr>
            </a:outerShdw>
          </a:effectLst>
        </p:spPr>
      </p:sp>
      <p:sp>
        <p:nvSpPr>
          <p:cNvPr id="18" name="Shape 14"/>
          <p:cNvSpPr/>
          <p:nvPr/>
        </p:nvSpPr>
        <p:spPr>
          <a:xfrm>
            <a:off x="6461608" y="2157984"/>
            <a:ext cx="493776" cy="493776"/>
          </a:xfrm>
          <a:prstGeom prst="ellipse">
            <a:avLst/>
          </a:prstGeom>
          <a:solidFill>
            <a:srgbClr val="1E2761"/>
          </a:solidFill>
          <a:ln w="12700">
            <a:solidFill>
              <a:srgbClr val="1E2761"/>
            </a:solidFill>
            <a:prstDash val="solid"/>
          </a:ln>
        </p:spPr>
      </p:sp>
      <p:pic>
        <p:nvPicPr>
          <p:cNvPr id="19" name="Image 2" descr="preencoded.png">    </p:cNvPr>
          <p:cNvPicPr>
            <a:picLocks noChangeAspect="1"/>
          </p:cNvPicPr>
          <p:nvPr/>
        </p:nvPicPr>
        <p:blipFill>
          <a:blip r:embed="rId3"/>
          <a:stretch>
            <a:fillRect/>
          </a:stretch>
        </p:blipFill>
        <p:spPr>
          <a:xfrm>
            <a:off x="6604803" y="2301179"/>
            <a:ext cx="207386" cy="207386"/>
          </a:xfrm>
          <a:prstGeom prst="rect">
            <a:avLst/>
          </a:prstGeom>
        </p:spPr>
      </p:pic>
      <p:sp>
        <p:nvSpPr>
          <p:cNvPr id="20" name="Text 15"/>
          <p:cNvSpPr/>
          <p:nvPr/>
        </p:nvSpPr>
        <p:spPr>
          <a:xfrm>
            <a:off x="7065112" y="2157984"/>
            <a:ext cx="1572768" cy="493776"/>
          </a:xfrm>
          <a:prstGeom prst="rect">
            <a:avLst/>
          </a:prstGeom>
          <a:noFill/>
          <a:ln/>
        </p:spPr>
        <p:txBody>
          <a:bodyPr wrap="square" lIns="0" tIns="0" rIns="0" bIns="0" rtlCol="0" anchor="ctr"/>
          <a:lstStyle/>
          <a:p>
            <a:pPr indent="0" marL="0">
              <a:buNone/>
            </a:pPr>
            <a:r>
              <a:rPr lang="en-US" sz="1350" b="1" dirty="0">
                <a:solidFill>
                  <a:srgbClr val="141B3D"/>
                </a:solidFill>
                <a:latin typeface="Calibri" pitchFamily="34" charset="0"/>
                <a:ea typeface="Calibri" pitchFamily="34" charset="-122"/>
                <a:cs typeface="Calibri" pitchFamily="34" charset="-120"/>
              </a:rPr>
              <a:t>Backend / API</a:t>
            </a:r>
            <a:endParaRPr lang="en-US" sz="1350" dirty="0"/>
          </a:p>
        </p:txBody>
      </p:sp>
      <p:sp>
        <p:nvSpPr>
          <p:cNvPr id="21" name="Text 16"/>
          <p:cNvSpPr/>
          <p:nvPr/>
        </p:nvSpPr>
        <p:spPr>
          <a:xfrm>
            <a:off x="6461608" y="2743200"/>
            <a:ext cx="2139696" cy="603504"/>
          </a:xfrm>
          <a:prstGeom prst="rect">
            <a:avLst/>
          </a:prstGeom>
          <a:noFill/>
          <a:ln/>
        </p:spPr>
        <p:txBody>
          <a:bodyPr wrap="square" lIns="0" tIns="0" rIns="0" bIns="0" rtlCol="0" anchor="t"/>
          <a:lstStyle/>
          <a:p>
            <a:pPr indent="0" marL="0">
              <a:lnSpc>
                <a:spcPts val="1400"/>
              </a:lnSpc>
              <a:buNone/>
            </a:pPr>
            <a:r>
              <a:rPr lang="en-US" sz="1100" b="1" dirty="0">
                <a:solidFill>
                  <a:srgbClr val="3D5A9E"/>
                </a:solidFill>
                <a:latin typeface="Calibri" pitchFamily="34" charset="0"/>
                <a:ea typeface="Calibri" pitchFamily="34" charset="-122"/>
                <a:cs typeface="Calibri" pitchFamily="34" charset="-120"/>
              </a:rPr>
              <a:t>Next.js API routes · ws · node-pty</a:t>
            </a:r>
            <a:endParaRPr lang="en-US" sz="1100" dirty="0"/>
          </a:p>
        </p:txBody>
      </p:sp>
      <p:sp>
        <p:nvSpPr>
          <p:cNvPr id="22" name="Text 17"/>
          <p:cNvSpPr/>
          <p:nvPr/>
        </p:nvSpPr>
        <p:spPr>
          <a:xfrm>
            <a:off x="6461608" y="3364992"/>
            <a:ext cx="2139696" cy="420624"/>
          </a:xfrm>
          <a:prstGeom prst="rect">
            <a:avLst/>
          </a:prstGeom>
          <a:noFill/>
          <a:ln/>
        </p:spPr>
        <p:txBody>
          <a:bodyPr wrap="square" lIns="0" tIns="0" rIns="0" bIns="0" rtlCol="0" anchor="t"/>
          <a:lstStyle/>
          <a:p>
            <a:pPr indent="0" marL="0">
              <a:lnSpc>
                <a:spcPts val="1250"/>
              </a:lnSpc>
              <a:buNone/>
            </a:pPr>
            <a:r>
              <a:rPr lang="en-US" sz="950" dirty="0">
                <a:solidFill>
                  <a:srgbClr val="646E8C"/>
                </a:solidFill>
                <a:latin typeface="Calibri" pitchFamily="34" charset="0"/>
                <a:ea typeface="Calibri" pitchFamily="34" charset="-122"/>
                <a:cs typeface="Calibri" pitchFamily="34" charset="-120"/>
              </a:rPr>
              <a:t>REST endpoints, live terminal</a:t>
            </a:r>
            <a:endParaRPr lang="en-US" sz="950" dirty="0"/>
          </a:p>
        </p:txBody>
      </p:sp>
      <p:sp>
        <p:nvSpPr>
          <p:cNvPr id="23" name="Shape 18"/>
          <p:cNvSpPr/>
          <p:nvPr/>
        </p:nvSpPr>
        <p:spPr>
          <a:xfrm>
            <a:off x="9113368" y="1956816"/>
            <a:ext cx="2578608" cy="1938528"/>
          </a:xfrm>
          <a:prstGeom prst="roundRect">
            <a:avLst>
              <a:gd name="adj" fmla="val 4245"/>
            </a:avLst>
          </a:prstGeom>
          <a:solidFill>
            <a:srgbClr val="F4F6FC"/>
          </a:solidFill>
          <a:ln w="9525">
            <a:solidFill>
              <a:srgbClr val="F4F6FC"/>
            </a:solidFill>
            <a:prstDash val="solid"/>
          </a:ln>
          <a:effectLst>
            <a:outerShdw sx="100000" sy="100000" kx="0" ky="0" algn="bl" rotWithShape="0" blurRad="177800" dist="38100" dir="5400000">
              <a:srgbClr val="1E2761">
                <a:alpha val="10000"/>
              </a:srgbClr>
            </a:outerShdw>
          </a:effectLst>
        </p:spPr>
      </p:sp>
      <p:sp>
        <p:nvSpPr>
          <p:cNvPr id="24" name="Shape 19"/>
          <p:cNvSpPr/>
          <p:nvPr/>
        </p:nvSpPr>
        <p:spPr>
          <a:xfrm>
            <a:off x="9332824" y="2157984"/>
            <a:ext cx="493776" cy="493776"/>
          </a:xfrm>
          <a:prstGeom prst="ellipse">
            <a:avLst/>
          </a:prstGeom>
          <a:solidFill>
            <a:srgbClr val="1E2761"/>
          </a:solidFill>
          <a:ln w="12700">
            <a:solidFill>
              <a:srgbClr val="1E2761"/>
            </a:solidFill>
            <a:prstDash val="solid"/>
          </a:ln>
        </p:spPr>
      </p:sp>
      <p:pic>
        <p:nvPicPr>
          <p:cNvPr id="25" name="Image 3" descr="preencoded.png">    </p:cNvPr>
          <p:cNvPicPr>
            <a:picLocks noChangeAspect="1"/>
          </p:cNvPicPr>
          <p:nvPr/>
        </p:nvPicPr>
        <p:blipFill>
          <a:blip r:embed="rId4"/>
          <a:stretch>
            <a:fillRect/>
          </a:stretch>
        </p:blipFill>
        <p:spPr>
          <a:xfrm>
            <a:off x="9476019" y="2301179"/>
            <a:ext cx="207386" cy="207386"/>
          </a:xfrm>
          <a:prstGeom prst="rect">
            <a:avLst/>
          </a:prstGeom>
        </p:spPr>
      </p:pic>
      <p:sp>
        <p:nvSpPr>
          <p:cNvPr id="26" name="Text 20"/>
          <p:cNvSpPr/>
          <p:nvPr/>
        </p:nvSpPr>
        <p:spPr>
          <a:xfrm>
            <a:off x="9936328" y="2157984"/>
            <a:ext cx="1572768" cy="493776"/>
          </a:xfrm>
          <a:prstGeom prst="rect">
            <a:avLst/>
          </a:prstGeom>
          <a:noFill/>
          <a:ln/>
        </p:spPr>
        <p:txBody>
          <a:bodyPr wrap="square" lIns="0" tIns="0" rIns="0" bIns="0" rtlCol="0" anchor="ctr"/>
          <a:lstStyle/>
          <a:p>
            <a:pPr indent="0" marL="0">
              <a:buNone/>
            </a:pPr>
            <a:r>
              <a:rPr lang="en-US" sz="1350" b="1" dirty="0">
                <a:solidFill>
                  <a:srgbClr val="141B3D"/>
                </a:solidFill>
                <a:latin typeface="Calibri" pitchFamily="34" charset="0"/>
                <a:ea typeface="Calibri" pitchFamily="34" charset="-122"/>
                <a:cs typeface="Calibri" pitchFamily="34" charset="-120"/>
              </a:rPr>
              <a:t>Database / ORM</a:t>
            </a:r>
            <a:endParaRPr lang="en-US" sz="1350" dirty="0"/>
          </a:p>
        </p:txBody>
      </p:sp>
      <p:sp>
        <p:nvSpPr>
          <p:cNvPr id="27" name="Text 21"/>
          <p:cNvSpPr/>
          <p:nvPr/>
        </p:nvSpPr>
        <p:spPr>
          <a:xfrm>
            <a:off x="9332824" y="2743200"/>
            <a:ext cx="2139696" cy="603504"/>
          </a:xfrm>
          <a:prstGeom prst="rect">
            <a:avLst/>
          </a:prstGeom>
          <a:noFill/>
          <a:ln/>
        </p:spPr>
        <p:txBody>
          <a:bodyPr wrap="square" lIns="0" tIns="0" rIns="0" bIns="0" rtlCol="0" anchor="t"/>
          <a:lstStyle/>
          <a:p>
            <a:pPr indent="0" marL="0">
              <a:lnSpc>
                <a:spcPts val="1400"/>
              </a:lnSpc>
              <a:buNone/>
            </a:pPr>
            <a:r>
              <a:rPr lang="en-US" sz="1100" b="1" dirty="0">
                <a:solidFill>
                  <a:srgbClr val="3D5A9E"/>
                </a:solidFill>
                <a:latin typeface="Calibri" pitchFamily="34" charset="0"/>
                <a:ea typeface="Calibri" pitchFamily="34" charset="-122"/>
                <a:cs typeface="Calibri" pitchFamily="34" charset="-120"/>
              </a:rPr>
              <a:t>Prisma ORM · PostgreSQL</a:t>
            </a:r>
            <a:endParaRPr lang="en-US" sz="1100" dirty="0"/>
          </a:p>
        </p:txBody>
      </p:sp>
      <p:sp>
        <p:nvSpPr>
          <p:cNvPr id="28" name="Text 22"/>
          <p:cNvSpPr/>
          <p:nvPr/>
        </p:nvSpPr>
        <p:spPr>
          <a:xfrm>
            <a:off x="9332824" y="3364992"/>
            <a:ext cx="2139696" cy="420624"/>
          </a:xfrm>
          <a:prstGeom prst="rect">
            <a:avLst/>
          </a:prstGeom>
          <a:noFill/>
          <a:ln/>
        </p:spPr>
        <p:txBody>
          <a:bodyPr wrap="square" lIns="0" tIns="0" rIns="0" bIns="0" rtlCol="0" anchor="t"/>
          <a:lstStyle/>
          <a:p>
            <a:pPr indent="0" marL="0">
              <a:lnSpc>
                <a:spcPts val="1250"/>
              </a:lnSpc>
              <a:buNone/>
            </a:pPr>
            <a:r>
              <a:rPr lang="en-US" sz="950" dirty="0">
                <a:solidFill>
                  <a:srgbClr val="646E8C"/>
                </a:solidFill>
                <a:latin typeface="Calibri" pitchFamily="34" charset="0"/>
                <a:ea typeface="Calibri" pitchFamily="34" charset="-122"/>
                <a:cs typeface="Calibri" pitchFamily="34" charset="-120"/>
              </a:rPr>
              <a:t>Users, labs, submissions, grades</a:t>
            </a:r>
            <a:endParaRPr lang="en-US" sz="950" dirty="0"/>
          </a:p>
        </p:txBody>
      </p:sp>
      <p:sp>
        <p:nvSpPr>
          <p:cNvPr id="29" name="Shape 23"/>
          <p:cNvSpPr/>
          <p:nvPr/>
        </p:nvSpPr>
        <p:spPr>
          <a:xfrm>
            <a:off x="1935328" y="4151376"/>
            <a:ext cx="2578608" cy="1938528"/>
          </a:xfrm>
          <a:prstGeom prst="roundRect">
            <a:avLst>
              <a:gd name="adj" fmla="val 4245"/>
            </a:avLst>
          </a:prstGeom>
          <a:solidFill>
            <a:srgbClr val="141B3D"/>
          </a:solidFill>
          <a:ln w="9525">
            <a:solidFill>
              <a:srgbClr val="141B3D"/>
            </a:solidFill>
            <a:prstDash val="solid"/>
          </a:ln>
          <a:effectLst>
            <a:outerShdw sx="100000" sy="100000" kx="0" ky="0" algn="bl" rotWithShape="0" blurRad="177800" dist="38100" dir="5400000">
              <a:srgbClr val="1E2761">
                <a:alpha val="10000"/>
              </a:srgbClr>
            </a:outerShdw>
          </a:effectLst>
        </p:spPr>
      </p:sp>
      <p:sp>
        <p:nvSpPr>
          <p:cNvPr id="30" name="Shape 24"/>
          <p:cNvSpPr/>
          <p:nvPr/>
        </p:nvSpPr>
        <p:spPr>
          <a:xfrm>
            <a:off x="2154784" y="4352544"/>
            <a:ext cx="493776" cy="493776"/>
          </a:xfrm>
          <a:prstGeom prst="ellipse">
            <a:avLst/>
          </a:prstGeom>
          <a:solidFill>
            <a:srgbClr val="2B3560"/>
          </a:solidFill>
          <a:ln w="12700">
            <a:solidFill>
              <a:srgbClr val="2B3560"/>
            </a:solidFill>
            <a:prstDash val="solid"/>
          </a:ln>
        </p:spPr>
      </p:sp>
      <p:pic>
        <p:nvPicPr>
          <p:cNvPr id="31" name="Image 4" descr="preencoded.png">    </p:cNvPr>
          <p:cNvPicPr>
            <a:picLocks noChangeAspect="1"/>
          </p:cNvPicPr>
          <p:nvPr/>
        </p:nvPicPr>
        <p:blipFill>
          <a:blip r:embed="rId5"/>
          <a:stretch>
            <a:fillRect/>
          </a:stretch>
        </p:blipFill>
        <p:spPr>
          <a:xfrm>
            <a:off x="2297979" y="4495739"/>
            <a:ext cx="207386" cy="207386"/>
          </a:xfrm>
          <a:prstGeom prst="rect">
            <a:avLst/>
          </a:prstGeom>
        </p:spPr>
      </p:pic>
      <p:sp>
        <p:nvSpPr>
          <p:cNvPr id="32" name="Text 25"/>
          <p:cNvSpPr/>
          <p:nvPr/>
        </p:nvSpPr>
        <p:spPr>
          <a:xfrm>
            <a:off x="2758288" y="4352544"/>
            <a:ext cx="1572768" cy="49377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Authentication</a:t>
            </a:r>
            <a:endParaRPr lang="en-US" sz="1350" dirty="0"/>
          </a:p>
        </p:txBody>
      </p:sp>
      <p:sp>
        <p:nvSpPr>
          <p:cNvPr id="33" name="Text 26"/>
          <p:cNvSpPr/>
          <p:nvPr/>
        </p:nvSpPr>
        <p:spPr>
          <a:xfrm>
            <a:off x="2154784" y="4937760"/>
            <a:ext cx="2139696" cy="603504"/>
          </a:xfrm>
          <a:prstGeom prst="rect">
            <a:avLst/>
          </a:prstGeom>
          <a:noFill/>
          <a:ln/>
        </p:spPr>
        <p:txBody>
          <a:bodyPr wrap="square" lIns="0" tIns="0" rIns="0" bIns="0" rtlCol="0" anchor="t"/>
          <a:lstStyle/>
          <a:p>
            <a:pPr indent="0" marL="0">
              <a:lnSpc>
                <a:spcPts val="1400"/>
              </a:lnSpc>
              <a:buNone/>
            </a:pPr>
            <a:r>
              <a:rPr lang="en-US" sz="1100" b="1" dirty="0">
                <a:solidFill>
                  <a:srgbClr val="00C39A"/>
                </a:solidFill>
                <a:latin typeface="Calibri" pitchFamily="34" charset="0"/>
                <a:ea typeface="Calibri" pitchFamily="34" charset="-122"/>
                <a:cs typeface="Calibri" pitchFamily="34" charset="-120"/>
              </a:rPr>
              <a:t>JWT · bcryptjs</a:t>
            </a:r>
            <a:endParaRPr lang="en-US" sz="1100" dirty="0"/>
          </a:p>
        </p:txBody>
      </p:sp>
      <p:sp>
        <p:nvSpPr>
          <p:cNvPr id="34" name="Text 27"/>
          <p:cNvSpPr/>
          <p:nvPr/>
        </p:nvSpPr>
        <p:spPr>
          <a:xfrm>
            <a:off x="2154784" y="5559552"/>
            <a:ext cx="2139696" cy="420624"/>
          </a:xfrm>
          <a:prstGeom prst="rect">
            <a:avLst/>
          </a:prstGeom>
          <a:noFill/>
          <a:ln/>
        </p:spPr>
        <p:txBody>
          <a:bodyPr wrap="square" lIns="0" tIns="0" rIns="0" bIns="0" rtlCol="0" anchor="t"/>
          <a:lstStyle/>
          <a:p>
            <a:pPr indent="0" marL="0">
              <a:lnSpc>
                <a:spcPts val="1250"/>
              </a:lnSpc>
              <a:buNone/>
            </a:pPr>
            <a:r>
              <a:rPr lang="en-US" sz="950" dirty="0">
                <a:solidFill>
                  <a:srgbClr val="9AA6C4"/>
                </a:solidFill>
                <a:latin typeface="Calibri" pitchFamily="34" charset="0"/>
                <a:ea typeface="Calibri" pitchFamily="34" charset="-122"/>
                <a:cs typeface="Calibri" pitchFamily="34" charset="-120"/>
              </a:rPr>
              <a:t>Role-based tokens, hashed passwords</a:t>
            </a:r>
            <a:endParaRPr lang="en-US" sz="950" dirty="0"/>
          </a:p>
        </p:txBody>
      </p:sp>
      <p:sp>
        <p:nvSpPr>
          <p:cNvPr id="35" name="Shape 28"/>
          <p:cNvSpPr/>
          <p:nvPr/>
        </p:nvSpPr>
        <p:spPr>
          <a:xfrm>
            <a:off x="4806544" y="4151376"/>
            <a:ext cx="2578608" cy="1938528"/>
          </a:xfrm>
          <a:prstGeom prst="roundRect">
            <a:avLst>
              <a:gd name="adj" fmla="val 4245"/>
            </a:avLst>
          </a:prstGeom>
          <a:solidFill>
            <a:srgbClr val="141B3D"/>
          </a:solidFill>
          <a:ln w="9525">
            <a:solidFill>
              <a:srgbClr val="141B3D"/>
            </a:solidFill>
            <a:prstDash val="solid"/>
          </a:ln>
          <a:effectLst>
            <a:outerShdw sx="100000" sy="100000" kx="0" ky="0" algn="bl" rotWithShape="0" blurRad="177800" dist="38100" dir="5400000">
              <a:srgbClr val="1E2761">
                <a:alpha val="10000"/>
              </a:srgbClr>
            </a:outerShdw>
          </a:effectLst>
        </p:spPr>
      </p:sp>
      <p:sp>
        <p:nvSpPr>
          <p:cNvPr id="36" name="Shape 29"/>
          <p:cNvSpPr/>
          <p:nvPr/>
        </p:nvSpPr>
        <p:spPr>
          <a:xfrm>
            <a:off x="5026000" y="4352544"/>
            <a:ext cx="493776" cy="493776"/>
          </a:xfrm>
          <a:prstGeom prst="ellipse">
            <a:avLst/>
          </a:prstGeom>
          <a:solidFill>
            <a:srgbClr val="2B3560"/>
          </a:solidFill>
          <a:ln w="12700">
            <a:solidFill>
              <a:srgbClr val="2B3560"/>
            </a:solidFill>
            <a:prstDash val="solid"/>
          </a:ln>
        </p:spPr>
      </p:sp>
      <p:pic>
        <p:nvPicPr>
          <p:cNvPr id="37" name="Image 5" descr="preencoded.png">    </p:cNvPr>
          <p:cNvPicPr>
            <a:picLocks noChangeAspect="1"/>
          </p:cNvPicPr>
          <p:nvPr/>
        </p:nvPicPr>
        <p:blipFill>
          <a:blip r:embed="rId6"/>
          <a:stretch>
            <a:fillRect/>
          </a:stretch>
        </p:blipFill>
        <p:spPr>
          <a:xfrm>
            <a:off x="5169195" y="4495739"/>
            <a:ext cx="207386" cy="207386"/>
          </a:xfrm>
          <a:prstGeom prst="rect">
            <a:avLst/>
          </a:prstGeom>
        </p:spPr>
      </p:pic>
      <p:sp>
        <p:nvSpPr>
          <p:cNvPr id="38" name="Text 30"/>
          <p:cNvSpPr/>
          <p:nvPr/>
        </p:nvSpPr>
        <p:spPr>
          <a:xfrm>
            <a:off x="5629504" y="4352544"/>
            <a:ext cx="1572768" cy="49377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Execution engine</a:t>
            </a:r>
            <a:endParaRPr lang="en-US" sz="1350" dirty="0"/>
          </a:p>
        </p:txBody>
      </p:sp>
      <p:sp>
        <p:nvSpPr>
          <p:cNvPr id="39" name="Text 31"/>
          <p:cNvSpPr/>
          <p:nvPr/>
        </p:nvSpPr>
        <p:spPr>
          <a:xfrm>
            <a:off x="5026000" y="4937760"/>
            <a:ext cx="2139696" cy="603504"/>
          </a:xfrm>
          <a:prstGeom prst="rect">
            <a:avLst/>
          </a:prstGeom>
          <a:noFill/>
          <a:ln/>
        </p:spPr>
        <p:txBody>
          <a:bodyPr wrap="square" lIns="0" tIns="0" rIns="0" bIns="0" rtlCol="0" anchor="t"/>
          <a:lstStyle/>
          <a:p>
            <a:pPr indent="0" marL="0">
              <a:lnSpc>
                <a:spcPts val="1400"/>
              </a:lnSpc>
              <a:buNone/>
            </a:pPr>
            <a:r>
              <a:rPr lang="en-US" sz="1100" b="1" dirty="0">
                <a:solidFill>
                  <a:srgbClr val="00C39A"/>
                </a:solidFill>
                <a:latin typeface="Calibri" pitchFamily="34" charset="0"/>
                <a:ea typeface="Calibri" pitchFamily="34" charset="-122"/>
                <a:cs typeface="Calibri" pitchFamily="34" charset="-120"/>
              </a:rPr>
              <a:t>Docker · GCC, G++, JDK 17, Python 3, Node</a:t>
            </a:r>
            <a:endParaRPr lang="en-US" sz="1100" dirty="0"/>
          </a:p>
        </p:txBody>
      </p:sp>
      <p:sp>
        <p:nvSpPr>
          <p:cNvPr id="40" name="Text 32"/>
          <p:cNvSpPr/>
          <p:nvPr/>
        </p:nvSpPr>
        <p:spPr>
          <a:xfrm>
            <a:off x="5026000" y="5559552"/>
            <a:ext cx="2139696" cy="420624"/>
          </a:xfrm>
          <a:prstGeom prst="rect">
            <a:avLst/>
          </a:prstGeom>
          <a:noFill/>
          <a:ln/>
        </p:spPr>
        <p:txBody>
          <a:bodyPr wrap="square" lIns="0" tIns="0" rIns="0" bIns="0" rtlCol="0" anchor="t"/>
          <a:lstStyle/>
          <a:p>
            <a:pPr indent="0" marL="0">
              <a:lnSpc>
                <a:spcPts val="1250"/>
              </a:lnSpc>
              <a:buNone/>
            </a:pPr>
            <a:r>
              <a:rPr lang="en-US" sz="950" dirty="0">
                <a:solidFill>
                  <a:srgbClr val="9AA6C4"/>
                </a:solidFill>
                <a:latin typeface="Calibri" pitchFamily="34" charset="0"/>
                <a:ea typeface="Calibri" pitchFamily="34" charset="-122"/>
                <a:cs typeface="Calibri" pitchFamily="34" charset="-120"/>
              </a:rPr>
              <a:t>Compiles and runs every submission</a:t>
            </a:r>
            <a:endParaRPr lang="en-US" sz="950" dirty="0"/>
          </a:p>
        </p:txBody>
      </p:sp>
      <p:sp>
        <p:nvSpPr>
          <p:cNvPr id="41" name="Shape 33"/>
          <p:cNvSpPr/>
          <p:nvPr/>
        </p:nvSpPr>
        <p:spPr>
          <a:xfrm>
            <a:off x="7677760" y="4151376"/>
            <a:ext cx="2578608" cy="1938528"/>
          </a:xfrm>
          <a:prstGeom prst="roundRect">
            <a:avLst>
              <a:gd name="adj" fmla="val 4245"/>
            </a:avLst>
          </a:prstGeom>
          <a:solidFill>
            <a:srgbClr val="141B3D"/>
          </a:solidFill>
          <a:ln w="9525">
            <a:solidFill>
              <a:srgbClr val="141B3D"/>
            </a:solidFill>
            <a:prstDash val="solid"/>
          </a:ln>
          <a:effectLst>
            <a:outerShdw sx="100000" sy="100000" kx="0" ky="0" algn="bl" rotWithShape="0" blurRad="177800" dist="38100" dir="5400000">
              <a:srgbClr val="1E2761">
                <a:alpha val="10000"/>
              </a:srgbClr>
            </a:outerShdw>
          </a:effectLst>
        </p:spPr>
      </p:sp>
      <p:sp>
        <p:nvSpPr>
          <p:cNvPr id="42" name="Shape 34"/>
          <p:cNvSpPr/>
          <p:nvPr/>
        </p:nvSpPr>
        <p:spPr>
          <a:xfrm>
            <a:off x="7897216" y="4352544"/>
            <a:ext cx="493776" cy="493776"/>
          </a:xfrm>
          <a:prstGeom prst="ellipse">
            <a:avLst/>
          </a:prstGeom>
          <a:solidFill>
            <a:srgbClr val="2B3560"/>
          </a:solidFill>
          <a:ln w="12700">
            <a:solidFill>
              <a:srgbClr val="2B3560"/>
            </a:solidFill>
            <a:prstDash val="solid"/>
          </a:ln>
        </p:spPr>
      </p:sp>
      <p:pic>
        <p:nvPicPr>
          <p:cNvPr id="43" name="Image 6" descr="preencoded.png">    </p:cNvPr>
          <p:cNvPicPr>
            <a:picLocks noChangeAspect="1"/>
          </p:cNvPicPr>
          <p:nvPr/>
        </p:nvPicPr>
        <p:blipFill>
          <a:blip r:embed="rId7"/>
          <a:stretch>
            <a:fillRect/>
          </a:stretch>
        </p:blipFill>
        <p:spPr>
          <a:xfrm>
            <a:off x="8040411" y="4495739"/>
            <a:ext cx="207386" cy="207386"/>
          </a:xfrm>
          <a:prstGeom prst="rect">
            <a:avLst/>
          </a:prstGeom>
        </p:spPr>
      </p:pic>
      <p:sp>
        <p:nvSpPr>
          <p:cNvPr id="44" name="Text 35"/>
          <p:cNvSpPr/>
          <p:nvPr/>
        </p:nvSpPr>
        <p:spPr>
          <a:xfrm>
            <a:off x="8500720" y="4352544"/>
            <a:ext cx="1572768" cy="49377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Deployment</a:t>
            </a:r>
            <a:endParaRPr lang="en-US" sz="1350" dirty="0"/>
          </a:p>
        </p:txBody>
      </p:sp>
      <p:sp>
        <p:nvSpPr>
          <p:cNvPr id="45" name="Text 36"/>
          <p:cNvSpPr/>
          <p:nvPr/>
        </p:nvSpPr>
        <p:spPr>
          <a:xfrm>
            <a:off x="7897216" y="4937760"/>
            <a:ext cx="2139696" cy="603504"/>
          </a:xfrm>
          <a:prstGeom prst="rect">
            <a:avLst/>
          </a:prstGeom>
          <a:noFill/>
          <a:ln/>
        </p:spPr>
        <p:txBody>
          <a:bodyPr wrap="square" lIns="0" tIns="0" rIns="0" bIns="0" rtlCol="0" anchor="t"/>
          <a:lstStyle/>
          <a:p>
            <a:pPr indent="0" marL="0">
              <a:lnSpc>
                <a:spcPts val="1400"/>
              </a:lnSpc>
              <a:buNone/>
            </a:pPr>
            <a:r>
              <a:rPr lang="en-US" sz="1100" b="1" dirty="0">
                <a:solidFill>
                  <a:srgbClr val="00C39A"/>
                </a:solidFill>
                <a:latin typeface="Calibri" pitchFamily="34" charset="0"/>
                <a:ea typeface="Calibri" pitchFamily="34" charset="-122"/>
                <a:cs typeface="Calibri" pitchFamily="34" charset="-120"/>
              </a:rPr>
              <a:t>Vercel + Railway · Docker</a:t>
            </a:r>
            <a:endParaRPr lang="en-US" sz="1100" dirty="0"/>
          </a:p>
        </p:txBody>
      </p:sp>
      <p:sp>
        <p:nvSpPr>
          <p:cNvPr id="46" name="Text 37"/>
          <p:cNvSpPr/>
          <p:nvPr/>
        </p:nvSpPr>
        <p:spPr>
          <a:xfrm>
            <a:off x="7897216" y="5559552"/>
            <a:ext cx="2139696" cy="420624"/>
          </a:xfrm>
          <a:prstGeom prst="rect">
            <a:avLst/>
          </a:prstGeom>
          <a:noFill/>
          <a:ln/>
        </p:spPr>
        <p:txBody>
          <a:bodyPr wrap="square" lIns="0" tIns="0" rIns="0" bIns="0" rtlCol="0" anchor="t"/>
          <a:lstStyle/>
          <a:p>
            <a:pPr indent="0" marL="0">
              <a:lnSpc>
                <a:spcPts val="1250"/>
              </a:lnSpc>
              <a:buNone/>
            </a:pPr>
            <a:r>
              <a:rPr lang="en-US" sz="950" dirty="0">
                <a:solidFill>
                  <a:srgbClr val="9AA6C4"/>
                </a:solidFill>
                <a:latin typeface="Calibri" pitchFamily="34" charset="0"/>
                <a:ea typeface="Calibri" pitchFamily="34" charset="-122"/>
                <a:cs typeface="Calibri" pitchFamily="34" charset="-120"/>
              </a:rPr>
              <a:t>Also runs unchanged on a college VM</a:t>
            </a:r>
            <a:endParaRPr lang="en-US" sz="950" dirty="0"/>
          </a:p>
        </p:txBody>
      </p:sp>
    </p:spTree>
  </p:cSld>
  <p:clrMapOvr>
    <a:masterClrMapping/>
  </p:clrMapOvr>
  <mc:AlternateContent xmlns:mc="http://schemas.openxmlformats.org/markup-compatibility/2006">
    <mc:Choice xmlns:p14="http://schemas.microsoft.com/office/powerpoint/2010/main" Requires="p14">
      <p:transition spd="slow" p14:dur="65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
                                        </p:tgtEl>
                                        <p:attrNameLst>
                                          <p:attrName>style.visibility</p:attrName>
                                        </p:attrNameLst>
                                      </p:cBhvr>
                                      <p:to>
                                        <p:strVal val="visible"/>
                                      </p:to>
                                    </p:set>
                                    <p:animEffect transition="in" filter="fade">
                                      <p:cBhvr>
                                        <p:cTn id="7" dur="380"/>
                                        <p:tgtEl>
                                          <p:spTgt spid="1"/>
                                        </p:tgtEl>
                                      </p:cBhvr>
                                    </p:animEffect>
                                    <p:anim calcmode="lin" valueType="num">
                                      <p:cBhvr additive="base">
                                        <p:cTn id="8" dur="380" fill="hold"/>
                                        <p:tgtEl>
                                          <p:spTgt spid="1"/>
                                        </p:tgtEl>
                                        <p:attrNameLst>
                                          <p:attrName>ppt_y</p:attrName>
                                        </p:attrNameLst>
                                      </p:cBhvr>
                                      <p:tavLst>
                                        <p:tav tm="0">
                                          <p:val>
                                            <p:strVal val="#ppt_y+0.03"/>
                                          </p:val>
                                        </p:tav>
                                        <p:tav tm="100000">
                                          <p:val>
                                            <p:strVal val="#ppt_y"/>
                                          </p:val>
                                        </p:tav>
                                      </p:tavLst>
                                    </p:anim>
                                  </p:childTnLst>
                                </p:cTn>
                              </p:par>
                              <p:par>
                                <p:cTn id="9" presetID="42" presetClass="entr" presetSubtype="0" fill="hold" grpId="0" nodeType="afterEffect">
                                  <p:stCondLst>
                                    <p:cond delay="39"/>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380"/>
                                        <p:tgtEl>
                                          <p:spTgt spid="2"/>
                                        </p:tgtEl>
                                      </p:cBhvr>
                                    </p:animEffect>
                                    <p:anim calcmode="lin" valueType="num">
                                      <p:cBhvr additive="base">
                                        <p:cTn id="12" dur="380" fill="hold"/>
                                        <p:tgtEl>
                                          <p:spTgt spid="2"/>
                                        </p:tgtEl>
                                        <p:attrNameLst>
                                          <p:attrName>ppt_y</p:attrName>
                                        </p:attrNameLst>
                                      </p:cBhvr>
                                      <p:tavLst>
                                        <p:tav tm="0">
                                          <p:val>
                                            <p:strVal val="#ppt_y+0.03"/>
                                          </p:val>
                                        </p:tav>
                                        <p:tav tm="100000">
                                          <p:val>
                                            <p:strVal val="#ppt_y"/>
                                          </p:val>
                                        </p:tav>
                                      </p:tavLst>
                                    </p:anim>
                                  </p:childTnLst>
                                </p:cTn>
                              </p:par>
                              <p:par>
                                <p:cTn id="13" presetID="42" presetClass="entr" presetSubtype="0" fill="hold" grpId="0" nodeType="afterEffect">
                                  <p:stCondLst>
                                    <p:cond delay="78"/>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380"/>
                                        <p:tgtEl>
                                          <p:spTgt spid="3"/>
                                        </p:tgtEl>
                                      </p:cBhvr>
                                    </p:animEffect>
                                    <p:anim calcmode="lin" valueType="num">
                                      <p:cBhvr additive="base">
                                        <p:cTn id="16" dur="380" fill="hold"/>
                                        <p:tgtEl>
                                          <p:spTgt spid="3"/>
                                        </p:tgtEl>
                                        <p:attrNameLst>
                                          <p:attrName>ppt_y</p:attrName>
                                        </p:attrNameLst>
                                      </p:cBhvr>
                                      <p:tavLst>
                                        <p:tav tm="0">
                                          <p:val>
                                            <p:strVal val="#ppt_y+0.03"/>
                                          </p:val>
                                        </p:tav>
                                        <p:tav tm="100000">
                                          <p:val>
                                            <p:strVal val="#ppt_y"/>
                                          </p:val>
                                        </p:tav>
                                      </p:tavLst>
                                    </p:anim>
                                  </p:childTnLst>
                                </p:cTn>
                              </p:par>
                              <p:par>
                                <p:cTn id="17" presetID="42" presetClass="entr" presetSubtype="0" fill="hold" grpId="0" nodeType="afterEffect">
                                  <p:stCondLst>
                                    <p:cond delay="117"/>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380"/>
                                        <p:tgtEl>
                                          <p:spTgt spid="4"/>
                                        </p:tgtEl>
                                      </p:cBhvr>
                                    </p:animEffect>
                                    <p:anim calcmode="lin" valueType="num">
                                      <p:cBhvr additive="base">
                                        <p:cTn id="20" dur="380" fill="hold"/>
                                        <p:tgtEl>
                                          <p:spTgt spid="4"/>
                                        </p:tgtEl>
                                        <p:attrNameLst>
                                          <p:attrName>ppt_y</p:attrName>
                                        </p:attrNameLst>
                                      </p:cBhvr>
                                      <p:tavLst>
                                        <p:tav tm="0">
                                          <p:val>
                                            <p:strVal val="#ppt_y+0.03"/>
                                          </p:val>
                                        </p:tav>
                                        <p:tav tm="100000">
                                          <p:val>
                                            <p:strVal val="#ppt_y"/>
                                          </p:val>
                                        </p:tav>
                                      </p:tavLst>
                                    </p:anim>
                                  </p:childTnLst>
                                </p:cTn>
                              </p:par>
                              <p:par>
                                <p:cTn id="21" presetID="42" presetClass="entr" presetSubtype="0" fill="hold" grpId="0" nodeType="afterEffect">
                                  <p:stCondLst>
                                    <p:cond delay="156"/>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380"/>
                                        <p:tgtEl>
                                          <p:spTgt spid="5"/>
                                        </p:tgtEl>
                                      </p:cBhvr>
                                    </p:animEffect>
                                    <p:anim calcmode="lin" valueType="num">
                                      <p:cBhvr additive="base">
                                        <p:cTn id="24" dur="380" fill="hold"/>
                                        <p:tgtEl>
                                          <p:spTgt spid="5"/>
                                        </p:tgtEl>
                                        <p:attrNameLst>
                                          <p:attrName>ppt_y</p:attrName>
                                        </p:attrNameLst>
                                      </p:cBhvr>
                                      <p:tavLst>
                                        <p:tav tm="0">
                                          <p:val>
                                            <p:strVal val="#ppt_y+0.03"/>
                                          </p:val>
                                        </p:tav>
                                        <p:tav tm="100000">
                                          <p:val>
                                            <p:strVal val="#ppt_y"/>
                                          </p:val>
                                        </p:tav>
                                      </p:tavLst>
                                    </p:anim>
                                  </p:childTnLst>
                                </p:cTn>
                              </p:par>
                              <p:par>
                                <p:cTn id="25" presetID="42" presetClass="entr" presetSubtype="0" fill="hold" grpId="0" nodeType="afterEffect">
                                  <p:stCondLst>
                                    <p:cond delay="195"/>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380"/>
                                        <p:tgtEl>
                                          <p:spTgt spid="6"/>
                                        </p:tgtEl>
                                      </p:cBhvr>
                                    </p:animEffect>
                                    <p:anim calcmode="lin" valueType="num">
                                      <p:cBhvr additive="base">
                                        <p:cTn id="28" dur="380" fill="hold"/>
                                        <p:tgtEl>
                                          <p:spTgt spid="6"/>
                                        </p:tgtEl>
                                        <p:attrNameLst>
                                          <p:attrName>ppt_y</p:attrName>
                                        </p:attrNameLst>
                                      </p:cBhvr>
                                      <p:tavLst>
                                        <p:tav tm="0">
                                          <p:val>
                                            <p:strVal val="#ppt_y+0.03"/>
                                          </p:val>
                                        </p:tav>
                                        <p:tav tm="100000">
                                          <p:val>
                                            <p:strVal val="#ppt_y"/>
                                          </p:val>
                                        </p:tav>
                                      </p:tavLst>
                                    </p:anim>
                                  </p:childTnLst>
                                </p:cTn>
                              </p:par>
                              <p:par>
                                <p:cTn id="29" presetID="42" presetClass="entr" presetSubtype="0" fill="hold" grpId="0" nodeType="afterEffect">
                                  <p:stCondLst>
                                    <p:cond delay="234"/>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380"/>
                                        <p:tgtEl>
                                          <p:spTgt spid="7"/>
                                        </p:tgtEl>
                                      </p:cBhvr>
                                    </p:animEffect>
                                    <p:anim calcmode="lin" valueType="num">
                                      <p:cBhvr additive="base">
                                        <p:cTn id="32" dur="380" fill="hold"/>
                                        <p:tgtEl>
                                          <p:spTgt spid="7"/>
                                        </p:tgtEl>
                                        <p:attrNameLst>
                                          <p:attrName>ppt_y</p:attrName>
                                        </p:attrNameLst>
                                      </p:cBhvr>
                                      <p:tavLst>
                                        <p:tav tm="0">
                                          <p:val>
                                            <p:strVal val="#ppt_y+0.03"/>
                                          </p:val>
                                        </p:tav>
                                        <p:tav tm="100000">
                                          <p:val>
                                            <p:strVal val="#ppt_y"/>
                                          </p:val>
                                        </p:tav>
                                      </p:tavLst>
                                    </p:anim>
                                  </p:childTnLst>
                                </p:cTn>
                              </p:par>
                              <p:par>
                                <p:cTn id="33" presetID="42" presetClass="entr" presetSubtype="0" fill="hold" grpId="0" nodeType="afterEffect">
                                  <p:stCondLst>
                                    <p:cond delay="273"/>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380"/>
                                        <p:tgtEl>
                                          <p:spTgt spid="8"/>
                                        </p:tgtEl>
                                      </p:cBhvr>
                                    </p:animEffect>
                                    <p:anim calcmode="lin" valueType="num">
                                      <p:cBhvr additive="base">
                                        <p:cTn id="36" dur="380" fill="hold"/>
                                        <p:tgtEl>
                                          <p:spTgt spid="8"/>
                                        </p:tgtEl>
                                        <p:attrNameLst>
                                          <p:attrName>ppt_y</p:attrName>
                                        </p:attrNameLst>
                                      </p:cBhvr>
                                      <p:tavLst>
                                        <p:tav tm="0">
                                          <p:val>
                                            <p:strVal val="#ppt_y+0.03"/>
                                          </p:val>
                                        </p:tav>
                                        <p:tav tm="100000">
                                          <p:val>
                                            <p:strVal val="#ppt_y"/>
                                          </p:val>
                                        </p:tav>
                                      </p:tavLst>
                                    </p:anim>
                                  </p:childTnLst>
                                </p:cTn>
                              </p:par>
                              <p:par>
                                <p:cTn id="37" presetID="42" presetClass="entr" presetSubtype="0" fill="hold" grpId="0" nodeType="afterEffect">
                                  <p:stCondLst>
                                    <p:cond delay="312"/>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380"/>
                                        <p:tgtEl>
                                          <p:spTgt spid="9"/>
                                        </p:tgtEl>
                                      </p:cBhvr>
                                    </p:animEffect>
                                    <p:anim calcmode="lin" valueType="num">
                                      <p:cBhvr additive="base">
                                        <p:cTn id="40" dur="380" fill="hold"/>
                                        <p:tgtEl>
                                          <p:spTgt spid="9"/>
                                        </p:tgtEl>
                                        <p:attrNameLst>
                                          <p:attrName>ppt_y</p:attrName>
                                        </p:attrNameLst>
                                      </p:cBhvr>
                                      <p:tavLst>
                                        <p:tav tm="0">
                                          <p:val>
                                            <p:strVal val="#ppt_y+0.03"/>
                                          </p:val>
                                        </p:tav>
                                        <p:tav tm="100000">
                                          <p:val>
                                            <p:strVal val="#ppt_y"/>
                                          </p:val>
                                        </p:tav>
                                      </p:tavLst>
                                    </p:anim>
                                  </p:childTnLst>
                                </p:cTn>
                              </p:par>
                              <p:par>
                                <p:cTn id="41" presetID="42" presetClass="entr" presetSubtype="0" fill="hold" grpId="0" nodeType="afterEffect">
                                  <p:stCondLst>
                                    <p:cond delay="351"/>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380"/>
                                        <p:tgtEl>
                                          <p:spTgt spid="10"/>
                                        </p:tgtEl>
                                      </p:cBhvr>
                                    </p:animEffect>
                                    <p:anim calcmode="lin" valueType="num">
                                      <p:cBhvr additive="base">
                                        <p:cTn id="44" dur="380" fill="hold"/>
                                        <p:tgtEl>
                                          <p:spTgt spid="10"/>
                                        </p:tgtEl>
                                        <p:attrNameLst>
                                          <p:attrName>ppt_y</p:attrName>
                                        </p:attrNameLst>
                                      </p:cBhvr>
                                      <p:tavLst>
                                        <p:tav tm="0">
                                          <p:val>
                                            <p:strVal val="#ppt_y+0.03"/>
                                          </p:val>
                                        </p:tav>
                                        <p:tav tm="100000">
                                          <p:val>
                                            <p:strVal val="#ppt_y"/>
                                          </p:val>
                                        </p:tav>
                                      </p:tavLst>
                                    </p:anim>
                                  </p:childTnLst>
                                </p:cTn>
                              </p:par>
                              <p:par>
                                <p:cTn id="45" presetID="42" presetClass="entr" presetSubtype="0" fill="hold" grpId="0" nodeType="afterEffect">
                                  <p:stCondLst>
                                    <p:cond delay="39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380"/>
                                        <p:tgtEl>
                                          <p:spTgt spid="11"/>
                                        </p:tgtEl>
                                      </p:cBhvr>
                                    </p:animEffect>
                                    <p:anim calcmode="lin" valueType="num">
                                      <p:cBhvr additive="base">
                                        <p:cTn id="48" dur="380" fill="hold"/>
                                        <p:tgtEl>
                                          <p:spTgt spid="11"/>
                                        </p:tgtEl>
                                        <p:attrNameLst>
                                          <p:attrName>ppt_y</p:attrName>
                                        </p:attrNameLst>
                                      </p:cBhvr>
                                      <p:tavLst>
                                        <p:tav tm="0">
                                          <p:val>
                                            <p:strVal val="#ppt_y+0.03"/>
                                          </p:val>
                                        </p:tav>
                                        <p:tav tm="100000">
                                          <p:val>
                                            <p:strVal val="#ppt_y"/>
                                          </p:val>
                                        </p:tav>
                                      </p:tavLst>
                                    </p:anim>
                                  </p:childTnLst>
                                </p:cTn>
                              </p:par>
                              <p:par>
                                <p:cTn id="49" presetID="42" presetClass="entr" presetSubtype="0" fill="hold" grpId="0" nodeType="afterEffect">
                                  <p:stCondLst>
                                    <p:cond delay="429"/>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380"/>
                                        <p:tgtEl>
                                          <p:spTgt spid="12"/>
                                        </p:tgtEl>
                                      </p:cBhvr>
                                    </p:animEffect>
                                    <p:anim calcmode="lin" valueType="num">
                                      <p:cBhvr additive="base">
                                        <p:cTn id="52" dur="380" fill="hold"/>
                                        <p:tgtEl>
                                          <p:spTgt spid="12"/>
                                        </p:tgtEl>
                                        <p:attrNameLst>
                                          <p:attrName>ppt_y</p:attrName>
                                        </p:attrNameLst>
                                      </p:cBhvr>
                                      <p:tavLst>
                                        <p:tav tm="0">
                                          <p:val>
                                            <p:strVal val="#ppt_y+0.03"/>
                                          </p:val>
                                        </p:tav>
                                        <p:tav tm="100000">
                                          <p:val>
                                            <p:strVal val="#ppt_y"/>
                                          </p:val>
                                        </p:tav>
                                      </p:tavLst>
                                    </p:anim>
                                  </p:childTnLst>
                                </p:cTn>
                              </p:par>
                              <p:par>
                                <p:cTn id="53" presetID="42" presetClass="entr" presetSubtype="0" fill="hold" grpId="0" nodeType="afterEffect">
                                  <p:stCondLst>
                                    <p:cond delay="468"/>
                                  </p:stCondLst>
                                  <p:childTnLst>
                                    <p:set>
                                      <p:cBhvr>
                                        <p:cTn id="54" dur="1" fill="hold">
                                          <p:stCondLst>
                                            <p:cond delay="0"/>
                                          </p:stCondLst>
                                        </p:cTn>
                                        <p:tgtEl>
                                          <p:spTgt spid="13"/>
                                        </p:tgtEl>
                                        <p:attrNameLst>
                                          <p:attrName>style.visibility</p:attrName>
                                        </p:attrNameLst>
                                      </p:cBhvr>
                                      <p:to>
                                        <p:strVal val="visible"/>
                                      </p:to>
                                    </p:set>
                                    <p:animEffect transition="in" filter="fade">
                                      <p:cBhvr>
                                        <p:cTn id="55" dur="380"/>
                                        <p:tgtEl>
                                          <p:spTgt spid="13"/>
                                        </p:tgtEl>
                                      </p:cBhvr>
                                    </p:animEffect>
                                    <p:anim calcmode="lin" valueType="num">
                                      <p:cBhvr additive="base">
                                        <p:cTn id="56" dur="380" fill="hold"/>
                                        <p:tgtEl>
                                          <p:spTgt spid="13"/>
                                        </p:tgtEl>
                                        <p:attrNameLst>
                                          <p:attrName>ppt_y</p:attrName>
                                        </p:attrNameLst>
                                      </p:cBhvr>
                                      <p:tavLst>
                                        <p:tav tm="0">
                                          <p:val>
                                            <p:strVal val="#ppt_y+0.03"/>
                                          </p:val>
                                        </p:tav>
                                        <p:tav tm="100000">
                                          <p:val>
                                            <p:strVal val="#ppt_y"/>
                                          </p:val>
                                        </p:tav>
                                      </p:tavLst>
                                    </p:anim>
                                  </p:childTnLst>
                                </p:cTn>
                              </p:par>
                              <p:par>
                                <p:cTn id="57" presetID="42" presetClass="entr" presetSubtype="0" fill="hold" grpId="0" nodeType="afterEffect">
                                  <p:stCondLst>
                                    <p:cond delay="507"/>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380"/>
                                        <p:tgtEl>
                                          <p:spTgt spid="14"/>
                                        </p:tgtEl>
                                      </p:cBhvr>
                                    </p:animEffect>
                                    <p:anim calcmode="lin" valueType="num">
                                      <p:cBhvr additive="base">
                                        <p:cTn id="60" dur="380" fill="hold"/>
                                        <p:tgtEl>
                                          <p:spTgt spid="14"/>
                                        </p:tgtEl>
                                        <p:attrNameLst>
                                          <p:attrName>ppt_y</p:attrName>
                                        </p:attrNameLst>
                                      </p:cBhvr>
                                      <p:tavLst>
                                        <p:tav tm="0">
                                          <p:val>
                                            <p:strVal val="#ppt_y+0.03"/>
                                          </p:val>
                                        </p:tav>
                                        <p:tav tm="100000">
                                          <p:val>
                                            <p:strVal val="#ppt_y"/>
                                          </p:val>
                                        </p:tav>
                                      </p:tavLst>
                                    </p:anim>
                                  </p:childTnLst>
                                </p:cTn>
                              </p:par>
                              <p:par>
                                <p:cTn id="61" presetID="42" presetClass="entr" presetSubtype="0" fill="hold" grpId="0" nodeType="afterEffect">
                                  <p:stCondLst>
                                    <p:cond delay="546"/>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380"/>
                                        <p:tgtEl>
                                          <p:spTgt spid="15"/>
                                        </p:tgtEl>
                                      </p:cBhvr>
                                    </p:animEffect>
                                    <p:anim calcmode="lin" valueType="num">
                                      <p:cBhvr additive="base">
                                        <p:cTn id="64" dur="380" fill="hold"/>
                                        <p:tgtEl>
                                          <p:spTgt spid="15"/>
                                        </p:tgtEl>
                                        <p:attrNameLst>
                                          <p:attrName>ppt_y</p:attrName>
                                        </p:attrNameLst>
                                      </p:cBhvr>
                                      <p:tavLst>
                                        <p:tav tm="0">
                                          <p:val>
                                            <p:strVal val="#ppt_y+0.03"/>
                                          </p:val>
                                        </p:tav>
                                        <p:tav tm="100000">
                                          <p:val>
                                            <p:strVal val="#ppt_y"/>
                                          </p:val>
                                        </p:tav>
                                      </p:tavLst>
                                    </p:anim>
                                  </p:childTnLst>
                                </p:cTn>
                              </p:par>
                              <p:par>
                                <p:cTn id="65" presetID="42" presetClass="entr" presetSubtype="0" fill="hold" grpId="0" nodeType="afterEffect">
                                  <p:stCondLst>
                                    <p:cond delay="585"/>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380"/>
                                        <p:tgtEl>
                                          <p:spTgt spid="16"/>
                                        </p:tgtEl>
                                      </p:cBhvr>
                                    </p:animEffect>
                                    <p:anim calcmode="lin" valueType="num">
                                      <p:cBhvr additive="base">
                                        <p:cTn id="68" dur="380" fill="hold"/>
                                        <p:tgtEl>
                                          <p:spTgt spid="16"/>
                                        </p:tgtEl>
                                        <p:attrNameLst>
                                          <p:attrName>ppt_y</p:attrName>
                                        </p:attrNameLst>
                                      </p:cBhvr>
                                      <p:tavLst>
                                        <p:tav tm="0">
                                          <p:val>
                                            <p:strVal val="#ppt_y+0.03"/>
                                          </p:val>
                                        </p:tav>
                                        <p:tav tm="100000">
                                          <p:val>
                                            <p:strVal val="#ppt_y"/>
                                          </p:val>
                                        </p:tav>
                                      </p:tavLst>
                                    </p:anim>
                                  </p:childTnLst>
                                </p:cTn>
                              </p:par>
                              <p:par>
                                <p:cTn id="69" presetID="42" presetClass="entr" presetSubtype="0" fill="hold" grpId="0" nodeType="afterEffect">
                                  <p:stCondLst>
                                    <p:cond delay="624"/>
                                  </p:stCondLst>
                                  <p:childTnLst>
                                    <p:set>
                                      <p:cBhvr>
                                        <p:cTn id="70" dur="1" fill="hold">
                                          <p:stCondLst>
                                            <p:cond delay="0"/>
                                          </p:stCondLst>
                                        </p:cTn>
                                        <p:tgtEl>
                                          <p:spTgt spid="17"/>
                                        </p:tgtEl>
                                        <p:attrNameLst>
                                          <p:attrName>style.visibility</p:attrName>
                                        </p:attrNameLst>
                                      </p:cBhvr>
                                      <p:to>
                                        <p:strVal val="visible"/>
                                      </p:to>
                                    </p:set>
                                    <p:animEffect transition="in" filter="fade">
                                      <p:cBhvr>
                                        <p:cTn id="71" dur="380"/>
                                        <p:tgtEl>
                                          <p:spTgt spid="17"/>
                                        </p:tgtEl>
                                      </p:cBhvr>
                                    </p:animEffect>
                                    <p:anim calcmode="lin" valueType="num">
                                      <p:cBhvr additive="base">
                                        <p:cTn id="72" dur="380" fill="hold"/>
                                        <p:tgtEl>
                                          <p:spTgt spid="17"/>
                                        </p:tgtEl>
                                        <p:attrNameLst>
                                          <p:attrName>ppt_y</p:attrName>
                                        </p:attrNameLst>
                                      </p:cBhvr>
                                      <p:tavLst>
                                        <p:tav tm="0">
                                          <p:val>
                                            <p:strVal val="#ppt_y+0.03"/>
                                          </p:val>
                                        </p:tav>
                                        <p:tav tm="100000">
                                          <p:val>
                                            <p:strVal val="#ppt_y"/>
                                          </p:val>
                                        </p:tav>
                                      </p:tavLst>
                                    </p:anim>
                                  </p:childTnLst>
                                </p:cTn>
                              </p:par>
                              <p:par>
                                <p:cTn id="73" presetID="42" presetClass="entr" presetSubtype="0" fill="hold" grpId="0" nodeType="afterEffect">
                                  <p:stCondLst>
                                    <p:cond delay="663"/>
                                  </p:stCondLst>
                                  <p:childTnLst>
                                    <p:set>
                                      <p:cBhvr>
                                        <p:cTn id="74" dur="1" fill="hold">
                                          <p:stCondLst>
                                            <p:cond delay="0"/>
                                          </p:stCondLst>
                                        </p:cTn>
                                        <p:tgtEl>
                                          <p:spTgt spid="18"/>
                                        </p:tgtEl>
                                        <p:attrNameLst>
                                          <p:attrName>style.visibility</p:attrName>
                                        </p:attrNameLst>
                                      </p:cBhvr>
                                      <p:to>
                                        <p:strVal val="visible"/>
                                      </p:to>
                                    </p:set>
                                    <p:animEffect transition="in" filter="fade">
                                      <p:cBhvr>
                                        <p:cTn id="75" dur="380"/>
                                        <p:tgtEl>
                                          <p:spTgt spid="18"/>
                                        </p:tgtEl>
                                      </p:cBhvr>
                                    </p:animEffect>
                                    <p:anim calcmode="lin" valueType="num">
                                      <p:cBhvr additive="base">
                                        <p:cTn id="76" dur="380" fill="hold"/>
                                        <p:tgtEl>
                                          <p:spTgt spid="18"/>
                                        </p:tgtEl>
                                        <p:attrNameLst>
                                          <p:attrName>ppt_y</p:attrName>
                                        </p:attrNameLst>
                                      </p:cBhvr>
                                      <p:tavLst>
                                        <p:tav tm="0">
                                          <p:val>
                                            <p:strVal val="#ppt_y+0.03"/>
                                          </p:val>
                                        </p:tav>
                                        <p:tav tm="100000">
                                          <p:val>
                                            <p:strVal val="#ppt_y"/>
                                          </p:val>
                                        </p:tav>
                                      </p:tavLst>
                                    </p:anim>
                                  </p:childTnLst>
                                </p:cTn>
                              </p:par>
                              <p:par>
                                <p:cTn id="77" presetID="42" presetClass="entr" presetSubtype="0" fill="hold" grpId="0" nodeType="afterEffect">
                                  <p:stCondLst>
                                    <p:cond delay="702"/>
                                  </p:stCondLst>
                                  <p:childTnLst>
                                    <p:set>
                                      <p:cBhvr>
                                        <p:cTn id="78" dur="1" fill="hold">
                                          <p:stCondLst>
                                            <p:cond delay="0"/>
                                          </p:stCondLst>
                                        </p:cTn>
                                        <p:tgtEl>
                                          <p:spTgt spid="19"/>
                                        </p:tgtEl>
                                        <p:attrNameLst>
                                          <p:attrName>style.visibility</p:attrName>
                                        </p:attrNameLst>
                                      </p:cBhvr>
                                      <p:to>
                                        <p:strVal val="visible"/>
                                      </p:to>
                                    </p:set>
                                    <p:animEffect transition="in" filter="fade">
                                      <p:cBhvr>
                                        <p:cTn id="79" dur="380"/>
                                        <p:tgtEl>
                                          <p:spTgt spid="19"/>
                                        </p:tgtEl>
                                      </p:cBhvr>
                                    </p:animEffect>
                                    <p:anim calcmode="lin" valueType="num">
                                      <p:cBhvr additive="base">
                                        <p:cTn id="80" dur="380" fill="hold"/>
                                        <p:tgtEl>
                                          <p:spTgt spid="19"/>
                                        </p:tgtEl>
                                        <p:attrNameLst>
                                          <p:attrName>ppt_y</p:attrName>
                                        </p:attrNameLst>
                                      </p:cBhvr>
                                      <p:tavLst>
                                        <p:tav tm="0">
                                          <p:val>
                                            <p:strVal val="#ppt_y+0.03"/>
                                          </p:val>
                                        </p:tav>
                                        <p:tav tm="100000">
                                          <p:val>
                                            <p:strVal val="#ppt_y"/>
                                          </p:val>
                                        </p:tav>
                                      </p:tavLst>
                                    </p:anim>
                                  </p:childTnLst>
                                </p:cTn>
                              </p:par>
                              <p:par>
                                <p:cTn id="81" presetID="42" presetClass="entr" presetSubtype="0" fill="hold" grpId="0" nodeType="afterEffect">
                                  <p:stCondLst>
                                    <p:cond delay="741"/>
                                  </p:stCondLst>
                                  <p:childTnLst>
                                    <p:set>
                                      <p:cBhvr>
                                        <p:cTn id="82" dur="1" fill="hold">
                                          <p:stCondLst>
                                            <p:cond delay="0"/>
                                          </p:stCondLst>
                                        </p:cTn>
                                        <p:tgtEl>
                                          <p:spTgt spid="20"/>
                                        </p:tgtEl>
                                        <p:attrNameLst>
                                          <p:attrName>style.visibility</p:attrName>
                                        </p:attrNameLst>
                                      </p:cBhvr>
                                      <p:to>
                                        <p:strVal val="visible"/>
                                      </p:to>
                                    </p:set>
                                    <p:animEffect transition="in" filter="fade">
                                      <p:cBhvr>
                                        <p:cTn id="83" dur="380"/>
                                        <p:tgtEl>
                                          <p:spTgt spid="20"/>
                                        </p:tgtEl>
                                      </p:cBhvr>
                                    </p:animEffect>
                                    <p:anim calcmode="lin" valueType="num">
                                      <p:cBhvr additive="base">
                                        <p:cTn id="84" dur="380" fill="hold"/>
                                        <p:tgtEl>
                                          <p:spTgt spid="20"/>
                                        </p:tgtEl>
                                        <p:attrNameLst>
                                          <p:attrName>ppt_y</p:attrName>
                                        </p:attrNameLst>
                                      </p:cBhvr>
                                      <p:tavLst>
                                        <p:tav tm="0">
                                          <p:val>
                                            <p:strVal val="#ppt_y+0.03"/>
                                          </p:val>
                                        </p:tav>
                                        <p:tav tm="100000">
                                          <p:val>
                                            <p:strVal val="#ppt_y"/>
                                          </p:val>
                                        </p:tav>
                                      </p:tavLst>
                                    </p:anim>
                                  </p:childTnLst>
                                </p:cTn>
                              </p:par>
                              <p:par>
                                <p:cTn id="85" presetID="42" presetClass="entr" presetSubtype="0" fill="hold" grpId="0" nodeType="afterEffect">
                                  <p:stCondLst>
                                    <p:cond delay="780"/>
                                  </p:stCondLst>
                                  <p:childTnLst>
                                    <p:set>
                                      <p:cBhvr>
                                        <p:cTn id="86" dur="1" fill="hold">
                                          <p:stCondLst>
                                            <p:cond delay="0"/>
                                          </p:stCondLst>
                                        </p:cTn>
                                        <p:tgtEl>
                                          <p:spTgt spid="21"/>
                                        </p:tgtEl>
                                        <p:attrNameLst>
                                          <p:attrName>style.visibility</p:attrName>
                                        </p:attrNameLst>
                                      </p:cBhvr>
                                      <p:to>
                                        <p:strVal val="visible"/>
                                      </p:to>
                                    </p:set>
                                    <p:animEffect transition="in" filter="fade">
                                      <p:cBhvr>
                                        <p:cTn id="87" dur="380"/>
                                        <p:tgtEl>
                                          <p:spTgt spid="21"/>
                                        </p:tgtEl>
                                      </p:cBhvr>
                                    </p:animEffect>
                                    <p:anim calcmode="lin" valueType="num">
                                      <p:cBhvr additive="base">
                                        <p:cTn id="88" dur="380" fill="hold"/>
                                        <p:tgtEl>
                                          <p:spTgt spid="21"/>
                                        </p:tgtEl>
                                        <p:attrNameLst>
                                          <p:attrName>ppt_y</p:attrName>
                                        </p:attrNameLst>
                                      </p:cBhvr>
                                      <p:tavLst>
                                        <p:tav tm="0">
                                          <p:val>
                                            <p:strVal val="#ppt_y+0.03"/>
                                          </p:val>
                                        </p:tav>
                                        <p:tav tm="100000">
                                          <p:val>
                                            <p:strVal val="#ppt_y"/>
                                          </p:val>
                                        </p:tav>
                                      </p:tavLst>
                                    </p:anim>
                                  </p:childTnLst>
                                </p:cTn>
                              </p:par>
                              <p:par>
                                <p:cTn id="89" presetID="42" presetClass="entr" presetSubtype="0" fill="hold" grpId="0" nodeType="afterEffect">
                                  <p:stCondLst>
                                    <p:cond delay="819"/>
                                  </p:stCondLst>
                                  <p:childTnLst>
                                    <p:set>
                                      <p:cBhvr>
                                        <p:cTn id="90" dur="1" fill="hold">
                                          <p:stCondLst>
                                            <p:cond delay="0"/>
                                          </p:stCondLst>
                                        </p:cTn>
                                        <p:tgtEl>
                                          <p:spTgt spid="22"/>
                                        </p:tgtEl>
                                        <p:attrNameLst>
                                          <p:attrName>style.visibility</p:attrName>
                                        </p:attrNameLst>
                                      </p:cBhvr>
                                      <p:to>
                                        <p:strVal val="visible"/>
                                      </p:to>
                                    </p:set>
                                    <p:animEffect transition="in" filter="fade">
                                      <p:cBhvr>
                                        <p:cTn id="91" dur="380"/>
                                        <p:tgtEl>
                                          <p:spTgt spid="22"/>
                                        </p:tgtEl>
                                      </p:cBhvr>
                                    </p:animEffect>
                                    <p:anim calcmode="lin" valueType="num">
                                      <p:cBhvr additive="base">
                                        <p:cTn id="92" dur="380" fill="hold"/>
                                        <p:tgtEl>
                                          <p:spTgt spid="22"/>
                                        </p:tgtEl>
                                        <p:attrNameLst>
                                          <p:attrName>ppt_y</p:attrName>
                                        </p:attrNameLst>
                                      </p:cBhvr>
                                      <p:tavLst>
                                        <p:tav tm="0">
                                          <p:val>
                                            <p:strVal val="#ppt_y+0.03"/>
                                          </p:val>
                                        </p:tav>
                                        <p:tav tm="100000">
                                          <p:val>
                                            <p:strVal val="#ppt_y"/>
                                          </p:val>
                                        </p:tav>
                                      </p:tavLst>
                                    </p:anim>
                                  </p:childTnLst>
                                </p:cTn>
                              </p:par>
                              <p:par>
                                <p:cTn id="93" presetID="42" presetClass="entr" presetSubtype="0" fill="hold" grpId="0" nodeType="afterEffect">
                                  <p:stCondLst>
                                    <p:cond delay="858"/>
                                  </p:stCondLst>
                                  <p:childTnLst>
                                    <p:set>
                                      <p:cBhvr>
                                        <p:cTn id="94" dur="1" fill="hold">
                                          <p:stCondLst>
                                            <p:cond delay="0"/>
                                          </p:stCondLst>
                                        </p:cTn>
                                        <p:tgtEl>
                                          <p:spTgt spid="23"/>
                                        </p:tgtEl>
                                        <p:attrNameLst>
                                          <p:attrName>style.visibility</p:attrName>
                                        </p:attrNameLst>
                                      </p:cBhvr>
                                      <p:to>
                                        <p:strVal val="visible"/>
                                      </p:to>
                                    </p:set>
                                    <p:animEffect transition="in" filter="fade">
                                      <p:cBhvr>
                                        <p:cTn id="95" dur="380"/>
                                        <p:tgtEl>
                                          <p:spTgt spid="23"/>
                                        </p:tgtEl>
                                      </p:cBhvr>
                                    </p:animEffect>
                                    <p:anim calcmode="lin" valueType="num">
                                      <p:cBhvr additive="base">
                                        <p:cTn id="96" dur="380" fill="hold"/>
                                        <p:tgtEl>
                                          <p:spTgt spid="23"/>
                                        </p:tgtEl>
                                        <p:attrNameLst>
                                          <p:attrName>ppt_y</p:attrName>
                                        </p:attrNameLst>
                                      </p:cBhvr>
                                      <p:tavLst>
                                        <p:tav tm="0">
                                          <p:val>
                                            <p:strVal val="#ppt_y+0.03"/>
                                          </p:val>
                                        </p:tav>
                                        <p:tav tm="100000">
                                          <p:val>
                                            <p:strVal val="#ppt_y"/>
                                          </p:val>
                                        </p:tav>
                                      </p:tavLst>
                                    </p:anim>
                                  </p:childTnLst>
                                </p:cTn>
                              </p:par>
                              <p:par>
                                <p:cTn id="97" presetID="42" presetClass="entr" presetSubtype="0" fill="hold" grpId="0" nodeType="afterEffect">
                                  <p:stCondLst>
                                    <p:cond delay="897"/>
                                  </p:stCondLst>
                                  <p:childTnLst>
                                    <p:set>
                                      <p:cBhvr>
                                        <p:cTn id="98" dur="1" fill="hold">
                                          <p:stCondLst>
                                            <p:cond delay="0"/>
                                          </p:stCondLst>
                                        </p:cTn>
                                        <p:tgtEl>
                                          <p:spTgt spid="24"/>
                                        </p:tgtEl>
                                        <p:attrNameLst>
                                          <p:attrName>style.visibility</p:attrName>
                                        </p:attrNameLst>
                                      </p:cBhvr>
                                      <p:to>
                                        <p:strVal val="visible"/>
                                      </p:to>
                                    </p:set>
                                    <p:animEffect transition="in" filter="fade">
                                      <p:cBhvr>
                                        <p:cTn id="99" dur="380"/>
                                        <p:tgtEl>
                                          <p:spTgt spid="24"/>
                                        </p:tgtEl>
                                      </p:cBhvr>
                                    </p:animEffect>
                                    <p:anim calcmode="lin" valueType="num">
                                      <p:cBhvr additive="base">
                                        <p:cTn id="100" dur="380" fill="hold"/>
                                        <p:tgtEl>
                                          <p:spTgt spid="24"/>
                                        </p:tgtEl>
                                        <p:attrNameLst>
                                          <p:attrName>ppt_y</p:attrName>
                                        </p:attrNameLst>
                                      </p:cBhvr>
                                      <p:tavLst>
                                        <p:tav tm="0">
                                          <p:val>
                                            <p:strVal val="#ppt_y+0.03"/>
                                          </p:val>
                                        </p:tav>
                                        <p:tav tm="100000">
                                          <p:val>
                                            <p:strVal val="#ppt_y"/>
                                          </p:val>
                                        </p:tav>
                                      </p:tavLst>
                                    </p:anim>
                                  </p:childTnLst>
                                </p:cTn>
                              </p:par>
                              <p:par>
                                <p:cTn id="101" presetID="42" presetClass="entr" presetSubtype="0" fill="hold" grpId="0" nodeType="afterEffect">
                                  <p:stCondLst>
                                    <p:cond delay="936"/>
                                  </p:stCondLst>
                                  <p:childTnLst>
                                    <p:set>
                                      <p:cBhvr>
                                        <p:cTn id="102" dur="1" fill="hold">
                                          <p:stCondLst>
                                            <p:cond delay="0"/>
                                          </p:stCondLst>
                                        </p:cTn>
                                        <p:tgtEl>
                                          <p:spTgt spid="25"/>
                                        </p:tgtEl>
                                        <p:attrNameLst>
                                          <p:attrName>style.visibility</p:attrName>
                                        </p:attrNameLst>
                                      </p:cBhvr>
                                      <p:to>
                                        <p:strVal val="visible"/>
                                      </p:to>
                                    </p:set>
                                    <p:animEffect transition="in" filter="fade">
                                      <p:cBhvr>
                                        <p:cTn id="103" dur="380"/>
                                        <p:tgtEl>
                                          <p:spTgt spid="25"/>
                                        </p:tgtEl>
                                      </p:cBhvr>
                                    </p:animEffect>
                                    <p:anim calcmode="lin" valueType="num">
                                      <p:cBhvr additive="base">
                                        <p:cTn id="104" dur="380" fill="hold"/>
                                        <p:tgtEl>
                                          <p:spTgt spid="25"/>
                                        </p:tgtEl>
                                        <p:attrNameLst>
                                          <p:attrName>ppt_y</p:attrName>
                                        </p:attrNameLst>
                                      </p:cBhvr>
                                      <p:tavLst>
                                        <p:tav tm="0">
                                          <p:val>
                                            <p:strVal val="#ppt_y+0.03"/>
                                          </p:val>
                                        </p:tav>
                                        <p:tav tm="100000">
                                          <p:val>
                                            <p:strVal val="#ppt_y"/>
                                          </p:val>
                                        </p:tav>
                                      </p:tavLst>
                                    </p:anim>
                                  </p:childTnLst>
                                </p:cTn>
                              </p:par>
                              <p:par>
                                <p:cTn id="105" presetID="42" presetClass="entr" presetSubtype="0" fill="hold" grpId="0" nodeType="afterEffect">
                                  <p:stCondLst>
                                    <p:cond delay="975"/>
                                  </p:stCondLst>
                                  <p:childTnLst>
                                    <p:set>
                                      <p:cBhvr>
                                        <p:cTn id="106" dur="1" fill="hold">
                                          <p:stCondLst>
                                            <p:cond delay="0"/>
                                          </p:stCondLst>
                                        </p:cTn>
                                        <p:tgtEl>
                                          <p:spTgt spid="26"/>
                                        </p:tgtEl>
                                        <p:attrNameLst>
                                          <p:attrName>style.visibility</p:attrName>
                                        </p:attrNameLst>
                                      </p:cBhvr>
                                      <p:to>
                                        <p:strVal val="visible"/>
                                      </p:to>
                                    </p:set>
                                    <p:animEffect transition="in" filter="fade">
                                      <p:cBhvr>
                                        <p:cTn id="107" dur="380"/>
                                        <p:tgtEl>
                                          <p:spTgt spid="26"/>
                                        </p:tgtEl>
                                      </p:cBhvr>
                                    </p:animEffect>
                                    <p:anim calcmode="lin" valueType="num">
                                      <p:cBhvr additive="base">
                                        <p:cTn id="108" dur="380" fill="hold"/>
                                        <p:tgtEl>
                                          <p:spTgt spid="26"/>
                                        </p:tgtEl>
                                        <p:attrNameLst>
                                          <p:attrName>ppt_y</p:attrName>
                                        </p:attrNameLst>
                                      </p:cBhvr>
                                      <p:tavLst>
                                        <p:tav tm="0">
                                          <p:val>
                                            <p:strVal val="#ppt_y+0.03"/>
                                          </p:val>
                                        </p:tav>
                                        <p:tav tm="100000">
                                          <p:val>
                                            <p:strVal val="#ppt_y"/>
                                          </p:val>
                                        </p:tav>
                                      </p:tavLst>
                                    </p:anim>
                                  </p:childTnLst>
                                </p:cTn>
                              </p:par>
                              <p:par>
                                <p:cTn id="109" presetID="42" presetClass="entr" presetSubtype="0" fill="hold" grpId="0" nodeType="afterEffect">
                                  <p:stCondLst>
                                    <p:cond delay="1014"/>
                                  </p:stCondLst>
                                  <p:childTnLst>
                                    <p:set>
                                      <p:cBhvr>
                                        <p:cTn id="110" dur="1" fill="hold">
                                          <p:stCondLst>
                                            <p:cond delay="0"/>
                                          </p:stCondLst>
                                        </p:cTn>
                                        <p:tgtEl>
                                          <p:spTgt spid="27"/>
                                        </p:tgtEl>
                                        <p:attrNameLst>
                                          <p:attrName>style.visibility</p:attrName>
                                        </p:attrNameLst>
                                      </p:cBhvr>
                                      <p:to>
                                        <p:strVal val="visible"/>
                                      </p:to>
                                    </p:set>
                                    <p:animEffect transition="in" filter="fade">
                                      <p:cBhvr>
                                        <p:cTn id="111" dur="380"/>
                                        <p:tgtEl>
                                          <p:spTgt spid="27"/>
                                        </p:tgtEl>
                                      </p:cBhvr>
                                    </p:animEffect>
                                    <p:anim calcmode="lin" valueType="num">
                                      <p:cBhvr additive="base">
                                        <p:cTn id="112" dur="380" fill="hold"/>
                                        <p:tgtEl>
                                          <p:spTgt spid="27"/>
                                        </p:tgtEl>
                                        <p:attrNameLst>
                                          <p:attrName>ppt_y</p:attrName>
                                        </p:attrNameLst>
                                      </p:cBhvr>
                                      <p:tavLst>
                                        <p:tav tm="0">
                                          <p:val>
                                            <p:strVal val="#ppt_y+0.03"/>
                                          </p:val>
                                        </p:tav>
                                        <p:tav tm="100000">
                                          <p:val>
                                            <p:strVal val="#ppt_y"/>
                                          </p:val>
                                        </p:tav>
                                      </p:tavLst>
                                    </p:anim>
                                  </p:childTnLst>
                                </p:cTn>
                              </p:par>
                              <p:par>
                                <p:cTn id="113" presetID="42" presetClass="entr" presetSubtype="0" fill="hold" grpId="0" nodeType="afterEffect">
                                  <p:stCondLst>
                                    <p:cond delay="1053"/>
                                  </p:stCondLst>
                                  <p:childTnLst>
                                    <p:set>
                                      <p:cBhvr>
                                        <p:cTn id="114" dur="1" fill="hold">
                                          <p:stCondLst>
                                            <p:cond delay="0"/>
                                          </p:stCondLst>
                                        </p:cTn>
                                        <p:tgtEl>
                                          <p:spTgt spid="28"/>
                                        </p:tgtEl>
                                        <p:attrNameLst>
                                          <p:attrName>style.visibility</p:attrName>
                                        </p:attrNameLst>
                                      </p:cBhvr>
                                      <p:to>
                                        <p:strVal val="visible"/>
                                      </p:to>
                                    </p:set>
                                    <p:animEffect transition="in" filter="fade">
                                      <p:cBhvr>
                                        <p:cTn id="115" dur="380"/>
                                        <p:tgtEl>
                                          <p:spTgt spid="28"/>
                                        </p:tgtEl>
                                      </p:cBhvr>
                                    </p:animEffect>
                                    <p:anim calcmode="lin" valueType="num">
                                      <p:cBhvr additive="base">
                                        <p:cTn id="116" dur="380" fill="hold"/>
                                        <p:tgtEl>
                                          <p:spTgt spid="28"/>
                                        </p:tgtEl>
                                        <p:attrNameLst>
                                          <p:attrName>ppt_y</p:attrName>
                                        </p:attrNameLst>
                                      </p:cBhvr>
                                      <p:tavLst>
                                        <p:tav tm="0">
                                          <p:val>
                                            <p:strVal val="#ppt_y+0.03"/>
                                          </p:val>
                                        </p:tav>
                                        <p:tav tm="100000">
                                          <p:val>
                                            <p:strVal val="#ppt_y"/>
                                          </p:val>
                                        </p:tav>
                                      </p:tavLst>
                                    </p:anim>
                                  </p:childTnLst>
                                </p:cTn>
                              </p:par>
                              <p:par>
                                <p:cTn id="117" presetID="42" presetClass="entr" presetSubtype="0" fill="hold" grpId="0" nodeType="afterEffect">
                                  <p:stCondLst>
                                    <p:cond delay="1092"/>
                                  </p:stCondLst>
                                  <p:childTnLst>
                                    <p:set>
                                      <p:cBhvr>
                                        <p:cTn id="118" dur="1" fill="hold">
                                          <p:stCondLst>
                                            <p:cond delay="0"/>
                                          </p:stCondLst>
                                        </p:cTn>
                                        <p:tgtEl>
                                          <p:spTgt spid="29"/>
                                        </p:tgtEl>
                                        <p:attrNameLst>
                                          <p:attrName>style.visibility</p:attrName>
                                        </p:attrNameLst>
                                      </p:cBhvr>
                                      <p:to>
                                        <p:strVal val="visible"/>
                                      </p:to>
                                    </p:set>
                                    <p:animEffect transition="in" filter="fade">
                                      <p:cBhvr>
                                        <p:cTn id="119" dur="380"/>
                                        <p:tgtEl>
                                          <p:spTgt spid="29"/>
                                        </p:tgtEl>
                                      </p:cBhvr>
                                    </p:animEffect>
                                    <p:anim calcmode="lin" valueType="num">
                                      <p:cBhvr additive="base">
                                        <p:cTn id="120" dur="380" fill="hold"/>
                                        <p:tgtEl>
                                          <p:spTgt spid="29"/>
                                        </p:tgtEl>
                                        <p:attrNameLst>
                                          <p:attrName>ppt_y</p:attrName>
                                        </p:attrNameLst>
                                      </p:cBhvr>
                                      <p:tavLst>
                                        <p:tav tm="0">
                                          <p:val>
                                            <p:strVal val="#ppt_y+0.03"/>
                                          </p:val>
                                        </p:tav>
                                        <p:tav tm="100000">
                                          <p:val>
                                            <p:strVal val="#ppt_y"/>
                                          </p:val>
                                        </p:tav>
                                      </p:tavLst>
                                    </p:anim>
                                  </p:childTnLst>
                                </p:cTn>
                              </p:par>
                              <p:par>
                                <p:cTn id="121" presetID="42" presetClass="entr" presetSubtype="0" fill="hold" grpId="0" nodeType="afterEffect">
                                  <p:stCondLst>
                                    <p:cond delay="1131"/>
                                  </p:stCondLst>
                                  <p:childTnLst>
                                    <p:set>
                                      <p:cBhvr>
                                        <p:cTn id="122" dur="1" fill="hold">
                                          <p:stCondLst>
                                            <p:cond delay="0"/>
                                          </p:stCondLst>
                                        </p:cTn>
                                        <p:tgtEl>
                                          <p:spTgt spid="30"/>
                                        </p:tgtEl>
                                        <p:attrNameLst>
                                          <p:attrName>style.visibility</p:attrName>
                                        </p:attrNameLst>
                                      </p:cBhvr>
                                      <p:to>
                                        <p:strVal val="visible"/>
                                      </p:to>
                                    </p:set>
                                    <p:animEffect transition="in" filter="fade">
                                      <p:cBhvr>
                                        <p:cTn id="123" dur="380"/>
                                        <p:tgtEl>
                                          <p:spTgt spid="30"/>
                                        </p:tgtEl>
                                      </p:cBhvr>
                                    </p:animEffect>
                                    <p:anim calcmode="lin" valueType="num">
                                      <p:cBhvr additive="base">
                                        <p:cTn id="124" dur="380" fill="hold"/>
                                        <p:tgtEl>
                                          <p:spTgt spid="30"/>
                                        </p:tgtEl>
                                        <p:attrNameLst>
                                          <p:attrName>ppt_y</p:attrName>
                                        </p:attrNameLst>
                                      </p:cBhvr>
                                      <p:tavLst>
                                        <p:tav tm="0">
                                          <p:val>
                                            <p:strVal val="#ppt_y+0.03"/>
                                          </p:val>
                                        </p:tav>
                                        <p:tav tm="100000">
                                          <p:val>
                                            <p:strVal val="#ppt_y"/>
                                          </p:val>
                                        </p:tav>
                                      </p:tavLst>
                                    </p:anim>
                                  </p:childTnLst>
                                </p:cTn>
                              </p:par>
                              <p:par>
                                <p:cTn id="125" presetID="42" presetClass="entr" presetSubtype="0" fill="hold" grpId="0" nodeType="afterEffect">
                                  <p:stCondLst>
                                    <p:cond delay="1170"/>
                                  </p:stCondLst>
                                  <p:childTnLst>
                                    <p:set>
                                      <p:cBhvr>
                                        <p:cTn id="126" dur="1" fill="hold">
                                          <p:stCondLst>
                                            <p:cond delay="0"/>
                                          </p:stCondLst>
                                        </p:cTn>
                                        <p:tgtEl>
                                          <p:spTgt spid="31"/>
                                        </p:tgtEl>
                                        <p:attrNameLst>
                                          <p:attrName>style.visibility</p:attrName>
                                        </p:attrNameLst>
                                      </p:cBhvr>
                                      <p:to>
                                        <p:strVal val="visible"/>
                                      </p:to>
                                    </p:set>
                                    <p:animEffect transition="in" filter="fade">
                                      <p:cBhvr>
                                        <p:cTn id="127" dur="380"/>
                                        <p:tgtEl>
                                          <p:spTgt spid="31"/>
                                        </p:tgtEl>
                                      </p:cBhvr>
                                    </p:animEffect>
                                    <p:anim calcmode="lin" valueType="num">
                                      <p:cBhvr additive="base">
                                        <p:cTn id="128" dur="380" fill="hold"/>
                                        <p:tgtEl>
                                          <p:spTgt spid="31"/>
                                        </p:tgtEl>
                                        <p:attrNameLst>
                                          <p:attrName>ppt_y</p:attrName>
                                        </p:attrNameLst>
                                      </p:cBhvr>
                                      <p:tavLst>
                                        <p:tav tm="0">
                                          <p:val>
                                            <p:strVal val="#ppt_y+0.03"/>
                                          </p:val>
                                        </p:tav>
                                        <p:tav tm="100000">
                                          <p:val>
                                            <p:strVal val="#ppt_y"/>
                                          </p:val>
                                        </p:tav>
                                      </p:tavLst>
                                    </p:anim>
                                  </p:childTnLst>
                                </p:cTn>
                              </p:par>
                              <p:par>
                                <p:cTn id="129" presetID="42" presetClass="entr" presetSubtype="0" fill="hold" grpId="0" nodeType="afterEffect">
                                  <p:stCondLst>
                                    <p:cond delay="1209"/>
                                  </p:stCondLst>
                                  <p:childTnLst>
                                    <p:set>
                                      <p:cBhvr>
                                        <p:cTn id="130" dur="1" fill="hold">
                                          <p:stCondLst>
                                            <p:cond delay="0"/>
                                          </p:stCondLst>
                                        </p:cTn>
                                        <p:tgtEl>
                                          <p:spTgt spid="32"/>
                                        </p:tgtEl>
                                        <p:attrNameLst>
                                          <p:attrName>style.visibility</p:attrName>
                                        </p:attrNameLst>
                                      </p:cBhvr>
                                      <p:to>
                                        <p:strVal val="visible"/>
                                      </p:to>
                                    </p:set>
                                    <p:animEffect transition="in" filter="fade">
                                      <p:cBhvr>
                                        <p:cTn id="131" dur="380"/>
                                        <p:tgtEl>
                                          <p:spTgt spid="32"/>
                                        </p:tgtEl>
                                      </p:cBhvr>
                                    </p:animEffect>
                                    <p:anim calcmode="lin" valueType="num">
                                      <p:cBhvr additive="base">
                                        <p:cTn id="132" dur="380" fill="hold"/>
                                        <p:tgtEl>
                                          <p:spTgt spid="32"/>
                                        </p:tgtEl>
                                        <p:attrNameLst>
                                          <p:attrName>ppt_y</p:attrName>
                                        </p:attrNameLst>
                                      </p:cBhvr>
                                      <p:tavLst>
                                        <p:tav tm="0">
                                          <p:val>
                                            <p:strVal val="#ppt_y+0.03"/>
                                          </p:val>
                                        </p:tav>
                                        <p:tav tm="100000">
                                          <p:val>
                                            <p:strVal val="#ppt_y"/>
                                          </p:val>
                                        </p:tav>
                                      </p:tavLst>
                                    </p:anim>
                                  </p:childTnLst>
                                </p:cTn>
                              </p:par>
                              <p:par>
                                <p:cTn id="133" presetID="42" presetClass="entr" presetSubtype="0" fill="hold" grpId="0" nodeType="afterEffect">
                                  <p:stCondLst>
                                    <p:cond delay="1248"/>
                                  </p:stCondLst>
                                  <p:childTnLst>
                                    <p:set>
                                      <p:cBhvr>
                                        <p:cTn id="134" dur="1" fill="hold">
                                          <p:stCondLst>
                                            <p:cond delay="0"/>
                                          </p:stCondLst>
                                        </p:cTn>
                                        <p:tgtEl>
                                          <p:spTgt spid="33"/>
                                        </p:tgtEl>
                                        <p:attrNameLst>
                                          <p:attrName>style.visibility</p:attrName>
                                        </p:attrNameLst>
                                      </p:cBhvr>
                                      <p:to>
                                        <p:strVal val="visible"/>
                                      </p:to>
                                    </p:set>
                                    <p:animEffect transition="in" filter="fade">
                                      <p:cBhvr>
                                        <p:cTn id="135" dur="380"/>
                                        <p:tgtEl>
                                          <p:spTgt spid="33"/>
                                        </p:tgtEl>
                                      </p:cBhvr>
                                    </p:animEffect>
                                    <p:anim calcmode="lin" valueType="num">
                                      <p:cBhvr additive="base">
                                        <p:cTn id="136" dur="380" fill="hold"/>
                                        <p:tgtEl>
                                          <p:spTgt spid="33"/>
                                        </p:tgtEl>
                                        <p:attrNameLst>
                                          <p:attrName>ppt_y</p:attrName>
                                        </p:attrNameLst>
                                      </p:cBhvr>
                                      <p:tavLst>
                                        <p:tav tm="0">
                                          <p:val>
                                            <p:strVal val="#ppt_y+0.03"/>
                                          </p:val>
                                        </p:tav>
                                        <p:tav tm="100000">
                                          <p:val>
                                            <p:strVal val="#ppt_y"/>
                                          </p:val>
                                        </p:tav>
                                      </p:tavLst>
                                    </p:anim>
                                  </p:childTnLst>
                                </p:cTn>
                              </p:par>
                              <p:par>
                                <p:cTn id="137" presetID="42" presetClass="entr" presetSubtype="0" fill="hold" grpId="0" nodeType="afterEffect">
                                  <p:stCondLst>
                                    <p:cond delay="1287"/>
                                  </p:stCondLst>
                                  <p:childTnLst>
                                    <p:set>
                                      <p:cBhvr>
                                        <p:cTn id="138" dur="1" fill="hold">
                                          <p:stCondLst>
                                            <p:cond delay="0"/>
                                          </p:stCondLst>
                                        </p:cTn>
                                        <p:tgtEl>
                                          <p:spTgt spid="34"/>
                                        </p:tgtEl>
                                        <p:attrNameLst>
                                          <p:attrName>style.visibility</p:attrName>
                                        </p:attrNameLst>
                                      </p:cBhvr>
                                      <p:to>
                                        <p:strVal val="visible"/>
                                      </p:to>
                                    </p:set>
                                    <p:animEffect transition="in" filter="fade">
                                      <p:cBhvr>
                                        <p:cTn id="139" dur="380"/>
                                        <p:tgtEl>
                                          <p:spTgt spid="34"/>
                                        </p:tgtEl>
                                      </p:cBhvr>
                                    </p:animEffect>
                                    <p:anim calcmode="lin" valueType="num">
                                      <p:cBhvr additive="base">
                                        <p:cTn id="140" dur="380" fill="hold"/>
                                        <p:tgtEl>
                                          <p:spTgt spid="34"/>
                                        </p:tgtEl>
                                        <p:attrNameLst>
                                          <p:attrName>ppt_y</p:attrName>
                                        </p:attrNameLst>
                                      </p:cBhvr>
                                      <p:tavLst>
                                        <p:tav tm="0">
                                          <p:val>
                                            <p:strVal val="#ppt_y+0.03"/>
                                          </p:val>
                                        </p:tav>
                                        <p:tav tm="100000">
                                          <p:val>
                                            <p:strVal val="#ppt_y"/>
                                          </p:val>
                                        </p:tav>
                                      </p:tavLst>
                                    </p:anim>
                                  </p:childTnLst>
                                </p:cTn>
                              </p:par>
                              <p:par>
                                <p:cTn id="141" presetID="42" presetClass="entr" presetSubtype="0" fill="hold" grpId="0" nodeType="afterEffect">
                                  <p:stCondLst>
                                    <p:cond delay="1326"/>
                                  </p:stCondLst>
                                  <p:childTnLst>
                                    <p:set>
                                      <p:cBhvr>
                                        <p:cTn id="142" dur="1" fill="hold">
                                          <p:stCondLst>
                                            <p:cond delay="0"/>
                                          </p:stCondLst>
                                        </p:cTn>
                                        <p:tgtEl>
                                          <p:spTgt spid="35"/>
                                        </p:tgtEl>
                                        <p:attrNameLst>
                                          <p:attrName>style.visibility</p:attrName>
                                        </p:attrNameLst>
                                      </p:cBhvr>
                                      <p:to>
                                        <p:strVal val="visible"/>
                                      </p:to>
                                    </p:set>
                                    <p:animEffect transition="in" filter="fade">
                                      <p:cBhvr>
                                        <p:cTn id="143" dur="380"/>
                                        <p:tgtEl>
                                          <p:spTgt spid="35"/>
                                        </p:tgtEl>
                                      </p:cBhvr>
                                    </p:animEffect>
                                    <p:anim calcmode="lin" valueType="num">
                                      <p:cBhvr additive="base">
                                        <p:cTn id="144" dur="380" fill="hold"/>
                                        <p:tgtEl>
                                          <p:spTgt spid="35"/>
                                        </p:tgtEl>
                                        <p:attrNameLst>
                                          <p:attrName>ppt_y</p:attrName>
                                        </p:attrNameLst>
                                      </p:cBhvr>
                                      <p:tavLst>
                                        <p:tav tm="0">
                                          <p:val>
                                            <p:strVal val="#ppt_y+0.03"/>
                                          </p:val>
                                        </p:tav>
                                        <p:tav tm="100000">
                                          <p:val>
                                            <p:strVal val="#ppt_y"/>
                                          </p:val>
                                        </p:tav>
                                      </p:tavLst>
                                    </p:anim>
                                  </p:childTnLst>
                                </p:cTn>
                              </p:par>
                              <p:par>
                                <p:cTn id="145" presetID="42" presetClass="entr" presetSubtype="0" fill="hold" grpId="0" nodeType="afterEffect">
                                  <p:stCondLst>
                                    <p:cond delay="1365"/>
                                  </p:stCondLst>
                                  <p:childTnLst>
                                    <p:set>
                                      <p:cBhvr>
                                        <p:cTn id="146" dur="1" fill="hold">
                                          <p:stCondLst>
                                            <p:cond delay="0"/>
                                          </p:stCondLst>
                                        </p:cTn>
                                        <p:tgtEl>
                                          <p:spTgt spid="36"/>
                                        </p:tgtEl>
                                        <p:attrNameLst>
                                          <p:attrName>style.visibility</p:attrName>
                                        </p:attrNameLst>
                                      </p:cBhvr>
                                      <p:to>
                                        <p:strVal val="visible"/>
                                      </p:to>
                                    </p:set>
                                    <p:animEffect transition="in" filter="fade">
                                      <p:cBhvr>
                                        <p:cTn id="147" dur="380"/>
                                        <p:tgtEl>
                                          <p:spTgt spid="36"/>
                                        </p:tgtEl>
                                      </p:cBhvr>
                                    </p:animEffect>
                                    <p:anim calcmode="lin" valueType="num">
                                      <p:cBhvr additive="base">
                                        <p:cTn id="148" dur="380" fill="hold"/>
                                        <p:tgtEl>
                                          <p:spTgt spid="36"/>
                                        </p:tgtEl>
                                        <p:attrNameLst>
                                          <p:attrName>ppt_y</p:attrName>
                                        </p:attrNameLst>
                                      </p:cBhvr>
                                      <p:tavLst>
                                        <p:tav tm="0">
                                          <p:val>
                                            <p:strVal val="#ppt_y+0.03"/>
                                          </p:val>
                                        </p:tav>
                                        <p:tav tm="100000">
                                          <p:val>
                                            <p:strVal val="#ppt_y"/>
                                          </p:val>
                                        </p:tav>
                                      </p:tavLst>
                                    </p:anim>
                                  </p:childTnLst>
                                </p:cTn>
                              </p:par>
                              <p:par>
                                <p:cTn id="149" presetID="42" presetClass="entr" presetSubtype="0" fill="hold" grpId="0" nodeType="afterEffect">
                                  <p:stCondLst>
                                    <p:cond delay="1404"/>
                                  </p:stCondLst>
                                  <p:childTnLst>
                                    <p:set>
                                      <p:cBhvr>
                                        <p:cTn id="150" dur="1" fill="hold">
                                          <p:stCondLst>
                                            <p:cond delay="0"/>
                                          </p:stCondLst>
                                        </p:cTn>
                                        <p:tgtEl>
                                          <p:spTgt spid="37"/>
                                        </p:tgtEl>
                                        <p:attrNameLst>
                                          <p:attrName>style.visibility</p:attrName>
                                        </p:attrNameLst>
                                      </p:cBhvr>
                                      <p:to>
                                        <p:strVal val="visible"/>
                                      </p:to>
                                    </p:set>
                                    <p:animEffect transition="in" filter="fade">
                                      <p:cBhvr>
                                        <p:cTn id="151" dur="380"/>
                                        <p:tgtEl>
                                          <p:spTgt spid="37"/>
                                        </p:tgtEl>
                                      </p:cBhvr>
                                    </p:animEffect>
                                    <p:anim calcmode="lin" valueType="num">
                                      <p:cBhvr additive="base">
                                        <p:cTn id="152" dur="380" fill="hold"/>
                                        <p:tgtEl>
                                          <p:spTgt spid="37"/>
                                        </p:tgtEl>
                                        <p:attrNameLst>
                                          <p:attrName>ppt_y</p:attrName>
                                        </p:attrNameLst>
                                      </p:cBhvr>
                                      <p:tavLst>
                                        <p:tav tm="0">
                                          <p:val>
                                            <p:strVal val="#ppt_y+0.03"/>
                                          </p:val>
                                        </p:tav>
                                        <p:tav tm="100000">
                                          <p:val>
                                            <p:strVal val="#ppt_y"/>
                                          </p:val>
                                        </p:tav>
                                      </p:tavLst>
                                    </p:anim>
                                  </p:childTnLst>
                                </p:cTn>
                              </p:par>
                              <p:par>
                                <p:cTn id="153" presetID="42" presetClass="entr" presetSubtype="0" fill="hold" grpId="0" nodeType="afterEffect">
                                  <p:stCondLst>
                                    <p:cond delay="1443"/>
                                  </p:stCondLst>
                                  <p:childTnLst>
                                    <p:set>
                                      <p:cBhvr>
                                        <p:cTn id="154" dur="1" fill="hold">
                                          <p:stCondLst>
                                            <p:cond delay="0"/>
                                          </p:stCondLst>
                                        </p:cTn>
                                        <p:tgtEl>
                                          <p:spTgt spid="38"/>
                                        </p:tgtEl>
                                        <p:attrNameLst>
                                          <p:attrName>style.visibility</p:attrName>
                                        </p:attrNameLst>
                                      </p:cBhvr>
                                      <p:to>
                                        <p:strVal val="visible"/>
                                      </p:to>
                                    </p:set>
                                    <p:animEffect transition="in" filter="fade">
                                      <p:cBhvr>
                                        <p:cTn id="155" dur="380"/>
                                        <p:tgtEl>
                                          <p:spTgt spid="38"/>
                                        </p:tgtEl>
                                      </p:cBhvr>
                                    </p:animEffect>
                                    <p:anim calcmode="lin" valueType="num">
                                      <p:cBhvr additive="base">
                                        <p:cTn id="156" dur="380" fill="hold"/>
                                        <p:tgtEl>
                                          <p:spTgt spid="38"/>
                                        </p:tgtEl>
                                        <p:attrNameLst>
                                          <p:attrName>ppt_y</p:attrName>
                                        </p:attrNameLst>
                                      </p:cBhvr>
                                      <p:tavLst>
                                        <p:tav tm="0">
                                          <p:val>
                                            <p:strVal val="#ppt_y+0.03"/>
                                          </p:val>
                                        </p:tav>
                                        <p:tav tm="100000">
                                          <p:val>
                                            <p:strVal val="#ppt_y"/>
                                          </p:val>
                                        </p:tav>
                                      </p:tavLst>
                                    </p:anim>
                                  </p:childTnLst>
                                </p:cTn>
                              </p:par>
                              <p:par>
                                <p:cTn id="157" presetID="42" presetClass="entr" presetSubtype="0" fill="hold" grpId="0" nodeType="afterEffect">
                                  <p:stCondLst>
                                    <p:cond delay="1482"/>
                                  </p:stCondLst>
                                  <p:childTnLst>
                                    <p:set>
                                      <p:cBhvr>
                                        <p:cTn id="158" dur="1" fill="hold">
                                          <p:stCondLst>
                                            <p:cond delay="0"/>
                                          </p:stCondLst>
                                        </p:cTn>
                                        <p:tgtEl>
                                          <p:spTgt spid="39"/>
                                        </p:tgtEl>
                                        <p:attrNameLst>
                                          <p:attrName>style.visibility</p:attrName>
                                        </p:attrNameLst>
                                      </p:cBhvr>
                                      <p:to>
                                        <p:strVal val="visible"/>
                                      </p:to>
                                    </p:set>
                                    <p:animEffect transition="in" filter="fade">
                                      <p:cBhvr>
                                        <p:cTn id="159" dur="380"/>
                                        <p:tgtEl>
                                          <p:spTgt spid="39"/>
                                        </p:tgtEl>
                                      </p:cBhvr>
                                    </p:animEffect>
                                    <p:anim calcmode="lin" valueType="num">
                                      <p:cBhvr additive="base">
                                        <p:cTn id="160" dur="380" fill="hold"/>
                                        <p:tgtEl>
                                          <p:spTgt spid="39"/>
                                        </p:tgtEl>
                                        <p:attrNameLst>
                                          <p:attrName>ppt_y</p:attrName>
                                        </p:attrNameLst>
                                      </p:cBhvr>
                                      <p:tavLst>
                                        <p:tav tm="0">
                                          <p:val>
                                            <p:strVal val="#ppt_y+0.03"/>
                                          </p:val>
                                        </p:tav>
                                        <p:tav tm="100000">
                                          <p:val>
                                            <p:strVal val="#ppt_y"/>
                                          </p:val>
                                        </p:tav>
                                      </p:tavLst>
                                    </p:anim>
                                  </p:childTnLst>
                                </p:cTn>
                              </p:par>
                              <p:par>
                                <p:cTn id="161" presetID="42" presetClass="entr" presetSubtype="0" fill="hold" grpId="0" nodeType="afterEffect">
                                  <p:stCondLst>
                                    <p:cond delay="1521"/>
                                  </p:stCondLst>
                                  <p:childTnLst>
                                    <p:set>
                                      <p:cBhvr>
                                        <p:cTn id="162" dur="1" fill="hold">
                                          <p:stCondLst>
                                            <p:cond delay="0"/>
                                          </p:stCondLst>
                                        </p:cTn>
                                        <p:tgtEl>
                                          <p:spTgt spid="40"/>
                                        </p:tgtEl>
                                        <p:attrNameLst>
                                          <p:attrName>style.visibility</p:attrName>
                                        </p:attrNameLst>
                                      </p:cBhvr>
                                      <p:to>
                                        <p:strVal val="visible"/>
                                      </p:to>
                                    </p:set>
                                    <p:animEffect transition="in" filter="fade">
                                      <p:cBhvr>
                                        <p:cTn id="163" dur="380"/>
                                        <p:tgtEl>
                                          <p:spTgt spid="40"/>
                                        </p:tgtEl>
                                      </p:cBhvr>
                                    </p:animEffect>
                                    <p:anim calcmode="lin" valueType="num">
                                      <p:cBhvr additive="base">
                                        <p:cTn id="164" dur="380" fill="hold"/>
                                        <p:tgtEl>
                                          <p:spTgt spid="40"/>
                                        </p:tgtEl>
                                        <p:attrNameLst>
                                          <p:attrName>ppt_y</p:attrName>
                                        </p:attrNameLst>
                                      </p:cBhvr>
                                      <p:tavLst>
                                        <p:tav tm="0">
                                          <p:val>
                                            <p:strVal val="#ppt_y+0.03"/>
                                          </p:val>
                                        </p:tav>
                                        <p:tav tm="100000">
                                          <p:val>
                                            <p:strVal val="#ppt_y"/>
                                          </p:val>
                                        </p:tav>
                                      </p:tavLst>
                                    </p:anim>
                                  </p:childTnLst>
                                </p:cTn>
                              </p:par>
                              <p:par>
                                <p:cTn id="165" presetID="42" presetClass="entr" presetSubtype="0" fill="hold" grpId="0" nodeType="afterEffect">
                                  <p:stCondLst>
                                    <p:cond delay="1560"/>
                                  </p:stCondLst>
                                  <p:childTnLst>
                                    <p:set>
                                      <p:cBhvr>
                                        <p:cTn id="166" dur="1" fill="hold">
                                          <p:stCondLst>
                                            <p:cond delay="0"/>
                                          </p:stCondLst>
                                        </p:cTn>
                                        <p:tgtEl>
                                          <p:spTgt spid="41"/>
                                        </p:tgtEl>
                                        <p:attrNameLst>
                                          <p:attrName>style.visibility</p:attrName>
                                        </p:attrNameLst>
                                      </p:cBhvr>
                                      <p:to>
                                        <p:strVal val="visible"/>
                                      </p:to>
                                    </p:set>
                                    <p:animEffect transition="in" filter="fade">
                                      <p:cBhvr>
                                        <p:cTn id="167" dur="380"/>
                                        <p:tgtEl>
                                          <p:spTgt spid="41"/>
                                        </p:tgtEl>
                                      </p:cBhvr>
                                    </p:animEffect>
                                    <p:anim calcmode="lin" valueType="num">
                                      <p:cBhvr additive="base">
                                        <p:cTn id="168" dur="380" fill="hold"/>
                                        <p:tgtEl>
                                          <p:spTgt spid="41"/>
                                        </p:tgtEl>
                                        <p:attrNameLst>
                                          <p:attrName>ppt_y</p:attrName>
                                        </p:attrNameLst>
                                      </p:cBhvr>
                                      <p:tavLst>
                                        <p:tav tm="0">
                                          <p:val>
                                            <p:strVal val="#ppt_y+0.03"/>
                                          </p:val>
                                        </p:tav>
                                        <p:tav tm="100000">
                                          <p:val>
                                            <p:strVal val="#ppt_y"/>
                                          </p:val>
                                        </p:tav>
                                      </p:tavLst>
                                    </p:anim>
                                  </p:childTnLst>
                                </p:cTn>
                              </p:par>
                              <p:par>
                                <p:cTn id="169" presetID="42" presetClass="entr" presetSubtype="0" fill="hold" grpId="0" nodeType="afterEffect">
                                  <p:stCondLst>
                                    <p:cond delay="1599"/>
                                  </p:stCondLst>
                                  <p:childTnLst>
                                    <p:set>
                                      <p:cBhvr>
                                        <p:cTn id="170" dur="1" fill="hold">
                                          <p:stCondLst>
                                            <p:cond delay="0"/>
                                          </p:stCondLst>
                                        </p:cTn>
                                        <p:tgtEl>
                                          <p:spTgt spid="42"/>
                                        </p:tgtEl>
                                        <p:attrNameLst>
                                          <p:attrName>style.visibility</p:attrName>
                                        </p:attrNameLst>
                                      </p:cBhvr>
                                      <p:to>
                                        <p:strVal val="visible"/>
                                      </p:to>
                                    </p:set>
                                    <p:animEffect transition="in" filter="fade">
                                      <p:cBhvr>
                                        <p:cTn id="171" dur="380"/>
                                        <p:tgtEl>
                                          <p:spTgt spid="42"/>
                                        </p:tgtEl>
                                      </p:cBhvr>
                                    </p:animEffect>
                                    <p:anim calcmode="lin" valueType="num">
                                      <p:cBhvr additive="base">
                                        <p:cTn id="172" dur="380" fill="hold"/>
                                        <p:tgtEl>
                                          <p:spTgt spid="42"/>
                                        </p:tgtEl>
                                        <p:attrNameLst>
                                          <p:attrName>ppt_y</p:attrName>
                                        </p:attrNameLst>
                                      </p:cBhvr>
                                      <p:tavLst>
                                        <p:tav tm="0">
                                          <p:val>
                                            <p:strVal val="#ppt_y+0.03"/>
                                          </p:val>
                                        </p:tav>
                                        <p:tav tm="100000">
                                          <p:val>
                                            <p:strVal val="#ppt_y"/>
                                          </p:val>
                                        </p:tav>
                                      </p:tavLst>
                                    </p:anim>
                                  </p:childTnLst>
                                </p:cTn>
                              </p:par>
                              <p:par>
                                <p:cTn id="173" presetID="42" presetClass="entr" presetSubtype="0" fill="hold" grpId="0" nodeType="afterEffect">
                                  <p:stCondLst>
                                    <p:cond delay="1638"/>
                                  </p:stCondLst>
                                  <p:childTnLst>
                                    <p:set>
                                      <p:cBhvr>
                                        <p:cTn id="174" dur="1" fill="hold">
                                          <p:stCondLst>
                                            <p:cond delay="0"/>
                                          </p:stCondLst>
                                        </p:cTn>
                                        <p:tgtEl>
                                          <p:spTgt spid="43"/>
                                        </p:tgtEl>
                                        <p:attrNameLst>
                                          <p:attrName>style.visibility</p:attrName>
                                        </p:attrNameLst>
                                      </p:cBhvr>
                                      <p:to>
                                        <p:strVal val="visible"/>
                                      </p:to>
                                    </p:set>
                                    <p:animEffect transition="in" filter="fade">
                                      <p:cBhvr>
                                        <p:cTn id="175" dur="380"/>
                                        <p:tgtEl>
                                          <p:spTgt spid="43"/>
                                        </p:tgtEl>
                                      </p:cBhvr>
                                    </p:animEffect>
                                    <p:anim calcmode="lin" valueType="num">
                                      <p:cBhvr additive="base">
                                        <p:cTn id="176" dur="380" fill="hold"/>
                                        <p:tgtEl>
                                          <p:spTgt spid="43"/>
                                        </p:tgtEl>
                                        <p:attrNameLst>
                                          <p:attrName>ppt_y</p:attrName>
                                        </p:attrNameLst>
                                      </p:cBhvr>
                                      <p:tavLst>
                                        <p:tav tm="0">
                                          <p:val>
                                            <p:strVal val="#ppt_y+0.03"/>
                                          </p:val>
                                        </p:tav>
                                        <p:tav tm="100000">
                                          <p:val>
                                            <p:strVal val="#ppt_y"/>
                                          </p:val>
                                        </p:tav>
                                      </p:tavLst>
                                    </p:anim>
                                  </p:childTnLst>
                                </p:cTn>
                              </p:par>
                              <p:par>
                                <p:cTn id="177" presetID="42" presetClass="entr" presetSubtype="0" fill="hold" grpId="0" nodeType="afterEffect">
                                  <p:stCondLst>
                                    <p:cond delay="1677"/>
                                  </p:stCondLst>
                                  <p:childTnLst>
                                    <p:set>
                                      <p:cBhvr>
                                        <p:cTn id="178" dur="1" fill="hold">
                                          <p:stCondLst>
                                            <p:cond delay="0"/>
                                          </p:stCondLst>
                                        </p:cTn>
                                        <p:tgtEl>
                                          <p:spTgt spid="44"/>
                                        </p:tgtEl>
                                        <p:attrNameLst>
                                          <p:attrName>style.visibility</p:attrName>
                                        </p:attrNameLst>
                                      </p:cBhvr>
                                      <p:to>
                                        <p:strVal val="visible"/>
                                      </p:to>
                                    </p:set>
                                    <p:animEffect transition="in" filter="fade">
                                      <p:cBhvr>
                                        <p:cTn id="179" dur="380"/>
                                        <p:tgtEl>
                                          <p:spTgt spid="44"/>
                                        </p:tgtEl>
                                      </p:cBhvr>
                                    </p:animEffect>
                                    <p:anim calcmode="lin" valueType="num">
                                      <p:cBhvr additive="base">
                                        <p:cTn id="180" dur="380" fill="hold"/>
                                        <p:tgtEl>
                                          <p:spTgt spid="44"/>
                                        </p:tgtEl>
                                        <p:attrNameLst>
                                          <p:attrName>ppt_y</p:attrName>
                                        </p:attrNameLst>
                                      </p:cBhvr>
                                      <p:tavLst>
                                        <p:tav tm="0">
                                          <p:val>
                                            <p:strVal val="#ppt_y+0.03"/>
                                          </p:val>
                                        </p:tav>
                                        <p:tav tm="100000">
                                          <p:val>
                                            <p:strVal val="#ppt_y"/>
                                          </p:val>
                                        </p:tav>
                                      </p:tavLst>
                                    </p:anim>
                                  </p:childTnLst>
                                </p:cTn>
                              </p:par>
                              <p:par>
                                <p:cTn id="181" presetID="42" presetClass="entr" presetSubtype="0" fill="hold" grpId="0" nodeType="afterEffect">
                                  <p:stCondLst>
                                    <p:cond delay="1716"/>
                                  </p:stCondLst>
                                  <p:childTnLst>
                                    <p:set>
                                      <p:cBhvr>
                                        <p:cTn id="182" dur="1" fill="hold">
                                          <p:stCondLst>
                                            <p:cond delay="0"/>
                                          </p:stCondLst>
                                        </p:cTn>
                                        <p:tgtEl>
                                          <p:spTgt spid="45"/>
                                        </p:tgtEl>
                                        <p:attrNameLst>
                                          <p:attrName>style.visibility</p:attrName>
                                        </p:attrNameLst>
                                      </p:cBhvr>
                                      <p:to>
                                        <p:strVal val="visible"/>
                                      </p:to>
                                    </p:set>
                                    <p:animEffect transition="in" filter="fade">
                                      <p:cBhvr>
                                        <p:cTn id="183" dur="380"/>
                                        <p:tgtEl>
                                          <p:spTgt spid="45"/>
                                        </p:tgtEl>
                                      </p:cBhvr>
                                    </p:animEffect>
                                    <p:anim calcmode="lin" valueType="num">
                                      <p:cBhvr additive="base">
                                        <p:cTn id="184" dur="380" fill="hold"/>
                                        <p:tgtEl>
                                          <p:spTgt spid="45"/>
                                        </p:tgtEl>
                                        <p:attrNameLst>
                                          <p:attrName>ppt_y</p:attrName>
                                        </p:attrNameLst>
                                      </p:cBhvr>
                                      <p:tavLst>
                                        <p:tav tm="0">
                                          <p:val>
                                            <p:strVal val="#ppt_y+0.03"/>
                                          </p:val>
                                        </p:tav>
                                        <p:tav tm="100000">
                                          <p:val>
                                            <p:strVal val="#ppt_y"/>
                                          </p:val>
                                        </p:tav>
                                      </p:tavLst>
                                    </p:anim>
                                  </p:childTnLst>
                                </p:cTn>
                              </p:par>
                              <p:par>
                                <p:cTn id="185" presetID="42" presetClass="entr" presetSubtype="0" fill="hold" grpId="0" nodeType="afterEffect">
                                  <p:stCondLst>
                                    <p:cond delay="1755"/>
                                  </p:stCondLst>
                                  <p:childTnLst>
                                    <p:set>
                                      <p:cBhvr>
                                        <p:cTn id="186" dur="1" fill="hold">
                                          <p:stCondLst>
                                            <p:cond delay="0"/>
                                          </p:stCondLst>
                                        </p:cTn>
                                        <p:tgtEl>
                                          <p:spTgt spid="46"/>
                                        </p:tgtEl>
                                        <p:attrNameLst>
                                          <p:attrName>style.visibility</p:attrName>
                                        </p:attrNameLst>
                                      </p:cBhvr>
                                      <p:to>
                                        <p:strVal val="visible"/>
                                      </p:to>
                                    </p:set>
                                    <p:animEffect transition="in" filter="fade">
                                      <p:cBhvr>
                                        <p:cTn id="187" dur="380"/>
                                        <p:tgtEl>
                                          <p:spTgt spid="46"/>
                                        </p:tgtEl>
                                      </p:cBhvr>
                                    </p:animEffect>
                                    <p:anim calcmode="lin" valueType="num">
                                      <p:cBhvr additive="base">
                                        <p:cTn id="188" dur="380" fill="hold"/>
                                        <p:tgtEl>
                                          <p:spTgt spid="46"/>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 grpId="0"/>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P spid="37" grpId="0"/>
      <p:bldP spid="38" grpId="0"/>
      <p:bldP spid="39" grpId="0"/>
      <p:bldP spid="40" grpId="0"/>
      <p:bldP spid="41" grpId="0"/>
      <p:bldP spid="42" grpId="0"/>
      <p:bldP spid="43" grpId="0"/>
      <p:bldP spid="44" grpId="0"/>
      <p:bldP spid="45" grpId="0"/>
      <p:bldP spid="46" grpId="0"/>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37744"/>
          </a:xfrm>
          <a:prstGeom prst="rect">
            <a:avLst/>
          </a:prstGeom>
          <a:noFill/>
          <a:ln/>
        </p:spPr>
        <p:txBody>
          <a:bodyPr wrap="square" lIns="0" tIns="0" rIns="0" bIns="0" rtlCol="0" anchor="ctr"/>
          <a:lstStyle/>
          <a:p>
            <a:pPr indent="0" marL="0">
              <a:buNone/>
            </a:pPr>
            <a:r>
              <a:rPr lang="en-US" sz="1050" b="1" spc="200" kern="0" dirty="0">
                <a:solidFill>
                  <a:srgbClr val="00C39A"/>
                </a:solidFill>
                <a:latin typeface="Calibri" pitchFamily="34" charset="0"/>
                <a:ea typeface="Calibri" pitchFamily="34" charset="-122"/>
                <a:cs typeface="Calibri" pitchFamily="34" charset="-120"/>
              </a:rPr>
              <a:t>HOW IT RUNS AT CBIT</a:t>
            </a:r>
            <a:endParaRPr lang="en-US" sz="1050" dirty="0"/>
          </a:p>
        </p:txBody>
      </p:sp>
      <p:sp>
        <p:nvSpPr>
          <p:cNvPr id="3" name="Text 1"/>
          <p:cNvSpPr/>
          <p:nvPr/>
        </p:nvSpPr>
        <p:spPr>
          <a:xfrm>
            <a:off x="548640" y="658368"/>
            <a:ext cx="11064240" cy="658368"/>
          </a:xfrm>
          <a:prstGeom prst="rect">
            <a:avLst/>
          </a:prstGeom>
          <a:noFill/>
          <a:ln/>
        </p:spPr>
        <p:txBody>
          <a:bodyPr wrap="square" lIns="0" tIns="0" rIns="0" bIns="0" rtlCol="0" anchor="t"/>
          <a:lstStyle/>
          <a:p>
            <a:pPr indent="0" marL="0">
              <a:buNone/>
            </a:pPr>
            <a:r>
              <a:rPr lang="en-US" sz="3400" b="1" dirty="0">
                <a:solidFill>
                  <a:srgbClr val="141B3D"/>
                </a:solidFill>
                <a:latin typeface="Cambria" pitchFamily="34" charset="0"/>
                <a:ea typeface="Cambria" pitchFamily="34" charset="-122"/>
                <a:cs typeface="Cambria" pitchFamily="34" charset="-120"/>
              </a:rPr>
              <a:t>A lab session, end to end</a:t>
            </a:r>
            <a:endParaRPr lang="en-US" sz="3400" dirty="0"/>
          </a:p>
        </p:txBody>
      </p:sp>
      <p:sp>
        <p:nvSpPr>
          <p:cNvPr id="4" name="Text 2"/>
          <p:cNvSpPr/>
          <p:nvPr/>
        </p:nvSpPr>
        <p:spPr>
          <a:xfrm>
            <a:off x="548640" y="1371600"/>
            <a:ext cx="10424160" cy="329184"/>
          </a:xfrm>
          <a:prstGeom prst="rect">
            <a:avLst/>
          </a:prstGeom>
          <a:noFill/>
          <a:ln/>
        </p:spPr>
        <p:txBody>
          <a:bodyPr wrap="square" lIns="0" tIns="0" rIns="0" bIns="0" rtlCol="0" anchor="ctr"/>
          <a:lstStyle/>
          <a:p>
            <a:pPr indent="0" marL="0">
              <a:buNone/>
            </a:pPr>
            <a:r>
              <a:rPr lang="en-US" sz="1400" dirty="0">
                <a:solidFill>
                  <a:srgbClr val="646E8C"/>
                </a:solidFill>
                <a:latin typeface="Calibri" pitchFamily="34" charset="0"/>
                <a:ea typeface="Calibri" pitchFamily="34" charset="-122"/>
                <a:cs typeface="Calibri" pitchFamily="34" charset="-120"/>
              </a:rPr>
              <a:t>Nothing changes about how students are identified administratively — the platform is built around CBIT's existing roll-number and section structure.</a:t>
            </a:r>
            <a:endParaRPr lang="en-US" sz="1400" dirty="0"/>
          </a:p>
        </p:txBody>
      </p:sp>
      <p:sp>
        <p:nvSpPr>
          <p:cNvPr id="5" name="Shape 3"/>
          <p:cNvSpPr/>
          <p:nvPr/>
        </p:nvSpPr>
        <p:spPr>
          <a:xfrm>
            <a:off x="385420" y="1975104"/>
            <a:ext cx="2615184" cy="1847088"/>
          </a:xfrm>
          <a:prstGeom prst="roundRect">
            <a:avLst>
              <a:gd name="adj" fmla="val 4455"/>
            </a:avLst>
          </a:prstGeom>
          <a:solidFill>
            <a:srgbClr val="F4F6FC"/>
          </a:solidFill>
          <a:ln w="9525">
            <a:solidFill>
              <a:srgbClr val="F4F6FC"/>
            </a:solidFill>
            <a:prstDash val="solid"/>
          </a:ln>
          <a:effectLst>
            <a:outerShdw sx="100000" sy="100000" kx="0" ky="0" algn="bl" rotWithShape="0" blurRad="177800" dist="38100" dir="5400000">
              <a:srgbClr val="1E2761">
                <a:alpha val="10000"/>
              </a:srgbClr>
            </a:outerShdw>
          </a:effectLst>
        </p:spPr>
      </p:sp>
      <p:sp>
        <p:nvSpPr>
          <p:cNvPr id="6" name="Shape 4"/>
          <p:cNvSpPr/>
          <p:nvPr/>
        </p:nvSpPr>
        <p:spPr>
          <a:xfrm>
            <a:off x="604876" y="2176272"/>
            <a:ext cx="457200" cy="457200"/>
          </a:xfrm>
          <a:prstGeom prst="ellipse">
            <a:avLst/>
          </a:prstGeom>
          <a:solidFill>
            <a:srgbClr val="1E2761"/>
          </a:solidFill>
          <a:ln w="12700">
            <a:solidFill>
              <a:srgbClr val="333333"/>
            </a:solidFill>
            <a:prstDash val="solid"/>
          </a:ln>
        </p:spPr>
      </p:sp>
      <p:sp>
        <p:nvSpPr>
          <p:cNvPr id="7" name="Text 5"/>
          <p:cNvSpPr/>
          <p:nvPr/>
        </p:nvSpPr>
        <p:spPr>
          <a:xfrm>
            <a:off x="604876" y="217627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604876" y="2706624"/>
            <a:ext cx="2176272" cy="402336"/>
          </a:xfrm>
          <a:prstGeom prst="rect">
            <a:avLst/>
          </a:prstGeom>
          <a:noFill/>
          <a:ln/>
        </p:spPr>
        <p:txBody>
          <a:bodyPr wrap="square" lIns="0" tIns="0" rIns="0" bIns="0" rtlCol="0" anchor="ctr"/>
          <a:lstStyle/>
          <a:p>
            <a:pPr indent="0" marL="0">
              <a:lnSpc>
                <a:spcPts val="1700"/>
              </a:lnSpc>
              <a:buNone/>
            </a:pPr>
            <a:r>
              <a:rPr lang="en-US" sz="1350" b="1" dirty="0">
                <a:solidFill>
                  <a:srgbClr val="141B3D"/>
                </a:solidFill>
                <a:latin typeface="Calibri" pitchFamily="34" charset="0"/>
                <a:ea typeface="Calibri" pitchFamily="34" charset="-122"/>
                <a:cs typeface="Calibri" pitchFamily="34" charset="-120"/>
              </a:rPr>
              <a:t>Admin sets up the term</a:t>
            </a:r>
            <a:endParaRPr lang="en-US" sz="1350" dirty="0"/>
          </a:p>
        </p:txBody>
      </p:sp>
      <p:sp>
        <p:nvSpPr>
          <p:cNvPr id="9" name="Text 7"/>
          <p:cNvSpPr/>
          <p:nvPr/>
        </p:nvSpPr>
        <p:spPr>
          <a:xfrm>
            <a:off x="604876" y="3108960"/>
            <a:ext cx="2176272" cy="640080"/>
          </a:xfrm>
          <a:prstGeom prst="rect">
            <a:avLst/>
          </a:prstGeom>
          <a:noFill/>
          <a:ln/>
        </p:spPr>
        <p:txBody>
          <a:bodyPr wrap="square" lIns="0" tIns="0" rIns="0" bIns="0" rtlCol="0" anchor="t"/>
          <a:lstStyle/>
          <a:p>
            <a:pPr indent="0" marL="0">
              <a:lnSpc>
                <a:spcPts val="1350"/>
              </a:lnSpc>
              <a:buNone/>
            </a:pPr>
            <a:r>
              <a:rPr lang="en-US" sz="1050" dirty="0">
                <a:solidFill>
                  <a:srgbClr val="646E8C"/>
                </a:solidFill>
                <a:latin typeface="Calibri" pitchFamily="34" charset="0"/>
                <a:ea typeface="Calibri" pitchFamily="34" charset="-122"/>
                <a:cs typeface="Calibri" pitchFamily="34" charset="-120"/>
              </a:rPr>
              <a:t>Faculty accounts created; roll-number range defined and assigned to each lecturer.</a:t>
            </a:r>
            <a:endParaRPr lang="en-US" sz="1050" dirty="0"/>
          </a:p>
        </p:txBody>
      </p:sp>
      <p:sp>
        <p:nvSpPr>
          <p:cNvPr id="10" name="Shape 8"/>
          <p:cNvSpPr/>
          <p:nvPr/>
        </p:nvSpPr>
        <p:spPr>
          <a:xfrm>
            <a:off x="3320644" y="1975104"/>
            <a:ext cx="2615184" cy="1847088"/>
          </a:xfrm>
          <a:prstGeom prst="roundRect">
            <a:avLst>
              <a:gd name="adj" fmla="val 4455"/>
            </a:avLst>
          </a:prstGeom>
          <a:solidFill>
            <a:srgbClr val="F4F6FC"/>
          </a:solidFill>
          <a:ln w="9525">
            <a:solidFill>
              <a:srgbClr val="F4F6FC"/>
            </a:solidFill>
            <a:prstDash val="solid"/>
          </a:ln>
          <a:effectLst>
            <a:outerShdw sx="100000" sy="100000" kx="0" ky="0" algn="bl" rotWithShape="0" blurRad="177800" dist="38100" dir="5400000">
              <a:srgbClr val="1E2761">
                <a:alpha val="10000"/>
              </a:srgbClr>
            </a:outerShdw>
          </a:effectLst>
        </p:spPr>
      </p:sp>
      <p:sp>
        <p:nvSpPr>
          <p:cNvPr id="11" name="Shape 9"/>
          <p:cNvSpPr/>
          <p:nvPr/>
        </p:nvSpPr>
        <p:spPr>
          <a:xfrm>
            <a:off x="3540100" y="2176272"/>
            <a:ext cx="457200" cy="457200"/>
          </a:xfrm>
          <a:prstGeom prst="ellipse">
            <a:avLst/>
          </a:prstGeom>
          <a:solidFill>
            <a:srgbClr val="1E2761"/>
          </a:solidFill>
          <a:ln w="12700">
            <a:solidFill>
              <a:srgbClr val="333333"/>
            </a:solidFill>
            <a:prstDash val="solid"/>
          </a:ln>
        </p:spPr>
      </p:sp>
      <p:sp>
        <p:nvSpPr>
          <p:cNvPr id="12" name="Text 10"/>
          <p:cNvSpPr/>
          <p:nvPr/>
        </p:nvSpPr>
        <p:spPr>
          <a:xfrm>
            <a:off x="3540100" y="217627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3540100" y="2706624"/>
            <a:ext cx="2176272" cy="402336"/>
          </a:xfrm>
          <a:prstGeom prst="rect">
            <a:avLst/>
          </a:prstGeom>
          <a:noFill/>
          <a:ln/>
        </p:spPr>
        <p:txBody>
          <a:bodyPr wrap="square" lIns="0" tIns="0" rIns="0" bIns="0" rtlCol="0" anchor="ctr"/>
          <a:lstStyle/>
          <a:p>
            <a:pPr indent="0" marL="0">
              <a:lnSpc>
                <a:spcPts val="1700"/>
              </a:lnSpc>
              <a:buNone/>
            </a:pPr>
            <a:r>
              <a:rPr lang="en-US" sz="1350" b="1" dirty="0">
                <a:solidFill>
                  <a:srgbClr val="141B3D"/>
                </a:solidFill>
                <a:latin typeface="Calibri" pitchFamily="34" charset="0"/>
                <a:ea typeface="Calibri" pitchFamily="34" charset="-122"/>
                <a:cs typeface="Calibri" pitchFamily="34" charset="-120"/>
              </a:rPr>
              <a:t>Students self-register</a:t>
            </a:r>
            <a:endParaRPr lang="en-US" sz="1350" dirty="0"/>
          </a:p>
        </p:txBody>
      </p:sp>
      <p:sp>
        <p:nvSpPr>
          <p:cNvPr id="14" name="Text 12"/>
          <p:cNvSpPr/>
          <p:nvPr/>
        </p:nvSpPr>
        <p:spPr>
          <a:xfrm>
            <a:off x="3540100" y="3108960"/>
            <a:ext cx="2176272" cy="640080"/>
          </a:xfrm>
          <a:prstGeom prst="rect">
            <a:avLst/>
          </a:prstGeom>
          <a:noFill/>
          <a:ln/>
        </p:spPr>
        <p:txBody>
          <a:bodyPr wrap="square" lIns="0" tIns="0" rIns="0" bIns="0" rtlCol="0" anchor="t"/>
          <a:lstStyle/>
          <a:p>
            <a:pPr indent="0" marL="0">
              <a:lnSpc>
                <a:spcPts val="1350"/>
              </a:lnSpc>
              <a:buNone/>
            </a:pPr>
            <a:r>
              <a:rPr lang="en-US" sz="1050" dirty="0">
                <a:solidFill>
                  <a:srgbClr val="646E8C"/>
                </a:solidFill>
                <a:latin typeface="Calibri" pitchFamily="34" charset="0"/>
                <a:ea typeface="Calibri" pitchFamily="34" charset="-122"/>
                <a:cs typeface="Calibri" pitchFamily="34" charset="-120"/>
              </a:rPr>
              <a:t>Validated live against the assigned range — out-of-range sign-ups are rejected.</a:t>
            </a:r>
            <a:endParaRPr lang="en-US" sz="1050" dirty="0"/>
          </a:p>
        </p:txBody>
      </p:sp>
      <p:sp>
        <p:nvSpPr>
          <p:cNvPr id="15" name="Shape 13"/>
          <p:cNvSpPr/>
          <p:nvPr/>
        </p:nvSpPr>
        <p:spPr>
          <a:xfrm>
            <a:off x="6255868" y="1975104"/>
            <a:ext cx="2615184" cy="1847088"/>
          </a:xfrm>
          <a:prstGeom prst="roundRect">
            <a:avLst>
              <a:gd name="adj" fmla="val 4455"/>
            </a:avLst>
          </a:prstGeom>
          <a:solidFill>
            <a:srgbClr val="F4F6FC"/>
          </a:solidFill>
          <a:ln w="9525">
            <a:solidFill>
              <a:srgbClr val="F4F6FC"/>
            </a:solidFill>
            <a:prstDash val="solid"/>
          </a:ln>
          <a:effectLst>
            <a:outerShdw sx="100000" sy="100000" kx="0" ky="0" algn="bl" rotWithShape="0" blurRad="177800" dist="38100" dir="5400000">
              <a:srgbClr val="1E2761">
                <a:alpha val="10000"/>
              </a:srgbClr>
            </a:outerShdw>
          </a:effectLst>
        </p:spPr>
      </p:sp>
      <p:sp>
        <p:nvSpPr>
          <p:cNvPr id="16" name="Shape 14"/>
          <p:cNvSpPr/>
          <p:nvPr/>
        </p:nvSpPr>
        <p:spPr>
          <a:xfrm>
            <a:off x="6475324" y="2176272"/>
            <a:ext cx="457200" cy="457200"/>
          </a:xfrm>
          <a:prstGeom prst="ellipse">
            <a:avLst/>
          </a:prstGeom>
          <a:solidFill>
            <a:srgbClr val="1E2761"/>
          </a:solidFill>
          <a:ln w="12700">
            <a:solidFill>
              <a:srgbClr val="333333"/>
            </a:solidFill>
            <a:prstDash val="solid"/>
          </a:ln>
        </p:spPr>
      </p:sp>
      <p:sp>
        <p:nvSpPr>
          <p:cNvPr id="17" name="Text 15"/>
          <p:cNvSpPr/>
          <p:nvPr/>
        </p:nvSpPr>
        <p:spPr>
          <a:xfrm>
            <a:off x="6475324" y="217627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6"/>
          <p:cNvSpPr/>
          <p:nvPr/>
        </p:nvSpPr>
        <p:spPr>
          <a:xfrm>
            <a:off x="6475324" y="2706624"/>
            <a:ext cx="2176272" cy="402336"/>
          </a:xfrm>
          <a:prstGeom prst="rect">
            <a:avLst/>
          </a:prstGeom>
          <a:noFill/>
          <a:ln/>
        </p:spPr>
        <p:txBody>
          <a:bodyPr wrap="square" lIns="0" tIns="0" rIns="0" bIns="0" rtlCol="0" anchor="ctr"/>
          <a:lstStyle/>
          <a:p>
            <a:pPr indent="0" marL="0">
              <a:lnSpc>
                <a:spcPts val="1700"/>
              </a:lnSpc>
              <a:buNone/>
            </a:pPr>
            <a:r>
              <a:rPr lang="en-US" sz="1350" b="1" dirty="0">
                <a:solidFill>
                  <a:srgbClr val="141B3D"/>
                </a:solidFill>
                <a:latin typeface="Calibri" pitchFamily="34" charset="0"/>
                <a:ea typeface="Calibri" pitchFamily="34" charset="-122"/>
                <a:cs typeface="Calibri" pitchFamily="34" charset="-120"/>
              </a:rPr>
              <a:t>Lecturer authors the lab</a:t>
            </a:r>
            <a:endParaRPr lang="en-US" sz="1350" dirty="0"/>
          </a:p>
        </p:txBody>
      </p:sp>
      <p:sp>
        <p:nvSpPr>
          <p:cNvPr id="19" name="Text 17"/>
          <p:cNvSpPr/>
          <p:nvPr/>
        </p:nvSpPr>
        <p:spPr>
          <a:xfrm>
            <a:off x="6475324" y="3108960"/>
            <a:ext cx="2176272" cy="640080"/>
          </a:xfrm>
          <a:prstGeom prst="rect">
            <a:avLst/>
          </a:prstGeom>
          <a:noFill/>
          <a:ln/>
        </p:spPr>
        <p:txBody>
          <a:bodyPr wrap="square" lIns="0" tIns="0" rIns="0" bIns="0" rtlCol="0" anchor="t"/>
          <a:lstStyle/>
          <a:p>
            <a:pPr indent="0" marL="0">
              <a:lnSpc>
                <a:spcPts val="1350"/>
              </a:lnSpc>
              <a:buNone/>
            </a:pPr>
            <a:r>
              <a:rPr lang="en-US" sz="1050" dirty="0">
                <a:solidFill>
                  <a:srgbClr val="646E8C"/>
                </a:solidFill>
                <a:latin typeface="Calibri" pitchFamily="34" charset="0"/>
                <a:ea typeface="Calibri" pitchFamily="34" charset="-122"/>
                <a:cs typeface="Calibri" pitchFamily="34" charset="-120"/>
              </a:rPr>
              <a:t>Sections created; problem statement, constraints and due date published.</a:t>
            </a:r>
            <a:endParaRPr lang="en-US" sz="1050" dirty="0"/>
          </a:p>
        </p:txBody>
      </p:sp>
      <p:sp>
        <p:nvSpPr>
          <p:cNvPr id="20" name="Shape 18"/>
          <p:cNvSpPr/>
          <p:nvPr/>
        </p:nvSpPr>
        <p:spPr>
          <a:xfrm>
            <a:off x="9191092" y="1975104"/>
            <a:ext cx="2615184" cy="1847088"/>
          </a:xfrm>
          <a:prstGeom prst="roundRect">
            <a:avLst>
              <a:gd name="adj" fmla="val 4455"/>
            </a:avLst>
          </a:prstGeom>
          <a:solidFill>
            <a:srgbClr val="F4F6FC"/>
          </a:solidFill>
          <a:ln w="9525">
            <a:solidFill>
              <a:srgbClr val="F4F6FC"/>
            </a:solidFill>
            <a:prstDash val="solid"/>
          </a:ln>
          <a:effectLst>
            <a:outerShdw sx="100000" sy="100000" kx="0" ky="0" algn="bl" rotWithShape="0" blurRad="177800" dist="38100" dir="5400000">
              <a:srgbClr val="1E2761">
                <a:alpha val="10000"/>
              </a:srgbClr>
            </a:outerShdw>
          </a:effectLst>
        </p:spPr>
      </p:sp>
      <p:sp>
        <p:nvSpPr>
          <p:cNvPr id="21" name="Shape 19"/>
          <p:cNvSpPr/>
          <p:nvPr/>
        </p:nvSpPr>
        <p:spPr>
          <a:xfrm>
            <a:off x="9410548" y="2176272"/>
            <a:ext cx="457200" cy="457200"/>
          </a:xfrm>
          <a:prstGeom prst="ellipse">
            <a:avLst/>
          </a:prstGeom>
          <a:solidFill>
            <a:srgbClr val="1E2761"/>
          </a:solidFill>
          <a:ln w="12700">
            <a:solidFill>
              <a:srgbClr val="333333"/>
            </a:solidFill>
            <a:prstDash val="solid"/>
          </a:ln>
        </p:spPr>
      </p:sp>
      <p:sp>
        <p:nvSpPr>
          <p:cNvPr id="22" name="Text 20"/>
          <p:cNvSpPr/>
          <p:nvPr/>
        </p:nvSpPr>
        <p:spPr>
          <a:xfrm>
            <a:off x="9410548" y="217627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3" name="Text 21"/>
          <p:cNvSpPr/>
          <p:nvPr/>
        </p:nvSpPr>
        <p:spPr>
          <a:xfrm>
            <a:off x="9410548" y="2706624"/>
            <a:ext cx="2176272" cy="402336"/>
          </a:xfrm>
          <a:prstGeom prst="rect">
            <a:avLst/>
          </a:prstGeom>
          <a:noFill/>
          <a:ln/>
        </p:spPr>
        <p:txBody>
          <a:bodyPr wrap="square" lIns="0" tIns="0" rIns="0" bIns="0" rtlCol="0" anchor="ctr"/>
          <a:lstStyle/>
          <a:p>
            <a:pPr indent="0" marL="0">
              <a:lnSpc>
                <a:spcPts val="1700"/>
              </a:lnSpc>
              <a:buNone/>
            </a:pPr>
            <a:r>
              <a:rPr lang="en-US" sz="1350" b="1" dirty="0">
                <a:solidFill>
                  <a:srgbClr val="141B3D"/>
                </a:solidFill>
                <a:latin typeface="Calibri" pitchFamily="34" charset="0"/>
                <a:ea typeface="Calibri" pitchFamily="34" charset="-122"/>
                <a:cs typeface="Calibri" pitchFamily="34" charset="-120"/>
              </a:rPr>
              <a:t>Students code in the browser</a:t>
            </a:r>
            <a:endParaRPr lang="en-US" sz="1350" dirty="0"/>
          </a:p>
        </p:txBody>
      </p:sp>
      <p:sp>
        <p:nvSpPr>
          <p:cNvPr id="24" name="Text 22"/>
          <p:cNvSpPr/>
          <p:nvPr/>
        </p:nvSpPr>
        <p:spPr>
          <a:xfrm>
            <a:off x="9410548" y="3108960"/>
            <a:ext cx="2176272" cy="640080"/>
          </a:xfrm>
          <a:prstGeom prst="rect">
            <a:avLst/>
          </a:prstGeom>
          <a:noFill/>
          <a:ln/>
        </p:spPr>
        <p:txBody>
          <a:bodyPr wrap="square" lIns="0" tIns="0" rIns="0" bIns="0" rtlCol="0" anchor="t"/>
          <a:lstStyle/>
          <a:p>
            <a:pPr indent="0" marL="0">
              <a:lnSpc>
                <a:spcPts val="1350"/>
              </a:lnSpc>
              <a:buNone/>
            </a:pPr>
            <a:r>
              <a:rPr lang="en-US" sz="1050" dirty="0">
                <a:solidFill>
                  <a:srgbClr val="646E8C"/>
                </a:solidFill>
                <a:latin typeface="Calibri" pitchFamily="34" charset="0"/>
                <a:ea typeface="Calibri" pitchFamily="34" charset="-122"/>
                <a:cs typeface="Calibri" pitchFamily="34" charset="-120"/>
              </a:rPr>
              <a:t>Compile and run live against the execution engine, anti-cheat active throughout.</a:t>
            </a:r>
            <a:endParaRPr lang="en-US" sz="1050" dirty="0"/>
          </a:p>
        </p:txBody>
      </p:sp>
      <p:sp>
        <p:nvSpPr>
          <p:cNvPr id="25" name="Shape 23"/>
          <p:cNvSpPr/>
          <p:nvPr/>
        </p:nvSpPr>
        <p:spPr>
          <a:xfrm>
            <a:off x="1853032" y="4096512"/>
            <a:ext cx="2615184" cy="1847088"/>
          </a:xfrm>
          <a:prstGeom prst="roundRect">
            <a:avLst>
              <a:gd name="adj" fmla="val 4455"/>
            </a:avLst>
          </a:prstGeom>
          <a:solidFill>
            <a:srgbClr val="F4F6FC"/>
          </a:solidFill>
          <a:ln w="9525">
            <a:solidFill>
              <a:srgbClr val="F4F6FC"/>
            </a:solidFill>
            <a:prstDash val="solid"/>
          </a:ln>
          <a:effectLst>
            <a:outerShdw sx="100000" sy="100000" kx="0" ky="0" algn="bl" rotWithShape="0" blurRad="177800" dist="38100" dir="5400000">
              <a:srgbClr val="1E2761">
                <a:alpha val="10000"/>
              </a:srgbClr>
            </a:outerShdw>
          </a:effectLst>
        </p:spPr>
      </p:sp>
      <p:sp>
        <p:nvSpPr>
          <p:cNvPr id="26" name="Shape 24"/>
          <p:cNvSpPr/>
          <p:nvPr/>
        </p:nvSpPr>
        <p:spPr>
          <a:xfrm>
            <a:off x="2072488" y="4297680"/>
            <a:ext cx="457200" cy="457200"/>
          </a:xfrm>
          <a:prstGeom prst="ellipse">
            <a:avLst/>
          </a:prstGeom>
          <a:solidFill>
            <a:srgbClr val="1E2761"/>
          </a:solidFill>
          <a:ln w="12700">
            <a:solidFill>
              <a:srgbClr val="333333"/>
            </a:solidFill>
            <a:prstDash val="solid"/>
          </a:ln>
        </p:spPr>
      </p:sp>
      <p:sp>
        <p:nvSpPr>
          <p:cNvPr id="27" name="Text 25"/>
          <p:cNvSpPr/>
          <p:nvPr/>
        </p:nvSpPr>
        <p:spPr>
          <a:xfrm>
            <a:off x="2072488" y="42976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8" name="Text 26"/>
          <p:cNvSpPr/>
          <p:nvPr/>
        </p:nvSpPr>
        <p:spPr>
          <a:xfrm>
            <a:off x="2072488" y="4828032"/>
            <a:ext cx="2176272" cy="402336"/>
          </a:xfrm>
          <a:prstGeom prst="rect">
            <a:avLst/>
          </a:prstGeom>
          <a:noFill/>
          <a:ln/>
        </p:spPr>
        <p:txBody>
          <a:bodyPr wrap="square" lIns="0" tIns="0" rIns="0" bIns="0" rtlCol="0" anchor="ctr"/>
          <a:lstStyle/>
          <a:p>
            <a:pPr indent="0" marL="0">
              <a:lnSpc>
                <a:spcPts val="1700"/>
              </a:lnSpc>
              <a:buNone/>
            </a:pPr>
            <a:r>
              <a:rPr lang="en-US" sz="1350" b="1" dirty="0">
                <a:solidFill>
                  <a:srgbClr val="141B3D"/>
                </a:solidFill>
                <a:latin typeface="Calibri" pitchFamily="34" charset="0"/>
                <a:ea typeface="Calibri" pitchFamily="34" charset="-122"/>
                <a:cs typeface="Calibri" pitchFamily="34" charset="-120"/>
              </a:rPr>
              <a:t>Submit and auto-lock</a:t>
            </a:r>
            <a:endParaRPr lang="en-US" sz="1350" dirty="0"/>
          </a:p>
        </p:txBody>
      </p:sp>
      <p:sp>
        <p:nvSpPr>
          <p:cNvPr id="29" name="Text 27"/>
          <p:cNvSpPr/>
          <p:nvPr/>
        </p:nvSpPr>
        <p:spPr>
          <a:xfrm>
            <a:off x="2072488" y="5230368"/>
            <a:ext cx="2176272" cy="640080"/>
          </a:xfrm>
          <a:prstGeom prst="rect">
            <a:avLst/>
          </a:prstGeom>
          <a:noFill/>
          <a:ln/>
        </p:spPr>
        <p:txBody>
          <a:bodyPr wrap="square" lIns="0" tIns="0" rIns="0" bIns="0" rtlCol="0" anchor="t"/>
          <a:lstStyle/>
          <a:p>
            <a:pPr indent="0" marL="0">
              <a:lnSpc>
                <a:spcPts val="1350"/>
              </a:lnSpc>
              <a:buNone/>
            </a:pPr>
            <a:r>
              <a:rPr lang="en-US" sz="1050" dirty="0">
                <a:solidFill>
                  <a:srgbClr val="646E8C"/>
                </a:solidFill>
                <a:latin typeface="Calibri" pitchFamily="34" charset="0"/>
                <a:ea typeface="Calibri" pitchFamily="34" charset="-122"/>
                <a:cs typeface="Calibri" pitchFamily="34" charset="-120"/>
              </a:rPr>
              <a:t>The workspace becomes read-only immediately, preserving submission integrity.</a:t>
            </a:r>
            <a:endParaRPr lang="en-US" sz="1050" dirty="0"/>
          </a:p>
        </p:txBody>
      </p:sp>
      <p:sp>
        <p:nvSpPr>
          <p:cNvPr id="30" name="Shape 28"/>
          <p:cNvSpPr/>
          <p:nvPr/>
        </p:nvSpPr>
        <p:spPr>
          <a:xfrm>
            <a:off x="4788256" y="4096512"/>
            <a:ext cx="2615184" cy="1847088"/>
          </a:xfrm>
          <a:prstGeom prst="roundRect">
            <a:avLst>
              <a:gd name="adj" fmla="val 4455"/>
            </a:avLst>
          </a:prstGeom>
          <a:solidFill>
            <a:srgbClr val="F4F6FC"/>
          </a:solidFill>
          <a:ln w="9525">
            <a:solidFill>
              <a:srgbClr val="F4F6FC"/>
            </a:solidFill>
            <a:prstDash val="solid"/>
          </a:ln>
          <a:effectLst>
            <a:outerShdw sx="100000" sy="100000" kx="0" ky="0" algn="bl" rotWithShape="0" blurRad="177800" dist="38100" dir="5400000">
              <a:srgbClr val="1E2761">
                <a:alpha val="10000"/>
              </a:srgbClr>
            </a:outerShdw>
          </a:effectLst>
        </p:spPr>
      </p:sp>
      <p:sp>
        <p:nvSpPr>
          <p:cNvPr id="31" name="Shape 29"/>
          <p:cNvSpPr/>
          <p:nvPr/>
        </p:nvSpPr>
        <p:spPr>
          <a:xfrm>
            <a:off x="5007712" y="4297680"/>
            <a:ext cx="457200" cy="457200"/>
          </a:xfrm>
          <a:prstGeom prst="ellipse">
            <a:avLst/>
          </a:prstGeom>
          <a:solidFill>
            <a:srgbClr val="1E2761"/>
          </a:solidFill>
          <a:ln w="12700">
            <a:solidFill>
              <a:srgbClr val="333333"/>
            </a:solidFill>
            <a:prstDash val="solid"/>
          </a:ln>
        </p:spPr>
      </p:sp>
      <p:sp>
        <p:nvSpPr>
          <p:cNvPr id="32" name="Text 30"/>
          <p:cNvSpPr/>
          <p:nvPr/>
        </p:nvSpPr>
        <p:spPr>
          <a:xfrm>
            <a:off x="5007712" y="42976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3" name="Text 31"/>
          <p:cNvSpPr/>
          <p:nvPr/>
        </p:nvSpPr>
        <p:spPr>
          <a:xfrm>
            <a:off x="5007712" y="4828032"/>
            <a:ext cx="2176272" cy="402336"/>
          </a:xfrm>
          <a:prstGeom prst="rect">
            <a:avLst/>
          </a:prstGeom>
          <a:noFill/>
          <a:ln/>
        </p:spPr>
        <p:txBody>
          <a:bodyPr wrap="square" lIns="0" tIns="0" rIns="0" bIns="0" rtlCol="0" anchor="ctr"/>
          <a:lstStyle/>
          <a:p>
            <a:pPr indent="0" marL="0">
              <a:lnSpc>
                <a:spcPts val="1700"/>
              </a:lnSpc>
              <a:buNone/>
            </a:pPr>
            <a:r>
              <a:rPr lang="en-US" sz="1350" b="1" dirty="0">
                <a:solidFill>
                  <a:srgbClr val="141B3D"/>
                </a:solidFill>
                <a:latin typeface="Calibri" pitchFamily="34" charset="0"/>
                <a:ea typeface="Calibri" pitchFamily="34" charset="-122"/>
                <a:cs typeface="Calibri" pitchFamily="34" charset="-120"/>
              </a:rPr>
              <a:t>Faculty grade</a:t>
            </a:r>
            <a:endParaRPr lang="en-US" sz="1350" dirty="0"/>
          </a:p>
        </p:txBody>
      </p:sp>
      <p:sp>
        <p:nvSpPr>
          <p:cNvPr id="34" name="Text 32"/>
          <p:cNvSpPr/>
          <p:nvPr/>
        </p:nvSpPr>
        <p:spPr>
          <a:xfrm>
            <a:off x="5007712" y="5230368"/>
            <a:ext cx="2176272" cy="640080"/>
          </a:xfrm>
          <a:prstGeom prst="rect">
            <a:avLst/>
          </a:prstGeom>
          <a:noFill/>
          <a:ln/>
        </p:spPr>
        <p:txBody>
          <a:bodyPr wrap="square" lIns="0" tIns="0" rIns="0" bIns="0" rtlCol="0" anchor="t"/>
          <a:lstStyle/>
          <a:p>
            <a:pPr indent="0" marL="0">
              <a:lnSpc>
                <a:spcPts val="1350"/>
              </a:lnSpc>
              <a:buNone/>
            </a:pPr>
            <a:r>
              <a:rPr lang="en-US" sz="1050" dirty="0">
                <a:solidFill>
                  <a:srgbClr val="646E8C"/>
                </a:solidFill>
                <a:latin typeface="Calibri" pitchFamily="34" charset="0"/>
                <a:ea typeface="Calibri" pitchFamily="34" charset="-122"/>
                <a:cs typeface="Calibri" pitchFamily="34" charset="-120"/>
              </a:rPr>
              <a:t>Re-run code, assign marks, remarks and status — publish, or reopen for correction.</a:t>
            </a:r>
            <a:endParaRPr lang="en-US" sz="1050" dirty="0"/>
          </a:p>
        </p:txBody>
      </p:sp>
      <p:sp>
        <p:nvSpPr>
          <p:cNvPr id="35" name="Shape 33"/>
          <p:cNvSpPr/>
          <p:nvPr/>
        </p:nvSpPr>
        <p:spPr>
          <a:xfrm>
            <a:off x="7723480" y="4096512"/>
            <a:ext cx="2615184" cy="1847088"/>
          </a:xfrm>
          <a:prstGeom prst="roundRect">
            <a:avLst>
              <a:gd name="adj" fmla="val 4455"/>
            </a:avLst>
          </a:prstGeom>
          <a:solidFill>
            <a:srgbClr val="141B3D"/>
          </a:solidFill>
          <a:ln w="9525">
            <a:solidFill>
              <a:srgbClr val="141B3D"/>
            </a:solidFill>
            <a:prstDash val="solid"/>
          </a:ln>
          <a:effectLst>
            <a:outerShdw sx="100000" sy="100000" kx="0" ky="0" algn="bl" rotWithShape="0" blurRad="177800" dist="38100" dir="5400000">
              <a:srgbClr val="1E2761">
                <a:alpha val="10000"/>
              </a:srgbClr>
            </a:outerShdw>
          </a:effectLst>
        </p:spPr>
      </p:sp>
      <p:sp>
        <p:nvSpPr>
          <p:cNvPr id="36" name="Shape 34"/>
          <p:cNvSpPr/>
          <p:nvPr/>
        </p:nvSpPr>
        <p:spPr>
          <a:xfrm>
            <a:off x="7942936" y="4297680"/>
            <a:ext cx="457200" cy="457200"/>
          </a:xfrm>
          <a:prstGeom prst="ellipse">
            <a:avLst/>
          </a:prstGeom>
          <a:solidFill>
            <a:srgbClr val="00C39A"/>
          </a:solidFill>
          <a:ln w="12700">
            <a:solidFill>
              <a:srgbClr val="333333"/>
            </a:solidFill>
            <a:prstDash val="solid"/>
          </a:ln>
        </p:spPr>
      </p:sp>
      <p:sp>
        <p:nvSpPr>
          <p:cNvPr id="37" name="Text 35"/>
          <p:cNvSpPr/>
          <p:nvPr/>
        </p:nvSpPr>
        <p:spPr>
          <a:xfrm>
            <a:off x="7942936" y="4297680"/>
            <a:ext cx="457200" cy="457200"/>
          </a:xfrm>
          <a:prstGeom prst="rect">
            <a:avLst/>
          </a:prstGeom>
          <a:noFill/>
          <a:ln/>
        </p:spPr>
        <p:txBody>
          <a:bodyPr wrap="square" lIns="0" tIns="0" rIns="0" bIns="0" rtlCol="0" anchor="ctr"/>
          <a:lstStyle/>
          <a:p>
            <a:pPr algn="ctr" indent="0" marL="0">
              <a:buNone/>
            </a:pPr>
            <a:r>
              <a:rPr lang="en-US" sz="1500" b="1" dirty="0">
                <a:solidFill>
                  <a:srgbClr val="141B3D"/>
                </a:solidFill>
                <a:latin typeface="Calibri" pitchFamily="34" charset="0"/>
                <a:ea typeface="Calibri" pitchFamily="34" charset="-122"/>
                <a:cs typeface="Calibri" pitchFamily="34" charset="-120"/>
              </a:rPr>
              <a:t>7</a:t>
            </a:r>
            <a:endParaRPr lang="en-US" sz="1500" dirty="0"/>
          </a:p>
        </p:txBody>
      </p:sp>
      <p:sp>
        <p:nvSpPr>
          <p:cNvPr id="38" name="Text 36"/>
          <p:cNvSpPr/>
          <p:nvPr/>
        </p:nvSpPr>
        <p:spPr>
          <a:xfrm>
            <a:off x="7942936" y="4828032"/>
            <a:ext cx="2176272" cy="402336"/>
          </a:xfrm>
          <a:prstGeom prst="rect">
            <a:avLst/>
          </a:prstGeom>
          <a:noFill/>
          <a:ln/>
        </p:spPr>
        <p:txBody>
          <a:bodyPr wrap="square" lIns="0" tIns="0" rIns="0" bIns="0" rtlCol="0" anchor="ctr"/>
          <a:lstStyle/>
          <a:p>
            <a:pPr indent="0" marL="0">
              <a:lnSpc>
                <a:spcPts val="1700"/>
              </a:lnSpc>
              <a:buNone/>
            </a:pPr>
            <a:r>
              <a:rPr lang="en-US" sz="1350" b="1" dirty="0">
                <a:solidFill>
                  <a:srgbClr val="FFFFFF"/>
                </a:solidFill>
                <a:latin typeface="Calibri" pitchFamily="34" charset="0"/>
                <a:ea typeface="Calibri" pitchFamily="34" charset="-122"/>
                <a:cs typeface="Calibri" pitchFamily="34" charset="-120"/>
              </a:rPr>
              <a:t>Results and reporting</a:t>
            </a:r>
            <a:endParaRPr lang="en-US" sz="1350" dirty="0"/>
          </a:p>
        </p:txBody>
      </p:sp>
      <p:sp>
        <p:nvSpPr>
          <p:cNvPr id="39" name="Text 37"/>
          <p:cNvSpPr/>
          <p:nvPr/>
        </p:nvSpPr>
        <p:spPr>
          <a:xfrm>
            <a:off x="7942936" y="5230368"/>
            <a:ext cx="2176272" cy="640080"/>
          </a:xfrm>
          <a:prstGeom prst="rect">
            <a:avLst/>
          </a:prstGeom>
          <a:noFill/>
          <a:ln/>
        </p:spPr>
        <p:txBody>
          <a:bodyPr wrap="square" lIns="0" tIns="0" rIns="0" bIns="0" rtlCol="0" anchor="t"/>
          <a:lstStyle/>
          <a:p>
            <a:pPr indent="0" marL="0">
              <a:lnSpc>
                <a:spcPts val="1350"/>
              </a:lnSpc>
              <a:buNone/>
            </a:pPr>
            <a:r>
              <a:rPr lang="en-US" sz="1050" dirty="0">
                <a:solidFill>
                  <a:srgbClr val="CADCFC"/>
                </a:solidFill>
                <a:latin typeface="Calibri" pitchFamily="34" charset="0"/>
                <a:ea typeface="Calibri" pitchFamily="34" charset="-122"/>
                <a:cs typeface="Calibri" pitchFamily="34" charset="-120"/>
              </a:rPr>
              <a:t>Students see grades in real time; the Admin pulls department-wide metrics.</a:t>
            </a:r>
            <a:endParaRPr lang="en-US" sz="1050" dirty="0"/>
          </a:p>
        </p:txBody>
      </p:sp>
    </p:spTree>
  </p:cSld>
  <p:clrMapOvr>
    <a:masterClrMapping/>
  </p:clrMapOvr>
  <mc:AlternateContent xmlns:mc="http://schemas.openxmlformats.org/markup-compatibility/2006">
    <mc:Choice xmlns:p14="http://schemas.microsoft.com/office/powerpoint/2010/main" Requires="p14">
      <p:transition spd="slow" p14:dur="65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
                                        </p:tgtEl>
                                        <p:attrNameLst>
                                          <p:attrName>style.visibility</p:attrName>
                                        </p:attrNameLst>
                                      </p:cBhvr>
                                      <p:to>
                                        <p:strVal val="visible"/>
                                      </p:to>
                                    </p:set>
                                    <p:animEffect transition="in" filter="fade">
                                      <p:cBhvr>
                                        <p:cTn id="7" dur="380"/>
                                        <p:tgtEl>
                                          <p:spTgt spid="1"/>
                                        </p:tgtEl>
                                      </p:cBhvr>
                                    </p:animEffect>
                                    <p:anim calcmode="lin" valueType="num">
                                      <p:cBhvr additive="base">
                                        <p:cTn id="8" dur="380" fill="hold"/>
                                        <p:tgtEl>
                                          <p:spTgt spid="1"/>
                                        </p:tgtEl>
                                        <p:attrNameLst>
                                          <p:attrName>ppt_y</p:attrName>
                                        </p:attrNameLst>
                                      </p:cBhvr>
                                      <p:tavLst>
                                        <p:tav tm="0">
                                          <p:val>
                                            <p:strVal val="#ppt_y+0.03"/>
                                          </p:val>
                                        </p:tav>
                                        <p:tav tm="100000">
                                          <p:val>
                                            <p:strVal val="#ppt_y"/>
                                          </p:val>
                                        </p:tav>
                                      </p:tavLst>
                                    </p:anim>
                                  </p:childTnLst>
                                </p:cTn>
                              </p:par>
                              <p:par>
                                <p:cTn id="9" presetID="42" presetClass="entr" presetSubtype="0" fill="hold" grpId="0" nodeType="afterEffect">
                                  <p:stCondLst>
                                    <p:cond delay="46"/>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380"/>
                                        <p:tgtEl>
                                          <p:spTgt spid="2"/>
                                        </p:tgtEl>
                                      </p:cBhvr>
                                    </p:animEffect>
                                    <p:anim calcmode="lin" valueType="num">
                                      <p:cBhvr additive="base">
                                        <p:cTn id="12" dur="380" fill="hold"/>
                                        <p:tgtEl>
                                          <p:spTgt spid="2"/>
                                        </p:tgtEl>
                                        <p:attrNameLst>
                                          <p:attrName>ppt_y</p:attrName>
                                        </p:attrNameLst>
                                      </p:cBhvr>
                                      <p:tavLst>
                                        <p:tav tm="0">
                                          <p:val>
                                            <p:strVal val="#ppt_y+0.03"/>
                                          </p:val>
                                        </p:tav>
                                        <p:tav tm="100000">
                                          <p:val>
                                            <p:strVal val="#ppt_y"/>
                                          </p:val>
                                        </p:tav>
                                      </p:tavLst>
                                    </p:anim>
                                  </p:childTnLst>
                                </p:cTn>
                              </p:par>
                              <p:par>
                                <p:cTn id="13" presetID="42" presetClass="entr" presetSubtype="0" fill="hold" grpId="0" nodeType="afterEffect">
                                  <p:stCondLst>
                                    <p:cond delay="92"/>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380"/>
                                        <p:tgtEl>
                                          <p:spTgt spid="3"/>
                                        </p:tgtEl>
                                      </p:cBhvr>
                                    </p:animEffect>
                                    <p:anim calcmode="lin" valueType="num">
                                      <p:cBhvr additive="base">
                                        <p:cTn id="16" dur="380" fill="hold"/>
                                        <p:tgtEl>
                                          <p:spTgt spid="3"/>
                                        </p:tgtEl>
                                        <p:attrNameLst>
                                          <p:attrName>ppt_y</p:attrName>
                                        </p:attrNameLst>
                                      </p:cBhvr>
                                      <p:tavLst>
                                        <p:tav tm="0">
                                          <p:val>
                                            <p:strVal val="#ppt_y+0.03"/>
                                          </p:val>
                                        </p:tav>
                                        <p:tav tm="100000">
                                          <p:val>
                                            <p:strVal val="#ppt_y"/>
                                          </p:val>
                                        </p:tav>
                                      </p:tavLst>
                                    </p:anim>
                                  </p:childTnLst>
                                </p:cTn>
                              </p:par>
                              <p:par>
                                <p:cTn id="17" presetID="42" presetClass="entr" presetSubtype="0" fill="hold" grpId="0" nodeType="afterEffect">
                                  <p:stCondLst>
                                    <p:cond delay="138"/>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380"/>
                                        <p:tgtEl>
                                          <p:spTgt spid="4"/>
                                        </p:tgtEl>
                                      </p:cBhvr>
                                    </p:animEffect>
                                    <p:anim calcmode="lin" valueType="num">
                                      <p:cBhvr additive="base">
                                        <p:cTn id="20" dur="380" fill="hold"/>
                                        <p:tgtEl>
                                          <p:spTgt spid="4"/>
                                        </p:tgtEl>
                                        <p:attrNameLst>
                                          <p:attrName>ppt_y</p:attrName>
                                        </p:attrNameLst>
                                      </p:cBhvr>
                                      <p:tavLst>
                                        <p:tav tm="0">
                                          <p:val>
                                            <p:strVal val="#ppt_y+0.03"/>
                                          </p:val>
                                        </p:tav>
                                        <p:tav tm="100000">
                                          <p:val>
                                            <p:strVal val="#ppt_y"/>
                                          </p:val>
                                        </p:tav>
                                      </p:tavLst>
                                    </p:anim>
                                  </p:childTnLst>
                                </p:cTn>
                              </p:par>
                              <p:par>
                                <p:cTn id="21" presetID="42" presetClass="entr" presetSubtype="0" fill="hold" grpId="0" nodeType="afterEffect">
                                  <p:stCondLst>
                                    <p:cond delay="184"/>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380"/>
                                        <p:tgtEl>
                                          <p:spTgt spid="5"/>
                                        </p:tgtEl>
                                      </p:cBhvr>
                                    </p:animEffect>
                                    <p:anim calcmode="lin" valueType="num">
                                      <p:cBhvr additive="base">
                                        <p:cTn id="24" dur="380" fill="hold"/>
                                        <p:tgtEl>
                                          <p:spTgt spid="5"/>
                                        </p:tgtEl>
                                        <p:attrNameLst>
                                          <p:attrName>ppt_y</p:attrName>
                                        </p:attrNameLst>
                                      </p:cBhvr>
                                      <p:tavLst>
                                        <p:tav tm="0">
                                          <p:val>
                                            <p:strVal val="#ppt_y+0.03"/>
                                          </p:val>
                                        </p:tav>
                                        <p:tav tm="100000">
                                          <p:val>
                                            <p:strVal val="#ppt_y"/>
                                          </p:val>
                                        </p:tav>
                                      </p:tavLst>
                                    </p:anim>
                                  </p:childTnLst>
                                </p:cTn>
                              </p:par>
                              <p:par>
                                <p:cTn id="25" presetID="42" presetClass="entr" presetSubtype="0" fill="hold" grpId="0" nodeType="afterEffect">
                                  <p:stCondLst>
                                    <p:cond delay="23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380"/>
                                        <p:tgtEl>
                                          <p:spTgt spid="6"/>
                                        </p:tgtEl>
                                      </p:cBhvr>
                                    </p:animEffect>
                                    <p:anim calcmode="lin" valueType="num">
                                      <p:cBhvr additive="base">
                                        <p:cTn id="28" dur="380" fill="hold"/>
                                        <p:tgtEl>
                                          <p:spTgt spid="6"/>
                                        </p:tgtEl>
                                        <p:attrNameLst>
                                          <p:attrName>ppt_y</p:attrName>
                                        </p:attrNameLst>
                                      </p:cBhvr>
                                      <p:tavLst>
                                        <p:tav tm="0">
                                          <p:val>
                                            <p:strVal val="#ppt_y+0.03"/>
                                          </p:val>
                                        </p:tav>
                                        <p:tav tm="100000">
                                          <p:val>
                                            <p:strVal val="#ppt_y"/>
                                          </p:val>
                                        </p:tav>
                                      </p:tavLst>
                                    </p:anim>
                                  </p:childTnLst>
                                </p:cTn>
                              </p:par>
                              <p:par>
                                <p:cTn id="29" presetID="42" presetClass="entr" presetSubtype="0" fill="hold" grpId="0" nodeType="afterEffect">
                                  <p:stCondLst>
                                    <p:cond delay="276"/>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380"/>
                                        <p:tgtEl>
                                          <p:spTgt spid="7"/>
                                        </p:tgtEl>
                                      </p:cBhvr>
                                    </p:animEffect>
                                    <p:anim calcmode="lin" valueType="num">
                                      <p:cBhvr additive="base">
                                        <p:cTn id="32" dur="380" fill="hold"/>
                                        <p:tgtEl>
                                          <p:spTgt spid="7"/>
                                        </p:tgtEl>
                                        <p:attrNameLst>
                                          <p:attrName>ppt_y</p:attrName>
                                        </p:attrNameLst>
                                      </p:cBhvr>
                                      <p:tavLst>
                                        <p:tav tm="0">
                                          <p:val>
                                            <p:strVal val="#ppt_y+0.03"/>
                                          </p:val>
                                        </p:tav>
                                        <p:tav tm="100000">
                                          <p:val>
                                            <p:strVal val="#ppt_y"/>
                                          </p:val>
                                        </p:tav>
                                      </p:tavLst>
                                    </p:anim>
                                  </p:childTnLst>
                                </p:cTn>
                              </p:par>
                              <p:par>
                                <p:cTn id="33" presetID="42" presetClass="entr" presetSubtype="0" fill="hold" grpId="0" nodeType="afterEffect">
                                  <p:stCondLst>
                                    <p:cond delay="322"/>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380"/>
                                        <p:tgtEl>
                                          <p:spTgt spid="8"/>
                                        </p:tgtEl>
                                      </p:cBhvr>
                                    </p:animEffect>
                                    <p:anim calcmode="lin" valueType="num">
                                      <p:cBhvr additive="base">
                                        <p:cTn id="36" dur="380" fill="hold"/>
                                        <p:tgtEl>
                                          <p:spTgt spid="8"/>
                                        </p:tgtEl>
                                        <p:attrNameLst>
                                          <p:attrName>ppt_y</p:attrName>
                                        </p:attrNameLst>
                                      </p:cBhvr>
                                      <p:tavLst>
                                        <p:tav tm="0">
                                          <p:val>
                                            <p:strVal val="#ppt_y+0.03"/>
                                          </p:val>
                                        </p:tav>
                                        <p:tav tm="100000">
                                          <p:val>
                                            <p:strVal val="#ppt_y"/>
                                          </p:val>
                                        </p:tav>
                                      </p:tavLst>
                                    </p:anim>
                                  </p:childTnLst>
                                </p:cTn>
                              </p:par>
                              <p:par>
                                <p:cTn id="37" presetID="42" presetClass="entr" presetSubtype="0" fill="hold" grpId="0" nodeType="afterEffect">
                                  <p:stCondLst>
                                    <p:cond delay="368"/>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380"/>
                                        <p:tgtEl>
                                          <p:spTgt spid="9"/>
                                        </p:tgtEl>
                                      </p:cBhvr>
                                    </p:animEffect>
                                    <p:anim calcmode="lin" valueType="num">
                                      <p:cBhvr additive="base">
                                        <p:cTn id="40" dur="380" fill="hold"/>
                                        <p:tgtEl>
                                          <p:spTgt spid="9"/>
                                        </p:tgtEl>
                                        <p:attrNameLst>
                                          <p:attrName>ppt_y</p:attrName>
                                        </p:attrNameLst>
                                      </p:cBhvr>
                                      <p:tavLst>
                                        <p:tav tm="0">
                                          <p:val>
                                            <p:strVal val="#ppt_y+0.03"/>
                                          </p:val>
                                        </p:tav>
                                        <p:tav tm="100000">
                                          <p:val>
                                            <p:strVal val="#ppt_y"/>
                                          </p:val>
                                        </p:tav>
                                      </p:tavLst>
                                    </p:anim>
                                  </p:childTnLst>
                                </p:cTn>
                              </p:par>
                              <p:par>
                                <p:cTn id="41" presetID="42" presetClass="entr" presetSubtype="0" fill="hold" grpId="0" nodeType="afterEffect">
                                  <p:stCondLst>
                                    <p:cond delay="414"/>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380"/>
                                        <p:tgtEl>
                                          <p:spTgt spid="10"/>
                                        </p:tgtEl>
                                      </p:cBhvr>
                                    </p:animEffect>
                                    <p:anim calcmode="lin" valueType="num">
                                      <p:cBhvr additive="base">
                                        <p:cTn id="44" dur="380" fill="hold"/>
                                        <p:tgtEl>
                                          <p:spTgt spid="10"/>
                                        </p:tgtEl>
                                        <p:attrNameLst>
                                          <p:attrName>ppt_y</p:attrName>
                                        </p:attrNameLst>
                                      </p:cBhvr>
                                      <p:tavLst>
                                        <p:tav tm="0">
                                          <p:val>
                                            <p:strVal val="#ppt_y+0.03"/>
                                          </p:val>
                                        </p:tav>
                                        <p:tav tm="100000">
                                          <p:val>
                                            <p:strVal val="#ppt_y"/>
                                          </p:val>
                                        </p:tav>
                                      </p:tavLst>
                                    </p:anim>
                                  </p:childTnLst>
                                </p:cTn>
                              </p:par>
                              <p:par>
                                <p:cTn id="45" presetID="42" presetClass="entr" presetSubtype="0" fill="hold" grpId="0" nodeType="afterEffect">
                                  <p:stCondLst>
                                    <p:cond delay="46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380"/>
                                        <p:tgtEl>
                                          <p:spTgt spid="11"/>
                                        </p:tgtEl>
                                      </p:cBhvr>
                                    </p:animEffect>
                                    <p:anim calcmode="lin" valueType="num">
                                      <p:cBhvr additive="base">
                                        <p:cTn id="48" dur="380" fill="hold"/>
                                        <p:tgtEl>
                                          <p:spTgt spid="11"/>
                                        </p:tgtEl>
                                        <p:attrNameLst>
                                          <p:attrName>ppt_y</p:attrName>
                                        </p:attrNameLst>
                                      </p:cBhvr>
                                      <p:tavLst>
                                        <p:tav tm="0">
                                          <p:val>
                                            <p:strVal val="#ppt_y+0.03"/>
                                          </p:val>
                                        </p:tav>
                                        <p:tav tm="100000">
                                          <p:val>
                                            <p:strVal val="#ppt_y"/>
                                          </p:val>
                                        </p:tav>
                                      </p:tavLst>
                                    </p:anim>
                                  </p:childTnLst>
                                </p:cTn>
                              </p:par>
                              <p:par>
                                <p:cTn id="49" presetID="42" presetClass="entr" presetSubtype="0" fill="hold" grpId="0" nodeType="afterEffect">
                                  <p:stCondLst>
                                    <p:cond delay="506"/>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380"/>
                                        <p:tgtEl>
                                          <p:spTgt spid="12"/>
                                        </p:tgtEl>
                                      </p:cBhvr>
                                    </p:animEffect>
                                    <p:anim calcmode="lin" valueType="num">
                                      <p:cBhvr additive="base">
                                        <p:cTn id="52" dur="380" fill="hold"/>
                                        <p:tgtEl>
                                          <p:spTgt spid="12"/>
                                        </p:tgtEl>
                                        <p:attrNameLst>
                                          <p:attrName>ppt_y</p:attrName>
                                        </p:attrNameLst>
                                      </p:cBhvr>
                                      <p:tavLst>
                                        <p:tav tm="0">
                                          <p:val>
                                            <p:strVal val="#ppt_y+0.03"/>
                                          </p:val>
                                        </p:tav>
                                        <p:tav tm="100000">
                                          <p:val>
                                            <p:strVal val="#ppt_y"/>
                                          </p:val>
                                        </p:tav>
                                      </p:tavLst>
                                    </p:anim>
                                  </p:childTnLst>
                                </p:cTn>
                              </p:par>
                              <p:par>
                                <p:cTn id="53" presetID="42" presetClass="entr" presetSubtype="0" fill="hold" grpId="0" nodeType="afterEffect">
                                  <p:stCondLst>
                                    <p:cond delay="552"/>
                                  </p:stCondLst>
                                  <p:childTnLst>
                                    <p:set>
                                      <p:cBhvr>
                                        <p:cTn id="54" dur="1" fill="hold">
                                          <p:stCondLst>
                                            <p:cond delay="0"/>
                                          </p:stCondLst>
                                        </p:cTn>
                                        <p:tgtEl>
                                          <p:spTgt spid="13"/>
                                        </p:tgtEl>
                                        <p:attrNameLst>
                                          <p:attrName>style.visibility</p:attrName>
                                        </p:attrNameLst>
                                      </p:cBhvr>
                                      <p:to>
                                        <p:strVal val="visible"/>
                                      </p:to>
                                    </p:set>
                                    <p:animEffect transition="in" filter="fade">
                                      <p:cBhvr>
                                        <p:cTn id="55" dur="380"/>
                                        <p:tgtEl>
                                          <p:spTgt spid="13"/>
                                        </p:tgtEl>
                                      </p:cBhvr>
                                    </p:animEffect>
                                    <p:anim calcmode="lin" valueType="num">
                                      <p:cBhvr additive="base">
                                        <p:cTn id="56" dur="380" fill="hold"/>
                                        <p:tgtEl>
                                          <p:spTgt spid="13"/>
                                        </p:tgtEl>
                                        <p:attrNameLst>
                                          <p:attrName>ppt_y</p:attrName>
                                        </p:attrNameLst>
                                      </p:cBhvr>
                                      <p:tavLst>
                                        <p:tav tm="0">
                                          <p:val>
                                            <p:strVal val="#ppt_y+0.03"/>
                                          </p:val>
                                        </p:tav>
                                        <p:tav tm="100000">
                                          <p:val>
                                            <p:strVal val="#ppt_y"/>
                                          </p:val>
                                        </p:tav>
                                      </p:tavLst>
                                    </p:anim>
                                  </p:childTnLst>
                                </p:cTn>
                              </p:par>
                              <p:par>
                                <p:cTn id="57" presetID="42" presetClass="entr" presetSubtype="0" fill="hold" grpId="0" nodeType="afterEffect">
                                  <p:stCondLst>
                                    <p:cond delay="598"/>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380"/>
                                        <p:tgtEl>
                                          <p:spTgt spid="14"/>
                                        </p:tgtEl>
                                      </p:cBhvr>
                                    </p:animEffect>
                                    <p:anim calcmode="lin" valueType="num">
                                      <p:cBhvr additive="base">
                                        <p:cTn id="60" dur="380" fill="hold"/>
                                        <p:tgtEl>
                                          <p:spTgt spid="14"/>
                                        </p:tgtEl>
                                        <p:attrNameLst>
                                          <p:attrName>ppt_y</p:attrName>
                                        </p:attrNameLst>
                                      </p:cBhvr>
                                      <p:tavLst>
                                        <p:tav tm="0">
                                          <p:val>
                                            <p:strVal val="#ppt_y+0.03"/>
                                          </p:val>
                                        </p:tav>
                                        <p:tav tm="100000">
                                          <p:val>
                                            <p:strVal val="#ppt_y"/>
                                          </p:val>
                                        </p:tav>
                                      </p:tavLst>
                                    </p:anim>
                                  </p:childTnLst>
                                </p:cTn>
                              </p:par>
                              <p:par>
                                <p:cTn id="61" presetID="42" presetClass="entr" presetSubtype="0" fill="hold" grpId="0" nodeType="afterEffect">
                                  <p:stCondLst>
                                    <p:cond delay="644"/>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380"/>
                                        <p:tgtEl>
                                          <p:spTgt spid="15"/>
                                        </p:tgtEl>
                                      </p:cBhvr>
                                    </p:animEffect>
                                    <p:anim calcmode="lin" valueType="num">
                                      <p:cBhvr additive="base">
                                        <p:cTn id="64" dur="380" fill="hold"/>
                                        <p:tgtEl>
                                          <p:spTgt spid="15"/>
                                        </p:tgtEl>
                                        <p:attrNameLst>
                                          <p:attrName>ppt_y</p:attrName>
                                        </p:attrNameLst>
                                      </p:cBhvr>
                                      <p:tavLst>
                                        <p:tav tm="0">
                                          <p:val>
                                            <p:strVal val="#ppt_y+0.03"/>
                                          </p:val>
                                        </p:tav>
                                        <p:tav tm="100000">
                                          <p:val>
                                            <p:strVal val="#ppt_y"/>
                                          </p:val>
                                        </p:tav>
                                      </p:tavLst>
                                    </p:anim>
                                  </p:childTnLst>
                                </p:cTn>
                              </p:par>
                              <p:par>
                                <p:cTn id="65" presetID="42" presetClass="entr" presetSubtype="0" fill="hold" grpId="0" nodeType="afterEffect">
                                  <p:stCondLst>
                                    <p:cond delay="69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380"/>
                                        <p:tgtEl>
                                          <p:spTgt spid="16"/>
                                        </p:tgtEl>
                                      </p:cBhvr>
                                    </p:animEffect>
                                    <p:anim calcmode="lin" valueType="num">
                                      <p:cBhvr additive="base">
                                        <p:cTn id="68" dur="380" fill="hold"/>
                                        <p:tgtEl>
                                          <p:spTgt spid="16"/>
                                        </p:tgtEl>
                                        <p:attrNameLst>
                                          <p:attrName>ppt_y</p:attrName>
                                        </p:attrNameLst>
                                      </p:cBhvr>
                                      <p:tavLst>
                                        <p:tav tm="0">
                                          <p:val>
                                            <p:strVal val="#ppt_y+0.03"/>
                                          </p:val>
                                        </p:tav>
                                        <p:tav tm="100000">
                                          <p:val>
                                            <p:strVal val="#ppt_y"/>
                                          </p:val>
                                        </p:tav>
                                      </p:tavLst>
                                    </p:anim>
                                  </p:childTnLst>
                                </p:cTn>
                              </p:par>
                              <p:par>
                                <p:cTn id="69" presetID="42" presetClass="entr" presetSubtype="0" fill="hold" grpId="0" nodeType="afterEffect">
                                  <p:stCondLst>
                                    <p:cond delay="736"/>
                                  </p:stCondLst>
                                  <p:childTnLst>
                                    <p:set>
                                      <p:cBhvr>
                                        <p:cTn id="70" dur="1" fill="hold">
                                          <p:stCondLst>
                                            <p:cond delay="0"/>
                                          </p:stCondLst>
                                        </p:cTn>
                                        <p:tgtEl>
                                          <p:spTgt spid="17"/>
                                        </p:tgtEl>
                                        <p:attrNameLst>
                                          <p:attrName>style.visibility</p:attrName>
                                        </p:attrNameLst>
                                      </p:cBhvr>
                                      <p:to>
                                        <p:strVal val="visible"/>
                                      </p:to>
                                    </p:set>
                                    <p:animEffect transition="in" filter="fade">
                                      <p:cBhvr>
                                        <p:cTn id="71" dur="380"/>
                                        <p:tgtEl>
                                          <p:spTgt spid="17"/>
                                        </p:tgtEl>
                                      </p:cBhvr>
                                    </p:animEffect>
                                    <p:anim calcmode="lin" valueType="num">
                                      <p:cBhvr additive="base">
                                        <p:cTn id="72" dur="380" fill="hold"/>
                                        <p:tgtEl>
                                          <p:spTgt spid="17"/>
                                        </p:tgtEl>
                                        <p:attrNameLst>
                                          <p:attrName>ppt_y</p:attrName>
                                        </p:attrNameLst>
                                      </p:cBhvr>
                                      <p:tavLst>
                                        <p:tav tm="0">
                                          <p:val>
                                            <p:strVal val="#ppt_y+0.03"/>
                                          </p:val>
                                        </p:tav>
                                        <p:tav tm="100000">
                                          <p:val>
                                            <p:strVal val="#ppt_y"/>
                                          </p:val>
                                        </p:tav>
                                      </p:tavLst>
                                    </p:anim>
                                  </p:childTnLst>
                                </p:cTn>
                              </p:par>
                              <p:par>
                                <p:cTn id="73" presetID="42" presetClass="entr" presetSubtype="0" fill="hold" grpId="0" nodeType="afterEffect">
                                  <p:stCondLst>
                                    <p:cond delay="782"/>
                                  </p:stCondLst>
                                  <p:childTnLst>
                                    <p:set>
                                      <p:cBhvr>
                                        <p:cTn id="74" dur="1" fill="hold">
                                          <p:stCondLst>
                                            <p:cond delay="0"/>
                                          </p:stCondLst>
                                        </p:cTn>
                                        <p:tgtEl>
                                          <p:spTgt spid="18"/>
                                        </p:tgtEl>
                                        <p:attrNameLst>
                                          <p:attrName>style.visibility</p:attrName>
                                        </p:attrNameLst>
                                      </p:cBhvr>
                                      <p:to>
                                        <p:strVal val="visible"/>
                                      </p:to>
                                    </p:set>
                                    <p:animEffect transition="in" filter="fade">
                                      <p:cBhvr>
                                        <p:cTn id="75" dur="380"/>
                                        <p:tgtEl>
                                          <p:spTgt spid="18"/>
                                        </p:tgtEl>
                                      </p:cBhvr>
                                    </p:animEffect>
                                    <p:anim calcmode="lin" valueType="num">
                                      <p:cBhvr additive="base">
                                        <p:cTn id="76" dur="380" fill="hold"/>
                                        <p:tgtEl>
                                          <p:spTgt spid="18"/>
                                        </p:tgtEl>
                                        <p:attrNameLst>
                                          <p:attrName>ppt_y</p:attrName>
                                        </p:attrNameLst>
                                      </p:cBhvr>
                                      <p:tavLst>
                                        <p:tav tm="0">
                                          <p:val>
                                            <p:strVal val="#ppt_y+0.03"/>
                                          </p:val>
                                        </p:tav>
                                        <p:tav tm="100000">
                                          <p:val>
                                            <p:strVal val="#ppt_y"/>
                                          </p:val>
                                        </p:tav>
                                      </p:tavLst>
                                    </p:anim>
                                  </p:childTnLst>
                                </p:cTn>
                              </p:par>
                              <p:par>
                                <p:cTn id="77" presetID="42" presetClass="entr" presetSubtype="0" fill="hold" grpId="0" nodeType="afterEffect">
                                  <p:stCondLst>
                                    <p:cond delay="828"/>
                                  </p:stCondLst>
                                  <p:childTnLst>
                                    <p:set>
                                      <p:cBhvr>
                                        <p:cTn id="78" dur="1" fill="hold">
                                          <p:stCondLst>
                                            <p:cond delay="0"/>
                                          </p:stCondLst>
                                        </p:cTn>
                                        <p:tgtEl>
                                          <p:spTgt spid="19"/>
                                        </p:tgtEl>
                                        <p:attrNameLst>
                                          <p:attrName>style.visibility</p:attrName>
                                        </p:attrNameLst>
                                      </p:cBhvr>
                                      <p:to>
                                        <p:strVal val="visible"/>
                                      </p:to>
                                    </p:set>
                                    <p:animEffect transition="in" filter="fade">
                                      <p:cBhvr>
                                        <p:cTn id="79" dur="380"/>
                                        <p:tgtEl>
                                          <p:spTgt spid="19"/>
                                        </p:tgtEl>
                                      </p:cBhvr>
                                    </p:animEffect>
                                    <p:anim calcmode="lin" valueType="num">
                                      <p:cBhvr additive="base">
                                        <p:cTn id="80" dur="380" fill="hold"/>
                                        <p:tgtEl>
                                          <p:spTgt spid="19"/>
                                        </p:tgtEl>
                                        <p:attrNameLst>
                                          <p:attrName>ppt_y</p:attrName>
                                        </p:attrNameLst>
                                      </p:cBhvr>
                                      <p:tavLst>
                                        <p:tav tm="0">
                                          <p:val>
                                            <p:strVal val="#ppt_y+0.03"/>
                                          </p:val>
                                        </p:tav>
                                        <p:tav tm="100000">
                                          <p:val>
                                            <p:strVal val="#ppt_y"/>
                                          </p:val>
                                        </p:tav>
                                      </p:tavLst>
                                    </p:anim>
                                  </p:childTnLst>
                                </p:cTn>
                              </p:par>
                              <p:par>
                                <p:cTn id="81" presetID="42" presetClass="entr" presetSubtype="0" fill="hold" grpId="0" nodeType="afterEffect">
                                  <p:stCondLst>
                                    <p:cond delay="874"/>
                                  </p:stCondLst>
                                  <p:childTnLst>
                                    <p:set>
                                      <p:cBhvr>
                                        <p:cTn id="82" dur="1" fill="hold">
                                          <p:stCondLst>
                                            <p:cond delay="0"/>
                                          </p:stCondLst>
                                        </p:cTn>
                                        <p:tgtEl>
                                          <p:spTgt spid="20"/>
                                        </p:tgtEl>
                                        <p:attrNameLst>
                                          <p:attrName>style.visibility</p:attrName>
                                        </p:attrNameLst>
                                      </p:cBhvr>
                                      <p:to>
                                        <p:strVal val="visible"/>
                                      </p:to>
                                    </p:set>
                                    <p:animEffect transition="in" filter="fade">
                                      <p:cBhvr>
                                        <p:cTn id="83" dur="380"/>
                                        <p:tgtEl>
                                          <p:spTgt spid="20"/>
                                        </p:tgtEl>
                                      </p:cBhvr>
                                    </p:animEffect>
                                    <p:anim calcmode="lin" valueType="num">
                                      <p:cBhvr additive="base">
                                        <p:cTn id="84" dur="380" fill="hold"/>
                                        <p:tgtEl>
                                          <p:spTgt spid="20"/>
                                        </p:tgtEl>
                                        <p:attrNameLst>
                                          <p:attrName>ppt_y</p:attrName>
                                        </p:attrNameLst>
                                      </p:cBhvr>
                                      <p:tavLst>
                                        <p:tav tm="0">
                                          <p:val>
                                            <p:strVal val="#ppt_y+0.03"/>
                                          </p:val>
                                        </p:tav>
                                        <p:tav tm="100000">
                                          <p:val>
                                            <p:strVal val="#ppt_y"/>
                                          </p:val>
                                        </p:tav>
                                      </p:tavLst>
                                    </p:anim>
                                  </p:childTnLst>
                                </p:cTn>
                              </p:par>
                              <p:par>
                                <p:cTn id="85" presetID="42" presetClass="entr" presetSubtype="0" fill="hold" grpId="0" nodeType="afterEffect">
                                  <p:stCondLst>
                                    <p:cond delay="920"/>
                                  </p:stCondLst>
                                  <p:childTnLst>
                                    <p:set>
                                      <p:cBhvr>
                                        <p:cTn id="86" dur="1" fill="hold">
                                          <p:stCondLst>
                                            <p:cond delay="0"/>
                                          </p:stCondLst>
                                        </p:cTn>
                                        <p:tgtEl>
                                          <p:spTgt spid="21"/>
                                        </p:tgtEl>
                                        <p:attrNameLst>
                                          <p:attrName>style.visibility</p:attrName>
                                        </p:attrNameLst>
                                      </p:cBhvr>
                                      <p:to>
                                        <p:strVal val="visible"/>
                                      </p:to>
                                    </p:set>
                                    <p:animEffect transition="in" filter="fade">
                                      <p:cBhvr>
                                        <p:cTn id="87" dur="380"/>
                                        <p:tgtEl>
                                          <p:spTgt spid="21"/>
                                        </p:tgtEl>
                                      </p:cBhvr>
                                    </p:animEffect>
                                    <p:anim calcmode="lin" valueType="num">
                                      <p:cBhvr additive="base">
                                        <p:cTn id="88" dur="380" fill="hold"/>
                                        <p:tgtEl>
                                          <p:spTgt spid="21"/>
                                        </p:tgtEl>
                                        <p:attrNameLst>
                                          <p:attrName>ppt_y</p:attrName>
                                        </p:attrNameLst>
                                      </p:cBhvr>
                                      <p:tavLst>
                                        <p:tav tm="0">
                                          <p:val>
                                            <p:strVal val="#ppt_y+0.03"/>
                                          </p:val>
                                        </p:tav>
                                        <p:tav tm="100000">
                                          <p:val>
                                            <p:strVal val="#ppt_y"/>
                                          </p:val>
                                        </p:tav>
                                      </p:tavLst>
                                    </p:anim>
                                  </p:childTnLst>
                                </p:cTn>
                              </p:par>
                              <p:par>
                                <p:cTn id="89" presetID="42" presetClass="entr" presetSubtype="0" fill="hold" grpId="0" nodeType="afterEffect">
                                  <p:stCondLst>
                                    <p:cond delay="966"/>
                                  </p:stCondLst>
                                  <p:childTnLst>
                                    <p:set>
                                      <p:cBhvr>
                                        <p:cTn id="90" dur="1" fill="hold">
                                          <p:stCondLst>
                                            <p:cond delay="0"/>
                                          </p:stCondLst>
                                        </p:cTn>
                                        <p:tgtEl>
                                          <p:spTgt spid="22"/>
                                        </p:tgtEl>
                                        <p:attrNameLst>
                                          <p:attrName>style.visibility</p:attrName>
                                        </p:attrNameLst>
                                      </p:cBhvr>
                                      <p:to>
                                        <p:strVal val="visible"/>
                                      </p:to>
                                    </p:set>
                                    <p:animEffect transition="in" filter="fade">
                                      <p:cBhvr>
                                        <p:cTn id="91" dur="380"/>
                                        <p:tgtEl>
                                          <p:spTgt spid="22"/>
                                        </p:tgtEl>
                                      </p:cBhvr>
                                    </p:animEffect>
                                    <p:anim calcmode="lin" valueType="num">
                                      <p:cBhvr additive="base">
                                        <p:cTn id="92" dur="380" fill="hold"/>
                                        <p:tgtEl>
                                          <p:spTgt spid="22"/>
                                        </p:tgtEl>
                                        <p:attrNameLst>
                                          <p:attrName>ppt_y</p:attrName>
                                        </p:attrNameLst>
                                      </p:cBhvr>
                                      <p:tavLst>
                                        <p:tav tm="0">
                                          <p:val>
                                            <p:strVal val="#ppt_y+0.03"/>
                                          </p:val>
                                        </p:tav>
                                        <p:tav tm="100000">
                                          <p:val>
                                            <p:strVal val="#ppt_y"/>
                                          </p:val>
                                        </p:tav>
                                      </p:tavLst>
                                    </p:anim>
                                  </p:childTnLst>
                                </p:cTn>
                              </p:par>
                              <p:par>
                                <p:cTn id="93" presetID="42" presetClass="entr" presetSubtype="0" fill="hold" grpId="0" nodeType="afterEffect">
                                  <p:stCondLst>
                                    <p:cond delay="1012"/>
                                  </p:stCondLst>
                                  <p:childTnLst>
                                    <p:set>
                                      <p:cBhvr>
                                        <p:cTn id="94" dur="1" fill="hold">
                                          <p:stCondLst>
                                            <p:cond delay="0"/>
                                          </p:stCondLst>
                                        </p:cTn>
                                        <p:tgtEl>
                                          <p:spTgt spid="23"/>
                                        </p:tgtEl>
                                        <p:attrNameLst>
                                          <p:attrName>style.visibility</p:attrName>
                                        </p:attrNameLst>
                                      </p:cBhvr>
                                      <p:to>
                                        <p:strVal val="visible"/>
                                      </p:to>
                                    </p:set>
                                    <p:animEffect transition="in" filter="fade">
                                      <p:cBhvr>
                                        <p:cTn id="95" dur="380"/>
                                        <p:tgtEl>
                                          <p:spTgt spid="23"/>
                                        </p:tgtEl>
                                      </p:cBhvr>
                                    </p:animEffect>
                                    <p:anim calcmode="lin" valueType="num">
                                      <p:cBhvr additive="base">
                                        <p:cTn id="96" dur="380" fill="hold"/>
                                        <p:tgtEl>
                                          <p:spTgt spid="23"/>
                                        </p:tgtEl>
                                        <p:attrNameLst>
                                          <p:attrName>ppt_y</p:attrName>
                                        </p:attrNameLst>
                                      </p:cBhvr>
                                      <p:tavLst>
                                        <p:tav tm="0">
                                          <p:val>
                                            <p:strVal val="#ppt_y+0.03"/>
                                          </p:val>
                                        </p:tav>
                                        <p:tav tm="100000">
                                          <p:val>
                                            <p:strVal val="#ppt_y"/>
                                          </p:val>
                                        </p:tav>
                                      </p:tavLst>
                                    </p:anim>
                                  </p:childTnLst>
                                </p:cTn>
                              </p:par>
                              <p:par>
                                <p:cTn id="97" presetID="42" presetClass="entr" presetSubtype="0" fill="hold" grpId="0" nodeType="afterEffect">
                                  <p:stCondLst>
                                    <p:cond delay="1058"/>
                                  </p:stCondLst>
                                  <p:childTnLst>
                                    <p:set>
                                      <p:cBhvr>
                                        <p:cTn id="98" dur="1" fill="hold">
                                          <p:stCondLst>
                                            <p:cond delay="0"/>
                                          </p:stCondLst>
                                        </p:cTn>
                                        <p:tgtEl>
                                          <p:spTgt spid="24"/>
                                        </p:tgtEl>
                                        <p:attrNameLst>
                                          <p:attrName>style.visibility</p:attrName>
                                        </p:attrNameLst>
                                      </p:cBhvr>
                                      <p:to>
                                        <p:strVal val="visible"/>
                                      </p:to>
                                    </p:set>
                                    <p:animEffect transition="in" filter="fade">
                                      <p:cBhvr>
                                        <p:cTn id="99" dur="380"/>
                                        <p:tgtEl>
                                          <p:spTgt spid="24"/>
                                        </p:tgtEl>
                                      </p:cBhvr>
                                    </p:animEffect>
                                    <p:anim calcmode="lin" valueType="num">
                                      <p:cBhvr additive="base">
                                        <p:cTn id="100" dur="380" fill="hold"/>
                                        <p:tgtEl>
                                          <p:spTgt spid="24"/>
                                        </p:tgtEl>
                                        <p:attrNameLst>
                                          <p:attrName>ppt_y</p:attrName>
                                        </p:attrNameLst>
                                      </p:cBhvr>
                                      <p:tavLst>
                                        <p:tav tm="0">
                                          <p:val>
                                            <p:strVal val="#ppt_y+0.03"/>
                                          </p:val>
                                        </p:tav>
                                        <p:tav tm="100000">
                                          <p:val>
                                            <p:strVal val="#ppt_y"/>
                                          </p:val>
                                        </p:tav>
                                      </p:tavLst>
                                    </p:anim>
                                  </p:childTnLst>
                                </p:cTn>
                              </p:par>
                              <p:par>
                                <p:cTn id="101" presetID="42" presetClass="entr" presetSubtype="0" fill="hold" grpId="0" nodeType="afterEffect">
                                  <p:stCondLst>
                                    <p:cond delay="1104"/>
                                  </p:stCondLst>
                                  <p:childTnLst>
                                    <p:set>
                                      <p:cBhvr>
                                        <p:cTn id="102" dur="1" fill="hold">
                                          <p:stCondLst>
                                            <p:cond delay="0"/>
                                          </p:stCondLst>
                                        </p:cTn>
                                        <p:tgtEl>
                                          <p:spTgt spid="25"/>
                                        </p:tgtEl>
                                        <p:attrNameLst>
                                          <p:attrName>style.visibility</p:attrName>
                                        </p:attrNameLst>
                                      </p:cBhvr>
                                      <p:to>
                                        <p:strVal val="visible"/>
                                      </p:to>
                                    </p:set>
                                    <p:animEffect transition="in" filter="fade">
                                      <p:cBhvr>
                                        <p:cTn id="103" dur="380"/>
                                        <p:tgtEl>
                                          <p:spTgt spid="25"/>
                                        </p:tgtEl>
                                      </p:cBhvr>
                                    </p:animEffect>
                                    <p:anim calcmode="lin" valueType="num">
                                      <p:cBhvr additive="base">
                                        <p:cTn id="104" dur="380" fill="hold"/>
                                        <p:tgtEl>
                                          <p:spTgt spid="25"/>
                                        </p:tgtEl>
                                        <p:attrNameLst>
                                          <p:attrName>ppt_y</p:attrName>
                                        </p:attrNameLst>
                                      </p:cBhvr>
                                      <p:tavLst>
                                        <p:tav tm="0">
                                          <p:val>
                                            <p:strVal val="#ppt_y+0.03"/>
                                          </p:val>
                                        </p:tav>
                                        <p:tav tm="100000">
                                          <p:val>
                                            <p:strVal val="#ppt_y"/>
                                          </p:val>
                                        </p:tav>
                                      </p:tavLst>
                                    </p:anim>
                                  </p:childTnLst>
                                </p:cTn>
                              </p:par>
                              <p:par>
                                <p:cTn id="105" presetID="42" presetClass="entr" presetSubtype="0" fill="hold" grpId="0" nodeType="afterEffect">
                                  <p:stCondLst>
                                    <p:cond delay="1150"/>
                                  </p:stCondLst>
                                  <p:childTnLst>
                                    <p:set>
                                      <p:cBhvr>
                                        <p:cTn id="106" dur="1" fill="hold">
                                          <p:stCondLst>
                                            <p:cond delay="0"/>
                                          </p:stCondLst>
                                        </p:cTn>
                                        <p:tgtEl>
                                          <p:spTgt spid="26"/>
                                        </p:tgtEl>
                                        <p:attrNameLst>
                                          <p:attrName>style.visibility</p:attrName>
                                        </p:attrNameLst>
                                      </p:cBhvr>
                                      <p:to>
                                        <p:strVal val="visible"/>
                                      </p:to>
                                    </p:set>
                                    <p:animEffect transition="in" filter="fade">
                                      <p:cBhvr>
                                        <p:cTn id="107" dur="380"/>
                                        <p:tgtEl>
                                          <p:spTgt spid="26"/>
                                        </p:tgtEl>
                                      </p:cBhvr>
                                    </p:animEffect>
                                    <p:anim calcmode="lin" valueType="num">
                                      <p:cBhvr additive="base">
                                        <p:cTn id="108" dur="380" fill="hold"/>
                                        <p:tgtEl>
                                          <p:spTgt spid="26"/>
                                        </p:tgtEl>
                                        <p:attrNameLst>
                                          <p:attrName>ppt_y</p:attrName>
                                        </p:attrNameLst>
                                      </p:cBhvr>
                                      <p:tavLst>
                                        <p:tav tm="0">
                                          <p:val>
                                            <p:strVal val="#ppt_y+0.03"/>
                                          </p:val>
                                        </p:tav>
                                        <p:tav tm="100000">
                                          <p:val>
                                            <p:strVal val="#ppt_y"/>
                                          </p:val>
                                        </p:tav>
                                      </p:tavLst>
                                    </p:anim>
                                  </p:childTnLst>
                                </p:cTn>
                              </p:par>
                              <p:par>
                                <p:cTn id="109" presetID="42" presetClass="entr" presetSubtype="0" fill="hold" grpId="0" nodeType="afterEffect">
                                  <p:stCondLst>
                                    <p:cond delay="1196"/>
                                  </p:stCondLst>
                                  <p:childTnLst>
                                    <p:set>
                                      <p:cBhvr>
                                        <p:cTn id="110" dur="1" fill="hold">
                                          <p:stCondLst>
                                            <p:cond delay="0"/>
                                          </p:stCondLst>
                                        </p:cTn>
                                        <p:tgtEl>
                                          <p:spTgt spid="27"/>
                                        </p:tgtEl>
                                        <p:attrNameLst>
                                          <p:attrName>style.visibility</p:attrName>
                                        </p:attrNameLst>
                                      </p:cBhvr>
                                      <p:to>
                                        <p:strVal val="visible"/>
                                      </p:to>
                                    </p:set>
                                    <p:animEffect transition="in" filter="fade">
                                      <p:cBhvr>
                                        <p:cTn id="111" dur="380"/>
                                        <p:tgtEl>
                                          <p:spTgt spid="27"/>
                                        </p:tgtEl>
                                      </p:cBhvr>
                                    </p:animEffect>
                                    <p:anim calcmode="lin" valueType="num">
                                      <p:cBhvr additive="base">
                                        <p:cTn id="112" dur="380" fill="hold"/>
                                        <p:tgtEl>
                                          <p:spTgt spid="27"/>
                                        </p:tgtEl>
                                        <p:attrNameLst>
                                          <p:attrName>ppt_y</p:attrName>
                                        </p:attrNameLst>
                                      </p:cBhvr>
                                      <p:tavLst>
                                        <p:tav tm="0">
                                          <p:val>
                                            <p:strVal val="#ppt_y+0.03"/>
                                          </p:val>
                                        </p:tav>
                                        <p:tav tm="100000">
                                          <p:val>
                                            <p:strVal val="#ppt_y"/>
                                          </p:val>
                                        </p:tav>
                                      </p:tavLst>
                                    </p:anim>
                                  </p:childTnLst>
                                </p:cTn>
                              </p:par>
                              <p:par>
                                <p:cTn id="113" presetID="42" presetClass="entr" presetSubtype="0" fill="hold" grpId="0" nodeType="afterEffect">
                                  <p:stCondLst>
                                    <p:cond delay="1242"/>
                                  </p:stCondLst>
                                  <p:childTnLst>
                                    <p:set>
                                      <p:cBhvr>
                                        <p:cTn id="114" dur="1" fill="hold">
                                          <p:stCondLst>
                                            <p:cond delay="0"/>
                                          </p:stCondLst>
                                        </p:cTn>
                                        <p:tgtEl>
                                          <p:spTgt spid="28"/>
                                        </p:tgtEl>
                                        <p:attrNameLst>
                                          <p:attrName>style.visibility</p:attrName>
                                        </p:attrNameLst>
                                      </p:cBhvr>
                                      <p:to>
                                        <p:strVal val="visible"/>
                                      </p:to>
                                    </p:set>
                                    <p:animEffect transition="in" filter="fade">
                                      <p:cBhvr>
                                        <p:cTn id="115" dur="380"/>
                                        <p:tgtEl>
                                          <p:spTgt spid="28"/>
                                        </p:tgtEl>
                                      </p:cBhvr>
                                    </p:animEffect>
                                    <p:anim calcmode="lin" valueType="num">
                                      <p:cBhvr additive="base">
                                        <p:cTn id="116" dur="380" fill="hold"/>
                                        <p:tgtEl>
                                          <p:spTgt spid="28"/>
                                        </p:tgtEl>
                                        <p:attrNameLst>
                                          <p:attrName>ppt_y</p:attrName>
                                        </p:attrNameLst>
                                      </p:cBhvr>
                                      <p:tavLst>
                                        <p:tav tm="0">
                                          <p:val>
                                            <p:strVal val="#ppt_y+0.03"/>
                                          </p:val>
                                        </p:tav>
                                        <p:tav tm="100000">
                                          <p:val>
                                            <p:strVal val="#ppt_y"/>
                                          </p:val>
                                        </p:tav>
                                      </p:tavLst>
                                    </p:anim>
                                  </p:childTnLst>
                                </p:cTn>
                              </p:par>
                              <p:par>
                                <p:cTn id="117" presetID="42" presetClass="entr" presetSubtype="0" fill="hold" grpId="0" nodeType="afterEffect">
                                  <p:stCondLst>
                                    <p:cond delay="1288"/>
                                  </p:stCondLst>
                                  <p:childTnLst>
                                    <p:set>
                                      <p:cBhvr>
                                        <p:cTn id="118" dur="1" fill="hold">
                                          <p:stCondLst>
                                            <p:cond delay="0"/>
                                          </p:stCondLst>
                                        </p:cTn>
                                        <p:tgtEl>
                                          <p:spTgt spid="29"/>
                                        </p:tgtEl>
                                        <p:attrNameLst>
                                          <p:attrName>style.visibility</p:attrName>
                                        </p:attrNameLst>
                                      </p:cBhvr>
                                      <p:to>
                                        <p:strVal val="visible"/>
                                      </p:to>
                                    </p:set>
                                    <p:animEffect transition="in" filter="fade">
                                      <p:cBhvr>
                                        <p:cTn id="119" dur="380"/>
                                        <p:tgtEl>
                                          <p:spTgt spid="29"/>
                                        </p:tgtEl>
                                      </p:cBhvr>
                                    </p:animEffect>
                                    <p:anim calcmode="lin" valueType="num">
                                      <p:cBhvr additive="base">
                                        <p:cTn id="120" dur="380" fill="hold"/>
                                        <p:tgtEl>
                                          <p:spTgt spid="29"/>
                                        </p:tgtEl>
                                        <p:attrNameLst>
                                          <p:attrName>ppt_y</p:attrName>
                                        </p:attrNameLst>
                                      </p:cBhvr>
                                      <p:tavLst>
                                        <p:tav tm="0">
                                          <p:val>
                                            <p:strVal val="#ppt_y+0.03"/>
                                          </p:val>
                                        </p:tav>
                                        <p:tav tm="100000">
                                          <p:val>
                                            <p:strVal val="#ppt_y"/>
                                          </p:val>
                                        </p:tav>
                                      </p:tavLst>
                                    </p:anim>
                                  </p:childTnLst>
                                </p:cTn>
                              </p:par>
                              <p:par>
                                <p:cTn id="121" presetID="42" presetClass="entr" presetSubtype="0" fill="hold" grpId="0" nodeType="afterEffect">
                                  <p:stCondLst>
                                    <p:cond delay="1334"/>
                                  </p:stCondLst>
                                  <p:childTnLst>
                                    <p:set>
                                      <p:cBhvr>
                                        <p:cTn id="122" dur="1" fill="hold">
                                          <p:stCondLst>
                                            <p:cond delay="0"/>
                                          </p:stCondLst>
                                        </p:cTn>
                                        <p:tgtEl>
                                          <p:spTgt spid="30"/>
                                        </p:tgtEl>
                                        <p:attrNameLst>
                                          <p:attrName>style.visibility</p:attrName>
                                        </p:attrNameLst>
                                      </p:cBhvr>
                                      <p:to>
                                        <p:strVal val="visible"/>
                                      </p:to>
                                    </p:set>
                                    <p:animEffect transition="in" filter="fade">
                                      <p:cBhvr>
                                        <p:cTn id="123" dur="380"/>
                                        <p:tgtEl>
                                          <p:spTgt spid="30"/>
                                        </p:tgtEl>
                                      </p:cBhvr>
                                    </p:animEffect>
                                    <p:anim calcmode="lin" valueType="num">
                                      <p:cBhvr additive="base">
                                        <p:cTn id="124" dur="380" fill="hold"/>
                                        <p:tgtEl>
                                          <p:spTgt spid="30"/>
                                        </p:tgtEl>
                                        <p:attrNameLst>
                                          <p:attrName>ppt_y</p:attrName>
                                        </p:attrNameLst>
                                      </p:cBhvr>
                                      <p:tavLst>
                                        <p:tav tm="0">
                                          <p:val>
                                            <p:strVal val="#ppt_y+0.03"/>
                                          </p:val>
                                        </p:tav>
                                        <p:tav tm="100000">
                                          <p:val>
                                            <p:strVal val="#ppt_y"/>
                                          </p:val>
                                        </p:tav>
                                      </p:tavLst>
                                    </p:anim>
                                  </p:childTnLst>
                                </p:cTn>
                              </p:par>
                              <p:par>
                                <p:cTn id="125" presetID="42" presetClass="entr" presetSubtype="0" fill="hold" grpId="0" nodeType="afterEffect">
                                  <p:stCondLst>
                                    <p:cond delay="1380"/>
                                  </p:stCondLst>
                                  <p:childTnLst>
                                    <p:set>
                                      <p:cBhvr>
                                        <p:cTn id="126" dur="1" fill="hold">
                                          <p:stCondLst>
                                            <p:cond delay="0"/>
                                          </p:stCondLst>
                                        </p:cTn>
                                        <p:tgtEl>
                                          <p:spTgt spid="31"/>
                                        </p:tgtEl>
                                        <p:attrNameLst>
                                          <p:attrName>style.visibility</p:attrName>
                                        </p:attrNameLst>
                                      </p:cBhvr>
                                      <p:to>
                                        <p:strVal val="visible"/>
                                      </p:to>
                                    </p:set>
                                    <p:animEffect transition="in" filter="fade">
                                      <p:cBhvr>
                                        <p:cTn id="127" dur="380"/>
                                        <p:tgtEl>
                                          <p:spTgt spid="31"/>
                                        </p:tgtEl>
                                      </p:cBhvr>
                                    </p:animEffect>
                                    <p:anim calcmode="lin" valueType="num">
                                      <p:cBhvr additive="base">
                                        <p:cTn id="128" dur="380" fill="hold"/>
                                        <p:tgtEl>
                                          <p:spTgt spid="31"/>
                                        </p:tgtEl>
                                        <p:attrNameLst>
                                          <p:attrName>ppt_y</p:attrName>
                                        </p:attrNameLst>
                                      </p:cBhvr>
                                      <p:tavLst>
                                        <p:tav tm="0">
                                          <p:val>
                                            <p:strVal val="#ppt_y+0.03"/>
                                          </p:val>
                                        </p:tav>
                                        <p:tav tm="100000">
                                          <p:val>
                                            <p:strVal val="#ppt_y"/>
                                          </p:val>
                                        </p:tav>
                                      </p:tavLst>
                                    </p:anim>
                                  </p:childTnLst>
                                </p:cTn>
                              </p:par>
                              <p:par>
                                <p:cTn id="129" presetID="42" presetClass="entr" presetSubtype="0" fill="hold" grpId="0" nodeType="afterEffect">
                                  <p:stCondLst>
                                    <p:cond delay="1426"/>
                                  </p:stCondLst>
                                  <p:childTnLst>
                                    <p:set>
                                      <p:cBhvr>
                                        <p:cTn id="130" dur="1" fill="hold">
                                          <p:stCondLst>
                                            <p:cond delay="0"/>
                                          </p:stCondLst>
                                        </p:cTn>
                                        <p:tgtEl>
                                          <p:spTgt spid="32"/>
                                        </p:tgtEl>
                                        <p:attrNameLst>
                                          <p:attrName>style.visibility</p:attrName>
                                        </p:attrNameLst>
                                      </p:cBhvr>
                                      <p:to>
                                        <p:strVal val="visible"/>
                                      </p:to>
                                    </p:set>
                                    <p:animEffect transition="in" filter="fade">
                                      <p:cBhvr>
                                        <p:cTn id="131" dur="380"/>
                                        <p:tgtEl>
                                          <p:spTgt spid="32"/>
                                        </p:tgtEl>
                                      </p:cBhvr>
                                    </p:animEffect>
                                    <p:anim calcmode="lin" valueType="num">
                                      <p:cBhvr additive="base">
                                        <p:cTn id="132" dur="380" fill="hold"/>
                                        <p:tgtEl>
                                          <p:spTgt spid="32"/>
                                        </p:tgtEl>
                                        <p:attrNameLst>
                                          <p:attrName>ppt_y</p:attrName>
                                        </p:attrNameLst>
                                      </p:cBhvr>
                                      <p:tavLst>
                                        <p:tav tm="0">
                                          <p:val>
                                            <p:strVal val="#ppt_y+0.03"/>
                                          </p:val>
                                        </p:tav>
                                        <p:tav tm="100000">
                                          <p:val>
                                            <p:strVal val="#ppt_y"/>
                                          </p:val>
                                        </p:tav>
                                      </p:tavLst>
                                    </p:anim>
                                  </p:childTnLst>
                                </p:cTn>
                              </p:par>
                              <p:par>
                                <p:cTn id="133" presetID="42" presetClass="entr" presetSubtype="0" fill="hold" grpId="0" nodeType="afterEffect">
                                  <p:stCondLst>
                                    <p:cond delay="1472"/>
                                  </p:stCondLst>
                                  <p:childTnLst>
                                    <p:set>
                                      <p:cBhvr>
                                        <p:cTn id="134" dur="1" fill="hold">
                                          <p:stCondLst>
                                            <p:cond delay="0"/>
                                          </p:stCondLst>
                                        </p:cTn>
                                        <p:tgtEl>
                                          <p:spTgt spid="33"/>
                                        </p:tgtEl>
                                        <p:attrNameLst>
                                          <p:attrName>style.visibility</p:attrName>
                                        </p:attrNameLst>
                                      </p:cBhvr>
                                      <p:to>
                                        <p:strVal val="visible"/>
                                      </p:to>
                                    </p:set>
                                    <p:animEffect transition="in" filter="fade">
                                      <p:cBhvr>
                                        <p:cTn id="135" dur="380"/>
                                        <p:tgtEl>
                                          <p:spTgt spid="33"/>
                                        </p:tgtEl>
                                      </p:cBhvr>
                                    </p:animEffect>
                                    <p:anim calcmode="lin" valueType="num">
                                      <p:cBhvr additive="base">
                                        <p:cTn id="136" dur="380" fill="hold"/>
                                        <p:tgtEl>
                                          <p:spTgt spid="33"/>
                                        </p:tgtEl>
                                        <p:attrNameLst>
                                          <p:attrName>ppt_y</p:attrName>
                                        </p:attrNameLst>
                                      </p:cBhvr>
                                      <p:tavLst>
                                        <p:tav tm="0">
                                          <p:val>
                                            <p:strVal val="#ppt_y+0.03"/>
                                          </p:val>
                                        </p:tav>
                                        <p:tav tm="100000">
                                          <p:val>
                                            <p:strVal val="#ppt_y"/>
                                          </p:val>
                                        </p:tav>
                                      </p:tavLst>
                                    </p:anim>
                                  </p:childTnLst>
                                </p:cTn>
                              </p:par>
                              <p:par>
                                <p:cTn id="137" presetID="42" presetClass="entr" presetSubtype="0" fill="hold" grpId="0" nodeType="afterEffect">
                                  <p:stCondLst>
                                    <p:cond delay="1518"/>
                                  </p:stCondLst>
                                  <p:childTnLst>
                                    <p:set>
                                      <p:cBhvr>
                                        <p:cTn id="138" dur="1" fill="hold">
                                          <p:stCondLst>
                                            <p:cond delay="0"/>
                                          </p:stCondLst>
                                        </p:cTn>
                                        <p:tgtEl>
                                          <p:spTgt spid="34"/>
                                        </p:tgtEl>
                                        <p:attrNameLst>
                                          <p:attrName>style.visibility</p:attrName>
                                        </p:attrNameLst>
                                      </p:cBhvr>
                                      <p:to>
                                        <p:strVal val="visible"/>
                                      </p:to>
                                    </p:set>
                                    <p:animEffect transition="in" filter="fade">
                                      <p:cBhvr>
                                        <p:cTn id="139" dur="380"/>
                                        <p:tgtEl>
                                          <p:spTgt spid="34"/>
                                        </p:tgtEl>
                                      </p:cBhvr>
                                    </p:animEffect>
                                    <p:anim calcmode="lin" valueType="num">
                                      <p:cBhvr additive="base">
                                        <p:cTn id="140" dur="380" fill="hold"/>
                                        <p:tgtEl>
                                          <p:spTgt spid="34"/>
                                        </p:tgtEl>
                                        <p:attrNameLst>
                                          <p:attrName>ppt_y</p:attrName>
                                        </p:attrNameLst>
                                      </p:cBhvr>
                                      <p:tavLst>
                                        <p:tav tm="0">
                                          <p:val>
                                            <p:strVal val="#ppt_y+0.03"/>
                                          </p:val>
                                        </p:tav>
                                        <p:tav tm="100000">
                                          <p:val>
                                            <p:strVal val="#ppt_y"/>
                                          </p:val>
                                        </p:tav>
                                      </p:tavLst>
                                    </p:anim>
                                  </p:childTnLst>
                                </p:cTn>
                              </p:par>
                              <p:par>
                                <p:cTn id="141" presetID="42" presetClass="entr" presetSubtype="0" fill="hold" grpId="0" nodeType="afterEffect">
                                  <p:stCondLst>
                                    <p:cond delay="1564"/>
                                  </p:stCondLst>
                                  <p:childTnLst>
                                    <p:set>
                                      <p:cBhvr>
                                        <p:cTn id="142" dur="1" fill="hold">
                                          <p:stCondLst>
                                            <p:cond delay="0"/>
                                          </p:stCondLst>
                                        </p:cTn>
                                        <p:tgtEl>
                                          <p:spTgt spid="35"/>
                                        </p:tgtEl>
                                        <p:attrNameLst>
                                          <p:attrName>style.visibility</p:attrName>
                                        </p:attrNameLst>
                                      </p:cBhvr>
                                      <p:to>
                                        <p:strVal val="visible"/>
                                      </p:to>
                                    </p:set>
                                    <p:animEffect transition="in" filter="fade">
                                      <p:cBhvr>
                                        <p:cTn id="143" dur="380"/>
                                        <p:tgtEl>
                                          <p:spTgt spid="35"/>
                                        </p:tgtEl>
                                      </p:cBhvr>
                                    </p:animEffect>
                                    <p:anim calcmode="lin" valueType="num">
                                      <p:cBhvr additive="base">
                                        <p:cTn id="144" dur="380" fill="hold"/>
                                        <p:tgtEl>
                                          <p:spTgt spid="35"/>
                                        </p:tgtEl>
                                        <p:attrNameLst>
                                          <p:attrName>ppt_y</p:attrName>
                                        </p:attrNameLst>
                                      </p:cBhvr>
                                      <p:tavLst>
                                        <p:tav tm="0">
                                          <p:val>
                                            <p:strVal val="#ppt_y+0.03"/>
                                          </p:val>
                                        </p:tav>
                                        <p:tav tm="100000">
                                          <p:val>
                                            <p:strVal val="#ppt_y"/>
                                          </p:val>
                                        </p:tav>
                                      </p:tavLst>
                                    </p:anim>
                                  </p:childTnLst>
                                </p:cTn>
                              </p:par>
                              <p:par>
                                <p:cTn id="145" presetID="42" presetClass="entr" presetSubtype="0" fill="hold" grpId="0" nodeType="afterEffect">
                                  <p:stCondLst>
                                    <p:cond delay="1610"/>
                                  </p:stCondLst>
                                  <p:childTnLst>
                                    <p:set>
                                      <p:cBhvr>
                                        <p:cTn id="146" dur="1" fill="hold">
                                          <p:stCondLst>
                                            <p:cond delay="0"/>
                                          </p:stCondLst>
                                        </p:cTn>
                                        <p:tgtEl>
                                          <p:spTgt spid="36"/>
                                        </p:tgtEl>
                                        <p:attrNameLst>
                                          <p:attrName>style.visibility</p:attrName>
                                        </p:attrNameLst>
                                      </p:cBhvr>
                                      <p:to>
                                        <p:strVal val="visible"/>
                                      </p:to>
                                    </p:set>
                                    <p:animEffect transition="in" filter="fade">
                                      <p:cBhvr>
                                        <p:cTn id="147" dur="380"/>
                                        <p:tgtEl>
                                          <p:spTgt spid="36"/>
                                        </p:tgtEl>
                                      </p:cBhvr>
                                    </p:animEffect>
                                    <p:anim calcmode="lin" valueType="num">
                                      <p:cBhvr additive="base">
                                        <p:cTn id="148" dur="380" fill="hold"/>
                                        <p:tgtEl>
                                          <p:spTgt spid="36"/>
                                        </p:tgtEl>
                                        <p:attrNameLst>
                                          <p:attrName>ppt_y</p:attrName>
                                        </p:attrNameLst>
                                      </p:cBhvr>
                                      <p:tavLst>
                                        <p:tav tm="0">
                                          <p:val>
                                            <p:strVal val="#ppt_y+0.03"/>
                                          </p:val>
                                        </p:tav>
                                        <p:tav tm="100000">
                                          <p:val>
                                            <p:strVal val="#ppt_y"/>
                                          </p:val>
                                        </p:tav>
                                      </p:tavLst>
                                    </p:anim>
                                  </p:childTnLst>
                                </p:cTn>
                              </p:par>
                              <p:par>
                                <p:cTn id="149" presetID="42" presetClass="entr" presetSubtype="0" fill="hold" grpId="0" nodeType="afterEffect">
                                  <p:stCondLst>
                                    <p:cond delay="1656"/>
                                  </p:stCondLst>
                                  <p:childTnLst>
                                    <p:set>
                                      <p:cBhvr>
                                        <p:cTn id="150" dur="1" fill="hold">
                                          <p:stCondLst>
                                            <p:cond delay="0"/>
                                          </p:stCondLst>
                                        </p:cTn>
                                        <p:tgtEl>
                                          <p:spTgt spid="37"/>
                                        </p:tgtEl>
                                        <p:attrNameLst>
                                          <p:attrName>style.visibility</p:attrName>
                                        </p:attrNameLst>
                                      </p:cBhvr>
                                      <p:to>
                                        <p:strVal val="visible"/>
                                      </p:to>
                                    </p:set>
                                    <p:animEffect transition="in" filter="fade">
                                      <p:cBhvr>
                                        <p:cTn id="151" dur="380"/>
                                        <p:tgtEl>
                                          <p:spTgt spid="37"/>
                                        </p:tgtEl>
                                      </p:cBhvr>
                                    </p:animEffect>
                                    <p:anim calcmode="lin" valueType="num">
                                      <p:cBhvr additive="base">
                                        <p:cTn id="152" dur="380" fill="hold"/>
                                        <p:tgtEl>
                                          <p:spTgt spid="37"/>
                                        </p:tgtEl>
                                        <p:attrNameLst>
                                          <p:attrName>ppt_y</p:attrName>
                                        </p:attrNameLst>
                                      </p:cBhvr>
                                      <p:tavLst>
                                        <p:tav tm="0">
                                          <p:val>
                                            <p:strVal val="#ppt_y+0.03"/>
                                          </p:val>
                                        </p:tav>
                                        <p:tav tm="100000">
                                          <p:val>
                                            <p:strVal val="#ppt_y"/>
                                          </p:val>
                                        </p:tav>
                                      </p:tavLst>
                                    </p:anim>
                                  </p:childTnLst>
                                </p:cTn>
                              </p:par>
                              <p:par>
                                <p:cTn id="153" presetID="42" presetClass="entr" presetSubtype="0" fill="hold" grpId="0" nodeType="afterEffect">
                                  <p:stCondLst>
                                    <p:cond delay="1702"/>
                                  </p:stCondLst>
                                  <p:childTnLst>
                                    <p:set>
                                      <p:cBhvr>
                                        <p:cTn id="154" dur="1" fill="hold">
                                          <p:stCondLst>
                                            <p:cond delay="0"/>
                                          </p:stCondLst>
                                        </p:cTn>
                                        <p:tgtEl>
                                          <p:spTgt spid="38"/>
                                        </p:tgtEl>
                                        <p:attrNameLst>
                                          <p:attrName>style.visibility</p:attrName>
                                        </p:attrNameLst>
                                      </p:cBhvr>
                                      <p:to>
                                        <p:strVal val="visible"/>
                                      </p:to>
                                    </p:set>
                                    <p:animEffect transition="in" filter="fade">
                                      <p:cBhvr>
                                        <p:cTn id="155" dur="380"/>
                                        <p:tgtEl>
                                          <p:spTgt spid="38"/>
                                        </p:tgtEl>
                                      </p:cBhvr>
                                    </p:animEffect>
                                    <p:anim calcmode="lin" valueType="num">
                                      <p:cBhvr additive="base">
                                        <p:cTn id="156" dur="380" fill="hold"/>
                                        <p:tgtEl>
                                          <p:spTgt spid="38"/>
                                        </p:tgtEl>
                                        <p:attrNameLst>
                                          <p:attrName>ppt_y</p:attrName>
                                        </p:attrNameLst>
                                      </p:cBhvr>
                                      <p:tavLst>
                                        <p:tav tm="0">
                                          <p:val>
                                            <p:strVal val="#ppt_y+0.03"/>
                                          </p:val>
                                        </p:tav>
                                        <p:tav tm="100000">
                                          <p:val>
                                            <p:strVal val="#ppt_y"/>
                                          </p:val>
                                        </p:tav>
                                      </p:tavLst>
                                    </p:anim>
                                  </p:childTnLst>
                                </p:cTn>
                              </p:par>
                              <p:par>
                                <p:cTn id="157" presetID="42" presetClass="entr" presetSubtype="0" fill="hold" grpId="0" nodeType="afterEffect">
                                  <p:stCondLst>
                                    <p:cond delay="1748"/>
                                  </p:stCondLst>
                                  <p:childTnLst>
                                    <p:set>
                                      <p:cBhvr>
                                        <p:cTn id="158" dur="1" fill="hold">
                                          <p:stCondLst>
                                            <p:cond delay="0"/>
                                          </p:stCondLst>
                                        </p:cTn>
                                        <p:tgtEl>
                                          <p:spTgt spid="39"/>
                                        </p:tgtEl>
                                        <p:attrNameLst>
                                          <p:attrName>style.visibility</p:attrName>
                                        </p:attrNameLst>
                                      </p:cBhvr>
                                      <p:to>
                                        <p:strVal val="visible"/>
                                      </p:to>
                                    </p:set>
                                    <p:animEffect transition="in" filter="fade">
                                      <p:cBhvr>
                                        <p:cTn id="159" dur="380"/>
                                        <p:tgtEl>
                                          <p:spTgt spid="39"/>
                                        </p:tgtEl>
                                      </p:cBhvr>
                                    </p:animEffect>
                                    <p:anim calcmode="lin" valueType="num">
                                      <p:cBhvr additive="base">
                                        <p:cTn id="160" dur="380" fill="hold"/>
                                        <p:tgtEl>
                                          <p:spTgt spid="39"/>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 grpId="0"/>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P spid="37" grpId="0"/>
      <p:bldP spid="38" grpId="0"/>
      <p:bldP spid="39" grpId="0"/>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3D"/>
        </a:solidFill>
      </p:bgPr>
    </p:bg>
    <p:spTree>
      <p:nvGrpSpPr>
        <p:cNvPr id="1" name=""/>
        <p:cNvGrpSpPr/>
        <p:nvPr/>
      </p:nvGrpSpPr>
      <p:grpSpPr>
        <a:xfrm>
          <a:off x="0" y="0"/>
          <a:ext cx="0" cy="0"/>
          <a:chOff x="0" y="0"/>
          <a:chExt cx="0" cy="0"/>
        </a:xfrm>
      </p:grpSpPr>
      <p:sp>
        <p:nvSpPr>
          <p:cNvPr id="2" name="Shape 0"/>
          <p:cNvSpPr/>
          <p:nvPr/>
        </p:nvSpPr>
        <p:spPr>
          <a:xfrm>
            <a:off x="9509760" y="-1463040"/>
            <a:ext cx="5120640" cy="5120640"/>
          </a:xfrm>
          <a:prstGeom prst="ellipse">
            <a:avLst/>
          </a:prstGeom>
          <a:solidFill>
            <a:srgbClr val="1E2761"/>
          </a:solidFill>
          <a:ln w="12700">
            <a:solidFill>
              <a:srgbClr val="333333"/>
            </a:solidFill>
            <a:prstDash val="solid"/>
          </a:ln>
        </p:spPr>
      </p:sp>
      <p:sp>
        <p:nvSpPr>
          <p:cNvPr id="3" name="Text 1"/>
          <p:cNvSpPr/>
          <p:nvPr/>
        </p:nvSpPr>
        <p:spPr>
          <a:xfrm>
            <a:off x="548640" y="566928"/>
            <a:ext cx="8229600" cy="256032"/>
          </a:xfrm>
          <a:prstGeom prst="rect">
            <a:avLst/>
          </a:prstGeom>
          <a:noFill/>
          <a:ln/>
        </p:spPr>
        <p:txBody>
          <a:bodyPr wrap="square" lIns="0" tIns="0" rIns="0" bIns="0" rtlCol="0" anchor="ctr"/>
          <a:lstStyle/>
          <a:p>
            <a:pPr indent="0" marL="0">
              <a:buNone/>
            </a:pPr>
            <a:r>
              <a:rPr lang="en-US" sz="1050" b="1" spc="200" kern="0" dirty="0">
                <a:solidFill>
                  <a:srgbClr val="00C39A"/>
                </a:solidFill>
                <a:latin typeface="Calibri" pitchFamily="34" charset="0"/>
                <a:ea typeface="Calibri" pitchFamily="34" charset="-122"/>
                <a:cs typeface="Calibri" pitchFamily="34" charset="-120"/>
              </a:rPr>
              <a:t>NOT A PROTOTYPE AWAITING FUNDING</a:t>
            </a:r>
            <a:endParaRPr lang="en-US" sz="1050" dirty="0"/>
          </a:p>
        </p:txBody>
      </p:sp>
      <p:sp>
        <p:nvSpPr>
          <p:cNvPr id="4" name="Text 2"/>
          <p:cNvSpPr/>
          <p:nvPr/>
        </p:nvSpPr>
        <p:spPr>
          <a:xfrm>
            <a:off x="548640" y="896112"/>
            <a:ext cx="10424160" cy="65836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It is deployed and reachable right now</a:t>
            </a:r>
            <a:endParaRPr lang="en-US" sz="3400" dirty="0"/>
          </a:p>
        </p:txBody>
      </p:sp>
      <p:sp>
        <p:nvSpPr>
          <p:cNvPr id="5" name="Text 3"/>
          <p:cNvSpPr/>
          <p:nvPr/>
        </p:nvSpPr>
        <p:spPr>
          <a:xfrm>
            <a:off x="548640" y="1627632"/>
            <a:ext cx="8778240" cy="329184"/>
          </a:xfrm>
          <a:prstGeom prst="rect">
            <a:avLst/>
          </a:prstGeom>
          <a:noFill/>
          <a:ln/>
        </p:spPr>
        <p:txBody>
          <a:bodyPr wrap="square" lIns="0" tIns="0" rIns="0" bIns="0" rtlCol="0" anchor="ctr"/>
          <a:lstStyle/>
          <a:p>
            <a:pPr indent="0" marL="0">
              <a:buNone/>
            </a:pPr>
            <a:r>
              <a:rPr lang="en-US" sz="1400" dirty="0">
                <a:solidFill>
                  <a:srgbClr val="9AA6C4"/>
                </a:solidFill>
                <a:latin typeface="Calibri" pitchFamily="34" charset="0"/>
                <a:ea typeface="Calibri" pitchFamily="34" charset="-122"/>
                <a:cs typeface="Calibri" pitchFamily="34" charset="-120"/>
              </a:rPr>
              <a:t>The committee can open it, log in and use it before deciding anything. Reviewer credentials are supplied separately.</a:t>
            </a:r>
            <a:endParaRPr lang="en-US" sz="1400" dirty="0"/>
          </a:p>
        </p:txBody>
      </p:sp>
      <p:sp>
        <p:nvSpPr>
          <p:cNvPr id="6" name="Shape 4"/>
          <p:cNvSpPr/>
          <p:nvPr/>
        </p:nvSpPr>
        <p:spPr>
          <a:xfrm>
            <a:off x="548640" y="2212848"/>
            <a:ext cx="5577840" cy="1133856"/>
          </a:xfrm>
          <a:prstGeom prst="roundRect">
            <a:avLst>
              <a:gd name="adj" fmla="val 8065"/>
            </a:avLst>
          </a:prstGeom>
          <a:solidFill>
            <a:srgbClr val="00C39A"/>
          </a:solidFill>
          <a:ln w="12700">
            <a:solidFill>
              <a:srgbClr val="333333"/>
            </a:solidFill>
            <a:prstDash val="solid"/>
          </a:ln>
          <a:effectLst>
            <a:outerShdw sx="100000" sy="100000" kx="0" ky="0" algn="bl" rotWithShape="0" blurRad="177800" dist="38100" dir="5400000">
              <a:srgbClr val="1E2761">
                <a:alpha val="10000"/>
              </a:srgbClr>
            </a:outerShdw>
          </a:effectLst>
        </p:spPr>
      </p:sp>
      <p:sp>
        <p:nvSpPr>
          <p:cNvPr id="7" name="Text 5"/>
          <p:cNvSpPr/>
          <p:nvPr/>
        </p:nvSpPr>
        <p:spPr>
          <a:xfrm>
            <a:off x="859536" y="2432304"/>
            <a:ext cx="5029200" cy="457200"/>
          </a:xfrm>
          <a:prstGeom prst="rect">
            <a:avLst/>
          </a:prstGeom>
          <a:noFill/>
          <a:ln/>
        </p:spPr>
        <p:txBody>
          <a:bodyPr wrap="square" lIns="0" tIns="0" rIns="0" bIns="0" rtlCol="0" anchor="ctr"/>
          <a:lstStyle/>
          <a:p>
            <a:pPr indent="0" marL="0">
              <a:buNone/>
            </a:pPr>
            <a:r>
              <a:rPr lang="en-US" sz="2800" b="1" dirty="0">
                <a:solidFill>
                  <a:srgbClr val="141B3D"/>
                </a:solidFill>
                <a:latin typeface="Cambria" pitchFamily="34" charset="0"/>
                <a:ea typeface="Cambria" pitchFamily="34" charset="-122"/>
                <a:cs typeface="Cambria" pitchFamily="34" charset="-120"/>
              </a:rPr>
              <a:t>labsubmit.vercel.app</a:t>
            </a:r>
            <a:endParaRPr lang="en-US" sz="2800" dirty="0"/>
          </a:p>
        </p:txBody>
      </p:sp>
      <p:sp>
        <p:nvSpPr>
          <p:cNvPr id="8" name="Text 6"/>
          <p:cNvSpPr/>
          <p:nvPr/>
        </p:nvSpPr>
        <p:spPr>
          <a:xfrm>
            <a:off x="859536" y="2889504"/>
            <a:ext cx="5029200" cy="274320"/>
          </a:xfrm>
          <a:prstGeom prst="rect">
            <a:avLst/>
          </a:prstGeom>
          <a:noFill/>
          <a:ln/>
        </p:spPr>
        <p:txBody>
          <a:bodyPr wrap="square" lIns="0" tIns="0" rIns="0" bIns="0" rtlCol="0" anchor="ctr"/>
          <a:lstStyle/>
          <a:p>
            <a:pPr indent="0" marL="0">
              <a:buNone/>
            </a:pPr>
            <a:r>
              <a:rPr lang="en-US" sz="1150" dirty="0">
                <a:solidFill>
                  <a:srgbClr val="0B5C4A"/>
                </a:solidFill>
                <a:latin typeface="Calibri" pitchFamily="34" charset="0"/>
                <a:ea typeface="Calibri" pitchFamily="34" charset="-122"/>
                <a:cs typeface="Calibri" pitchFamily="34" charset="-120"/>
              </a:rPr>
              <a:t>Live platform · HTTPS/TLS enforced on every request</a:t>
            </a:r>
            <a:endParaRPr lang="en-US" sz="1150" dirty="0"/>
          </a:p>
        </p:txBody>
      </p:sp>
      <p:sp>
        <p:nvSpPr>
          <p:cNvPr id="9" name="Shape 7"/>
          <p:cNvSpPr/>
          <p:nvPr/>
        </p:nvSpPr>
        <p:spPr>
          <a:xfrm>
            <a:off x="6400800" y="2212848"/>
            <a:ext cx="5239512" cy="1133856"/>
          </a:xfrm>
          <a:prstGeom prst="roundRect">
            <a:avLst>
              <a:gd name="adj" fmla="val 8065"/>
            </a:avLst>
          </a:prstGeom>
          <a:solidFill>
            <a:srgbClr val="1E2761"/>
          </a:solidFill>
          <a:ln w="12700">
            <a:solidFill>
              <a:srgbClr val="1E2761"/>
            </a:solidFill>
            <a:prstDash val="solid"/>
          </a:ln>
        </p:spPr>
      </p:sp>
      <p:sp>
        <p:nvSpPr>
          <p:cNvPr id="10" name="Text 8"/>
          <p:cNvSpPr/>
          <p:nvPr/>
        </p:nvSpPr>
        <p:spPr>
          <a:xfrm>
            <a:off x="6711696" y="2468880"/>
            <a:ext cx="4663440" cy="384048"/>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github.com/vudigapranav/LabSubmit</a:t>
            </a:r>
            <a:endParaRPr lang="en-US" sz="1800" dirty="0"/>
          </a:p>
        </p:txBody>
      </p:sp>
      <p:sp>
        <p:nvSpPr>
          <p:cNvPr id="11" name="Text 9"/>
          <p:cNvSpPr/>
          <p:nvPr/>
        </p:nvSpPr>
        <p:spPr>
          <a:xfrm>
            <a:off x="6711696" y="2889504"/>
            <a:ext cx="4663440" cy="274320"/>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Full source available for institutional review</a:t>
            </a:r>
            <a:endParaRPr lang="en-US" sz="1150" dirty="0"/>
          </a:p>
        </p:txBody>
      </p:sp>
      <p:sp>
        <p:nvSpPr>
          <p:cNvPr id="12" name="Text 10"/>
          <p:cNvSpPr/>
          <p:nvPr/>
        </p:nvSpPr>
        <p:spPr>
          <a:xfrm>
            <a:off x="548640" y="3675888"/>
            <a:ext cx="2743200" cy="384048"/>
          </a:xfrm>
          <a:prstGeom prst="rect">
            <a:avLst/>
          </a:prstGeom>
          <a:noFill/>
          <a:ln/>
        </p:spPr>
        <p:txBody>
          <a:bodyPr wrap="square" lIns="0" tIns="0" rIns="0" bIns="0" rtlCol="0" anchor="ctr"/>
          <a:lstStyle/>
          <a:p>
            <a:pPr indent="0" marL="0">
              <a:buNone/>
            </a:pPr>
            <a:r>
              <a:rPr lang="en-US" sz="1250" b="1" dirty="0">
                <a:solidFill>
                  <a:srgbClr val="00C39A"/>
                </a:solidFill>
                <a:latin typeface="Calibri" pitchFamily="34" charset="0"/>
                <a:ea typeface="Calibri" pitchFamily="34" charset="-122"/>
                <a:cs typeface="Calibri" pitchFamily="34" charset="-120"/>
              </a:rPr>
              <a:t>Application hosting</a:t>
            </a:r>
            <a:endParaRPr lang="en-US" sz="1250" dirty="0"/>
          </a:p>
        </p:txBody>
      </p:sp>
      <p:sp>
        <p:nvSpPr>
          <p:cNvPr id="13" name="Text 11"/>
          <p:cNvSpPr/>
          <p:nvPr/>
        </p:nvSpPr>
        <p:spPr>
          <a:xfrm>
            <a:off x="3383280" y="3675888"/>
            <a:ext cx="8229600" cy="384048"/>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Vercel — web interface and all REST API endpoints</a:t>
            </a:r>
            <a:endParaRPr lang="en-US" sz="1250" dirty="0"/>
          </a:p>
        </p:txBody>
      </p:sp>
      <p:sp>
        <p:nvSpPr>
          <p:cNvPr id="14" name="Text 12"/>
          <p:cNvSpPr/>
          <p:nvPr/>
        </p:nvSpPr>
        <p:spPr>
          <a:xfrm>
            <a:off x="548640" y="4242816"/>
            <a:ext cx="2743200" cy="384048"/>
          </a:xfrm>
          <a:prstGeom prst="rect">
            <a:avLst/>
          </a:prstGeom>
          <a:noFill/>
          <a:ln/>
        </p:spPr>
        <p:txBody>
          <a:bodyPr wrap="square" lIns="0" tIns="0" rIns="0" bIns="0" rtlCol="0" anchor="ctr"/>
          <a:lstStyle/>
          <a:p>
            <a:pPr indent="0" marL="0">
              <a:buNone/>
            </a:pPr>
            <a:r>
              <a:rPr lang="en-US" sz="1250" b="1" dirty="0">
                <a:solidFill>
                  <a:srgbClr val="00C39A"/>
                </a:solidFill>
                <a:latin typeface="Calibri" pitchFamily="34" charset="0"/>
                <a:ea typeface="Calibri" pitchFamily="34" charset="-122"/>
                <a:cs typeface="Calibri" pitchFamily="34" charset="-120"/>
              </a:rPr>
              <a:t>Execution engine</a:t>
            </a:r>
            <a:endParaRPr lang="en-US" sz="1250" dirty="0"/>
          </a:p>
        </p:txBody>
      </p:sp>
      <p:sp>
        <p:nvSpPr>
          <p:cNvPr id="15" name="Text 13"/>
          <p:cNvSpPr/>
          <p:nvPr/>
        </p:nvSpPr>
        <p:spPr>
          <a:xfrm>
            <a:off x="3383280" y="4242816"/>
            <a:ext cx="8229600" cy="384048"/>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Railway — compiler container: GCC, G++, OpenJDK 17, Python 3, Node.js</a:t>
            </a:r>
            <a:endParaRPr lang="en-US" sz="1250" dirty="0"/>
          </a:p>
        </p:txBody>
      </p:sp>
      <p:sp>
        <p:nvSpPr>
          <p:cNvPr id="16" name="Text 14"/>
          <p:cNvSpPr/>
          <p:nvPr/>
        </p:nvSpPr>
        <p:spPr>
          <a:xfrm>
            <a:off x="548640" y="4809744"/>
            <a:ext cx="2743200" cy="384048"/>
          </a:xfrm>
          <a:prstGeom prst="rect">
            <a:avLst/>
          </a:prstGeom>
          <a:noFill/>
          <a:ln/>
        </p:spPr>
        <p:txBody>
          <a:bodyPr wrap="square" lIns="0" tIns="0" rIns="0" bIns="0" rtlCol="0" anchor="ctr"/>
          <a:lstStyle/>
          <a:p>
            <a:pPr indent="0" marL="0">
              <a:buNone/>
            </a:pPr>
            <a:r>
              <a:rPr lang="en-US" sz="1250" b="1" dirty="0">
                <a:solidFill>
                  <a:srgbClr val="00C39A"/>
                </a:solidFill>
                <a:latin typeface="Calibri" pitchFamily="34" charset="0"/>
                <a:ea typeface="Calibri" pitchFamily="34" charset="-122"/>
                <a:cs typeface="Calibri" pitchFamily="34" charset="-120"/>
              </a:rPr>
              <a:t>Database</a:t>
            </a:r>
            <a:endParaRPr lang="en-US" sz="1250" dirty="0"/>
          </a:p>
        </p:txBody>
      </p:sp>
      <p:sp>
        <p:nvSpPr>
          <p:cNvPr id="17" name="Text 15"/>
          <p:cNvSpPr/>
          <p:nvPr/>
        </p:nvSpPr>
        <p:spPr>
          <a:xfrm>
            <a:off x="3383280" y="4809744"/>
            <a:ext cx="8229600" cy="384048"/>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Managed PostgreSQL, all data encrypted in transit</a:t>
            </a:r>
            <a:endParaRPr lang="en-US" sz="1250" dirty="0"/>
          </a:p>
        </p:txBody>
      </p:sp>
      <p:sp>
        <p:nvSpPr>
          <p:cNvPr id="18" name="Text 16"/>
          <p:cNvSpPr/>
          <p:nvPr/>
        </p:nvSpPr>
        <p:spPr>
          <a:xfrm>
            <a:off x="548640" y="5376672"/>
            <a:ext cx="2743200" cy="384048"/>
          </a:xfrm>
          <a:prstGeom prst="rect">
            <a:avLst/>
          </a:prstGeom>
          <a:noFill/>
          <a:ln/>
        </p:spPr>
        <p:txBody>
          <a:bodyPr wrap="square" lIns="0" tIns="0" rIns="0" bIns="0" rtlCol="0" anchor="ctr"/>
          <a:lstStyle/>
          <a:p>
            <a:pPr indent="0" marL="0">
              <a:buNone/>
            </a:pPr>
            <a:r>
              <a:rPr lang="en-US" sz="1250" b="1" dirty="0">
                <a:solidFill>
                  <a:srgbClr val="00C39A"/>
                </a:solidFill>
                <a:latin typeface="Calibri" pitchFamily="34" charset="0"/>
                <a:ea typeface="Calibri" pitchFamily="34" charset="-122"/>
                <a:cs typeface="Calibri" pitchFamily="34" charset="-120"/>
              </a:rPr>
              <a:t>Encryption</a:t>
            </a:r>
            <a:endParaRPr lang="en-US" sz="1250" dirty="0"/>
          </a:p>
        </p:txBody>
      </p:sp>
      <p:sp>
        <p:nvSpPr>
          <p:cNvPr id="19" name="Text 17"/>
          <p:cNvSpPr/>
          <p:nvPr/>
        </p:nvSpPr>
        <p:spPr>
          <a:xfrm>
            <a:off x="3383280" y="5376672"/>
            <a:ext cx="8229600" cy="384048"/>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HTTPS/TLS on every request; certificates auto-renewed</a:t>
            </a:r>
            <a:endParaRPr lang="en-US" sz="1250" dirty="0"/>
          </a:p>
        </p:txBody>
      </p:sp>
      <p:sp>
        <p:nvSpPr>
          <p:cNvPr id="20" name="Text 18"/>
          <p:cNvSpPr/>
          <p:nvPr/>
        </p:nvSpPr>
        <p:spPr>
          <a:xfrm>
            <a:off x="548640" y="6053328"/>
            <a:ext cx="11064240" cy="329184"/>
          </a:xfrm>
          <a:prstGeom prst="rect">
            <a:avLst/>
          </a:prstGeom>
          <a:noFill/>
          <a:ln/>
        </p:spPr>
        <p:txBody>
          <a:bodyPr wrap="square" lIns="0" tIns="0" rIns="0" bIns="0" rtlCol="0" anchor="ctr"/>
          <a:lstStyle/>
          <a:p>
            <a:pPr indent="0" marL="0">
              <a:buNone/>
            </a:pPr>
            <a:r>
              <a:rPr lang="en-US" sz="1050" i="1" dirty="0">
                <a:solidFill>
                  <a:srgbClr val="9AA6C4"/>
                </a:solidFill>
                <a:latin typeface="Calibri" pitchFamily="34" charset="0"/>
                <a:ea typeface="Calibri" pitchFamily="34" charset="-122"/>
                <a:cs typeface="Calibri" pitchFamily="34" charset="-120"/>
              </a:rPr>
              <a:t>The two hosts are split by necessity, not preference: compiling student code needs a persistent process with real compilers attached. Students and faculty see one website.</a:t>
            </a:r>
            <a:endParaRPr lang="en-US" sz="1050" dirty="0"/>
          </a:p>
        </p:txBody>
      </p:sp>
    </p:spTree>
  </p:cSld>
  <p:clrMapOvr>
    <a:masterClrMapping/>
  </p:clrMapOvr>
  <mc:AlternateContent xmlns:mc="http://schemas.openxmlformats.org/markup-compatibility/2006">
    <mc:Choice xmlns:p14="http://schemas.microsoft.com/office/powerpoint/2010/main" Requires="p14">
      <p:transition spd="slow" p14:dur="65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
                                        </p:tgtEl>
                                        <p:attrNameLst>
                                          <p:attrName>style.visibility</p:attrName>
                                        </p:attrNameLst>
                                      </p:cBhvr>
                                      <p:to>
                                        <p:strVal val="visible"/>
                                      </p:to>
                                    </p:set>
                                    <p:animEffect transition="in" filter="fade">
                                      <p:cBhvr>
                                        <p:cTn id="7" dur="380"/>
                                        <p:tgtEl>
                                          <p:spTgt spid="1"/>
                                        </p:tgtEl>
                                      </p:cBhvr>
                                    </p:animEffect>
                                    <p:anim calcmode="lin" valueType="num">
                                      <p:cBhvr additive="base">
                                        <p:cTn id="8" dur="380" fill="hold"/>
                                        <p:tgtEl>
                                          <p:spTgt spid="1"/>
                                        </p:tgtEl>
                                        <p:attrNameLst>
                                          <p:attrName>ppt_y</p:attrName>
                                        </p:attrNameLst>
                                      </p:cBhvr>
                                      <p:tavLst>
                                        <p:tav tm="0">
                                          <p:val>
                                            <p:strVal val="#ppt_y+0.03"/>
                                          </p:val>
                                        </p:tav>
                                        <p:tav tm="100000">
                                          <p:val>
                                            <p:strVal val="#ppt_y"/>
                                          </p:val>
                                        </p:tav>
                                      </p:tavLst>
                                    </p:anim>
                                  </p:childTnLst>
                                </p:cTn>
                              </p:par>
                              <p:par>
                                <p:cTn id="9" presetID="42" presetClass="entr" presetSubtype="0" fill="hold" grpId="0" nodeType="afterEffect">
                                  <p:stCondLst>
                                    <p:cond delay="9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380"/>
                                        <p:tgtEl>
                                          <p:spTgt spid="2"/>
                                        </p:tgtEl>
                                      </p:cBhvr>
                                    </p:animEffect>
                                    <p:anim calcmode="lin" valueType="num">
                                      <p:cBhvr additive="base">
                                        <p:cTn id="12" dur="380" fill="hold"/>
                                        <p:tgtEl>
                                          <p:spTgt spid="2"/>
                                        </p:tgtEl>
                                        <p:attrNameLst>
                                          <p:attrName>ppt_y</p:attrName>
                                        </p:attrNameLst>
                                      </p:cBhvr>
                                      <p:tavLst>
                                        <p:tav tm="0">
                                          <p:val>
                                            <p:strVal val="#ppt_y+0.03"/>
                                          </p:val>
                                        </p:tav>
                                        <p:tav tm="100000">
                                          <p:val>
                                            <p:strVal val="#ppt_y"/>
                                          </p:val>
                                        </p:tav>
                                      </p:tavLst>
                                    </p:anim>
                                  </p:childTnLst>
                                </p:cTn>
                              </p:par>
                              <p:par>
                                <p:cTn id="13" presetID="42" presetClass="entr" presetSubtype="0" fill="hold" grpId="0" nodeType="afterEffect">
                                  <p:stCondLst>
                                    <p:cond delay="18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380"/>
                                        <p:tgtEl>
                                          <p:spTgt spid="3"/>
                                        </p:tgtEl>
                                      </p:cBhvr>
                                    </p:animEffect>
                                    <p:anim calcmode="lin" valueType="num">
                                      <p:cBhvr additive="base">
                                        <p:cTn id="16" dur="380" fill="hold"/>
                                        <p:tgtEl>
                                          <p:spTgt spid="3"/>
                                        </p:tgtEl>
                                        <p:attrNameLst>
                                          <p:attrName>ppt_y</p:attrName>
                                        </p:attrNameLst>
                                      </p:cBhvr>
                                      <p:tavLst>
                                        <p:tav tm="0">
                                          <p:val>
                                            <p:strVal val="#ppt_y+0.03"/>
                                          </p:val>
                                        </p:tav>
                                        <p:tav tm="100000">
                                          <p:val>
                                            <p:strVal val="#ppt_y"/>
                                          </p:val>
                                        </p:tav>
                                      </p:tavLst>
                                    </p:anim>
                                  </p:childTnLst>
                                </p:cTn>
                              </p:par>
                              <p:par>
                                <p:cTn id="17" presetID="42" presetClass="entr" presetSubtype="0" fill="hold" grpId="0" nodeType="afterEffect">
                                  <p:stCondLst>
                                    <p:cond delay="27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380"/>
                                        <p:tgtEl>
                                          <p:spTgt spid="4"/>
                                        </p:tgtEl>
                                      </p:cBhvr>
                                    </p:animEffect>
                                    <p:anim calcmode="lin" valueType="num">
                                      <p:cBhvr additive="base">
                                        <p:cTn id="20" dur="380" fill="hold"/>
                                        <p:tgtEl>
                                          <p:spTgt spid="4"/>
                                        </p:tgtEl>
                                        <p:attrNameLst>
                                          <p:attrName>ppt_y</p:attrName>
                                        </p:attrNameLst>
                                      </p:cBhvr>
                                      <p:tavLst>
                                        <p:tav tm="0">
                                          <p:val>
                                            <p:strVal val="#ppt_y+0.03"/>
                                          </p:val>
                                        </p:tav>
                                        <p:tav tm="100000">
                                          <p:val>
                                            <p:strVal val="#ppt_y"/>
                                          </p:val>
                                        </p:tav>
                                      </p:tavLst>
                                    </p:anim>
                                  </p:childTnLst>
                                </p:cTn>
                              </p:par>
                              <p:par>
                                <p:cTn id="21" presetID="42" presetClass="entr" presetSubtype="0" fill="hold" grpId="0" nodeType="afterEffect">
                                  <p:stCondLst>
                                    <p:cond delay="36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380"/>
                                        <p:tgtEl>
                                          <p:spTgt spid="5"/>
                                        </p:tgtEl>
                                      </p:cBhvr>
                                    </p:animEffect>
                                    <p:anim calcmode="lin" valueType="num">
                                      <p:cBhvr additive="base">
                                        <p:cTn id="24" dur="380" fill="hold"/>
                                        <p:tgtEl>
                                          <p:spTgt spid="5"/>
                                        </p:tgtEl>
                                        <p:attrNameLst>
                                          <p:attrName>ppt_y</p:attrName>
                                        </p:attrNameLst>
                                      </p:cBhvr>
                                      <p:tavLst>
                                        <p:tav tm="0">
                                          <p:val>
                                            <p:strVal val="#ppt_y+0.03"/>
                                          </p:val>
                                        </p:tav>
                                        <p:tav tm="100000">
                                          <p:val>
                                            <p:strVal val="#ppt_y"/>
                                          </p:val>
                                        </p:tav>
                                      </p:tavLst>
                                    </p:anim>
                                  </p:childTnLst>
                                </p:cTn>
                              </p:par>
                              <p:par>
                                <p:cTn id="25" presetID="42" presetClass="entr" presetSubtype="0" fill="hold" grpId="0" nodeType="afterEffect">
                                  <p:stCondLst>
                                    <p:cond delay="45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380"/>
                                        <p:tgtEl>
                                          <p:spTgt spid="6"/>
                                        </p:tgtEl>
                                      </p:cBhvr>
                                    </p:animEffect>
                                    <p:anim calcmode="lin" valueType="num">
                                      <p:cBhvr additive="base">
                                        <p:cTn id="28" dur="380" fill="hold"/>
                                        <p:tgtEl>
                                          <p:spTgt spid="6"/>
                                        </p:tgtEl>
                                        <p:attrNameLst>
                                          <p:attrName>ppt_y</p:attrName>
                                        </p:attrNameLst>
                                      </p:cBhvr>
                                      <p:tavLst>
                                        <p:tav tm="0">
                                          <p:val>
                                            <p:strVal val="#ppt_y+0.03"/>
                                          </p:val>
                                        </p:tav>
                                        <p:tav tm="100000">
                                          <p:val>
                                            <p:strVal val="#ppt_y"/>
                                          </p:val>
                                        </p:tav>
                                      </p:tavLst>
                                    </p:anim>
                                  </p:childTnLst>
                                </p:cTn>
                              </p:par>
                              <p:par>
                                <p:cTn id="29" presetID="42" presetClass="entr" presetSubtype="0" fill="hold" grpId="0" nodeType="afterEffect">
                                  <p:stCondLst>
                                    <p:cond delay="54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380"/>
                                        <p:tgtEl>
                                          <p:spTgt spid="7"/>
                                        </p:tgtEl>
                                      </p:cBhvr>
                                    </p:animEffect>
                                    <p:anim calcmode="lin" valueType="num">
                                      <p:cBhvr additive="base">
                                        <p:cTn id="32" dur="380" fill="hold"/>
                                        <p:tgtEl>
                                          <p:spTgt spid="7"/>
                                        </p:tgtEl>
                                        <p:attrNameLst>
                                          <p:attrName>ppt_y</p:attrName>
                                        </p:attrNameLst>
                                      </p:cBhvr>
                                      <p:tavLst>
                                        <p:tav tm="0">
                                          <p:val>
                                            <p:strVal val="#ppt_y+0.03"/>
                                          </p:val>
                                        </p:tav>
                                        <p:tav tm="100000">
                                          <p:val>
                                            <p:strVal val="#ppt_y"/>
                                          </p:val>
                                        </p:tav>
                                      </p:tavLst>
                                    </p:anim>
                                  </p:childTnLst>
                                </p:cTn>
                              </p:par>
                              <p:par>
                                <p:cTn id="33" presetID="42" presetClass="entr" presetSubtype="0" fill="hold" grpId="0" nodeType="afterEffect">
                                  <p:stCondLst>
                                    <p:cond delay="63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380"/>
                                        <p:tgtEl>
                                          <p:spTgt spid="8"/>
                                        </p:tgtEl>
                                      </p:cBhvr>
                                    </p:animEffect>
                                    <p:anim calcmode="lin" valueType="num">
                                      <p:cBhvr additive="base">
                                        <p:cTn id="36" dur="380" fill="hold"/>
                                        <p:tgtEl>
                                          <p:spTgt spid="8"/>
                                        </p:tgtEl>
                                        <p:attrNameLst>
                                          <p:attrName>ppt_y</p:attrName>
                                        </p:attrNameLst>
                                      </p:cBhvr>
                                      <p:tavLst>
                                        <p:tav tm="0">
                                          <p:val>
                                            <p:strVal val="#ppt_y+0.03"/>
                                          </p:val>
                                        </p:tav>
                                        <p:tav tm="100000">
                                          <p:val>
                                            <p:strVal val="#ppt_y"/>
                                          </p:val>
                                        </p:tav>
                                      </p:tavLst>
                                    </p:anim>
                                  </p:childTnLst>
                                </p:cTn>
                              </p:par>
                              <p:par>
                                <p:cTn id="37" presetID="42" presetClass="entr" presetSubtype="0" fill="hold" grpId="0" nodeType="afterEffect">
                                  <p:stCondLst>
                                    <p:cond delay="72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380"/>
                                        <p:tgtEl>
                                          <p:spTgt spid="9"/>
                                        </p:tgtEl>
                                      </p:cBhvr>
                                    </p:animEffect>
                                    <p:anim calcmode="lin" valueType="num">
                                      <p:cBhvr additive="base">
                                        <p:cTn id="40" dur="380" fill="hold"/>
                                        <p:tgtEl>
                                          <p:spTgt spid="9"/>
                                        </p:tgtEl>
                                        <p:attrNameLst>
                                          <p:attrName>ppt_y</p:attrName>
                                        </p:attrNameLst>
                                      </p:cBhvr>
                                      <p:tavLst>
                                        <p:tav tm="0">
                                          <p:val>
                                            <p:strVal val="#ppt_y+0.03"/>
                                          </p:val>
                                        </p:tav>
                                        <p:tav tm="100000">
                                          <p:val>
                                            <p:strVal val="#ppt_y"/>
                                          </p:val>
                                        </p:tav>
                                      </p:tavLst>
                                    </p:anim>
                                  </p:childTnLst>
                                </p:cTn>
                              </p:par>
                              <p:par>
                                <p:cTn id="41" presetID="42" presetClass="entr" presetSubtype="0" fill="hold" grpId="0" nodeType="afterEffect">
                                  <p:stCondLst>
                                    <p:cond delay="81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380"/>
                                        <p:tgtEl>
                                          <p:spTgt spid="10"/>
                                        </p:tgtEl>
                                      </p:cBhvr>
                                    </p:animEffect>
                                    <p:anim calcmode="lin" valueType="num">
                                      <p:cBhvr additive="base">
                                        <p:cTn id="44" dur="380" fill="hold"/>
                                        <p:tgtEl>
                                          <p:spTgt spid="10"/>
                                        </p:tgtEl>
                                        <p:attrNameLst>
                                          <p:attrName>ppt_y</p:attrName>
                                        </p:attrNameLst>
                                      </p:cBhvr>
                                      <p:tavLst>
                                        <p:tav tm="0">
                                          <p:val>
                                            <p:strVal val="#ppt_y+0.03"/>
                                          </p:val>
                                        </p:tav>
                                        <p:tav tm="100000">
                                          <p:val>
                                            <p:strVal val="#ppt_y"/>
                                          </p:val>
                                        </p:tav>
                                      </p:tavLst>
                                    </p:anim>
                                  </p:childTnLst>
                                </p:cTn>
                              </p:par>
                              <p:par>
                                <p:cTn id="45" presetID="42" presetClass="entr" presetSubtype="0" fill="hold" grpId="0" nodeType="afterEffect">
                                  <p:stCondLst>
                                    <p:cond delay="90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380"/>
                                        <p:tgtEl>
                                          <p:spTgt spid="11"/>
                                        </p:tgtEl>
                                      </p:cBhvr>
                                    </p:animEffect>
                                    <p:anim calcmode="lin" valueType="num">
                                      <p:cBhvr additive="base">
                                        <p:cTn id="48" dur="380" fill="hold"/>
                                        <p:tgtEl>
                                          <p:spTgt spid="11"/>
                                        </p:tgtEl>
                                        <p:attrNameLst>
                                          <p:attrName>ppt_y</p:attrName>
                                        </p:attrNameLst>
                                      </p:cBhvr>
                                      <p:tavLst>
                                        <p:tav tm="0">
                                          <p:val>
                                            <p:strVal val="#ppt_y+0.03"/>
                                          </p:val>
                                        </p:tav>
                                        <p:tav tm="100000">
                                          <p:val>
                                            <p:strVal val="#ppt_y"/>
                                          </p:val>
                                        </p:tav>
                                      </p:tavLst>
                                    </p:anim>
                                  </p:childTnLst>
                                </p:cTn>
                              </p:par>
                              <p:par>
                                <p:cTn id="49" presetID="42" presetClass="entr" presetSubtype="0" fill="hold" grpId="0" nodeType="afterEffect">
                                  <p:stCondLst>
                                    <p:cond delay="990"/>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380"/>
                                        <p:tgtEl>
                                          <p:spTgt spid="12"/>
                                        </p:tgtEl>
                                      </p:cBhvr>
                                    </p:animEffect>
                                    <p:anim calcmode="lin" valueType="num">
                                      <p:cBhvr additive="base">
                                        <p:cTn id="52" dur="380" fill="hold"/>
                                        <p:tgtEl>
                                          <p:spTgt spid="12"/>
                                        </p:tgtEl>
                                        <p:attrNameLst>
                                          <p:attrName>ppt_y</p:attrName>
                                        </p:attrNameLst>
                                      </p:cBhvr>
                                      <p:tavLst>
                                        <p:tav tm="0">
                                          <p:val>
                                            <p:strVal val="#ppt_y+0.03"/>
                                          </p:val>
                                        </p:tav>
                                        <p:tav tm="100000">
                                          <p:val>
                                            <p:strVal val="#ppt_y"/>
                                          </p:val>
                                        </p:tav>
                                      </p:tavLst>
                                    </p:anim>
                                  </p:childTnLst>
                                </p:cTn>
                              </p:par>
                              <p:par>
                                <p:cTn id="53" presetID="42" presetClass="entr" presetSubtype="0" fill="hold" grpId="0" nodeType="afterEffect">
                                  <p:stCondLst>
                                    <p:cond delay="1080"/>
                                  </p:stCondLst>
                                  <p:childTnLst>
                                    <p:set>
                                      <p:cBhvr>
                                        <p:cTn id="54" dur="1" fill="hold">
                                          <p:stCondLst>
                                            <p:cond delay="0"/>
                                          </p:stCondLst>
                                        </p:cTn>
                                        <p:tgtEl>
                                          <p:spTgt spid="13"/>
                                        </p:tgtEl>
                                        <p:attrNameLst>
                                          <p:attrName>style.visibility</p:attrName>
                                        </p:attrNameLst>
                                      </p:cBhvr>
                                      <p:to>
                                        <p:strVal val="visible"/>
                                      </p:to>
                                    </p:set>
                                    <p:animEffect transition="in" filter="fade">
                                      <p:cBhvr>
                                        <p:cTn id="55" dur="380"/>
                                        <p:tgtEl>
                                          <p:spTgt spid="13"/>
                                        </p:tgtEl>
                                      </p:cBhvr>
                                    </p:animEffect>
                                    <p:anim calcmode="lin" valueType="num">
                                      <p:cBhvr additive="base">
                                        <p:cTn id="56" dur="380" fill="hold"/>
                                        <p:tgtEl>
                                          <p:spTgt spid="13"/>
                                        </p:tgtEl>
                                        <p:attrNameLst>
                                          <p:attrName>ppt_y</p:attrName>
                                        </p:attrNameLst>
                                      </p:cBhvr>
                                      <p:tavLst>
                                        <p:tav tm="0">
                                          <p:val>
                                            <p:strVal val="#ppt_y+0.03"/>
                                          </p:val>
                                        </p:tav>
                                        <p:tav tm="100000">
                                          <p:val>
                                            <p:strVal val="#ppt_y"/>
                                          </p:val>
                                        </p:tav>
                                      </p:tavLst>
                                    </p:anim>
                                  </p:childTnLst>
                                </p:cTn>
                              </p:par>
                              <p:par>
                                <p:cTn id="57" presetID="42" presetClass="entr" presetSubtype="0" fill="hold" grpId="0" nodeType="afterEffect">
                                  <p:stCondLst>
                                    <p:cond delay="1170"/>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380"/>
                                        <p:tgtEl>
                                          <p:spTgt spid="14"/>
                                        </p:tgtEl>
                                      </p:cBhvr>
                                    </p:animEffect>
                                    <p:anim calcmode="lin" valueType="num">
                                      <p:cBhvr additive="base">
                                        <p:cTn id="60" dur="380" fill="hold"/>
                                        <p:tgtEl>
                                          <p:spTgt spid="14"/>
                                        </p:tgtEl>
                                        <p:attrNameLst>
                                          <p:attrName>ppt_y</p:attrName>
                                        </p:attrNameLst>
                                      </p:cBhvr>
                                      <p:tavLst>
                                        <p:tav tm="0">
                                          <p:val>
                                            <p:strVal val="#ppt_y+0.03"/>
                                          </p:val>
                                        </p:tav>
                                        <p:tav tm="100000">
                                          <p:val>
                                            <p:strVal val="#ppt_y"/>
                                          </p:val>
                                        </p:tav>
                                      </p:tavLst>
                                    </p:anim>
                                  </p:childTnLst>
                                </p:cTn>
                              </p:par>
                              <p:par>
                                <p:cTn id="61" presetID="42" presetClass="entr" presetSubtype="0" fill="hold" grpId="0" nodeType="afterEffect">
                                  <p:stCondLst>
                                    <p:cond delay="126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380"/>
                                        <p:tgtEl>
                                          <p:spTgt spid="15"/>
                                        </p:tgtEl>
                                      </p:cBhvr>
                                    </p:animEffect>
                                    <p:anim calcmode="lin" valueType="num">
                                      <p:cBhvr additive="base">
                                        <p:cTn id="64" dur="380" fill="hold"/>
                                        <p:tgtEl>
                                          <p:spTgt spid="15"/>
                                        </p:tgtEl>
                                        <p:attrNameLst>
                                          <p:attrName>ppt_y</p:attrName>
                                        </p:attrNameLst>
                                      </p:cBhvr>
                                      <p:tavLst>
                                        <p:tav tm="0">
                                          <p:val>
                                            <p:strVal val="#ppt_y+0.03"/>
                                          </p:val>
                                        </p:tav>
                                        <p:tav tm="100000">
                                          <p:val>
                                            <p:strVal val="#ppt_y"/>
                                          </p:val>
                                        </p:tav>
                                      </p:tavLst>
                                    </p:anim>
                                  </p:childTnLst>
                                </p:cTn>
                              </p:par>
                              <p:par>
                                <p:cTn id="65" presetID="42" presetClass="entr" presetSubtype="0" fill="hold" grpId="0" nodeType="afterEffect">
                                  <p:stCondLst>
                                    <p:cond delay="135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380"/>
                                        <p:tgtEl>
                                          <p:spTgt spid="16"/>
                                        </p:tgtEl>
                                      </p:cBhvr>
                                    </p:animEffect>
                                    <p:anim calcmode="lin" valueType="num">
                                      <p:cBhvr additive="base">
                                        <p:cTn id="68" dur="380" fill="hold"/>
                                        <p:tgtEl>
                                          <p:spTgt spid="16"/>
                                        </p:tgtEl>
                                        <p:attrNameLst>
                                          <p:attrName>ppt_y</p:attrName>
                                        </p:attrNameLst>
                                      </p:cBhvr>
                                      <p:tavLst>
                                        <p:tav tm="0">
                                          <p:val>
                                            <p:strVal val="#ppt_y+0.03"/>
                                          </p:val>
                                        </p:tav>
                                        <p:tav tm="100000">
                                          <p:val>
                                            <p:strVal val="#ppt_y"/>
                                          </p:val>
                                        </p:tav>
                                      </p:tavLst>
                                    </p:anim>
                                  </p:childTnLst>
                                </p:cTn>
                              </p:par>
                              <p:par>
                                <p:cTn id="69" presetID="42" presetClass="entr" presetSubtype="0" fill="hold" grpId="0" nodeType="afterEffect">
                                  <p:stCondLst>
                                    <p:cond delay="1440"/>
                                  </p:stCondLst>
                                  <p:childTnLst>
                                    <p:set>
                                      <p:cBhvr>
                                        <p:cTn id="70" dur="1" fill="hold">
                                          <p:stCondLst>
                                            <p:cond delay="0"/>
                                          </p:stCondLst>
                                        </p:cTn>
                                        <p:tgtEl>
                                          <p:spTgt spid="17"/>
                                        </p:tgtEl>
                                        <p:attrNameLst>
                                          <p:attrName>style.visibility</p:attrName>
                                        </p:attrNameLst>
                                      </p:cBhvr>
                                      <p:to>
                                        <p:strVal val="visible"/>
                                      </p:to>
                                    </p:set>
                                    <p:animEffect transition="in" filter="fade">
                                      <p:cBhvr>
                                        <p:cTn id="71" dur="380"/>
                                        <p:tgtEl>
                                          <p:spTgt spid="17"/>
                                        </p:tgtEl>
                                      </p:cBhvr>
                                    </p:animEffect>
                                    <p:anim calcmode="lin" valueType="num">
                                      <p:cBhvr additive="base">
                                        <p:cTn id="72" dur="380" fill="hold"/>
                                        <p:tgtEl>
                                          <p:spTgt spid="17"/>
                                        </p:tgtEl>
                                        <p:attrNameLst>
                                          <p:attrName>ppt_y</p:attrName>
                                        </p:attrNameLst>
                                      </p:cBhvr>
                                      <p:tavLst>
                                        <p:tav tm="0">
                                          <p:val>
                                            <p:strVal val="#ppt_y+0.03"/>
                                          </p:val>
                                        </p:tav>
                                        <p:tav tm="100000">
                                          <p:val>
                                            <p:strVal val="#ppt_y"/>
                                          </p:val>
                                        </p:tav>
                                      </p:tavLst>
                                    </p:anim>
                                  </p:childTnLst>
                                </p:cTn>
                              </p:par>
                              <p:par>
                                <p:cTn id="73" presetID="42" presetClass="entr" presetSubtype="0" fill="hold" grpId="0" nodeType="afterEffect">
                                  <p:stCondLst>
                                    <p:cond delay="1530"/>
                                  </p:stCondLst>
                                  <p:childTnLst>
                                    <p:set>
                                      <p:cBhvr>
                                        <p:cTn id="74" dur="1" fill="hold">
                                          <p:stCondLst>
                                            <p:cond delay="0"/>
                                          </p:stCondLst>
                                        </p:cTn>
                                        <p:tgtEl>
                                          <p:spTgt spid="18"/>
                                        </p:tgtEl>
                                        <p:attrNameLst>
                                          <p:attrName>style.visibility</p:attrName>
                                        </p:attrNameLst>
                                      </p:cBhvr>
                                      <p:to>
                                        <p:strVal val="visible"/>
                                      </p:to>
                                    </p:set>
                                    <p:animEffect transition="in" filter="fade">
                                      <p:cBhvr>
                                        <p:cTn id="75" dur="380"/>
                                        <p:tgtEl>
                                          <p:spTgt spid="18"/>
                                        </p:tgtEl>
                                      </p:cBhvr>
                                    </p:animEffect>
                                    <p:anim calcmode="lin" valueType="num">
                                      <p:cBhvr additive="base">
                                        <p:cTn id="76" dur="380" fill="hold"/>
                                        <p:tgtEl>
                                          <p:spTgt spid="18"/>
                                        </p:tgtEl>
                                        <p:attrNameLst>
                                          <p:attrName>ppt_y</p:attrName>
                                        </p:attrNameLst>
                                      </p:cBhvr>
                                      <p:tavLst>
                                        <p:tav tm="0">
                                          <p:val>
                                            <p:strVal val="#ppt_y+0.03"/>
                                          </p:val>
                                        </p:tav>
                                        <p:tav tm="100000">
                                          <p:val>
                                            <p:strVal val="#ppt_y"/>
                                          </p:val>
                                        </p:tav>
                                      </p:tavLst>
                                    </p:anim>
                                  </p:childTnLst>
                                </p:cTn>
                              </p:par>
                              <p:par>
                                <p:cTn id="77" presetID="42" presetClass="entr" presetSubtype="0" fill="hold" grpId="0" nodeType="afterEffect">
                                  <p:stCondLst>
                                    <p:cond delay="1620"/>
                                  </p:stCondLst>
                                  <p:childTnLst>
                                    <p:set>
                                      <p:cBhvr>
                                        <p:cTn id="78" dur="1" fill="hold">
                                          <p:stCondLst>
                                            <p:cond delay="0"/>
                                          </p:stCondLst>
                                        </p:cTn>
                                        <p:tgtEl>
                                          <p:spTgt spid="19"/>
                                        </p:tgtEl>
                                        <p:attrNameLst>
                                          <p:attrName>style.visibility</p:attrName>
                                        </p:attrNameLst>
                                      </p:cBhvr>
                                      <p:to>
                                        <p:strVal val="visible"/>
                                      </p:to>
                                    </p:set>
                                    <p:animEffect transition="in" filter="fade">
                                      <p:cBhvr>
                                        <p:cTn id="79" dur="380"/>
                                        <p:tgtEl>
                                          <p:spTgt spid="19"/>
                                        </p:tgtEl>
                                      </p:cBhvr>
                                    </p:animEffect>
                                    <p:anim calcmode="lin" valueType="num">
                                      <p:cBhvr additive="base">
                                        <p:cTn id="80" dur="380" fill="hold"/>
                                        <p:tgtEl>
                                          <p:spTgt spid="19"/>
                                        </p:tgtEl>
                                        <p:attrNameLst>
                                          <p:attrName>ppt_y</p:attrName>
                                        </p:attrNameLst>
                                      </p:cBhvr>
                                      <p:tavLst>
                                        <p:tav tm="0">
                                          <p:val>
                                            <p:strVal val="#ppt_y+0.03"/>
                                          </p:val>
                                        </p:tav>
                                        <p:tav tm="100000">
                                          <p:val>
                                            <p:strVal val="#ppt_y"/>
                                          </p:val>
                                        </p:tav>
                                      </p:tavLst>
                                    </p:anim>
                                  </p:childTnLst>
                                </p:cTn>
                              </p:par>
                              <p:par>
                                <p:cTn id="81" presetID="42" presetClass="entr" presetSubtype="0" fill="hold" grpId="0" nodeType="afterEffect">
                                  <p:stCondLst>
                                    <p:cond delay="1710"/>
                                  </p:stCondLst>
                                  <p:childTnLst>
                                    <p:set>
                                      <p:cBhvr>
                                        <p:cTn id="82" dur="1" fill="hold">
                                          <p:stCondLst>
                                            <p:cond delay="0"/>
                                          </p:stCondLst>
                                        </p:cTn>
                                        <p:tgtEl>
                                          <p:spTgt spid="20"/>
                                        </p:tgtEl>
                                        <p:attrNameLst>
                                          <p:attrName>style.visibility</p:attrName>
                                        </p:attrNameLst>
                                      </p:cBhvr>
                                      <p:to>
                                        <p:strVal val="visible"/>
                                      </p:to>
                                    </p:set>
                                    <p:animEffect transition="in" filter="fade">
                                      <p:cBhvr>
                                        <p:cTn id="83" dur="380"/>
                                        <p:tgtEl>
                                          <p:spTgt spid="20"/>
                                        </p:tgtEl>
                                      </p:cBhvr>
                                    </p:animEffect>
                                    <p:anim calcmode="lin" valueType="num">
                                      <p:cBhvr additive="base">
                                        <p:cTn id="84" dur="380" fill="hold"/>
                                        <p:tgtEl>
                                          <p:spTgt spid="20"/>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 grpId="0"/>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37744"/>
          </a:xfrm>
          <a:prstGeom prst="rect">
            <a:avLst/>
          </a:prstGeom>
          <a:noFill/>
          <a:ln/>
        </p:spPr>
        <p:txBody>
          <a:bodyPr wrap="square" lIns="0" tIns="0" rIns="0" bIns="0" rtlCol="0" anchor="ctr"/>
          <a:lstStyle/>
          <a:p>
            <a:pPr indent="0" marL="0">
              <a:buNone/>
            </a:pPr>
            <a:r>
              <a:rPr lang="en-US" sz="1050" b="1" spc="200" kern="0" dirty="0">
                <a:solidFill>
                  <a:srgbClr val="00C39A"/>
                </a:solidFill>
                <a:latin typeface="Calibri" pitchFamily="34" charset="0"/>
                <a:ea typeface="Calibri" pitchFamily="34" charset="-122"/>
                <a:cs typeface="Calibri" pitchFamily="34" charset="-120"/>
              </a:rPr>
              <a:t>WORK PLAN</a:t>
            </a:r>
            <a:endParaRPr lang="en-US" sz="1050" dirty="0"/>
          </a:p>
        </p:txBody>
      </p:sp>
      <p:sp>
        <p:nvSpPr>
          <p:cNvPr id="3" name="Text 1"/>
          <p:cNvSpPr/>
          <p:nvPr/>
        </p:nvSpPr>
        <p:spPr>
          <a:xfrm>
            <a:off x="548640" y="658368"/>
            <a:ext cx="11064240" cy="658368"/>
          </a:xfrm>
          <a:prstGeom prst="rect">
            <a:avLst/>
          </a:prstGeom>
          <a:noFill/>
          <a:ln/>
        </p:spPr>
        <p:txBody>
          <a:bodyPr wrap="square" lIns="0" tIns="0" rIns="0" bIns="0" rtlCol="0" anchor="t"/>
          <a:lstStyle/>
          <a:p>
            <a:pPr indent="0" marL="0">
              <a:buNone/>
            </a:pPr>
            <a:r>
              <a:rPr lang="en-US" sz="3400" b="1" dirty="0">
                <a:solidFill>
                  <a:srgbClr val="141B3D"/>
                </a:solidFill>
                <a:latin typeface="Cambria" pitchFamily="34" charset="0"/>
                <a:ea typeface="Cambria" pitchFamily="34" charset="-122"/>
                <a:cs typeface="Cambria" pitchFamily="34" charset="-120"/>
              </a:rPr>
              <a:t>Twelve months, five phases</a:t>
            </a:r>
            <a:endParaRPr lang="en-US" sz="3400" dirty="0"/>
          </a:p>
        </p:txBody>
      </p:sp>
      <p:sp>
        <p:nvSpPr>
          <p:cNvPr id="4" name="Text 2"/>
          <p:cNvSpPr/>
          <p:nvPr/>
        </p:nvSpPr>
        <p:spPr>
          <a:xfrm>
            <a:off x="548640" y="1371600"/>
            <a:ext cx="10424160" cy="329184"/>
          </a:xfrm>
          <a:prstGeom prst="rect">
            <a:avLst/>
          </a:prstGeom>
          <a:noFill/>
          <a:ln/>
        </p:spPr>
        <p:txBody>
          <a:bodyPr wrap="square" lIns="0" tIns="0" rIns="0" bIns="0" rtlCol="0" anchor="ctr"/>
          <a:lstStyle/>
          <a:p>
            <a:pPr indent="0" marL="0">
              <a:buNone/>
            </a:pPr>
            <a:r>
              <a:rPr lang="en-US" sz="1350" dirty="0">
                <a:solidFill>
                  <a:srgbClr val="646E8C"/>
                </a:solidFill>
                <a:latin typeface="Calibri" pitchFamily="34" charset="0"/>
                <a:ea typeface="Calibri" pitchFamily="34" charset="-122"/>
                <a:cs typeface="Calibri" pitchFamily="34" charset="-120"/>
              </a:rPr>
              <a:t>PERT sequence P1 → P2 → P3 → P4 → P5. The critical path runs through all five phases; P3 overlaps P2 by one month and carries one month of float.</a:t>
            </a:r>
            <a:endParaRPr lang="en-US" sz="1350" dirty="0"/>
          </a:p>
        </p:txBody>
      </p:sp>
      <p:sp>
        <p:nvSpPr>
          <p:cNvPr id="5" name="Text 3"/>
          <p:cNvSpPr/>
          <p:nvPr/>
        </p:nvSpPr>
        <p:spPr>
          <a:xfrm>
            <a:off x="3429000" y="1883664"/>
            <a:ext cx="685800" cy="237744"/>
          </a:xfrm>
          <a:prstGeom prst="rect">
            <a:avLst/>
          </a:prstGeom>
          <a:noFill/>
          <a:ln/>
        </p:spPr>
        <p:txBody>
          <a:bodyPr wrap="square" lIns="0" tIns="0" rIns="0" bIns="0" rtlCol="0" anchor="ctr"/>
          <a:lstStyle/>
          <a:p>
            <a:pPr algn="ctr" indent="0" marL="0">
              <a:buNone/>
            </a:pPr>
            <a:r>
              <a:rPr lang="en-US" sz="950" dirty="0">
                <a:solidFill>
                  <a:srgbClr val="9AA6C4"/>
                </a:solidFill>
                <a:latin typeface="Calibri" pitchFamily="34" charset="0"/>
                <a:ea typeface="Calibri" pitchFamily="34" charset="-122"/>
                <a:cs typeface="Calibri" pitchFamily="34" charset="-120"/>
              </a:rPr>
              <a:t>M1</a:t>
            </a:r>
            <a:endParaRPr lang="en-US" sz="950" dirty="0"/>
          </a:p>
        </p:txBody>
      </p:sp>
      <p:sp>
        <p:nvSpPr>
          <p:cNvPr id="6" name="Text 4"/>
          <p:cNvSpPr/>
          <p:nvPr/>
        </p:nvSpPr>
        <p:spPr>
          <a:xfrm>
            <a:off x="4114800" y="1883664"/>
            <a:ext cx="685800" cy="237744"/>
          </a:xfrm>
          <a:prstGeom prst="rect">
            <a:avLst/>
          </a:prstGeom>
          <a:noFill/>
          <a:ln/>
        </p:spPr>
        <p:txBody>
          <a:bodyPr wrap="square" lIns="0" tIns="0" rIns="0" bIns="0" rtlCol="0" anchor="ctr"/>
          <a:lstStyle/>
          <a:p>
            <a:pPr algn="ctr" indent="0" marL="0">
              <a:buNone/>
            </a:pPr>
            <a:r>
              <a:rPr lang="en-US" sz="950" dirty="0">
                <a:solidFill>
                  <a:srgbClr val="9AA6C4"/>
                </a:solidFill>
                <a:latin typeface="Calibri" pitchFamily="34" charset="0"/>
                <a:ea typeface="Calibri" pitchFamily="34" charset="-122"/>
                <a:cs typeface="Calibri" pitchFamily="34" charset="-120"/>
              </a:rPr>
              <a:t>M2</a:t>
            </a:r>
            <a:endParaRPr lang="en-US" sz="950" dirty="0"/>
          </a:p>
        </p:txBody>
      </p:sp>
      <p:sp>
        <p:nvSpPr>
          <p:cNvPr id="7" name="Text 5"/>
          <p:cNvSpPr/>
          <p:nvPr/>
        </p:nvSpPr>
        <p:spPr>
          <a:xfrm>
            <a:off x="4800600" y="1883664"/>
            <a:ext cx="685800" cy="237744"/>
          </a:xfrm>
          <a:prstGeom prst="rect">
            <a:avLst/>
          </a:prstGeom>
          <a:noFill/>
          <a:ln/>
        </p:spPr>
        <p:txBody>
          <a:bodyPr wrap="square" lIns="0" tIns="0" rIns="0" bIns="0" rtlCol="0" anchor="ctr"/>
          <a:lstStyle/>
          <a:p>
            <a:pPr algn="ctr" indent="0" marL="0">
              <a:buNone/>
            </a:pPr>
            <a:r>
              <a:rPr lang="en-US" sz="950" dirty="0">
                <a:solidFill>
                  <a:srgbClr val="9AA6C4"/>
                </a:solidFill>
                <a:latin typeface="Calibri" pitchFamily="34" charset="0"/>
                <a:ea typeface="Calibri" pitchFamily="34" charset="-122"/>
                <a:cs typeface="Calibri" pitchFamily="34" charset="-120"/>
              </a:rPr>
              <a:t>M3</a:t>
            </a:r>
            <a:endParaRPr lang="en-US" sz="950" dirty="0"/>
          </a:p>
        </p:txBody>
      </p:sp>
      <p:sp>
        <p:nvSpPr>
          <p:cNvPr id="8" name="Text 6"/>
          <p:cNvSpPr/>
          <p:nvPr/>
        </p:nvSpPr>
        <p:spPr>
          <a:xfrm>
            <a:off x="5486400" y="1883664"/>
            <a:ext cx="685800" cy="237744"/>
          </a:xfrm>
          <a:prstGeom prst="rect">
            <a:avLst/>
          </a:prstGeom>
          <a:noFill/>
          <a:ln/>
        </p:spPr>
        <p:txBody>
          <a:bodyPr wrap="square" lIns="0" tIns="0" rIns="0" bIns="0" rtlCol="0" anchor="ctr"/>
          <a:lstStyle/>
          <a:p>
            <a:pPr algn="ctr" indent="0" marL="0">
              <a:buNone/>
            </a:pPr>
            <a:r>
              <a:rPr lang="en-US" sz="950" dirty="0">
                <a:solidFill>
                  <a:srgbClr val="9AA6C4"/>
                </a:solidFill>
                <a:latin typeface="Calibri" pitchFamily="34" charset="0"/>
                <a:ea typeface="Calibri" pitchFamily="34" charset="-122"/>
                <a:cs typeface="Calibri" pitchFamily="34" charset="-120"/>
              </a:rPr>
              <a:t>M4</a:t>
            </a:r>
            <a:endParaRPr lang="en-US" sz="950" dirty="0"/>
          </a:p>
        </p:txBody>
      </p:sp>
      <p:sp>
        <p:nvSpPr>
          <p:cNvPr id="9" name="Text 7"/>
          <p:cNvSpPr/>
          <p:nvPr/>
        </p:nvSpPr>
        <p:spPr>
          <a:xfrm>
            <a:off x="6172200" y="1883664"/>
            <a:ext cx="685800" cy="237744"/>
          </a:xfrm>
          <a:prstGeom prst="rect">
            <a:avLst/>
          </a:prstGeom>
          <a:noFill/>
          <a:ln/>
        </p:spPr>
        <p:txBody>
          <a:bodyPr wrap="square" lIns="0" tIns="0" rIns="0" bIns="0" rtlCol="0" anchor="ctr"/>
          <a:lstStyle/>
          <a:p>
            <a:pPr algn="ctr" indent="0" marL="0">
              <a:buNone/>
            </a:pPr>
            <a:r>
              <a:rPr lang="en-US" sz="950" dirty="0">
                <a:solidFill>
                  <a:srgbClr val="9AA6C4"/>
                </a:solidFill>
                <a:latin typeface="Calibri" pitchFamily="34" charset="0"/>
                <a:ea typeface="Calibri" pitchFamily="34" charset="-122"/>
                <a:cs typeface="Calibri" pitchFamily="34" charset="-120"/>
              </a:rPr>
              <a:t>M5</a:t>
            </a:r>
            <a:endParaRPr lang="en-US" sz="950" dirty="0"/>
          </a:p>
        </p:txBody>
      </p:sp>
      <p:sp>
        <p:nvSpPr>
          <p:cNvPr id="10" name="Text 8"/>
          <p:cNvSpPr/>
          <p:nvPr/>
        </p:nvSpPr>
        <p:spPr>
          <a:xfrm>
            <a:off x="6858000" y="1883664"/>
            <a:ext cx="685800" cy="237744"/>
          </a:xfrm>
          <a:prstGeom prst="rect">
            <a:avLst/>
          </a:prstGeom>
          <a:noFill/>
          <a:ln/>
        </p:spPr>
        <p:txBody>
          <a:bodyPr wrap="square" lIns="0" tIns="0" rIns="0" bIns="0" rtlCol="0" anchor="ctr"/>
          <a:lstStyle/>
          <a:p>
            <a:pPr algn="ctr" indent="0" marL="0">
              <a:buNone/>
            </a:pPr>
            <a:r>
              <a:rPr lang="en-US" sz="950" dirty="0">
                <a:solidFill>
                  <a:srgbClr val="9AA6C4"/>
                </a:solidFill>
                <a:latin typeface="Calibri" pitchFamily="34" charset="0"/>
                <a:ea typeface="Calibri" pitchFamily="34" charset="-122"/>
                <a:cs typeface="Calibri" pitchFamily="34" charset="-120"/>
              </a:rPr>
              <a:t>M6</a:t>
            </a:r>
            <a:endParaRPr lang="en-US" sz="950" dirty="0"/>
          </a:p>
        </p:txBody>
      </p:sp>
      <p:sp>
        <p:nvSpPr>
          <p:cNvPr id="11" name="Text 9"/>
          <p:cNvSpPr/>
          <p:nvPr/>
        </p:nvSpPr>
        <p:spPr>
          <a:xfrm>
            <a:off x="7543800" y="1883664"/>
            <a:ext cx="685800" cy="237744"/>
          </a:xfrm>
          <a:prstGeom prst="rect">
            <a:avLst/>
          </a:prstGeom>
          <a:noFill/>
          <a:ln/>
        </p:spPr>
        <p:txBody>
          <a:bodyPr wrap="square" lIns="0" tIns="0" rIns="0" bIns="0" rtlCol="0" anchor="ctr"/>
          <a:lstStyle/>
          <a:p>
            <a:pPr algn="ctr" indent="0" marL="0">
              <a:buNone/>
            </a:pPr>
            <a:r>
              <a:rPr lang="en-US" sz="950" dirty="0">
                <a:solidFill>
                  <a:srgbClr val="9AA6C4"/>
                </a:solidFill>
                <a:latin typeface="Calibri" pitchFamily="34" charset="0"/>
                <a:ea typeface="Calibri" pitchFamily="34" charset="-122"/>
                <a:cs typeface="Calibri" pitchFamily="34" charset="-120"/>
              </a:rPr>
              <a:t>M7</a:t>
            </a:r>
            <a:endParaRPr lang="en-US" sz="950" dirty="0"/>
          </a:p>
        </p:txBody>
      </p:sp>
      <p:sp>
        <p:nvSpPr>
          <p:cNvPr id="12" name="Text 10"/>
          <p:cNvSpPr/>
          <p:nvPr/>
        </p:nvSpPr>
        <p:spPr>
          <a:xfrm>
            <a:off x="8229600" y="1883664"/>
            <a:ext cx="685800" cy="237744"/>
          </a:xfrm>
          <a:prstGeom prst="rect">
            <a:avLst/>
          </a:prstGeom>
          <a:noFill/>
          <a:ln/>
        </p:spPr>
        <p:txBody>
          <a:bodyPr wrap="square" lIns="0" tIns="0" rIns="0" bIns="0" rtlCol="0" anchor="ctr"/>
          <a:lstStyle/>
          <a:p>
            <a:pPr algn="ctr" indent="0" marL="0">
              <a:buNone/>
            </a:pPr>
            <a:r>
              <a:rPr lang="en-US" sz="950" dirty="0">
                <a:solidFill>
                  <a:srgbClr val="9AA6C4"/>
                </a:solidFill>
                <a:latin typeface="Calibri" pitchFamily="34" charset="0"/>
                <a:ea typeface="Calibri" pitchFamily="34" charset="-122"/>
                <a:cs typeface="Calibri" pitchFamily="34" charset="-120"/>
              </a:rPr>
              <a:t>M8</a:t>
            </a:r>
            <a:endParaRPr lang="en-US" sz="950" dirty="0"/>
          </a:p>
        </p:txBody>
      </p:sp>
      <p:sp>
        <p:nvSpPr>
          <p:cNvPr id="13" name="Text 11"/>
          <p:cNvSpPr/>
          <p:nvPr/>
        </p:nvSpPr>
        <p:spPr>
          <a:xfrm>
            <a:off x="8915400" y="1883664"/>
            <a:ext cx="685800" cy="237744"/>
          </a:xfrm>
          <a:prstGeom prst="rect">
            <a:avLst/>
          </a:prstGeom>
          <a:noFill/>
          <a:ln/>
        </p:spPr>
        <p:txBody>
          <a:bodyPr wrap="square" lIns="0" tIns="0" rIns="0" bIns="0" rtlCol="0" anchor="ctr"/>
          <a:lstStyle/>
          <a:p>
            <a:pPr algn="ctr" indent="0" marL="0">
              <a:buNone/>
            </a:pPr>
            <a:r>
              <a:rPr lang="en-US" sz="950" dirty="0">
                <a:solidFill>
                  <a:srgbClr val="9AA6C4"/>
                </a:solidFill>
                <a:latin typeface="Calibri" pitchFamily="34" charset="0"/>
                <a:ea typeface="Calibri" pitchFamily="34" charset="-122"/>
                <a:cs typeface="Calibri" pitchFamily="34" charset="-120"/>
              </a:rPr>
              <a:t>M9</a:t>
            </a:r>
            <a:endParaRPr lang="en-US" sz="950" dirty="0"/>
          </a:p>
        </p:txBody>
      </p:sp>
      <p:sp>
        <p:nvSpPr>
          <p:cNvPr id="14" name="Text 12"/>
          <p:cNvSpPr/>
          <p:nvPr/>
        </p:nvSpPr>
        <p:spPr>
          <a:xfrm>
            <a:off x="9601200" y="1883664"/>
            <a:ext cx="685800" cy="237744"/>
          </a:xfrm>
          <a:prstGeom prst="rect">
            <a:avLst/>
          </a:prstGeom>
          <a:noFill/>
          <a:ln/>
        </p:spPr>
        <p:txBody>
          <a:bodyPr wrap="square" lIns="0" tIns="0" rIns="0" bIns="0" rtlCol="0" anchor="ctr"/>
          <a:lstStyle/>
          <a:p>
            <a:pPr algn="ctr" indent="0" marL="0">
              <a:buNone/>
            </a:pPr>
            <a:r>
              <a:rPr lang="en-US" sz="950" dirty="0">
                <a:solidFill>
                  <a:srgbClr val="9AA6C4"/>
                </a:solidFill>
                <a:latin typeface="Calibri" pitchFamily="34" charset="0"/>
                <a:ea typeface="Calibri" pitchFamily="34" charset="-122"/>
                <a:cs typeface="Calibri" pitchFamily="34" charset="-120"/>
              </a:rPr>
              <a:t>M10</a:t>
            </a:r>
            <a:endParaRPr lang="en-US" sz="950" dirty="0"/>
          </a:p>
        </p:txBody>
      </p:sp>
      <p:sp>
        <p:nvSpPr>
          <p:cNvPr id="15" name="Text 13"/>
          <p:cNvSpPr/>
          <p:nvPr/>
        </p:nvSpPr>
        <p:spPr>
          <a:xfrm>
            <a:off x="10287000" y="1883664"/>
            <a:ext cx="685800" cy="237744"/>
          </a:xfrm>
          <a:prstGeom prst="rect">
            <a:avLst/>
          </a:prstGeom>
          <a:noFill/>
          <a:ln/>
        </p:spPr>
        <p:txBody>
          <a:bodyPr wrap="square" lIns="0" tIns="0" rIns="0" bIns="0" rtlCol="0" anchor="ctr"/>
          <a:lstStyle/>
          <a:p>
            <a:pPr algn="ctr" indent="0" marL="0">
              <a:buNone/>
            </a:pPr>
            <a:r>
              <a:rPr lang="en-US" sz="950" dirty="0">
                <a:solidFill>
                  <a:srgbClr val="9AA6C4"/>
                </a:solidFill>
                <a:latin typeface="Calibri" pitchFamily="34" charset="0"/>
                <a:ea typeface="Calibri" pitchFamily="34" charset="-122"/>
                <a:cs typeface="Calibri" pitchFamily="34" charset="-120"/>
              </a:rPr>
              <a:t>M11</a:t>
            </a:r>
            <a:endParaRPr lang="en-US" sz="950" dirty="0"/>
          </a:p>
        </p:txBody>
      </p:sp>
      <p:sp>
        <p:nvSpPr>
          <p:cNvPr id="16" name="Text 14"/>
          <p:cNvSpPr/>
          <p:nvPr/>
        </p:nvSpPr>
        <p:spPr>
          <a:xfrm>
            <a:off x="10972800" y="1883664"/>
            <a:ext cx="685800" cy="237744"/>
          </a:xfrm>
          <a:prstGeom prst="rect">
            <a:avLst/>
          </a:prstGeom>
          <a:noFill/>
          <a:ln/>
        </p:spPr>
        <p:txBody>
          <a:bodyPr wrap="square" lIns="0" tIns="0" rIns="0" bIns="0" rtlCol="0" anchor="ctr"/>
          <a:lstStyle/>
          <a:p>
            <a:pPr algn="ctr" indent="0" marL="0">
              <a:buNone/>
            </a:pPr>
            <a:r>
              <a:rPr lang="en-US" sz="950" dirty="0">
                <a:solidFill>
                  <a:srgbClr val="9AA6C4"/>
                </a:solidFill>
                <a:latin typeface="Calibri" pitchFamily="34" charset="0"/>
                <a:ea typeface="Calibri" pitchFamily="34" charset="-122"/>
                <a:cs typeface="Calibri" pitchFamily="34" charset="-120"/>
              </a:rPr>
              <a:t>M12</a:t>
            </a:r>
            <a:endParaRPr lang="en-US" sz="950" dirty="0"/>
          </a:p>
        </p:txBody>
      </p:sp>
      <p:sp>
        <p:nvSpPr>
          <p:cNvPr id="17" name="Shape 15"/>
          <p:cNvSpPr/>
          <p:nvPr/>
        </p:nvSpPr>
        <p:spPr>
          <a:xfrm>
            <a:off x="548640" y="2231136"/>
            <a:ext cx="475488" cy="475488"/>
          </a:xfrm>
          <a:prstGeom prst="roundRect">
            <a:avLst>
              <a:gd name="adj" fmla="val 15385"/>
            </a:avLst>
          </a:prstGeom>
          <a:solidFill>
            <a:srgbClr val="141B3D"/>
          </a:solidFill>
          <a:ln w="12700">
            <a:solidFill>
              <a:srgbClr val="333333"/>
            </a:solidFill>
            <a:prstDash val="solid"/>
          </a:ln>
        </p:spPr>
      </p:sp>
      <p:sp>
        <p:nvSpPr>
          <p:cNvPr id="18" name="Text 16"/>
          <p:cNvSpPr/>
          <p:nvPr/>
        </p:nvSpPr>
        <p:spPr>
          <a:xfrm>
            <a:off x="548640" y="2231136"/>
            <a:ext cx="475488" cy="475488"/>
          </a:xfrm>
          <a:prstGeom prst="rect">
            <a:avLst/>
          </a:prstGeom>
          <a:noFill/>
          <a:ln/>
        </p:spPr>
        <p:txBody>
          <a:bodyPr wrap="square" lIns="0" tIns="0" rIns="0" bIns="0" rtlCol="0" anchor="ctr"/>
          <a:lstStyle/>
          <a:p>
            <a:pPr algn="ctr" indent="0" marL="0">
              <a:buNone/>
            </a:pPr>
            <a:r>
              <a:rPr lang="en-US" sz="1300" b="1" dirty="0">
                <a:solidFill>
                  <a:srgbClr val="00C39A"/>
                </a:solidFill>
                <a:latin typeface="Calibri" pitchFamily="34" charset="0"/>
                <a:ea typeface="Calibri" pitchFamily="34" charset="-122"/>
                <a:cs typeface="Calibri" pitchFamily="34" charset="-120"/>
              </a:rPr>
              <a:t>P1</a:t>
            </a:r>
            <a:endParaRPr lang="en-US" sz="1300" dirty="0"/>
          </a:p>
        </p:txBody>
      </p:sp>
      <p:sp>
        <p:nvSpPr>
          <p:cNvPr id="19" name="Text 17"/>
          <p:cNvSpPr/>
          <p:nvPr/>
        </p:nvSpPr>
        <p:spPr>
          <a:xfrm>
            <a:off x="1133856" y="2212848"/>
            <a:ext cx="2194560" cy="292608"/>
          </a:xfrm>
          <a:prstGeom prst="rect">
            <a:avLst/>
          </a:prstGeom>
          <a:noFill/>
          <a:ln/>
        </p:spPr>
        <p:txBody>
          <a:bodyPr wrap="square" lIns="0" tIns="0" rIns="0" bIns="0" rtlCol="0" anchor="ctr"/>
          <a:lstStyle/>
          <a:p>
            <a:pPr indent="0" marL="0">
              <a:buNone/>
            </a:pPr>
            <a:r>
              <a:rPr lang="en-US" sz="1250" b="1" dirty="0">
                <a:solidFill>
                  <a:srgbClr val="141B3D"/>
                </a:solidFill>
                <a:latin typeface="Calibri" pitchFamily="34" charset="0"/>
                <a:ea typeface="Calibri" pitchFamily="34" charset="-122"/>
                <a:cs typeface="Calibri" pitchFamily="34" charset="-120"/>
              </a:rPr>
              <a:t>Requirement study &amp; rubric</a:t>
            </a:r>
            <a:endParaRPr lang="en-US" sz="1250" dirty="0"/>
          </a:p>
        </p:txBody>
      </p:sp>
      <p:sp>
        <p:nvSpPr>
          <p:cNvPr id="20" name="Text 18"/>
          <p:cNvSpPr/>
          <p:nvPr/>
        </p:nvSpPr>
        <p:spPr>
          <a:xfrm>
            <a:off x="1133856" y="2487168"/>
            <a:ext cx="2240280" cy="274320"/>
          </a:xfrm>
          <a:prstGeom prst="rect">
            <a:avLst/>
          </a:prstGeom>
          <a:noFill/>
          <a:ln/>
        </p:spPr>
        <p:txBody>
          <a:bodyPr wrap="square" lIns="0" tIns="0" rIns="0" bIns="0" rtlCol="0" anchor="ctr"/>
          <a:lstStyle/>
          <a:p>
            <a:pPr indent="0" marL="0">
              <a:buNone/>
            </a:pPr>
            <a:r>
              <a:rPr lang="en-US" sz="950" dirty="0">
                <a:solidFill>
                  <a:srgbClr val="646E8C"/>
                </a:solidFill>
                <a:latin typeface="Calibri" pitchFamily="34" charset="0"/>
                <a:ea typeface="Calibri" pitchFamily="34" charset="-122"/>
                <a:cs typeface="Calibri" pitchFamily="34" charset="-120"/>
              </a:rPr>
              <a:t>Requirement and rubric document</a:t>
            </a:r>
            <a:endParaRPr lang="en-US" sz="950" dirty="0"/>
          </a:p>
        </p:txBody>
      </p:sp>
      <p:sp>
        <p:nvSpPr>
          <p:cNvPr id="21" name="Shape 19"/>
          <p:cNvSpPr/>
          <p:nvPr/>
        </p:nvSpPr>
        <p:spPr>
          <a:xfrm>
            <a:off x="3429000" y="2313432"/>
            <a:ext cx="8229600" cy="329184"/>
          </a:xfrm>
          <a:prstGeom prst="roundRect">
            <a:avLst>
              <a:gd name="adj" fmla="val 16667"/>
            </a:avLst>
          </a:prstGeom>
          <a:solidFill>
            <a:srgbClr val="F4F6FC"/>
          </a:solidFill>
          <a:ln w="6350">
            <a:solidFill>
              <a:srgbClr val="DDE3F5"/>
            </a:solidFill>
            <a:prstDash val="solid"/>
          </a:ln>
        </p:spPr>
      </p:sp>
      <p:sp>
        <p:nvSpPr>
          <p:cNvPr id="22" name="Shape 20"/>
          <p:cNvSpPr/>
          <p:nvPr/>
        </p:nvSpPr>
        <p:spPr>
          <a:xfrm>
            <a:off x="3429000" y="2313432"/>
            <a:ext cx="1371600" cy="329184"/>
          </a:xfrm>
          <a:prstGeom prst="roundRect">
            <a:avLst>
              <a:gd name="adj" fmla="val 16667"/>
            </a:avLst>
          </a:prstGeom>
          <a:solidFill>
            <a:srgbClr val="3D5A9E"/>
          </a:solidFill>
          <a:ln w="12700">
            <a:solidFill>
              <a:srgbClr val="333333"/>
            </a:solidFill>
            <a:prstDash val="solid"/>
          </a:ln>
        </p:spPr>
      </p:sp>
      <p:sp>
        <p:nvSpPr>
          <p:cNvPr id="23" name="Text 21"/>
          <p:cNvSpPr/>
          <p:nvPr/>
        </p:nvSpPr>
        <p:spPr>
          <a:xfrm>
            <a:off x="3429000" y="2313432"/>
            <a:ext cx="1371600"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M1 – M2</a:t>
            </a:r>
            <a:endParaRPr lang="en-US" sz="1050" dirty="0"/>
          </a:p>
        </p:txBody>
      </p:sp>
      <p:sp>
        <p:nvSpPr>
          <p:cNvPr id="24" name="Shape 22"/>
          <p:cNvSpPr/>
          <p:nvPr/>
        </p:nvSpPr>
        <p:spPr>
          <a:xfrm>
            <a:off x="548640" y="3017520"/>
            <a:ext cx="475488" cy="475488"/>
          </a:xfrm>
          <a:prstGeom prst="roundRect">
            <a:avLst>
              <a:gd name="adj" fmla="val 15385"/>
            </a:avLst>
          </a:prstGeom>
          <a:solidFill>
            <a:srgbClr val="141B3D"/>
          </a:solidFill>
          <a:ln w="12700">
            <a:solidFill>
              <a:srgbClr val="333333"/>
            </a:solidFill>
            <a:prstDash val="solid"/>
          </a:ln>
        </p:spPr>
      </p:sp>
      <p:sp>
        <p:nvSpPr>
          <p:cNvPr id="25" name="Text 23"/>
          <p:cNvSpPr/>
          <p:nvPr/>
        </p:nvSpPr>
        <p:spPr>
          <a:xfrm>
            <a:off x="548640" y="3017520"/>
            <a:ext cx="475488" cy="475488"/>
          </a:xfrm>
          <a:prstGeom prst="rect">
            <a:avLst/>
          </a:prstGeom>
          <a:noFill/>
          <a:ln/>
        </p:spPr>
        <p:txBody>
          <a:bodyPr wrap="square" lIns="0" tIns="0" rIns="0" bIns="0" rtlCol="0" anchor="ctr"/>
          <a:lstStyle/>
          <a:p>
            <a:pPr algn="ctr" indent="0" marL="0">
              <a:buNone/>
            </a:pPr>
            <a:r>
              <a:rPr lang="en-US" sz="1300" b="1" dirty="0">
                <a:solidFill>
                  <a:srgbClr val="00C39A"/>
                </a:solidFill>
                <a:latin typeface="Calibri" pitchFamily="34" charset="0"/>
                <a:ea typeface="Calibri" pitchFamily="34" charset="-122"/>
                <a:cs typeface="Calibri" pitchFamily="34" charset="-120"/>
              </a:rPr>
              <a:t>P2</a:t>
            </a:r>
            <a:endParaRPr lang="en-US" sz="1300" dirty="0"/>
          </a:p>
        </p:txBody>
      </p:sp>
      <p:sp>
        <p:nvSpPr>
          <p:cNvPr id="26" name="Text 24"/>
          <p:cNvSpPr/>
          <p:nvPr/>
        </p:nvSpPr>
        <p:spPr>
          <a:xfrm>
            <a:off x="1133856" y="2999232"/>
            <a:ext cx="2194560" cy="292608"/>
          </a:xfrm>
          <a:prstGeom prst="rect">
            <a:avLst/>
          </a:prstGeom>
          <a:noFill/>
          <a:ln/>
        </p:spPr>
        <p:txBody>
          <a:bodyPr wrap="square" lIns="0" tIns="0" rIns="0" bIns="0" rtlCol="0" anchor="ctr"/>
          <a:lstStyle/>
          <a:p>
            <a:pPr indent="0" marL="0">
              <a:buNone/>
            </a:pPr>
            <a:r>
              <a:rPr lang="en-US" sz="1250" b="1" dirty="0">
                <a:solidFill>
                  <a:srgbClr val="141B3D"/>
                </a:solidFill>
                <a:latin typeface="Calibri" pitchFamily="34" charset="0"/>
                <a:ea typeface="Calibri" pitchFamily="34" charset="-122"/>
                <a:cs typeface="Calibri" pitchFamily="34" charset="-120"/>
              </a:rPr>
              <a:t>Execution-engine hardening</a:t>
            </a:r>
            <a:endParaRPr lang="en-US" sz="1250" dirty="0"/>
          </a:p>
        </p:txBody>
      </p:sp>
      <p:sp>
        <p:nvSpPr>
          <p:cNvPr id="27" name="Text 25"/>
          <p:cNvSpPr/>
          <p:nvPr/>
        </p:nvSpPr>
        <p:spPr>
          <a:xfrm>
            <a:off x="1133856" y="3273552"/>
            <a:ext cx="2240280" cy="274320"/>
          </a:xfrm>
          <a:prstGeom prst="rect">
            <a:avLst/>
          </a:prstGeom>
          <a:noFill/>
          <a:ln/>
        </p:spPr>
        <p:txBody>
          <a:bodyPr wrap="square" lIns="0" tIns="0" rIns="0" bIns="0" rtlCol="0" anchor="ctr"/>
          <a:lstStyle/>
          <a:p>
            <a:pPr indent="0" marL="0">
              <a:buNone/>
            </a:pPr>
            <a:r>
              <a:rPr lang="en-US" sz="950" dirty="0">
                <a:solidFill>
                  <a:srgbClr val="646E8C"/>
                </a:solidFill>
                <a:latin typeface="Calibri" pitchFamily="34" charset="0"/>
                <a:ea typeface="Calibri" pitchFamily="34" charset="-122"/>
                <a:cs typeface="Calibri" pitchFamily="34" charset="-120"/>
              </a:rPr>
              <a:t>Isolated per-student execution engine</a:t>
            </a:r>
            <a:endParaRPr lang="en-US" sz="950" dirty="0"/>
          </a:p>
        </p:txBody>
      </p:sp>
      <p:sp>
        <p:nvSpPr>
          <p:cNvPr id="28" name="Shape 26"/>
          <p:cNvSpPr/>
          <p:nvPr/>
        </p:nvSpPr>
        <p:spPr>
          <a:xfrm>
            <a:off x="3429000" y="3099816"/>
            <a:ext cx="8229600" cy="329184"/>
          </a:xfrm>
          <a:prstGeom prst="roundRect">
            <a:avLst>
              <a:gd name="adj" fmla="val 16667"/>
            </a:avLst>
          </a:prstGeom>
          <a:solidFill>
            <a:srgbClr val="F4F6FC"/>
          </a:solidFill>
          <a:ln w="6350">
            <a:solidFill>
              <a:srgbClr val="DDE3F5"/>
            </a:solidFill>
            <a:prstDash val="solid"/>
          </a:ln>
        </p:spPr>
      </p:sp>
      <p:sp>
        <p:nvSpPr>
          <p:cNvPr id="29" name="Shape 27"/>
          <p:cNvSpPr/>
          <p:nvPr/>
        </p:nvSpPr>
        <p:spPr>
          <a:xfrm>
            <a:off x="4114800" y="3099816"/>
            <a:ext cx="2743200" cy="329184"/>
          </a:xfrm>
          <a:prstGeom prst="roundRect">
            <a:avLst>
              <a:gd name="adj" fmla="val 16667"/>
            </a:avLst>
          </a:prstGeom>
          <a:solidFill>
            <a:srgbClr val="1E2761"/>
          </a:solidFill>
          <a:ln w="12700">
            <a:solidFill>
              <a:srgbClr val="333333"/>
            </a:solidFill>
            <a:prstDash val="solid"/>
          </a:ln>
        </p:spPr>
      </p:sp>
      <p:sp>
        <p:nvSpPr>
          <p:cNvPr id="30" name="Text 28"/>
          <p:cNvSpPr/>
          <p:nvPr/>
        </p:nvSpPr>
        <p:spPr>
          <a:xfrm>
            <a:off x="4114800" y="3099816"/>
            <a:ext cx="2743200"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M2 – M5</a:t>
            </a:r>
            <a:endParaRPr lang="en-US" sz="1050" dirty="0"/>
          </a:p>
        </p:txBody>
      </p:sp>
      <p:sp>
        <p:nvSpPr>
          <p:cNvPr id="31" name="Shape 29"/>
          <p:cNvSpPr/>
          <p:nvPr/>
        </p:nvSpPr>
        <p:spPr>
          <a:xfrm>
            <a:off x="548640" y="3803904"/>
            <a:ext cx="475488" cy="475488"/>
          </a:xfrm>
          <a:prstGeom prst="roundRect">
            <a:avLst>
              <a:gd name="adj" fmla="val 15385"/>
            </a:avLst>
          </a:prstGeom>
          <a:solidFill>
            <a:srgbClr val="141B3D"/>
          </a:solidFill>
          <a:ln w="12700">
            <a:solidFill>
              <a:srgbClr val="333333"/>
            </a:solidFill>
            <a:prstDash val="solid"/>
          </a:ln>
        </p:spPr>
      </p:sp>
      <p:sp>
        <p:nvSpPr>
          <p:cNvPr id="32" name="Text 30"/>
          <p:cNvSpPr/>
          <p:nvPr/>
        </p:nvSpPr>
        <p:spPr>
          <a:xfrm>
            <a:off x="548640" y="3803904"/>
            <a:ext cx="475488" cy="475488"/>
          </a:xfrm>
          <a:prstGeom prst="rect">
            <a:avLst/>
          </a:prstGeom>
          <a:noFill/>
          <a:ln/>
        </p:spPr>
        <p:txBody>
          <a:bodyPr wrap="square" lIns="0" tIns="0" rIns="0" bIns="0" rtlCol="0" anchor="ctr"/>
          <a:lstStyle/>
          <a:p>
            <a:pPr algn="ctr" indent="0" marL="0">
              <a:buNone/>
            </a:pPr>
            <a:r>
              <a:rPr lang="en-US" sz="1300" b="1" dirty="0">
                <a:solidFill>
                  <a:srgbClr val="00C39A"/>
                </a:solidFill>
                <a:latin typeface="Calibri" pitchFamily="34" charset="0"/>
                <a:ea typeface="Calibri" pitchFamily="34" charset="-122"/>
                <a:cs typeface="Calibri" pitchFamily="34" charset="-120"/>
              </a:rPr>
              <a:t>P3</a:t>
            </a:r>
            <a:endParaRPr lang="en-US" sz="1300" dirty="0"/>
          </a:p>
        </p:txBody>
      </p:sp>
      <p:sp>
        <p:nvSpPr>
          <p:cNvPr id="33" name="Text 31"/>
          <p:cNvSpPr/>
          <p:nvPr/>
        </p:nvSpPr>
        <p:spPr>
          <a:xfrm>
            <a:off x="1133856" y="3785616"/>
            <a:ext cx="2194560" cy="292608"/>
          </a:xfrm>
          <a:prstGeom prst="rect">
            <a:avLst/>
          </a:prstGeom>
          <a:noFill/>
          <a:ln/>
        </p:spPr>
        <p:txBody>
          <a:bodyPr wrap="square" lIns="0" tIns="0" rIns="0" bIns="0" rtlCol="0" anchor="ctr"/>
          <a:lstStyle/>
          <a:p>
            <a:pPr indent="0" marL="0">
              <a:buNone/>
            </a:pPr>
            <a:r>
              <a:rPr lang="en-US" sz="1250" b="1" dirty="0">
                <a:solidFill>
                  <a:srgbClr val="141B3D"/>
                </a:solidFill>
                <a:latin typeface="Calibri" pitchFamily="34" charset="0"/>
                <a:ea typeface="Calibri" pitchFamily="34" charset="-122"/>
                <a:cs typeface="Calibri" pitchFamily="34" charset="-120"/>
              </a:rPr>
              <a:t>Integrity &amp; faculty tooling</a:t>
            </a:r>
            <a:endParaRPr lang="en-US" sz="1250" dirty="0"/>
          </a:p>
        </p:txBody>
      </p:sp>
      <p:sp>
        <p:nvSpPr>
          <p:cNvPr id="34" name="Text 32"/>
          <p:cNvSpPr/>
          <p:nvPr/>
        </p:nvSpPr>
        <p:spPr>
          <a:xfrm>
            <a:off x="1133856" y="4059936"/>
            <a:ext cx="2240280" cy="274320"/>
          </a:xfrm>
          <a:prstGeom prst="rect">
            <a:avLst/>
          </a:prstGeom>
          <a:noFill/>
          <a:ln/>
        </p:spPr>
        <p:txBody>
          <a:bodyPr wrap="square" lIns="0" tIns="0" rIns="0" bIns="0" rtlCol="0" anchor="ctr"/>
          <a:lstStyle/>
          <a:p>
            <a:pPr indent="0" marL="0">
              <a:buNone/>
            </a:pPr>
            <a:r>
              <a:rPr lang="en-US" sz="950" dirty="0">
                <a:solidFill>
                  <a:srgbClr val="646E8C"/>
                </a:solidFill>
                <a:latin typeface="Calibri" pitchFamily="34" charset="0"/>
                <a:ea typeface="Calibri" pitchFamily="34" charset="-122"/>
                <a:cs typeface="Calibri" pitchFamily="34" charset="-120"/>
              </a:rPr>
              <a:t>Integrity and evaluation suite</a:t>
            </a:r>
            <a:endParaRPr lang="en-US" sz="950" dirty="0"/>
          </a:p>
        </p:txBody>
      </p:sp>
      <p:sp>
        <p:nvSpPr>
          <p:cNvPr id="35" name="Shape 33"/>
          <p:cNvSpPr/>
          <p:nvPr/>
        </p:nvSpPr>
        <p:spPr>
          <a:xfrm>
            <a:off x="3429000" y="3886200"/>
            <a:ext cx="8229600" cy="329184"/>
          </a:xfrm>
          <a:prstGeom prst="roundRect">
            <a:avLst>
              <a:gd name="adj" fmla="val 16667"/>
            </a:avLst>
          </a:prstGeom>
          <a:solidFill>
            <a:srgbClr val="F4F6FC"/>
          </a:solidFill>
          <a:ln w="6350">
            <a:solidFill>
              <a:srgbClr val="DDE3F5"/>
            </a:solidFill>
            <a:prstDash val="solid"/>
          </a:ln>
        </p:spPr>
      </p:sp>
      <p:sp>
        <p:nvSpPr>
          <p:cNvPr id="36" name="Shape 34"/>
          <p:cNvSpPr/>
          <p:nvPr/>
        </p:nvSpPr>
        <p:spPr>
          <a:xfrm>
            <a:off x="5486400" y="3886200"/>
            <a:ext cx="2743200" cy="329184"/>
          </a:xfrm>
          <a:prstGeom prst="roundRect">
            <a:avLst>
              <a:gd name="adj" fmla="val 16667"/>
            </a:avLst>
          </a:prstGeom>
          <a:solidFill>
            <a:srgbClr val="00C39A"/>
          </a:solidFill>
          <a:ln w="12700">
            <a:solidFill>
              <a:srgbClr val="333333"/>
            </a:solidFill>
            <a:prstDash val="solid"/>
          </a:ln>
        </p:spPr>
      </p:sp>
      <p:sp>
        <p:nvSpPr>
          <p:cNvPr id="37" name="Text 35"/>
          <p:cNvSpPr/>
          <p:nvPr/>
        </p:nvSpPr>
        <p:spPr>
          <a:xfrm>
            <a:off x="5486400" y="3886200"/>
            <a:ext cx="2743200" cy="329184"/>
          </a:xfrm>
          <a:prstGeom prst="rect">
            <a:avLst/>
          </a:prstGeom>
          <a:noFill/>
          <a:ln/>
        </p:spPr>
        <p:txBody>
          <a:bodyPr wrap="square" lIns="0" tIns="0" rIns="0" bIns="0" rtlCol="0" anchor="ctr"/>
          <a:lstStyle/>
          <a:p>
            <a:pPr algn="ctr" indent="0" marL="0">
              <a:buNone/>
            </a:pPr>
            <a:r>
              <a:rPr lang="en-US" sz="1050" b="1" dirty="0">
                <a:solidFill>
                  <a:srgbClr val="141B3D"/>
                </a:solidFill>
                <a:latin typeface="Calibri" pitchFamily="34" charset="0"/>
                <a:ea typeface="Calibri" pitchFamily="34" charset="-122"/>
                <a:cs typeface="Calibri" pitchFamily="34" charset="-120"/>
              </a:rPr>
              <a:t>M4 – M7</a:t>
            </a:r>
            <a:endParaRPr lang="en-US" sz="1050" dirty="0"/>
          </a:p>
        </p:txBody>
      </p:sp>
      <p:sp>
        <p:nvSpPr>
          <p:cNvPr id="38" name="Shape 36"/>
          <p:cNvSpPr/>
          <p:nvPr/>
        </p:nvSpPr>
        <p:spPr>
          <a:xfrm>
            <a:off x="548640" y="4590288"/>
            <a:ext cx="475488" cy="475488"/>
          </a:xfrm>
          <a:prstGeom prst="roundRect">
            <a:avLst>
              <a:gd name="adj" fmla="val 15385"/>
            </a:avLst>
          </a:prstGeom>
          <a:solidFill>
            <a:srgbClr val="141B3D"/>
          </a:solidFill>
          <a:ln w="12700">
            <a:solidFill>
              <a:srgbClr val="333333"/>
            </a:solidFill>
            <a:prstDash val="solid"/>
          </a:ln>
        </p:spPr>
      </p:sp>
      <p:sp>
        <p:nvSpPr>
          <p:cNvPr id="39" name="Text 37"/>
          <p:cNvSpPr/>
          <p:nvPr/>
        </p:nvSpPr>
        <p:spPr>
          <a:xfrm>
            <a:off x="548640" y="4590288"/>
            <a:ext cx="475488" cy="475488"/>
          </a:xfrm>
          <a:prstGeom prst="rect">
            <a:avLst/>
          </a:prstGeom>
          <a:noFill/>
          <a:ln/>
        </p:spPr>
        <p:txBody>
          <a:bodyPr wrap="square" lIns="0" tIns="0" rIns="0" bIns="0" rtlCol="0" anchor="ctr"/>
          <a:lstStyle/>
          <a:p>
            <a:pPr algn="ctr" indent="0" marL="0">
              <a:buNone/>
            </a:pPr>
            <a:r>
              <a:rPr lang="en-US" sz="1300" b="1" dirty="0">
                <a:solidFill>
                  <a:srgbClr val="00C39A"/>
                </a:solidFill>
                <a:latin typeface="Calibri" pitchFamily="34" charset="0"/>
                <a:ea typeface="Calibri" pitchFamily="34" charset="-122"/>
                <a:cs typeface="Calibri" pitchFamily="34" charset="-120"/>
              </a:rPr>
              <a:t>P4</a:t>
            </a:r>
            <a:endParaRPr lang="en-US" sz="1300" dirty="0"/>
          </a:p>
        </p:txBody>
      </p:sp>
      <p:sp>
        <p:nvSpPr>
          <p:cNvPr id="40" name="Text 38"/>
          <p:cNvSpPr/>
          <p:nvPr/>
        </p:nvSpPr>
        <p:spPr>
          <a:xfrm>
            <a:off x="1133856" y="4572000"/>
            <a:ext cx="2194560" cy="292608"/>
          </a:xfrm>
          <a:prstGeom prst="rect">
            <a:avLst/>
          </a:prstGeom>
          <a:noFill/>
          <a:ln/>
        </p:spPr>
        <p:txBody>
          <a:bodyPr wrap="square" lIns="0" tIns="0" rIns="0" bIns="0" rtlCol="0" anchor="ctr"/>
          <a:lstStyle/>
          <a:p>
            <a:pPr indent="0" marL="0">
              <a:buNone/>
            </a:pPr>
            <a:r>
              <a:rPr lang="en-US" sz="1250" b="1" dirty="0">
                <a:solidFill>
                  <a:srgbClr val="141B3D"/>
                </a:solidFill>
                <a:latin typeface="Calibri" pitchFamily="34" charset="0"/>
                <a:ea typeface="Calibri" pitchFamily="34" charset="-122"/>
                <a:cs typeface="Calibri" pitchFamily="34" charset="-120"/>
              </a:rPr>
              <a:t>Load &amp; security testing</a:t>
            </a:r>
            <a:endParaRPr lang="en-US" sz="1250" dirty="0"/>
          </a:p>
        </p:txBody>
      </p:sp>
      <p:sp>
        <p:nvSpPr>
          <p:cNvPr id="41" name="Text 39"/>
          <p:cNvSpPr/>
          <p:nvPr/>
        </p:nvSpPr>
        <p:spPr>
          <a:xfrm>
            <a:off x="1133856" y="4846320"/>
            <a:ext cx="2240280" cy="274320"/>
          </a:xfrm>
          <a:prstGeom prst="rect">
            <a:avLst/>
          </a:prstGeom>
          <a:noFill/>
          <a:ln/>
        </p:spPr>
        <p:txBody>
          <a:bodyPr wrap="square" lIns="0" tIns="0" rIns="0" bIns="0" rtlCol="0" anchor="ctr"/>
          <a:lstStyle/>
          <a:p>
            <a:pPr indent="0" marL="0">
              <a:buNone/>
            </a:pPr>
            <a:r>
              <a:rPr lang="en-US" sz="950" dirty="0">
                <a:solidFill>
                  <a:srgbClr val="646E8C"/>
                </a:solidFill>
                <a:latin typeface="Calibri" pitchFamily="34" charset="0"/>
                <a:ea typeface="Calibri" pitchFamily="34" charset="-122"/>
                <a:cs typeface="Calibri" pitchFamily="34" charset="-120"/>
              </a:rPr>
              <a:t>Load and security test report</a:t>
            </a:r>
            <a:endParaRPr lang="en-US" sz="950" dirty="0"/>
          </a:p>
        </p:txBody>
      </p:sp>
      <p:sp>
        <p:nvSpPr>
          <p:cNvPr id="42" name="Shape 40"/>
          <p:cNvSpPr/>
          <p:nvPr/>
        </p:nvSpPr>
        <p:spPr>
          <a:xfrm>
            <a:off x="3429000" y="4672584"/>
            <a:ext cx="8229600" cy="329184"/>
          </a:xfrm>
          <a:prstGeom prst="roundRect">
            <a:avLst>
              <a:gd name="adj" fmla="val 16667"/>
            </a:avLst>
          </a:prstGeom>
          <a:solidFill>
            <a:srgbClr val="F4F6FC"/>
          </a:solidFill>
          <a:ln w="6350">
            <a:solidFill>
              <a:srgbClr val="DDE3F5"/>
            </a:solidFill>
            <a:prstDash val="solid"/>
          </a:ln>
        </p:spPr>
      </p:sp>
      <p:sp>
        <p:nvSpPr>
          <p:cNvPr id="43" name="Shape 41"/>
          <p:cNvSpPr/>
          <p:nvPr/>
        </p:nvSpPr>
        <p:spPr>
          <a:xfrm>
            <a:off x="7543800" y="4672584"/>
            <a:ext cx="2057400" cy="329184"/>
          </a:xfrm>
          <a:prstGeom prst="roundRect">
            <a:avLst>
              <a:gd name="adj" fmla="val 16667"/>
            </a:avLst>
          </a:prstGeom>
          <a:solidFill>
            <a:srgbClr val="3D5A9E"/>
          </a:solidFill>
          <a:ln w="12700">
            <a:solidFill>
              <a:srgbClr val="333333"/>
            </a:solidFill>
            <a:prstDash val="solid"/>
          </a:ln>
        </p:spPr>
      </p:sp>
      <p:sp>
        <p:nvSpPr>
          <p:cNvPr id="44" name="Text 42"/>
          <p:cNvSpPr/>
          <p:nvPr/>
        </p:nvSpPr>
        <p:spPr>
          <a:xfrm>
            <a:off x="7543800" y="4672584"/>
            <a:ext cx="2057400"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M7 – M9</a:t>
            </a:r>
            <a:endParaRPr lang="en-US" sz="1050" dirty="0"/>
          </a:p>
        </p:txBody>
      </p:sp>
      <p:sp>
        <p:nvSpPr>
          <p:cNvPr id="45" name="Shape 43"/>
          <p:cNvSpPr/>
          <p:nvPr/>
        </p:nvSpPr>
        <p:spPr>
          <a:xfrm>
            <a:off x="548640" y="5376672"/>
            <a:ext cx="475488" cy="475488"/>
          </a:xfrm>
          <a:prstGeom prst="roundRect">
            <a:avLst>
              <a:gd name="adj" fmla="val 15385"/>
            </a:avLst>
          </a:prstGeom>
          <a:solidFill>
            <a:srgbClr val="141B3D"/>
          </a:solidFill>
          <a:ln w="12700">
            <a:solidFill>
              <a:srgbClr val="333333"/>
            </a:solidFill>
            <a:prstDash val="solid"/>
          </a:ln>
        </p:spPr>
      </p:sp>
      <p:sp>
        <p:nvSpPr>
          <p:cNvPr id="46" name="Text 44"/>
          <p:cNvSpPr/>
          <p:nvPr/>
        </p:nvSpPr>
        <p:spPr>
          <a:xfrm>
            <a:off x="548640" y="5376672"/>
            <a:ext cx="475488" cy="475488"/>
          </a:xfrm>
          <a:prstGeom prst="rect">
            <a:avLst/>
          </a:prstGeom>
          <a:noFill/>
          <a:ln/>
        </p:spPr>
        <p:txBody>
          <a:bodyPr wrap="square" lIns="0" tIns="0" rIns="0" bIns="0" rtlCol="0" anchor="ctr"/>
          <a:lstStyle/>
          <a:p>
            <a:pPr algn="ctr" indent="0" marL="0">
              <a:buNone/>
            </a:pPr>
            <a:r>
              <a:rPr lang="en-US" sz="1300" b="1" dirty="0">
                <a:solidFill>
                  <a:srgbClr val="00C39A"/>
                </a:solidFill>
                <a:latin typeface="Calibri" pitchFamily="34" charset="0"/>
                <a:ea typeface="Calibri" pitchFamily="34" charset="-122"/>
                <a:cs typeface="Calibri" pitchFamily="34" charset="-120"/>
              </a:rPr>
              <a:t>P5</a:t>
            </a:r>
            <a:endParaRPr lang="en-US" sz="1300" dirty="0"/>
          </a:p>
        </p:txBody>
      </p:sp>
      <p:sp>
        <p:nvSpPr>
          <p:cNvPr id="47" name="Text 45"/>
          <p:cNvSpPr/>
          <p:nvPr/>
        </p:nvSpPr>
        <p:spPr>
          <a:xfrm>
            <a:off x="1133856" y="5358384"/>
            <a:ext cx="2194560" cy="292608"/>
          </a:xfrm>
          <a:prstGeom prst="rect">
            <a:avLst/>
          </a:prstGeom>
          <a:noFill/>
          <a:ln/>
        </p:spPr>
        <p:txBody>
          <a:bodyPr wrap="square" lIns="0" tIns="0" rIns="0" bIns="0" rtlCol="0" anchor="ctr"/>
          <a:lstStyle/>
          <a:p>
            <a:pPr indent="0" marL="0">
              <a:buNone/>
            </a:pPr>
            <a:r>
              <a:rPr lang="en-US" sz="1250" b="1" dirty="0">
                <a:solidFill>
                  <a:srgbClr val="141B3D"/>
                </a:solidFill>
                <a:latin typeface="Calibri" pitchFamily="34" charset="0"/>
                <a:ea typeface="Calibri" pitchFamily="34" charset="-122"/>
                <a:cs typeface="Calibri" pitchFamily="34" charset="-120"/>
              </a:rPr>
              <a:t>Pilot, rollout &amp; handover</a:t>
            </a:r>
            <a:endParaRPr lang="en-US" sz="1250" dirty="0"/>
          </a:p>
        </p:txBody>
      </p:sp>
      <p:sp>
        <p:nvSpPr>
          <p:cNvPr id="48" name="Text 46"/>
          <p:cNvSpPr/>
          <p:nvPr/>
        </p:nvSpPr>
        <p:spPr>
          <a:xfrm>
            <a:off x="1133856" y="5632704"/>
            <a:ext cx="2240280" cy="274320"/>
          </a:xfrm>
          <a:prstGeom prst="rect">
            <a:avLst/>
          </a:prstGeom>
          <a:noFill/>
          <a:ln/>
        </p:spPr>
        <p:txBody>
          <a:bodyPr wrap="square" lIns="0" tIns="0" rIns="0" bIns="0" rtlCol="0" anchor="ctr"/>
          <a:lstStyle/>
          <a:p>
            <a:pPr indent="0" marL="0">
              <a:buNone/>
            </a:pPr>
            <a:r>
              <a:rPr lang="en-US" sz="950" dirty="0">
                <a:solidFill>
                  <a:srgbClr val="646E8C"/>
                </a:solidFill>
                <a:latin typeface="Calibri" pitchFamily="34" charset="0"/>
                <a:ea typeface="Calibri" pitchFamily="34" charset="-122"/>
                <a:cs typeface="Calibri" pitchFamily="34" charset="-120"/>
              </a:rPr>
              <a:t>Deployed platform + handover kit</a:t>
            </a:r>
            <a:endParaRPr lang="en-US" sz="950" dirty="0"/>
          </a:p>
        </p:txBody>
      </p:sp>
      <p:sp>
        <p:nvSpPr>
          <p:cNvPr id="49" name="Shape 47"/>
          <p:cNvSpPr/>
          <p:nvPr/>
        </p:nvSpPr>
        <p:spPr>
          <a:xfrm>
            <a:off x="3429000" y="5458968"/>
            <a:ext cx="8229600" cy="329184"/>
          </a:xfrm>
          <a:prstGeom prst="roundRect">
            <a:avLst>
              <a:gd name="adj" fmla="val 16667"/>
            </a:avLst>
          </a:prstGeom>
          <a:solidFill>
            <a:srgbClr val="F4F6FC"/>
          </a:solidFill>
          <a:ln w="6350">
            <a:solidFill>
              <a:srgbClr val="DDE3F5"/>
            </a:solidFill>
            <a:prstDash val="solid"/>
          </a:ln>
        </p:spPr>
      </p:sp>
      <p:sp>
        <p:nvSpPr>
          <p:cNvPr id="50" name="Shape 48"/>
          <p:cNvSpPr/>
          <p:nvPr/>
        </p:nvSpPr>
        <p:spPr>
          <a:xfrm>
            <a:off x="8915400" y="5458968"/>
            <a:ext cx="2743200" cy="329184"/>
          </a:xfrm>
          <a:prstGeom prst="roundRect">
            <a:avLst>
              <a:gd name="adj" fmla="val 16667"/>
            </a:avLst>
          </a:prstGeom>
          <a:solidFill>
            <a:srgbClr val="1E2761"/>
          </a:solidFill>
          <a:ln w="12700">
            <a:solidFill>
              <a:srgbClr val="333333"/>
            </a:solidFill>
            <a:prstDash val="solid"/>
          </a:ln>
        </p:spPr>
      </p:sp>
      <p:sp>
        <p:nvSpPr>
          <p:cNvPr id="51" name="Text 49"/>
          <p:cNvSpPr/>
          <p:nvPr/>
        </p:nvSpPr>
        <p:spPr>
          <a:xfrm>
            <a:off x="8915400" y="5458968"/>
            <a:ext cx="2743200"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M9 – M12</a:t>
            </a:r>
            <a:endParaRPr lang="en-US" sz="1050" dirty="0"/>
          </a:p>
        </p:txBody>
      </p:sp>
      <p:sp>
        <p:nvSpPr>
          <p:cNvPr id="52" name="Text 50"/>
          <p:cNvSpPr/>
          <p:nvPr/>
        </p:nvSpPr>
        <p:spPr>
          <a:xfrm>
            <a:off x="548640" y="6236208"/>
            <a:ext cx="11064240" cy="310896"/>
          </a:xfrm>
          <a:prstGeom prst="rect">
            <a:avLst/>
          </a:prstGeom>
          <a:noFill/>
          <a:ln/>
        </p:spPr>
        <p:txBody>
          <a:bodyPr wrap="square" lIns="0" tIns="0" rIns="0" bIns="0" rtlCol="0" anchor="ctr"/>
          <a:lstStyle/>
          <a:p>
            <a:pPr indent="0" marL="0">
              <a:buNone/>
            </a:pPr>
            <a:r>
              <a:rPr lang="en-US" sz="1050" i="1" dirty="0">
                <a:solidFill>
                  <a:srgbClr val="646E8C"/>
                </a:solidFill>
                <a:latin typeface="Calibri" pitchFamily="34" charset="0"/>
                <a:ea typeface="Calibri" pitchFamily="34" charset="-122"/>
                <a:cs typeface="Calibri" pitchFamily="34" charset="-120"/>
              </a:rPr>
              <a:t>Handover: source code, database schema, deployment guide and administrator manual are delivered to the Department, so later project batches can maintain the platform without the original authors.</a:t>
            </a:r>
            <a:endParaRPr lang="en-US" sz="1050" dirty="0"/>
          </a:p>
        </p:txBody>
      </p:sp>
    </p:spTree>
  </p:cSld>
  <p:clrMapOvr>
    <a:masterClrMapping/>
  </p:clrMapOvr>
  <mc:AlternateContent xmlns:mc="http://schemas.openxmlformats.org/markup-compatibility/2006">
    <mc:Choice xmlns:p14="http://schemas.microsoft.com/office/powerpoint/2010/main" Requires="p14">
      <p:transition spd="slow" p14:dur="65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
                                        </p:tgtEl>
                                        <p:attrNameLst>
                                          <p:attrName>style.visibility</p:attrName>
                                        </p:attrNameLst>
                                      </p:cBhvr>
                                      <p:to>
                                        <p:strVal val="visible"/>
                                      </p:to>
                                    </p:set>
                                    <p:animEffect transition="in" filter="fade">
                                      <p:cBhvr>
                                        <p:cTn id="7" dur="380"/>
                                        <p:tgtEl>
                                          <p:spTgt spid="1"/>
                                        </p:tgtEl>
                                      </p:cBhvr>
                                    </p:animEffect>
                                    <p:anim calcmode="lin" valueType="num">
                                      <p:cBhvr additive="base">
                                        <p:cTn id="8" dur="380" fill="hold"/>
                                        <p:tgtEl>
                                          <p:spTgt spid="1"/>
                                        </p:tgtEl>
                                        <p:attrNameLst>
                                          <p:attrName>ppt_y</p:attrName>
                                        </p:attrNameLst>
                                      </p:cBhvr>
                                      <p:tavLst>
                                        <p:tav tm="0">
                                          <p:val>
                                            <p:strVal val="#ppt_y+0.03"/>
                                          </p:val>
                                        </p:tav>
                                        <p:tav tm="100000">
                                          <p:val>
                                            <p:strVal val="#ppt_y"/>
                                          </p:val>
                                        </p:tav>
                                      </p:tavLst>
                                    </p:anim>
                                  </p:childTnLst>
                                </p:cTn>
                              </p:par>
                              <p:par>
                                <p:cTn id="9" presetID="42" presetClass="entr" presetSubtype="0" fill="hold" grpId="0" nodeType="afterEffect">
                                  <p:stCondLst>
                                    <p:cond delay="34"/>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380"/>
                                        <p:tgtEl>
                                          <p:spTgt spid="2"/>
                                        </p:tgtEl>
                                      </p:cBhvr>
                                    </p:animEffect>
                                    <p:anim calcmode="lin" valueType="num">
                                      <p:cBhvr additive="base">
                                        <p:cTn id="12" dur="380" fill="hold"/>
                                        <p:tgtEl>
                                          <p:spTgt spid="2"/>
                                        </p:tgtEl>
                                        <p:attrNameLst>
                                          <p:attrName>ppt_y</p:attrName>
                                        </p:attrNameLst>
                                      </p:cBhvr>
                                      <p:tavLst>
                                        <p:tav tm="0">
                                          <p:val>
                                            <p:strVal val="#ppt_y+0.03"/>
                                          </p:val>
                                        </p:tav>
                                        <p:tav tm="100000">
                                          <p:val>
                                            <p:strVal val="#ppt_y"/>
                                          </p:val>
                                        </p:tav>
                                      </p:tavLst>
                                    </p:anim>
                                  </p:childTnLst>
                                </p:cTn>
                              </p:par>
                              <p:par>
                                <p:cTn id="13" presetID="42" presetClass="entr" presetSubtype="0" fill="hold" grpId="0" nodeType="afterEffect">
                                  <p:stCondLst>
                                    <p:cond delay="68"/>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380"/>
                                        <p:tgtEl>
                                          <p:spTgt spid="3"/>
                                        </p:tgtEl>
                                      </p:cBhvr>
                                    </p:animEffect>
                                    <p:anim calcmode="lin" valueType="num">
                                      <p:cBhvr additive="base">
                                        <p:cTn id="16" dur="380" fill="hold"/>
                                        <p:tgtEl>
                                          <p:spTgt spid="3"/>
                                        </p:tgtEl>
                                        <p:attrNameLst>
                                          <p:attrName>ppt_y</p:attrName>
                                        </p:attrNameLst>
                                      </p:cBhvr>
                                      <p:tavLst>
                                        <p:tav tm="0">
                                          <p:val>
                                            <p:strVal val="#ppt_y+0.03"/>
                                          </p:val>
                                        </p:tav>
                                        <p:tav tm="100000">
                                          <p:val>
                                            <p:strVal val="#ppt_y"/>
                                          </p:val>
                                        </p:tav>
                                      </p:tavLst>
                                    </p:anim>
                                  </p:childTnLst>
                                </p:cTn>
                              </p:par>
                              <p:par>
                                <p:cTn id="17" presetID="42" presetClass="entr" presetSubtype="0" fill="hold" grpId="0" nodeType="afterEffect">
                                  <p:stCondLst>
                                    <p:cond delay="102"/>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380"/>
                                        <p:tgtEl>
                                          <p:spTgt spid="4"/>
                                        </p:tgtEl>
                                      </p:cBhvr>
                                    </p:animEffect>
                                    <p:anim calcmode="lin" valueType="num">
                                      <p:cBhvr additive="base">
                                        <p:cTn id="20" dur="380" fill="hold"/>
                                        <p:tgtEl>
                                          <p:spTgt spid="4"/>
                                        </p:tgtEl>
                                        <p:attrNameLst>
                                          <p:attrName>ppt_y</p:attrName>
                                        </p:attrNameLst>
                                      </p:cBhvr>
                                      <p:tavLst>
                                        <p:tav tm="0">
                                          <p:val>
                                            <p:strVal val="#ppt_y+0.03"/>
                                          </p:val>
                                        </p:tav>
                                        <p:tav tm="100000">
                                          <p:val>
                                            <p:strVal val="#ppt_y"/>
                                          </p:val>
                                        </p:tav>
                                      </p:tavLst>
                                    </p:anim>
                                  </p:childTnLst>
                                </p:cTn>
                              </p:par>
                              <p:par>
                                <p:cTn id="21" presetID="42" presetClass="entr" presetSubtype="0" fill="hold" grpId="0" nodeType="afterEffect">
                                  <p:stCondLst>
                                    <p:cond delay="136"/>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380"/>
                                        <p:tgtEl>
                                          <p:spTgt spid="5"/>
                                        </p:tgtEl>
                                      </p:cBhvr>
                                    </p:animEffect>
                                    <p:anim calcmode="lin" valueType="num">
                                      <p:cBhvr additive="base">
                                        <p:cTn id="24" dur="380" fill="hold"/>
                                        <p:tgtEl>
                                          <p:spTgt spid="5"/>
                                        </p:tgtEl>
                                        <p:attrNameLst>
                                          <p:attrName>ppt_y</p:attrName>
                                        </p:attrNameLst>
                                      </p:cBhvr>
                                      <p:tavLst>
                                        <p:tav tm="0">
                                          <p:val>
                                            <p:strVal val="#ppt_y+0.03"/>
                                          </p:val>
                                        </p:tav>
                                        <p:tav tm="100000">
                                          <p:val>
                                            <p:strVal val="#ppt_y"/>
                                          </p:val>
                                        </p:tav>
                                      </p:tavLst>
                                    </p:anim>
                                  </p:childTnLst>
                                </p:cTn>
                              </p:par>
                              <p:par>
                                <p:cTn id="25" presetID="42" presetClass="entr" presetSubtype="0" fill="hold" grpId="0" nodeType="afterEffect">
                                  <p:stCondLst>
                                    <p:cond delay="17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380"/>
                                        <p:tgtEl>
                                          <p:spTgt spid="6"/>
                                        </p:tgtEl>
                                      </p:cBhvr>
                                    </p:animEffect>
                                    <p:anim calcmode="lin" valueType="num">
                                      <p:cBhvr additive="base">
                                        <p:cTn id="28" dur="380" fill="hold"/>
                                        <p:tgtEl>
                                          <p:spTgt spid="6"/>
                                        </p:tgtEl>
                                        <p:attrNameLst>
                                          <p:attrName>ppt_y</p:attrName>
                                        </p:attrNameLst>
                                      </p:cBhvr>
                                      <p:tavLst>
                                        <p:tav tm="0">
                                          <p:val>
                                            <p:strVal val="#ppt_y+0.03"/>
                                          </p:val>
                                        </p:tav>
                                        <p:tav tm="100000">
                                          <p:val>
                                            <p:strVal val="#ppt_y"/>
                                          </p:val>
                                        </p:tav>
                                      </p:tavLst>
                                    </p:anim>
                                  </p:childTnLst>
                                </p:cTn>
                              </p:par>
                              <p:par>
                                <p:cTn id="29" presetID="42" presetClass="entr" presetSubtype="0" fill="hold" grpId="0" nodeType="afterEffect">
                                  <p:stCondLst>
                                    <p:cond delay="204"/>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380"/>
                                        <p:tgtEl>
                                          <p:spTgt spid="7"/>
                                        </p:tgtEl>
                                      </p:cBhvr>
                                    </p:animEffect>
                                    <p:anim calcmode="lin" valueType="num">
                                      <p:cBhvr additive="base">
                                        <p:cTn id="32" dur="380" fill="hold"/>
                                        <p:tgtEl>
                                          <p:spTgt spid="7"/>
                                        </p:tgtEl>
                                        <p:attrNameLst>
                                          <p:attrName>ppt_y</p:attrName>
                                        </p:attrNameLst>
                                      </p:cBhvr>
                                      <p:tavLst>
                                        <p:tav tm="0">
                                          <p:val>
                                            <p:strVal val="#ppt_y+0.03"/>
                                          </p:val>
                                        </p:tav>
                                        <p:tav tm="100000">
                                          <p:val>
                                            <p:strVal val="#ppt_y"/>
                                          </p:val>
                                        </p:tav>
                                      </p:tavLst>
                                    </p:anim>
                                  </p:childTnLst>
                                </p:cTn>
                              </p:par>
                              <p:par>
                                <p:cTn id="33" presetID="42" presetClass="entr" presetSubtype="0" fill="hold" grpId="0" nodeType="afterEffect">
                                  <p:stCondLst>
                                    <p:cond delay="238"/>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380"/>
                                        <p:tgtEl>
                                          <p:spTgt spid="8"/>
                                        </p:tgtEl>
                                      </p:cBhvr>
                                    </p:animEffect>
                                    <p:anim calcmode="lin" valueType="num">
                                      <p:cBhvr additive="base">
                                        <p:cTn id="36" dur="380" fill="hold"/>
                                        <p:tgtEl>
                                          <p:spTgt spid="8"/>
                                        </p:tgtEl>
                                        <p:attrNameLst>
                                          <p:attrName>ppt_y</p:attrName>
                                        </p:attrNameLst>
                                      </p:cBhvr>
                                      <p:tavLst>
                                        <p:tav tm="0">
                                          <p:val>
                                            <p:strVal val="#ppt_y+0.03"/>
                                          </p:val>
                                        </p:tav>
                                        <p:tav tm="100000">
                                          <p:val>
                                            <p:strVal val="#ppt_y"/>
                                          </p:val>
                                        </p:tav>
                                      </p:tavLst>
                                    </p:anim>
                                  </p:childTnLst>
                                </p:cTn>
                              </p:par>
                              <p:par>
                                <p:cTn id="37" presetID="42" presetClass="entr" presetSubtype="0" fill="hold" grpId="0" nodeType="afterEffect">
                                  <p:stCondLst>
                                    <p:cond delay="272"/>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380"/>
                                        <p:tgtEl>
                                          <p:spTgt spid="9"/>
                                        </p:tgtEl>
                                      </p:cBhvr>
                                    </p:animEffect>
                                    <p:anim calcmode="lin" valueType="num">
                                      <p:cBhvr additive="base">
                                        <p:cTn id="40" dur="380" fill="hold"/>
                                        <p:tgtEl>
                                          <p:spTgt spid="9"/>
                                        </p:tgtEl>
                                        <p:attrNameLst>
                                          <p:attrName>ppt_y</p:attrName>
                                        </p:attrNameLst>
                                      </p:cBhvr>
                                      <p:tavLst>
                                        <p:tav tm="0">
                                          <p:val>
                                            <p:strVal val="#ppt_y+0.03"/>
                                          </p:val>
                                        </p:tav>
                                        <p:tav tm="100000">
                                          <p:val>
                                            <p:strVal val="#ppt_y"/>
                                          </p:val>
                                        </p:tav>
                                      </p:tavLst>
                                    </p:anim>
                                  </p:childTnLst>
                                </p:cTn>
                              </p:par>
                              <p:par>
                                <p:cTn id="41" presetID="42" presetClass="entr" presetSubtype="0" fill="hold" grpId="0" nodeType="afterEffect">
                                  <p:stCondLst>
                                    <p:cond delay="306"/>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380"/>
                                        <p:tgtEl>
                                          <p:spTgt spid="10"/>
                                        </p:tgtEl>
                                      </p:cBhvr>
                                    </p:animEffect>
                                    <p:anim calcmode="lin" valueType="num">
                                      <p:cBhvr additive="base">
                                        <p:cTn id="44" dur="380" fill="hold"/>
                                        <p:tgtEl>
                                          <p:spTgt spid="10"/>
                                        </p:tgtEl>
                                        <p:attrNameLst>
                                          <p:attrName>ppt_y</p:attrName>
                                        </p:attrNameLst>
                                      </p:cBhvr>
                                      <p:tavLst>
                                        <p:tav tm="0">
                                          <p:val>
                                            <p:strVal val="#ppt_y+0.03"/>
                                          </p:val>
                                        </p:tav>
                                        <p:tav tm="100000">
                                          <p:val>
                                            <p:strVal val="#ppt_y"/>
                                          </p:val>
                                        </p:tav>
                                      </p:tavLst>
                                    </p:anim>
                                  </p:childTnLst>
                                </p:cTn>
                              </p:par>
                              <p:par>
                                <p:cTn id="45" presetID="42" presetClass="entr" presetSubtype="0" fill="hold" grpId="0" nodeType="afterEffect">
                                  <p:stCondLst>
                                    <p:cond delay="34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380"/>
                                        <p:tgtEl>
                                          <p:spTgt spid="11"/>
                                        </p:tgtEl>
                                      </p:cBhvr>
                                    </p:animEffect>
                                    <p:anim calcmode="lin" valueType="num">
                                      <p:cBhvr additive="base">
                                        <p:cTn id="48" dur="380" fill="hold"/>
                                        <p:tgtEl>
                                          <p:spTgt spid="11"/>
                                        </p:tgtEl>
                                        <p:attrNameLst>
                                          <p:attrName>ppt_y</p:attrName>
                                        </p:attrNameLst>
                                      </p:cBhvr>
                                      <p:tavLst>
                                        <p:tav tm="0">
                                          <p:val>
                                            <p:strVal val="#ppt_y+0.03"/>
                                          </p:val>
                                        </p:tav>
                                        <p:tav tm="100000">
                                          <p:val>
                                            <p:strVal val="#ppt_y"/>
                                          </p:val>
                                        </p:tav>
                                      </p:tavLst>
                                    </p:anim>
                                  </p:childTnLst>
                                </p:cTn>
                              </p:par>
                              <p:par>
                                <p:cTn id="49" presetID="42" presetClass="entr" presetSubtype="0" fill="hold" grpId="0" nodeType="afterEffect">
                                  <p:stCondLst>
                                    <p:cond delay="374"/>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380"/>
                                        <p:tgtEl>
                                          <p:spTgt spid="12"/>
                                        </p:tgtEl>
                                      </p:cBhvr>
                                    </p:animEffect>
                                    <p:anim calcmode="lin" valueType="num">
                                      <p:cBhvr additive="base">
                                        <p:cTn id="52" dur="380" fill="hold"/>
                                        <p:tgtEl>
                                          <p:spTgt spid="12"/>
                                        </p:tgtEl>
                                        <p:attrNameLst>
                                          <p:attrName>ppt_y</p:attrName>
                                        </p:attrNameLst>
                                      </p:cBhvr>
                                      <p:tavLst>
                                        <p:tav tm="0">
                                          <p:val>
                                            <p:strVal val="#ppt_y+0.03"/>
                                          </p:val>
                                        </p:tav>
                                        <p:tav tm="100000">
                                          <p:val>
                                            <p:strVal val="#ppt_y"/>
                                          </p:val>
                                        </p:tav>
                                      </p:tavLst>
                                    </p:anim>
                                  </p:childTnLst>
                                </p:cTn>
                              </p:par>
                              <p:par>
                                <p:cTn id="53" presetID="42" presetClass="entr" presetSubtype="0" fill="hold" grpId="0" nodeType="afterEffect">
                                  <p:stCondLst>
                                    <p:cond delay="408"/>
                                  </p:stCondLst>
                                  <p:childTnLst>
                                    <p:set>
                                      <p:cBhvr>
                                        <p:cTn id="54" dur="1" fill="hold">
                                          <p:stCondLst>
                                            <p:cond delay="0"/>
                                          </p:stCondLst>
                                        </p:cTn>
                                        <p:tgtEl>
                                          <p:spTgt spid="13"/>
                                        </p:tgtEl>
                                        <p:attrNameLst>
                                          <p:attrName>style.visibility</p:attrName>
                                        </p:attrNameLst>
                                      </p:cBhvr>
                                      <p:to>
                                        <p:strVal val="visible"/>
                                      </p:to>
                                    </p:set>
                                    <p:animEffect transition="in" filter="fade">
                                      <p:cBhvr>
                                        <p:cTn id="55" dur="380"/>
                                        <p:tgtEl>
                                          <p:spTgt spid="13"/>
                                        </p:tgtEl>
                                      </p:cBhvr>
                                    </p:animEffect>
                                    <p:anim calcmode="lin" valueType="num">
                                      <p:cBhvr additive="base">
                                        <p:cTn id="56" dur="380" fill="hold"/>
                                        <p:tgtEl>
                                          <p:spTgt spid="13"/>
                                        </p:tgtEl>
                                        <p:attrNameLst>
                                          <p:attrName>ppt_y</p:attrName>
                                        </p:attrNameLst>
                                      </p:cBhvr>
                                      <p:tavLst>
                                        <p:tav tm="0">
                                          <p:val>
                                            <p:strVal val="#ppt_y+0.03"/>
                                          </p:val>
                                        </p:tav>
                                        <p:tav tm="100000">
                                          <p:val>
                                            <p:strVal val="#ppt_y"/>
                                          </p:val>
                                        </p:tav>
                                      </p:tavLst>
                                    </p:anim>
                                  </p:childTnLst>
                                </p:cTn>
                              </p:par>
                              <p:par>
                                <p:cTn id="57" presetID="42" presetClass="entr" presetSubtype="0" fill="hold" grpId="0" nodeType="afterEffect">
                                  <p:stCondLst>
                                    <p:cond delay="442"/>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380"/>
                                        <p:tgtEl>
                                          <p:spTgt spid="14"/>
                                        </p:tgtEl>
                                      </p:cBhvr>
                                    </p:animEffect>
                                    <p:anim calcmode="lin" valueType="num">
                                      <p:cBhvr additive="base">
                                        <p:cTn id="60" dur="380" fill="hold"/>
                                        <p:tgtEl>
                                          <p:spTgt spid="14"/>
                                        </p:tgtEl>
                                        <p:attrNameLst>
                                          <p:attrName>ppt_y</p:attrName>
                                        </p:attrNameLst>
                                      </p:cBhvr>
                                      <p:tavLst>
                                        <p:tav tm="0">
                                          <p:val>
                                            <p:strVal val="#ppt_y+0.03"/>
                                          </p:val>
                                        </p:tav>
                                        <p:tav tm="100000">
                                          <p:val>
                                            <p:strVal val="#ppt_y"/>
                                          </p:val>
                                        </p:tav>
                                      </p:tavLst>
                                    </p:anim>
                                  </p:childTnLst>
                                </p:cTn>
                              </p:par>
                              <p:par>
                                <p:cTn id="61" presetID="42" presetClass="entr" presetSubtype="0" fill="hold" grpId="0" nodeType="afterEffect">
                                  <p:stCondLst>
                                    <p:cond delay="476"/>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380"/>
                                        <p:tgtEl>
                                          <p:spTgt spid="15"/>
                                        </p:tgtEl>
                                      </p:cBhvr>
                                    </p:animEffect>
                                    <p:anim calcmode="lin" valueType="num">
                                      <p:cBhvr additive="base">
                                        <p:cTn id="64" dur="380" fill="hold"/>
                                        <p:tgtEl>
                                          <p:spTgt spid="15"/>
                                        </p:tgtEl>
                                        <p:attrNameLst>
                                          <p:attrName>ppt_y</p:attrName>
                                        </p:attrNameLst>
                                      </p:cBhvr>
                                      <p:tavLst>
                                        <p:tav tm="0">
                                          <p:val>
                                            <p:strVal val="#ppt_y+0.03"/>
                                          </p:val>
                                        </p:tav>
                                        <p:tav tm="100000">
                                          <p:val>
                                            <p:strVal val="#ppt_y"/>
                                          </p:val>
                                        </p:tav>
                                      </p:tavLst>
                                    </p:anim>
                                  </p:childTnLst>
                                </p:cTn>
                              </p:par>
                              <p:par>
                                <p:cTn id="65" presetID="42" presetClass="entr" presetSubtype="0" fill="hold" grpId="0" nodeType="afterEffect">
                                  <p:stCondLst>
                                    <p:cond delay="51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380"/>
                                        <p:tgtEl>
                                          <p:spTgt spid="16"/>
                                        </p:tgtEl>
                                      </p:cBhvr>
                                    </p:animEffect>
                                    <p:anim calcmode="lin" valueType="num">
                                      <p:cBhvr additive="base">
                                        <p:cTn id="68" dur="380" fill="hold"/>
                                        <p:tgtEl>
                                          <p:spTgt spid="16"/>
                                        </p:tgtEl>
                                        <p:attrNameLst>
                                          <p:attrName>ppt_y</p:attrName>
                                        </p:attrNameLst>
                                      </p:cBhvr>
                                      <p:tavLst>
                                        <p:tav tm="0">
                                          <p:val>
                                            <p:strVal val="#ppt_y+0.03"/>
                                          </p:val>
                                        </p:tav>
                                        <p:tav tm="100000">
                                          <p:val>
                                            <p:strVal val="#ppt_y"/>
                                          </p:val>
                                        </p:tav>
                                      </p:tavLst>
                                    </p:anim>
                                  </p:childTnLst>
                                </p:cTn>
                              </p:par>
                              <p:par>
                                <p:cTn id="69" presetID="42" presetClass="entr" presetSubtype="0" fill="hold" grpId="0" nodeType="afterEffect">
                                  <p:stCondLst>
                                    <p:cond delay="544"/>
                                  </p:stCondLst>
                                  <p:childTnLst>
                                    <p:set>
                                      <p:cBhvr>
                                        <p:cTn id="70" dur="1" fill="hold">
                                          <p:stCondLst>
                                            <p:cond delay="0"/>
                                          </p:stCondLst>
                                        </p:cTn>
                                        <p:tgtEl>
                                          <p:spTgt spid="17"/>
                                        </p:tgtEl>
                                        <p:attrNameLst>
                                          <p:attrName>style.visibility</p:attrName>
                                        </p:attrNameLst>
                                      </p:cBhvr>
                                      <p:to>
                                        <p:strVal val="visible"/>
                                      </p:to>
                                    </p:set>
                                    <p:animEffect transition="in" filter="fade">
                                      <p:cBhvr>
                                        <p:cTn id="71" dur="380"/>
                                        <p:tgtEl>
                                          <p:spTgt spid="17"/>
                                        </p:tgtEl>
                                      </p:cBhvr>
                                    </p:animEffect>
                                    <p:anim calcmode="lin" valueType="num">
                                      <p:cBhvr additive="base">
                                        <p:cTn id="72" dur="380" fill="hold"/>
                                        <p:tgtEl>
                                          <p:spTgt spid="17"/>
                                        </p:tgtEl>
                                        <p:attrNameLst>
                                          <p:attrName>ppt_y</p:attrName>
                                        </p:attrNameLst>
                                      </p:cBhvr>
                                      <p:tavLst>
                                        <p:tav tm="0">
                                          <p:val>
                                            <p:strVal val="#ppt_y+0.03"/>
                                          </p:val>
                                        </p:tav>
                                        <p:tav tm="100000">
                                          <p:val>
                                            <p:strVal val="#ppt_y"/>
                                          </p:val>
                                        </p:tav>
                                      </p:tavLst>
                                    </p:anim>
                                  </p:childTnLst>
                                </p:cTn>
                              </p:par>
                              <p:par>
                                <p:cTn id="73" presetID="42" presetClass="entr" presetSubtype="0" fill="hold" grpId="0" nodeType="afterEffect">
                                  <p:stCondLst>
                                    <p:cond delay="578"/>
                                  </p:stCondLst>
                                  <p:childTnLst>
                                    <p:set>
                                      <p:cBhvr>
                                        <p:cTn id="74" dur="1" fill="hold">
                                          <p:stCondLst>
                                            <p:cond delay="0"/>
                                          </p:stCondLst>
                                        </p:cTn>
                                        <p:tgtEl>
                                          <p:spTgt spid="18"/>
                                        </p:tgtEl>
                                        <p:attrNameLst>
                                          <p:attrName>style.visibility</p:attrName>
                                        </p:attrNameLst>
                                      </p:cBhvr>
                                      <p:to>
                                        <p:strVal val="visible"/>
                                      </p:to>
                                    </p:set>
                                    <p:animEffect transition="in" filter="fade">
                                      <p:cBhvr>
                                        <p:cTn id="75" dur="380"/>
                                        <p:tgtEl>
                                          <p:spTgt spid="18"/>
                                        </p:tgtEl>
                                      </p:cBhvr>
                                    </p:animEffect>
                                    <p:anim calcmode="lin" valueType="num">
                                      <p:cBhvr additive="base">
                                        <p:cTn id="76" dur="380" fill="hold"/>
                                        <p:tgtEl>
                                          <p:spTgt spid="18"/>
                                        </p:tgtEl>
                                        <p:attrNameLst>
                                          <p:attrName>ppt_y</p:attrName>
                                        </p:attrNameLst>
                                      </p:cBhvr>
                                      <p:tavLst>
                                        <p:tav tm="0">
                                          <p:val>
                                            <p:strVal val="#ppt_y+0.03"/>
                                          </p:val>
                                        </p:tav>
                                        <p:tav tm="100000">
                                          <p:val>
                                            <p:strVal val="#ppt_y"/>
                                          </p:val>
                                        </p:tav>
                                      </p:tavLst>
                                    </p:anim>
                                  </p:childTnLst>
                                </p:cTn>
                              </p:par>
                              <p:par>
                                <p:cTn id="77" presetID="42" presetClass="entr" presetSubtype="0" fill="hold" grpId="0" nodeType="afterEffect">
                                  <p:stCondLst>
                                    <p:cond delay="612"/>
                                  </p:stCondLst>
                                  <p:childTnLst>
                                    <p:set>
                                      <p:cBhvr>
                                        <p:cTn id="78" dur="1" fill="hold">
                                          <p:stCondLst>
                                            <p:cond delay="0"/>
                                          </p:stCondLst>
                                        </p:cTn>
                                        <p:tgtEl>
                                          <p:spTgt spid="19"/>
                                        </p:tgtEl>
                                        <p:attrNameLst>
                                          <p:attrName>style.visibility</p:attrName>
                                        </p:attrNameLst>
                                      </p:cBhvr>
                                      <p:to>
                                        <p:strVal val="visible"/>
                                      </p:to>
                                    </p:set>
                                    <p:animEffect transition="in" filter="fade">
                                      <p:cBhvr>
                                        <p:cTn id="79" dur="380"/>
                                        <p:tgtEl>
                                          <p:spTgt spid="19"/>
                                        </p:tgtEl>
                                      </p:cBhvr>
                                    </p:animEffect>
                                    <p:anim calcmode="lin" valueType="num">
                                      <p:cBhvr additive="base">
                                        <p:cTn id="80" dur="380" fill="hold"/>
                                        <p:tgtEl>
                                          <p:spTgt spid="19"/>
                                        </p:tgtEl>
                                        <p:attrNameLst>
                                          <p:attrName>ppt_y</p:attrName>
                                        </p:attrNameLst>
                                      </p:cBhvr>
                                      <p:tavLst>
                                        <p:tav tm="0">
                                          <p:val>
                                            <p:strVal val="#ppt_y+0.03"/>
                                          </p:val>
                                        </p:tav>
                                        <p:tav tm="100000">
                                          <p:val>
                                            <p:strVal val="#ppt_y"/>
                                          </p:val>
                                        </p:tav>
                                      </p:tavLst>
                                    </p:anim>
                                  </p:childTnLst>
                                </p:cTn>
                              </p:par>
                              <p:par>
                                <p:cTn id="81" presetID="42" presetClass="entr" presetSubtype="0" fill="hold" grpId="0" nodeType="afterEffect">
                                  <p:stCondLst>
                                    <p:cond delay="646"/>
                                  </p:stCondLst>
                                  <p:childTnLst>
                                    <p:set>
                                      <p:cBhvr>
                                        <p:cTn id="82" dur="1" fill="hold">
                                          <p:stCondLst>
                                            <p:cond delay="0"/>
                                          </p:stCondLst>
                                        </p:cTn>
                                        <p:tgtEl>
                                          <p:spTgt spid="20"/>
                                        </p:tgtEl>
                                        <p:attrNameLst>
                                          <p:attrName>style.visibility</p:attrName>
                                        </p:attrNameLst>
                                      </p:cBhvr>
                                      <p:to>
                                        <p:strVal val="visible"/>
                                      </p:to>
                                    </p:set>
                                    <p:animEffect transition="in" filter="fade">
                                      <p:cBhvr>
                                        <p:cTn id="83" dur="380"/>
                                        <p:tgtEl>
                                          <p:spTgt spid="20"/>
                                        </p:tgtEl>
                                      </p:cBhvr>
                                    </p:animEffect>
                                    <p:anim calcmode="lin" valueType="num">
                                      <p:cBhvr additive="base">
                                        <p:cTn id="84" dur="380" fill="hold"/>
                                        <p:tgtEl>
                                          <p:spTgt spid="20"/>
                                        </p:tgtEl>
                                        <p:attrNameLst>
                                          <p:attrName>ppt_y</p:attrName>
                                        </p:attrNameLst>
                                      </p:cBhvr>
                                      <p:tavLst>
                                        <p:tav tm="0">
                                          <p:val>
                                            <p:strVal val="#ppt_y+0.03"/>
                                          </p:val>
                                        </p:tav>
                                        <p:tav tm="100000">
                                          <p:val>
                                            <p:strVal val="#ppt_y"/>
                                          </p:val>
                                        </p:tav>
                                      </p:tavLst>
                                    </p:anim>
                                  </p:childTnLst>
                                </p:cTn>
                              </p:par>
                              <p:par>
                                <p:cTn id="85" presetID="42" presetClass="entr" presetSubtype="0" fill="hold" grpId="0" nodeType="afterEffect">
                                  <p:stCondLst>
                                    <p:cond delay="680"/>
                                  </p:stCondLst>
                                  <p:childTnLst>
                                    <p:set>
                                      <p:cBhvr>
                                        <p:cTn id="86" dur="1" fill="hold">
                                          <p:stCondLst>
                                            <p:cond delay="0"/>
                                          </p:stCondLst>
                                        </p:cTn>
                                        <p:tgtEl>
                                          <p:spTgt spid="21"/>
                                        </p:tgtEl>
                                        <p:attrNameLst>
                                          <p:attrName>style.visibility</p:attrName>
                                        </p:attrNameLst>
                                      </p:cBhvr>
                                      <p:to>
                                        <p:strVal val="visible"/>
                                      </p:to>
                                    </p:set>
                                    <p:animEffect transition="in" filter="fade">
                                      <p:cBhvr>
                                        <p:cTn id="87" dur="380"/>
                                        <p:tgtEl>
                                          <p:spTgt spid="21"/>
                                        </p:tgtEl>
                                      </p:cBhvr>
                                    </p:animEffect>
                                    <p:anim calcmode="lin" valueType="num">
                                      <p:cBhvr additive="base">
                                        <p:cTn id="88" dur="380" fill="hold"/>
                                        <p:tgtEl>
                                          <p:spTgt spid="21"/>
                                        </p:tgtEl>
                                        <p:attrNameLst>
                                          <p:attrName>ppt_y</p:attrName>
                                        </p:attrNameLst>
                                      </p:cBhvr>
                                      <p:tavLst>
                                        <p:tav tm="0">
                                          <p:val>
                                            <p:strVal val="#ppt_y+0.03"/>
                                          </p:val>
                                        </p:tav>
                                        <p:tav tm="100000">
                                          <p:val>
                                            <p:strVal val="#ppt_y"/>
                                          </p:val>
                                        </p:tav>
                                      </p:tavLst>
                                    </p:anim>
                                  </p:childTnLst>
                                </p:cTn>
                              </p:par>
                              <p:par>
                                <p:cTn id="89" presetID="42" presetClass="entr" presetSubtype="0" fill="hold" grpId="0" nodeType="afterEffect">
                                  <p:stCondLst>
                                    <p:cond delay="714"/>
                                  </p:stCondLst>
                                  <p:childTnLst>
                                    <p:set>
                                      <p:cBhvr>
                                        <p:cTn id="90" dur="1" fill="hold">
                                          <p:stCondLst>
                                            <p:cond delay="0"/>
                                          </p:stCondLst>
                                        </p:cTn>
                                        <p:tgtEl>
                                          <p:spTgt spid="22"/>
                                        </p:tgtEl>
                                        <p:attrNameLst>
                                          <p:attrName>style.visibility</p:attrName>
                                        </p:attrNameLst>
                                      </p:cBhvr>
                                      <p:to>
                                        <p:strVal val="visible"/>
                                      </p:to>
                                    </p:set>
                                    <p:animEffect transition="in" filter="fade">
                                      <p:cBhvr>
                                        <p:cTn id="91" dur="380"/>
                                        <p:tgtEl>
                                          <p:spTgt spid="22"/>
                                        </p:tgtEl>
                                      </p:cBhvr>
                                    </p:animEffect>
                                    <p:anim calcmode="lin" valueType="num">
                                      <p:cBhvr additive="base">
                                        <p:cTn id="92" dur="380" fill="hold"/>
                                        <p:tgtEl>
                                          <p:spTgt spid="22"/>
                                        </p:tgtEl>
                                        <p:attrNameLst>
                                          <p:attrName>ppt_y</p:attrName>
                                        </p:attrNameLst>
                                      </p:cBhvr>
                                      <p:tavLst>
                                        <p:tav tm="0">
                                          <p:val>
                                            <p:strVal val="#ppt_y+0.03"/>
                                          </p:val>
                                        </p:tav>
                                        <p:tav tm="100000">
                                          <p:val>
                                            <p:strVal val="#ppt_y"/>
                                          </p:val>
                                        </p:tav>
                                      </p:tavLst>
                                    </p:anim>
                                  </p:childTnLst>
                                </p:cTn>
                              </p:par>
                              <p:par>
                                <p:cTn id="93" presetID="42" presetClass="entr" presetSubtype="0" fill="hold" grpId="0" nodeType="afterEffect">
                                  <p:stCondLst>
                                    <p:cond delay="748"/>
                                  </p:stCondLst>
                                  <p:childTnLst>
                                    <p:set>
                                      <p:cBhvr>
                                        <p:cTn id="94" dur="1" fill="hold">
                                          <p:stCondLst>
                                            <p:cond delay="0"/>
                                          </p:stCondLst>
                                        </p:cTn>
                                        <p:tgtEl>
                                          <p:spTgt spid="23"/>
                                        </p:tgtEl>
                                        <p:attrNameLst>
                                          <p:attrName>style.visibility</p:attrName>
                                        </p:attrNameLst>
                                      </p:cBhvr>
                                      <p:to>
                                        <p:strVal val="visible"/>
                                      </p:to>
                                    </p:set>
                                    <p:animEffect transition="in" filter="fade">
                                      <p:cBhvr>
                                        <p:cTn id="95" dur="380"/>
                                        <p:tgtEl>
                                          <p:spTgt spid="23"/>
                                        </p:tgtEl>
                                      </p:cBhvr>
                                    </p:animEffect>
                                    <p:anim calcmode="lin" valueType="num">
                                      <p:cBhvr additive="base">
                                        <p:cTn id="96" dur="380" fill="hold"/>
                                        <p:tgtEl>
                                          <p:spTgt spid="23"/>
                                        </p:tgtEl>
                                        <p:attrNameLst>
                                          <p:attrName>ppt_y</p:attrName>
                                        </p:attrNameLst>
                                      </p:cBhvr>
                                      <p:tavLst>
                                        <p:tav tm="0">
                                          <p:val>
                                            <p:strVal val="#ppt_y+0.03"/>
                                          </p:val>
                                        </p:tav>
                                        <p:tav tm="100000">
                                          <p:val>
                                            <p:strVal val="#ppt_y"/>
                                          </p:val>
                                        </p:tav>
                                      </p:tavLst>
                                    </p:anim>
                                  </p:childTnLst>
                                </p:cTn>
                              </p:par>
                              <p:par>
                                <p:cTn id="97" presetID="42" presetClass="entr" presetSubtype="0" fill="hold" grpId="0" nodeType="afterEffect">
                                  <p:stCondLst>
                                    <p:cond delay="782"/>
                                  </p:stCondLst>
                                  <p:childTnLst>
                                    <p:set>
                                      <p:cBhvr>
                                        <p:cTn id="98" dur="1" fill="hold">
                                          <p:stCondLst>
                                            <p:cond delay="0"/>
                                          </p:stCondLst>
                                        </p:cTn>
                                        <p:tgtEl>
                                          <p:spTgt spid="24"/>
                                        </p:tgtEl>
                                        <p:attrNameLst>
                                          <p:attrName>style.visibility</p:attrName>
                                        </p:attrNameLst>
                                      </p:cBhvr>
                                      <p:to>
                                        <p:strVal val="visible"/>
                                      </p:to>
                                    </p:set>
                                    <p:animEffect transition="in" filter="fade">
                                      <p:cBhvr>
                                        <p:cTn id="99" dur="380"/>
                                        <p:tgtEl>
                                          <p:spTgt spid="24"/>
                                        </p:tgtEl>
                                      </p:cBhvr>
                                    </p:animEffect>
                                    <p:anim calcmode="lin" valueType="num">
                                      <p:cBhvr additive="base">
                                        <p:cTn id="100" dur="380" fill="hold"/>
                                        <p:tgtEl>
                                          <p:spTgt spid="24"/>
                                        </p:tgtEl>
                                        <p:attrNameLst>
                                          <p:attrName>ppt_y</p:attrName>
                                        </p:attrNameLst>
                                      </p:cBhvr>
                                      <p:tavLst>
                                        <p:tav tm="0">
                                          <p:val>
                                            <p:strVal val="#ppt_y+0.03"/>
                                          </p:val>
                                        </p:tav>
                                        <p:tav tm="100000">
                                          <p:val>
                                            <p:strVal val="#ppt_y"/>
                                          </p:val>
                                        </p:tav>
                                      </p:tavLst>
                                    </p:anim>
                                  </p:childTnLst>
                                </p:cTn>
                              </p:par>
                              <p:par>
                                <p:cTn id="101" presetID="42" presetClass="entr" presetSubtype="0" fill="hold" grpId="0" nodeType="afterEffect">
                                  <p:stCondLst>
                                    <p:cond delay="816"/>
                                  </p:stCondLst>
                                  <p:childTnLst>
                                    <p:set>
                                      <p:cBhvr>
                                        <p:cTn id="102" dur="1" fill="hold">
                                          <p:stCondLst>
                                            <p:cond delay="0"/>
                                          </p:stCondLst>
                                        </p:cTn>
                                        <p:tgtEl>
                                          <p:spTgt spid="25"/>
                                        </p:tgtEl>
                                        <p:attrNameLst>
                                          <p:attrName>style.visibility</p:attrName>
                                        </p:attrNameLst>
                                      </p:cBhvr>
                                      <p:to>
                                        <p:strVal val="visible"/>
                                      </p:to>
                                    </p:set>
                                    <p:animEffect transition="in" filter="fade">
                                      <p:cBhvr>
                                        <p:cTn id="103" dur="380"/>
                                        <p:tgtEl>
                                          <p:spTgt spid="25"/>
                                        </p:tgtEl>
                                      </p:cBhvr>
                                    </p:animEffect>
                                    <p:anim calcmode="lin" valueType="num">
                                      <p:cBhvr additive="base">
                                        <p:cTn id="104" dur="380" fill="hold"/>
                                        <p:tgtEl>
                                          <p:spTgt spid="25"/>
                                        </p:tgtEl>
                                        <p:attrNameLst>
                                          <p:attrName>ppt_y</p:attrName>
                                        </p:attrNameLst>
                                      </p:cBhvr>
                                      <p:tavLst>
                                        <p:tav tm="0">
                                          <p:val>
                                            <p:strVal val="#ppt_y+0.03"/>
                                          </p:val>
                                        </p:tav>
                                        <p:tav tm="100000">
                                          <p:val>
                                            <p:strVal val="#ppt_y"/>
                                          </p:val>
                                        </p:tav>
                                      </p:tavLst>
                                    </p:anim>
                                  </p:childTnLst>
                                </p:cTn>
                              </p:par>
                              <p:par>
                                <p:cTn id="105" presetID="42" presetClass="entr" presetSubtype="0" fill="hold" grpId="0" nodeType="afterEffect">
                                  <p:stCondLst>
                                    <p:cond delay="850"/>
                                  </p:stCondLst>
                                  <p:childTnLst>
                                    <p:set>
                                      <p:cBhvr>
                                        <p:cTn id="106" dur="1" fill="hold">
                                          <p:stCondLst>
                                            <p:cond delay="0"/>
                                          </p:stCondLst>
                                        </p:cTn>
                                        <p:tgtEl>
                                          <p:spTgt spid="26"/>
                                        </p:tgtEl>
                                        <p:attrNameLst>
                                          <p:attrName>style.visibility</p:attrName>
                                        </p:attrNameLst>
                                      </p:cBhvr>
                                      <p:to>
                                        <p:strVal val="visible"/>
                                      </p:to>
                                    </p:set>
                                    <p:animEffect transition="in" filter="fade">
                                      <p:cBhvr>
                                        <p:cTn id="107" dur="380"/>
                                        <p:tgtEl>
                                          <p:spTgt spid="26"/>
                                        </p:tgtEl>
                                      </p:cBhvr>
                                    </p:animEffect>
                                    <p:anim calcmode="lin" valueType="num">
                                      <p:cBhvr additive="base">
                                        <p:cTn id="108" dur="380" fill="hold"/>
                                        <p:tgtEl>
                                          <p:spTgt spid="26"/>
                                        </p:tgtEl>
                                        <p:attrNameLst>
                                          <p:attrName>ppt_y</p:attrName>
                                        </p:attrNameLst>
                                      </p:cBhvr>
                                      <p:tavLst>
                                        <p:tav tm="0">
                                          <p:val>
                                            <p:strVal val="#ppt_y+0.03"/>
                                          </p:val>
                                        </p:tav>
                                        <p:tav tm="100000">
                                          <p:val>
                                            <p:strVal val="#ppt_y"/>
                                          </p:val>
                                        </p:tav>
                                      </p:tavLst>
                                    </p:anim>
                                  </p:childTnLst>
                                </p:cTn>
                              </p:par>
                              <p:par>
                                <p:cTn id="109" presetID="42" presetClass="entr" presetSubtype="0" fill="hold" grpId="0" nodeType="afterEffect">
                                  <p:stCondLst>
                                    <p:cond delay="884"/>
                                  </p:stCondLst>
                                  <p:childTnLst>
                                    <p:set>
                                      <p:cBhvr>
                                        <p:cTn id="110" dur="1" fill="hold">
                                          <p:stCondLst>
                                            <p:cond delay="0"/>
                                          </p:stCondLst>
                                        </p:cTn>
                                        <p:tgtEl>
                                          <p:spTgt spid="27"/>
                                        </p:tgtEl>
                                        <p:attrNameLst>
                                          <p:attrName>style.visibility</p:attrName>
                                        </p:attrNameLst>
                                      </p:cBhvr>
                                      <p:to>
                                        <p:strVal val="visible"/>
                                      </p:to>
                                    </p:set>
                                    <p:animEffect transition="in" filter="fade">
                                      <p:cBhvr>
                                        <p:cTn id="111" dur="380"/>
                                        <p:tgtEl>
                                          <p:spTgt spid="27"/>
                                        </p:tgtEl>
                                      </p:cBhvr>
                                    </p:animEffect>
                                    <p:anim calcmode="lin" valueType="num">
                                      <p:cBhvr additive="base">
                                        <p:cTn id="112" dur="380" fill="hold"/>
                                        <p:tgtEl>
                                          <p:spTgt spid="27"/>
                                        </p:tgtEl>
                                        <p:attrNameLst>
                                          <p:attrName>ppt_y</p:attrName>
                                        </p:attrNameLst>
                                      </p:cBhvr>
                                      <p:tavLst>
                                        <p:tav tm="0">
                                          <p:val>
                                            <p:strVal val="#ppt_y+0.03"/>
                                          </p:val>
                                        </p:tav>
                                        <p:tav tm="100000">
                                          <p:val>
                                            <p:strVal val="#ppt_y"/>
                                          </p:val>
                                        </p:tav>
                                      </p:tavLst>
                                    </p:anim>
                                  </p:childTnLst>
                                </p:cTn>
                              </p:par>
                              <p:par>
                                <p:cTn id="113" presetID="42" presetClass="entr" presetSubtype="0" fill="hold" grpId="0" nodeType="afterEffect">
                                  <p:stCondLst>
                                    <p:cond delay="918"/>
                                  </p:stCondLst>
                                  <p:childTnLst>
                                    <p:set>
                                      <p:cBhvr>
                                        <p:cTn id="114" dur="1" fill="hold">
                                          <p:stCondLst>
                                            <p:cond delay="0"/>
                                          </p:stCondLst>
                                        </p:cTn>
                                        <p:tgtEl>
                                          <p:spTgt spid="28"/>
                                        </p:tgtEl>
                                        <p:attrNameLst>
                                          <p:attrName>style.visibility</p:attrName>
                                        </p:attrNameLst>
                                      </p:cBhvr>
                                      <p:to>
                                        <p:strVal val="visible"/>
                                      </p:to>
                                    </p:set>
                                    <p:animEffect transition="in" filter="fade">
                                      <p:cBhvr>
                                        <p:cTn id="115" dur="380"/>
                                        <p:tgtEl>
                                          <p:spTgt spid="28"/>
                                        </p:tgtEl>
                                      </p:cBhvr>
                                    </p:animEffect>
                                    <p:anim calcmode="lin" valueType="num">
                                      <p:cBhvr additive="base">
                                        <p:cTn id="116" dur="380" fill="hold"/>
                                        <p:tgtEl>
                                          <p:spTgt spid="28"/>
                                        </p:tgtEl>
                                        <p:attrNameLst>
                                          <p:attrName>ppt_y</p:attrName>
                                        </p:attrNameLst>
                                      </p:cBhvr>
                                      <p:tavLst>
                                        <p:tav tm="0">
                                          <p:val>
                                            <p:strVal val="#ppt_y+0.03"/>
                                          </p:val>
                                        </p:tav>
                                        <p:tav tm="100000">
                                          <p:val>
                                            <p:strVal val="#ppt_y"/>
                                          </p:val>
                                        </p:tav>
                                      </p:tavLst>
                                    </p:anim>
                                  </p:childTnLst>
                                </p:cTn>
                              </p:par>
                              <p:par>
                                <p:cTn id="117" presetID="42" presetClass="entr" presetSubtype="0" fill="hold" grpId="0" nodeType="afterEffect">
                                  <p:stCondLst>
                                    <p:cond delay="952"/>
                                  </p:stCondLst>
                                  <p:childTnLst>
                                    <p:set>
                                      <p:cBhvr>
                                        <p:cTn id="118" dur="1" fill="hold">
                                          <p:stCondLst>
                                            <p:cond delay="0"/>
                                          </p:stCondLst>
                                        </p:cTn>
                                        <p:tgtEl>
                                          <p:spTgt spid="29"/>
                                        </p:tgtEl>
                                        <p:attrNameLst>
                                          <p:attrName>style.visibility</p:attrName>
                                        </p:attrNameLst>
                                      </p:cBhvr>
                                      <p:to>
                                        <p:strVal val="visible"/>
                                      </p:to>
                                    </p:set>
                                    <p:animEffect transition="in" filter="fade">
                                      <p:cBhvr>
                                        <p:cTn id="119" dur="380"/>
                                        <p:tgtEl>
                                          <p:spTgt spid="29"/>
                                        </p:tgtEl>
                                      </p:cBhvr>
                                    </p:animEffect>
                                    <p:anim calcmode="lin" valueType="num">
                                      <p:cBhvr additive="base">
                                        <p:cTn id="120" dur="380" fill="hold"/>
                                        <p:tgtEl>
                                          <p:spTgt spid="29"/>
                                        </p:tgtEl>
                                        <p:attrNameLst>
                                          <p:attrName>ppt_y</p:attrName>
                                        </p:attrNameLst>
                                      </p:cBhvr>
                                      <p:tavLst>
                                        <p:tav tm="0">
                                          <p:val>
                                            <p:strVal val="#ppt_y+0.03"/>
                                          </p:val>
                                        </p:tav>
                                        <p:tav tm="100000">
                                          <p:val>
                                            <p:strVal val="#ppt_y"/>
                                          </p:val>
                                        </p:tav>
                                      </p:tavLst>
                                    </p:anim>
                                  </p:childTnLst>
                                </p:cTn>
                              </p:par>
                              <p:par>
                                <p:cTn id="121" presetID="42" presetClass="entr" presetSubtype="0" fill="hold" grpId="0" nodeType="afterEffect">
                                  <p:stCondLst>
                                    <p:cond delay="986"/>
                                  </p:stCondLst>
                                  <p:childTnLst>
                                    <p:set>
                                      <p:cBhvr>
                                        <p:cTn id="122" dur="1" fill="hold">
                                          <p:stCondLst>
                                            <p:cond delay="0"/>
                                          </p:stCondLst>
                                        </p:cTn>
                                        <p:tgtEl>
                                          <p:spTgt spid="30"/>
                                        </p:tgtEl>
                                        <p:attrNameLst>
                                          <p:attrName>style.visibility</p:attrName>
                                        </p:attrNameLst>
                                      </p:cBhvr>
                                      <p:to>
                                        <p:strVal val="visible"/>
                                      </p:to>
                                    </p:set>
                                    <p:animEffect transition="in" filter="fade">
                                      <p:cBhvr>
                                        <p:cTn id="123" dur="380"/>
                                        <p:tgtEl>
                                          <p:spTgt spid="30"/>
                                        </p:tgtEl>
                                      </p:cBhvr>
                                    </p:animEffect>
                                    <p:anim calcmode="lin" valueType="num">
                                      <p:cBhvr additive="base">
                                        <p:cTn id="124" dur="380" fill="hold"/>
                                        <p:tgtEl>
                                          <p:spTgt spid="30"/>
                                        </p:tgtEl>
                                        <p:attrNameLst>
                                          <p:attrName>ppt_y</p:attrName>
                                        </p:attrNameLst>
                                      </p:cBhvr>
                                      <p:tavLst>
                                        <p:tav tm="0">
                                          <p:val>
                                            <p:strVal val="#ppt_y+0.03"/>
                                          </p:val>
                                        </p:tav>
                                        <p:tav tm="100000">
                                          <p:val>
                                            <p:strVal val="#ppt_y"/>
                                          </p:val>
                                        </p:tav>
                                      </p:tavLst>
                                    </p:anim>
                                  </p:childTnLst>
                                </p:cTn>
                              </p:par>
                              <p:par>
                                <p:cTn id="125" presetID="42" presetClass="entr" presetSubtype="0" fill="hold" grpId="0" nodeType="afterEffect">
                                  <p:stCondLst>
                                    <p:cond delay="1020"/>
                                  </p:stCondLst>
                                  <p:childTnLst>
                                    <p:set>
                                      <p:cBhvr>
                                        <p:cTn id="126" dur="1" fill="hold">
                                          <p:stCondLst>
                                            <p:cond delay="0"/>
                                          </p:stCondLst>
                                        </p:cTn>
                                        <p:tgtEl>
                                          <p:spTgt spid="31"/>
                                        </p:tgtEl>
                                        <p:attrNameLst>
                                          <p:attrName>style.visibility</p:attrName>
                                        </p:attrNameLst>
                                      </p:cBhvr>
                                      <p:to>
                                        <p:strVal val="visible"/>
                                      </p:to>
                                    </p:set>
                                    <p:animEffect transition="in" filter="fade">
                                      <p:cBhvr>
                                        <p:cTn id="127" dur="380"/>
                                        <p:tgtEl>
                                          <p:spTgt spid="31"/>
                                        </p:tgtEl>
                                      </p:cBhvr>
                                    </p:animEffect>
                                    <p:anim calcmode="lin" valueType="num">
                                      <p:cBhvr additive="base">
                                        <p:cTn id="128" dur="380" fill="hold"/>
                                        <p:tgtEl>
                                          <p:spTgt spid="31"/>
                                        </p:tgtEl>
                                        <p:attrNameLst>
                                          <p:attrName>ppt_y</p:attrName>
                                        </p:attrNameLst>
                                      </p:cBhvr>
                                      <p:tavLst>
                                        <p:tav tm="0">
                                          <p:val>
                                            <p:strVal val="#ppt_y+0.03"/>
                                          </p:val>
                                        </p:tav>
                                        <p:tav tm="100000">
                                          <p:val>
                                            <p:strVal val="#ppt_y"/>
                                          </p:val>
                                        </p:tav>
                                      </p:tavLst>
                                    </p:anim>
                                  </p:childTnLst>
                                </p:cTn>
                              </p:par>
                              <p:par>
                                <p:cTn id="129" presetID="42" presetClass="entr" presetSubtype="0" fill="hold" grpId="0" nodeType="afterEffect">
                                  <p:stCondLst>
                                    <p:cond delay="1054"/>
                                  </p:stCondLst>
                                  <p:childTnLst>
                                    <p:set>
                                      <p:cBhvr>
                                        <p:cTn id="130" dur="1" fill="hold">
                                          <p:stCondLst>
                                            <p:cond delay="0"/>
                                          </p:stCondLst>
                                        </p:cTn>
                                        <p:tgtEl>
                                          <p:spTgt spid="32"/>
                                        </p:tgtEl>
                                        <p:attrNameLst>
                                          <p:attrName>style.visibility</p:attrName>
                                        </p:attrNameLst>
                                      </p:cBhvr>
                                      <p:to>
                                        <p:strVal val="visible"/>
                                      </p:to>
                                    </p:set>
                                    <p:animEffect transition="in" filter="fade">
                                      <p:cBhvr>
                                        <p:cTn id="131" dur="380"/>
                                        <p:tgtEl>
                                          <p:spTgt spid="32"/>
                                        </p:tgtEl>
                                      </p:cBhvr>
                                    </p:animEffect>
                                    <p:anim calcmode="lin" valueType="num">
                                      <p:cBhvr additive="base">
                                        <p:cTn id="132" dur="380" fill="hold"/>
                                        <p:tgtEl>
                                          <p:spTgt spid="32"/>
                                        </p:tgtEl>
                                        <p:attrNameLst>
                                          <p:attrName>ppt_y</p:attrName>
                                        </p:attrNameLst>
                                      </p:cBhvr>
                                      <p:tavLst>
                                        <p:tav tm="0">
                                          <p:val>
                                            <p:strVal val="#ppt_y+0.03"/>
                                          </p:val>
                                        </p:tav>
                                        <p:tav tm="100000">
                                          <p:val>
                                            <p:strVal val="#ppt_y"/>
                                          </p:val>
                                        </p:tav>
                                      </p:tavLst>
                                    </p:anim>
                                  </p:childTnLst>
                                </p:cTn>
                              </p:par>
                              <p:par>
                                <p:cTn id="133" presetID="42" presetClass="entr" presetSubtype="0" fill="hold" grpId="0" nodeType="afterEffect">
                                  <p:stCondLst>
                                    <p:cond delay="1088"/>
                                  </p:stCondLst>
                                  <p:childTnLst>
                                    <p:set>
                                      <p:cBhvr>
                                        <p:cTn id="134" dur="1" fill="hold">
                                          <p:stCondLst>
                                            <p:cond delay="0"/>
                                          </p:stCondLst>
                                        </p:cTn>
                                        <p:tgtEl>
                                          <p:spTgt spid="33"/>
                                        </p:tgtEl>
                                        <p:attrNameLst>
                                          <p:attrName>style.visibility</p:attrName>
                                        </p:attrNameLst>
                                      </p:cBhvr>
                                      <p:to>
                                        <p:strVal val="visible"/>
                                      </p:to>
                                    </p:set>
                                    <p:animEffect transition="in" filter="fade">
                                      <p:cBhvr>
                                        <p:cTn id="135" dur="380"/>
                                        <p:tgtEl>
                                          <p:spTgt spid="33"/>
                                        </p:tgtEl>
                                      </p:cBhvr>
                                    </p:animEffect>
                                    <p:anim calcmode="lin" valueType="num">
                                      <p:cBhvr additive="base">
                                        <p:cTn id="136" dur="380" fill="hold"/>
                                        <p:tgtEl>
                                          <p:spTgt spid="33"/>
                                        </p:tgtEl>
                                        <p:attrNameLst>
                                          <p:attrName>ppt_y</p:attrName>
                                        </p:attrNameLst>
                                      </p:cBhvr>
                                      <p:tavLst>
                                        <p:tav tm="0">
                                          <p:val>
                                            <p:strVal val="#ppt_y+0.03"/>
                                          </p:val>
                                        </p:tav>
                                        <p:tav tm="100000">
                                          <p:val>
                                            <p:strVal val="#ppt_y"/>
                                          </p:val>
                                        </p:tav>
                                      </p:tavLst>
                                    </p:anim>
                                  </p:childTnLst>
                                </p:cTn>
                              </p:par>
                              <p:par>
                                <p:cTn id="137" presetID="42" presetClass="entr" presetSubtype="0" fill="hold" grpId="0" nodeType="afterEffect">
                                  <p:stCondLst>
                                    <p:cond delay="1122"/>
                                  </p:stCondLst>
                                  <p:childTnLst>
                                    <p:set>
                                      <p:cBhvr>
                                        <p:cTn id="138" dur="1" fill="hold">
                                          <p:stCondLst>
                                            <p:cond delay="0"/>
                                          </p:stCondLst>
                                        </p:cTn>
                                        <p:tgtEl>
                                          <p:spTgt spid="34"/>
                                        </p:tgtEl>
                                        <p:attrNameLst>
                                          <p:attrName>style.visibility</p:attrName>
                                        </p:attrNameLst>
                                      </p:cBhvr>
                                      <p:to>
                                        <p:strVal val="visible"/>
                                      </p:to>
                                    </p:set>
                                    <p:animEffect transition="in" filter="fade">
                                      <p:cBhvr>
                                        <p:cTn id="139" dur="380"/>
                                        <p:tgtEl>
                                          <p:spTgt spid="34"/>
                                        </p:tgtEl>
                                      </p:cBhvr>
                                    </p:animEffect>
                                    <p:anim calcmode="lin" valueType="num">
                                      <p:cBhvr additive="base">
                                        <p:cTn id="140" dur="380" fill="hold"/>
                                        <p:tgtEl>
                                          <p:spTgt spid="34"/>
                                        </p:tgtEl>
                                        <p:attrNameLst>
                                          <p:attrName>ppt_y</p:attrName>
                                        </p:attrNameLst>
                                      </p:cBhvr>
                                      <p:tavLst>
                                        <p:tav tm="0">
                                          <p:val>
                                            <p:strVal val="#ppt_y+0.03"/>
                                          </p:val>
                                        </p:tav>
                                        <p:tav tm="100000">
                                          <p:val>
                                            <p:strVal val="#ppt_y"/>
                                          </p:val>
                                        </p:tav>
                                      </p:tavLst>
                                    </p:anim>
                                  </p:childTnLst>
                                </p:cTn>
                              </p:par>
                              <p:par>
                                <p:cTn id="141" presetID="42" presetClass="entr" presetSubtype="0" fill="hold" grpId="0" nodeType="afterEffect">
                                  <p:stCondLst>
                                    <p:cond delay="1156"/>
                                  </p:stCondLst>
                                  <p:childTnLst>
                                    <p:set>
                                      <p:cBhvr>
                                        <p:cTn id="142" dur="1" fill="hold">
                                          <p:stCondLst>
                                            <p:cond delay="0"/>
                                          </p:stCondLst>
                                        </p:cTn>
                                        <p:tgtEl>
                                          <p:spTgt spid="35"/>
                                        </p:tgtEl>
                                        <p:attrNameLst>
                                          <p:attrName>style.visibility</p:attrName>
                                        </p:attrNameLst>
                                      </p:cBhvr>
                                      <p:to>
                                        <p:strVal val="visible"/>
                                      </p:to>
                                    </p:set>
                                    <p:animEffect transition="in" filter="fade">
                                      <p:cBhvr>
                                        <p:cTn id="143" dur="380"/>
                                        <p:tgtEl>
                                          <p:spTgt spid="35"/>
                                        </p:tgtEl>
                                      </p:cBhvr>
                                    </p:animEffect>
                                    <p:anim calcmode="lin" valueType="num">
                                      <p:cBhvr additive="base">
                                        <p:cTn id="144" dur="380" fill="hold"/>
                                        <p:tgtEl>
                                          <p:spTgt spid="35"/>
                                        </p:tgtEl>
                                        <p:attrNameLst>
                                          <p:attrName>ppt_y</p:attrName>
                                        </p:attrNameLst>
                                      </p:cBhvr>
                                      <p:tavLst>
                                        <p:tav tm="0">
                                          <p:val>
                                            <p:strVal val="#ppt_y+0.03"/>
                                          </p:val>
                                        </p:tav>
                                        <p:tav tm="100000">
                                          <p:val>
                                            <p:strVal val="#ppt_y"/>
                                          </p:val>
                                        </p:tav>
                                      </p:tavLst>
                                    </p:anim>
                                  </p:childTnLst>
                                </p:cTn>
                              </p:par>
                              <p:par>
                                <p:cTn id="145" presetID="42" presetClass="entr" presetSubtype="0" fill="hold" grpId="0" nodeType="afterEffect">
                                  <p:stCondLst>
                                    <p:cond delay="1190"/>
                                  </p:stCondLst>
                                  <p:childTnLst>
                                    <p:set>
                                      <p:cBhvr>
                                        <p:cTn id="146" dur="1" fill="hold">
                                          <p:stCondLst>
                                            <p:cond delay="0"/>
                                          </p:stCondLst>
                                        </p:cTn>
                                        <p:tgtEl>
                                          <p:spTgt spid="36"/>
                                        </p:tgtEl>
                                        <p:attrNameLst>
                                          <p:attrName>style.visibility</p:attrName>
                                        </p:attrNameLst>
                                      </p:cBhvr>
                                      <p:to>
                                        <p:strVal val="visible"/>
                                      </p:to>
                                    </p:set>
                                    <p:animEffect transition="in" filter="fade">
                                      <p:cBhvr>
                                        <p:cTn id="147" dur="380"/>
                                        <p:tgtEl>
                                          <p:spTgt spid="36"/>
                                        </p:tgtEl>
                                      </p:cBhvr>
                                    </p:animEffect>
                                    <p:anim calcmode="lin" valueType="num">
                                      <p:cBhvr additive="base">
                                        <p:cTn id="148" dur="380" fill="hold"/>
                                        <p:tgtEl>
                                          <p:spTgt spid="36"/>
                                        </p:tgtEl>
                                        <p:attrNameLst>
                                          <p:attrName>ppt_y</p:attrName>
                                        </p:attrNameLst>
                                      </p:cBhvr>
                                      <p:tavLst>
                                        <p:tav tm="0">
                                          <p:val>
                                            <p:strVal val="#ppt_y+0.03"/>
                                          </p:val>
                                        </p:tav>
                                        <p:tav tm="100000">
                                          <p:val>
                                            <p:strVal val="#ppt_y"/>
                                          </p:val>
                                        </p:tav>
                                      </p:tavLst>
                                    </p:anim>
                                  </p:childTnLst>
                                </p:cTn>
                              </p:par>
                              <p:par>
                                <p:cTn id="149" presetID="42" presetClass="entr" presetSubtype="0" fill="hold" grpId="0" nodeType="afterEffect">
                                  <p:stCondLst>
                                    <p:cond delay="1224"/>
                                  </p:stCondLst>
                                  <p:childTnLst>
                                    <p:set>
                                      <p:cBhvr>
                                        <p:cTn id="150" dur="1" fill="hold">
                                          <p:stCondLst>
                                            <p:cond delay="0"/>
                                          </p:stCondLst>
                                        </p:cTn>
                                        <p:tgtEl>
                                          <p:spTgt spid="37"/>
                                        </p:tgtEl>
                                        <p:attrNameLst>
                                          <p:attrName>style.visibility</p:attrName>
                                        </p:attrNameLst>
                                      </p:cBhvr>
                                      <p:to>
                                        <p:strVal val="visible"/>
                                      </p:to>
                                    </p:set>
                                    <p:animEffect transition="in" filter="fade">
                                      <p:cBhvr>
                                        <p:cTn id="151" dur="380"/>
                                        <p:tgtEl>
                                          <p:spTgt spid="37"/>
                                        </p:tgtEl>
                                      </p:cBhvr>
                                    </p:animEffect>
                                    <p:anim calcmode="lin" valueType="num">
                                      <p:cBhvr additive="base">
                                        <p:cTn id="152" dur="380" fill="hold"/>
                                        <p:tgtEl>
                                          <p:spTgt spid="37"/>
                                        </p:tgtEl>
                                        <p:attrNameLst>
                                          <p:attrName>ppt_y</p:attrName>
                                        </p:attrNameLst>
                                      </p:cBhvr>
                                      <p:tavLst>
                                        <p:tav tm="0">
                                          <p:val>
                                            <p:strVal val="#ppt_y+0.03"/>
                                          </p:val>
                                        </p:tav>
                                        <p:tav tm="100000">
                                          <p:val>
                                            <p:strVal val="#ppt_y"/>
                                          </p:val>
                                        </p:tav>
                                      </p:tavLst>
                                    </p:anim>
                                  </p:childTnLst>
                                </p:cTn>
                              </p:par>
                              <p:par>
                                <p:cTn id="153" presetID="42" presetClass="entr" presetSubtype="0" fill="hold" grpId="0" nodeType="afterEffect">
                                  <p:stCondLst>
                                    <p:cond delay="1258"/>
                                  </p:stCondLst>
                                  <p:childTnLst>
                                    <p:set>
                                      <p:cBhvr>
                                        <p:cTn id="154" dur="1" fill="hold">
                                          <p:stCondLst>
                                            <p:cond delay="0"/>
                                          </p:stCondLst>
                                        </p:cTn>
                                        <p:tgtEl>
                                          <p:spTgt spid="38"/>
                                        </p:tgtEl>
                                        <p:attrNameLst>
                                          <p:attrName>style.visibility</p:attrName>
                                        </p:attrNameLst>
                                      </p:cBhvr>
                                      <p:to>
                                        <p:strVal val="visible"/>
                                      </p:to>
                                    </p:set>
                                    <p:animEffect transition="in" filter="fade">
                                      <p:cBhvr>
                                        <p:cTn id="155" dur="380"/>
                                        <p:tgtEl>
                                          <p:spTgt spid="38"/>
                                        </p:tgtEl>
                                      </p:cBhvr>
                                    </p:animEffect>
                                    <p:anim calcmode="lin" valueType="num">
                                      <p:cBhvr additive="base">
                                        <p:cTn id="156" dur="380" fill="hold"/>
                                        <p:tgtEl>
                                          <p:spTgt spid="38"/>
                                        </p:tgtEl>
                                        <p:attrNameLst>
                                          <p:attrName>ppt_y</p:attrName>
                                        </p:attrNameLst>
                                      </p:cBhvr>
                                      <p:tavLst>
                                        <p:tav tm="0">
                                          <p:val>
                                            <p:strVal val="#ppt_y+0.03"/>
                                          </p:val>
                                        </p:tav>
                                        <p:tav tm="100000">
                                          <p:val>
                                            <p:strVal val="#ppt_y"/>
                                          </p:val>
                                        </p:tav>
                                      </p:tavLst>
                                    </p:anim>
                                  </p:childTnLst>
                                </p:cTn>
                              </p:par>
                              <p:par>
                                <p:cTn id="157" presetID="42" presetClass="entr" presetSubtype="0" fill="hold" grpId="0" nodeType="afterEffect">
                                  <p:stCondLst>
                                    <p:cond delay="1292"/>
                                  </p:stCondLst>
                                  <p:childTnLst>
                                    <p:set>
                                      <p:cBhvr>
                                        <p:cTn id="158" dur="1" fill="hold">
                                          <p:stCondLst>
                                            <p:cond delay="0"/>
                                          </p:stCondLst>
                                        </p:cTn>
                                        <p:tgtEl>
                                          <p:spTgt spid="39"/>
                                        </p:tgtEl>
                                        <p:attrNameLst>
                                          <p:attrName>style.visibility</p:attrName>
                                        </p:attrNameLst>
                                      </p:cBhvr>
                                      <p:to>
                                        <p:strVal val="visible"/>
                                      </p:to>
                                    </p:set>
                                    <p:animEffect transition="in" filter="fade">
                                      <p:cBhvr>
                                        <p:cTn id="159" dur="380"/>
                                        <p:tgtEl>
                                          <p:spTgt spid="39"/>
                                        </p:tgtEl>
                                      </p:cBhvr>
                                    </p:animEffect>
                                    <p:anim calcmode="lin" valueType="num">
                                      <p:cBhvr additive="base">
                                        <p:cTn id="160" dur="380" fill="hold"/>
                                        <p:tgtEl>
                                          <p:spTgt spid="39"/>
                                        </p:tgtEl>
                                        <p:attrNameLst>
                                          <p:attrName>ppt_y</p:attrName>
                                        </p:attrNameLst>
                                      </p:cBhvr>
                                      <p:tavLst>
                                        <p:tav tm="0">
                                          <p:val>
                                            <p:strVal val="#ppt_y+0.03"/>
                                          </p:val>
                                        </p:tav>
                                        <p:tav tm="100000">
                                          <p:val>
                                            <p:strVal val="#ppt_y"/>
                                          </p:val>
                                        </p:tav>
                                      </p:tavLst>
                                    </p:anim>
                                  </p:childTnLst>
                                </p:cTn>
                              </p:par>
                              <p:par>
                                <p:cTn id="161" presetID="42" presetClass="entr" presetSubtype="0" fill="hold" grpId="0" nodeType="afterEffect">
                                  <p:stCondLst>
                                    <p:cond delay="1326"/>
                                  </p:stCondLst>
                                  <p:childTnLst>
                                    <p:set>
                                      <p:cBhvr>
                                        <p:cTn id="162" dur="1" fill="hold">
                                          <p:stCondLst>
                                            <p:cond delay="0"/>
                                          </p:stCondLst>
                                        </p:cTn>
                                        <p:tgtEl>
                                          <p:spTgt spid="40"/>
                                        </p:tgtEl>
                                        <p:attrNameLst>
                                          <p:attrName>style.visibility</p:attrName>
                                        </p:attrNameLst>
                                      </p:cBhvr>
                                      <p:to>
                                        <p:strVal val="visible"/>
                                      </p:to>
                                    </p:set>
                                    <p:animEffect transition="in" filter="fade">
                                      <p:cBhvr>
                                        <p:cTn id="163" dur="380"/>
                                        <p:tgtEl>
                                          <p:spTgt spid="40"/>
                                        </p:tgtEl>
                                      </p:cBhvr>
                                    </p:animEffect>
                                    <p:anim calcmode="lin" valueType="num">
                                      <p:cBhvr additive="base">
                                        <p:cTn id="164" dur="380" fill="hold"/>
                                        <p:tgtEl>
                                          <p:spTgt spid="40"/>
                                        </p:tgtEl>
                                        <p:attrNameLst>
                                          <p:attrName>ppt_y</p:attrName>
                                        </p:attrNameLst>
                                      </p:cBhvr>
                                      <p:tavLst>
                                        <p:tav tm="0">
                                          <p:val>
                                            <p:strVal val="#ppt_y+0.03"/>
                                          </p:val>
                                        </p:tav>
                                        <p:tav tm="100000">
                                          <p:val>
                                            <p:strVal val="#ppt_y"/>
                                          </p:val>
                                        </p:tav>
                                      </p:tavLst>
                                    </p:anim>
                                  </p:childTnLst>
                                </p:cTn>
                              </p:par>
                              <p:par>
                                <p:cTn id="165" presetID="42" presetClass="entr" presetSubtype="0" fill="hold" grpId="0" nodeType="afterEffect">
                                  <p:stCondLst>
                                    <p:cond delay="1360"/>
                                  </p:stCondLst>
                                  <p:childTnLst>
                                    <p:set>
                                      <p:cBhvr>
                                        <p:cTn id="166" dur="1" fill="hold">
                                          <p:stCondLst>
                                            <p:cond delay="0"/>
                                          </p:stCondLst>
                                        </p:cTn>
                                        <p:tgtEl>
                                          <p:spTgt spid="41"/>
                                        </p:tgtEl>
                                        <p:attrNameLst>
                                          <p:attrName>style.visibility</p:attrName>
                                        </p:attrNameLst>
                                      </p:cBhvr>
                                      <p:to>
                                        <p:strVal val="visible"/>
                                      </p:to>
                                    </p:set>
                                    <p:animEffect transition="in" filter="fade">
                                      <p:cBhvr>
                                        <p:cTn id="167" dur="380"/>
                                        <p:tgtEl>
                                          <p:spTgt spid="41"/>
                                        </p:tgtEl>
                                      </p:cBhvr>
                                    </p:animEffect>
                                    <p:anim calcmode="lin" valueType="num">
                                      <p:cBhvr additive="base">
                                        <p:cTn id="168" dur="380" fill="hold"/>
                                        <p:tgtEl>
                                          <p:spTgt spid="41"/>
                                        </p:tgtEl>
                                        <p:attrNameLst>
                                          <p:attrName>ppt_y</p:attrName>
                                        </p:attrNameLst>
                                      </p:cBhvr>
                                      <p:tavLst>
                                        <p:tav tm="0">
                                          <p:val>
                                            <p:strVal val="#ppt_y+0.03"/>
                                          </p:val>
                                        </p:tav>
                                        <p:tav tm="100000">
                                          <p:val>
                                            <p:strVal val="#ppt_y"/>
                                          </p:val>
                                        </p:tav>
                                      </p:tavLst>
                                    </p:anim>
                                  </p:childTnLst>
                                </p:cTn>
                              </p:par>
                              <p:par>
                                <p:cTn id="169" presetID="42" presetClass="entr" presetSubtype="0" fill="hold" grpId="0" nodeType="afterEffect">
                                  <p:stCondLst>
                                    <p:cond delay="1394"/>
                                  </p:stCondLst>
                                  <p:childTnLst>
                                    <p:set>
                                      <p:cBhvr>
                                        <p:cTn id="170" dur="1" fill="hold">
                                          <p:stCondLst>
                                            <p:cond delay="0"/>
                                          </p:stCondLst>
                                        </p:cTn>
                                        <p:tgtEl>
                                          <p:spTgt spid="42"/>
                                        </p:tgtEl>
                                        <p:attrNameLst>
                                          <p:attrName>style.visibility</p:attrName>
                                        </p:attrNameLst>
                                      </p:cBhvr>
                                      <p:to>
                                        <p:strVal val="visible"/>
                                      </p:to>
                                    </p:set>
                                    <p:animEffect transition="in" filter="fade">
                                      <p:cBhvr>
                                        <p:cTn id="171" dur="380"/>
                                        <p:tgtEl>
                                          <p:spTgt spid="42"/>
                                        </p:tgtEl>
                                      </p:cBhvr>
                                    </p:animEffect>
                                    <p:anim calcmode="lin" valueType="num">
                                      <p:cBhvr additive="base">
                                        <p:cTn id="172" dur="380" fill="hold"/>
                                        <p:tgtEl>
                                          <p:spTgt spid="42"/>
                                        </p:tgtEl>
                                        <p:attrNameLst>
                                          <p:attrName>ppt_y</p:attrName>
                                        </p:attrNameLst>
                                      </p:cBhvr>
                                      <p:tavLst>
                                        <p:tav tm="0">
                                          <p:val>
                                            <p:strVal val="#ppt_y+0.03"/>
                                          </p:val>
                                        </p:tav>
                                        <p:tav tm="100000">
                                          <p:val>
                                            <p:strVal val="#ppt_y"/>
                                          </p:val>
                                        </p:tav>
                                      </p:tavLst>
                                    </p:anim>
                                  </p:childTnLst>
                                </p:cTn>
                              </p:par>
                              <p:par>
                                <p:cTn id="173" presetID="42" presetClass="entr" presetSubtype="0" fill="hold" grpId="0" nodeType="afterEffect">
                                  <p:stCondLst>
                                    <p:cond delay="1428"/>
                                  </p:stCondLst>
                                  <p:childTnLst>
                                    <p:set>
                                      <p:cBhvr>
                                        <p:cTn id="174" dur="1" fill="hold">
                                          <p:stCondLst>
                                            <p:cond delay="0"/>
                                          </p:stCondLst>
                                        </p:cTn>
                                        <p:tgtEl>
                                          <p:spTgt spid="43"/>
                                        </p:tgtEl>
                                        <p:attrNameLst>
                                          <p:attrName>style.visibility</p:attrName>
                                        </p:attrNameLst>
                                      </p:cBhvr>
                                      <p:to>
                                        <p:strVal val="visible"/>
                                      </p:to>
                                    </p:set>
                                    <p:animEffect transition="in" filter="fade">
                                      <p:cBhvr>
                                        <p:cTn id="175" dur="380"/>
                                        <p:tgtEl>
                                          <p:spTgt spid="43"/>
                                        </p:tgtEl>
                                      </p:cBhvr>
                                    </p:animEffect>
                                    <p:anim calcmode="lin" valueType="num">
                                      <p:cBhvr additive="base">
                                        <p:cTn id="176" dur="380" fill="hold"/>
                                        <p:tgtEl>
                                          <p:spTgt spid="43"/>
                                        </p:tgtEl>
                                        <p:attrNameLst>
                                          <p:attrName>ppt_y</p:attrName>
                                        </p:attrNameLst>
                                      </p:cBhvr>
                                      <p:tavLst>
                                        <p:tav tm="0">
                                          <p:val>
                                            <p:strVal val="#ppt_y+0.03"/>
                                          </p:val>
                                        </p:tav>
                                        <p:tav tm="100000">
                                          <p:val>
                                            <p:strVal val="#ppt_y"/>
                                          </p:val>
                                        </p:tav>
                                      </p:tavLst>
                                    </p:anim>
                                  </p:childTnLst>
                                </p:cTn>
                              </p:par>
                              <p:par>
                                <p:cTn id="177" presetID="42" presetClass="entr" presetSubtype="0" fill="hold" grpId="0" nodeType="afterEffect">
                                  <p:stCondLst>
                                    <p:cond delay="1462"/>
                                  </p:stCondLst>
                                  <p:childTnLst>
                                    <p:set>
                                      <p:cBhvr>
                                        <p:cTn id="178" dur="1" fill="hold">
                                          <p:stCondLst>
                                            <p:cond delay="0"/>
                                          </p:stCondLst>
                                        </p:cTn>
                                        <p:tgtEl>
                                          <p:spTgt spid="44"/>
                                        </p:tgtEl>
                                        <p:attrNameLst>
                                          <p:attrName>style.visibility</p:attrName>
                                        </p:attrNameLst>
                                      </p:cBhvr>
                                      <p:to>
                                        <p:strVal val="visible"/>
                                      </p:to>
                                    </p:set>
                                    <p:animEffect transition="in" filter="fade">
                                      <p:cBhvr>
                                        <p:cTn id="179" dur="380"/>
                                        <p:tgtEl>
                                          <p:spTgt spid="44"/>
                                        </p:tgtEl>
                                      </p:cBhvr>
                                    </p:animEffect>
                                    <p:anim calcmode="lin" valueType="num">
                                      <p:cBhvr additive="base">
                                        <p:cTn id="180" dur="380" fill="hold"/>
                                        <p:tgtEl>
                                          <p:spTgt spid="44"/>
                                        </p:tgtEl>
                                        <p:attrNameLst>
                                          <p:attrName>ppt_y</p:attrName>
                                        </p:attrNameLst>
                                      </p:cBhvr>
                                      <p:tavLst>
                                        <p:tav tm="0">
                                          <p:val>
                                            <p:strVal val="#ppt_y+0.03"/>
                                          </p:val>
                                        </p:tav>
                                        <p:tav tm="100000">
                                          <p:val>
                                            <p:strVal val="#ppt_y"/>
                                          </p:val>
                                        </p:tav>
                                      </p:tavLst>
                                    </p:anim>
                                  </p:childTnLst>
                                </p:cTn>
                              </p:par>
                              <p:par>
                                <p:cTn id="181" presetID="42" presetClass="entr" presetSubtype="0" fill="hold" grpId="0" nodeType="afterEffect">
                                  <p:stCondLst>
                                    <p:cond delay="1496"/>
                                  </p:stCondLst>
                                  <p:childTnLst>
                                    <p:set>
                                      <p:cBhvr>
                                        <p:cTn id="182" dur="1" fill="hold">
                                          <p:stCondLst>
                                            <p:cond delay="0"/>
                                          </p:stCondLst>
                                        </p:cTn>
                                        <p:tgtEl>
                                          <p:spTgt spid="45"/>
                                        </p:tgtEl>
                                        <p:attrNameLst>
                                          <p:attrName>style.visibility</p:attrName>
                                        </p:attrNameLst>
                                      </p:cBhvr>
                                      <p:to>
                                        <p:strVal val="visible"/>
                                      </p:to>
                                    </p:set>
                                    <p:animEffect transition="in" filter="fade">
                                      <p:cBhvr>
                                        <p:cTn id="183" dur="380"/>
                                        <p:tgtEl>
                                          <p:spTgt spid="45"/>
                                        </p:tgtEl>
                                      </p:cBhvr>
                                    </p:animEffect>
                                    <p:anim calcmode="lin" valueType="num">
                                      <p:cBhvr additive="base">
                                        <p:cTn id="184" dur="380" fill="hold"/>
                                        <p:tgtEl>
                                          <p:spTgt spid="45"/>
                                        </p:tgtEl>
                                        <p:attrNameLst>
                                          <p:attrName>ppt_y</p:attrName>
                                        </p:attrNameLst>
                                      </p:cBhvr>
                                      <p:tavLst>
                                        <p:tav tm="0">
                                          <p:val>
                                            <p:strVal val="#ppt_y+0.03"/>
                                          </p:val>
                                        </p:tav>
                                        <p:tav tm="100000">
                                          <p:val>
                                            <p:strVal val="#ppt_y"/>
                                          </p:val>
                                        </p:tav>
                                      </p:tavLst>
                                    </p:anim>
                                  </p:childTnLst>
                                </p:cTn>
                              </p:par>
                              <p:par>
                                <p:cTn id="185" presetID="42" presetClass="entr" presetSubtype="0" fill="hold" grpId="0" nodeType="afterEffect">
                                  <p:stCondLst>
                                    <p:cond delay="1530"/>
                                  </p:stCondLst>
                                  <p:childTnLst>
                                    <p:set>
                                      <p:cBhvr>
                                        <p:cTn id="186" dur="1" fill="hold">
                                          <p:stCondLst>
                                            <p:cond delay="0"/>
                                          </p:stCondLst>
                                        </p:cTn>
                                        <p:tgtEl>
                                          <p:spTgt spid="46"/>
                                        </p:tgtEl>
                                        <p:attrNameLst>
                                          <p:attrName>style.visibility</p:attrName>
                                        </p:attrNameLst>
                                      </p:cBhvr>
                                      <p:to>
                                        <p:strVal val="visible"/>
                                      </p:to>
                                    </p:set>
                                    <p:animEffect transition="in" filter="fade">
                                      <p:cBhvr>
                                        <p:cTn id="187" dur="380"/>
                                        <p:tgtEl>
                                          <p:spTgt spid="46"/>
                                        </p:tgtEl>
                                      </p:cBhvr>
                                    </p:animEffect>
                                    <p:anim calcmode="lin" valueType="num">
                                      <p:cBhvr additive="base">
                                        <p:cTn id="188" dur="380" fill="hold"/>
                                        <p:tgtEl>
                                          <p:spTgt spid="46"/>
                                        </p:tgtEl>
                                        <p:attrNameLst>
                                          <p:attrName>ppt_y</p:attrName>
                                        </p:attrNameLst>
                                      </p:cBhvr>
                                      <p:tavLst>
                                        <p:tav tm="0">
                                          <p:val>
                                            <p:strVal val="#ppt_y+0.03"/>
                                          </p:val>
                                        </p:tav>
                                        <p:tav tm="100000">
                                          <p:val>
                                            <p:strVal val="#ppt_y"/>
                                          </p:val>
                                        </p:tav>
                                      </p:tavLst>
                                    </p:anim>
                                  </p:childTnLst>
                                </p:cTn>
                              </p:par>
                              <p:par>
                                <p:cTn id="189" presetID="42" presetClass="entr" presetSubtype="0" fill="hold" grpId="0" nodeType="afterEffect">
                                  <p:stCondLst>
                                    <p:cond delay="1564"/>
                                  </p:stCondLst>
                                  <p:childTnLst>
                                    <p:set>
                                      <p:cBhvr>
                                        <p:cTn id="190" dur="1" fill="hold">
                                          <p:stCondLst>
                                            <p:cond delay="0"/>
                                          </p:stCondLst>
                                        </p:cTn>
                                        <p:tgtEl>
                                          <p:spTgt spid="47"/>
                                        </p:tgtEl>
                                        <p:attrNameLst>
                                          <p:attrName>style.visibility</p:attrName>
                                        </p:attrNameLst>
                                      </p:cBhvr>
                                      <p:to>
                                        <p:strVal val="visible"/>
                                      </p:to>
                                    </p:set>
                                    <p:animEffect transition="in" filter="fade">
                                      <p:cBhvr>
                                        <p:cTn id="191" dur="380"/>
                                        <p:tgtEl>
                                          <p:spTgt spid="47"/>
                                        </p:tgtEl>
                                      </p:cBhvr>
                                    </p:animEffect>
                                    <p:anim calcmode="lin" valueType="num">
                                      <p:cBhvr additive="base">
                                        <p:cTn id="192" dur="380" fill="hold"/>
                                        <p:tgtEl>
                                          <p:spTgt spid="47"/>
                                        </p:tgtEl>
                                        <p:attrNameLst>
                                          <p:attrName>ppt_y</p:attrName>
                                        </p:attrNameLst>
                                      </p:cBhvr>
                                      <p:tavLst>
                                        <p:tav tm="0">
                                          <p:val>
                                            <p:strVal val="#ppt_y+0.03"/>
                                          </p:val>
                                        </p:tav>
                                        <p:tav tm="100000">
                                          <p:val>
                                            <p:strVal val="#ppt_y"/>
                                          </p:val>
                                        </p:tav>
                                      </p:tavLst>
                                    </p:anim>
                                  </p:childTnLst>
                                </p:cTn>
                              </p:par>
                              <p:par>
                                <p:cTn id="193" presetID="42" presetClass="entr" presetSubtype="0" fill="hold" grpId="0" nodeType="afterEffect">
                                  <p:stCondLst>
                                    <p:cond delay="1598"/>
                                  </p:stCondLst>
                                  <p:childTnLst>
                                    <p:set>
                                      <p:cBhvr>
                                        <p:cTn id="194" dur="1" fill="hold">
                                          <p:stCondLst>
                                            <p:cond delay="0"/>
                                          </p:stCondLst>
                                        </p:cTn>
                                        <p:tgtEl>
                                          <p:spTgt spid="48"/>
                                        </p:tgtEl>
                                        <p:attrNameLst>
                                          <p:attrName>style.visibility</p:attrName>
                                        </p:attrNameLst>
                                      </p:cBhvr>
                                      <p:to>
                                        <p:strVal val="visible"/>
                                      </p:to>
                                    </p:set>
                                    <p:animEffect transition="in" filter="fade">
                                      <p:cBhvr>
                                        <p:cTn id="195" dur="380"/>
                                        <p:tgtEl>
                                          <p:spTgt spid="48"/>
                                        </p:tgtEl>
                                      </p:cBhvr>
                                    </p:animEffect>
                                    <p:anim calcmode="lin" valueType="num">
                                      <p:cBhvr additive="base">
                                        <p:cTn id="196" dur="380" fill="hold"/>
                                        <p:tgtEl>
                                          <p:spTgt spid="48"/>
                                        </p:tgtEl>
                                        <p:attrNameLst>
                                          <p:attrName>ppt_y</p:attrName>
                                        </p:attrNameLst>
                                      </p:cBhvr>
                                      <p:tavLst>
                                        <p:tav tm="0">
                                          <p:val>
                                            <p:strVal val="#ppt_y+0.03"/>
                                          </p:val>
                                        </p:tav>
                                        <p:tav tm="100000">
                                          <p:val>
                                            <p:strVal val="#ppt_y"/>
                                          </p:val>
                                        </p:tav>
                                      </p:tavLst>
                                    </p:anim>
                                  </p:childTnLst>
                                </p:cTn>
                              </p:par>
                              <p:par>
                                <p:cTn id="197" presetID="42" presetClass="entr" presetSubtype="0" fill="hold" grpId="0" nodeType="afterEffect">
                                  <p:stCondLst>
                                    <p:cond delay="1632"/>
                                  </p:stCondLst>
                                  <p:childTnLst>
                                    <p:set>
                                      <p:cBhvr>
                                        <p:cTn id="198" dur="1" fill="hold">
                                          <p:stCondLst>
                                            <p:cond delay="0"/>
                                          </p:stCondLst>
                                        </p:cTn>
                                        <p:tgtEl>
                                          <p:spTgt spid="49"/>
                                        </p:tgtEl>
                                        <p:attrNameLst>
                                          <p:attrName>style.visibility</p:attrName>
                                        </p:attrNameLst>
                                      </p:cBhvr>
                                      <p:to>
                                        <p:strVal val="visible"/>
                                      </p:to>
                                    </p:set>
                                    <p:animEffect transition="in" filter="fade">
                                      <p:cBhvr>
                                        <p:cTn id="199" dur="380"/>
                                        <p:tgtEl>
                                          <p:spTgt spid="49"/>
                                        </p:tgtEl>
                                      </p:cBhvr>
                                    </p:animEffect>
                                    <p:anim calcmode="lin" valueType="num">
                                      <p:cBhvr additive="base">
                                        <p:cTn id="200" dur="380" fill="hold"/>
                                        <p:tgtEl>
                                          <p:spTgt spid="49"/>
                                        </p:tgtEl>
                                        <p:attrNameLst>
                                          <p:attrName>ppt_y</p:attrName>
                                        </p:attrNameLst>
                                      </p:cBhvr>
                                      <p:tavLst>
                                        <p:tav tm="0">
                                          <p:val>
                                            <p:strVal val="#ppt_y+0.03"/>
                                          </p:val>
                                        </p:tav>
                                        <p:tav tm="100000">
                                          <p:val>
                                            <p:strVal val="#ppt_y"/>
                                          </p:val>
                                        </p:tav>
                                      </p:tavLst>
                                    </p:anim>
                                  </p:childTnLst>
                                </p:cTn>
                              </p:par>
                              <p:par>
                                <p:cTn id="201" presetID="42" presetClass="entr" presetSubtype="0" fill="hold" grpId="0" nodeType="afterEffect">
                                  <p:stCondLst>
                                    <p:cond delay="1666"/>
                                  </p:stCondLst>
                                  <p:childTnLst>
                                    <p:set>
                                      <p:cBhvr>
                                        <p:cTn id="202" dur="1" fill="hold">
                                          <p:stCondLst>
                                            <p:cond delay="0"/>
                                          </p:stCondLst>
                                        </p:cTn>
                                        <p:tgtEl>
                                          <p:spTgt spid="50"/>
                                        </p:tgtEl>
                                        <p:attrNameLst>
                                          <p:attrName>style.visibility</p:attrName>
                                        </p:attrNameLst>
                                      </p:cBhvr>
                                      <p:to>
                                        <p:strVal val="visible"/>
                                      </p:to>
                                    </p:set>
                                    <p:animEffect transition="in" filter="fade">
                                      <p:cBhvr>
                                        <p:cTn id="203" dur="380"/>
                                        <p:tgtEl>
                                          <p:spTgt spid="50"/>
                                        </p:tgtEl>
                                      </p:cBhvr>
                                    </p:animEffect>
                                    <p:anim calcmode="lin" valueType="num">
                                      <p:cBhvr additive="base">
                                        <p:cTn id="204" dur="380" fill="hold"/>
                                        <p:tgtEl>
                                          <p:spTgt spid="50"/>
                                        </p:tgtEl>
                                        <p:attrNameLst>
                                          <p:attrName>ppt_y</p:attrName>
                                        </p:attrNameLst>
                                      </p:cBhvr>
                                      <p:tavLst>
                                        <p:tav tm="0">
                                          <p:val>
                                            <p:strVal val="#ppt_y+0.03"/>
                                          </p:val>
                                        </p:tav>
                                        <p:tav tm="100000">
                                          <p:val>
                                            <p:strVal val="#ppt_y"/>
                                          </p:val>
                                        </p:tav>
                                      </p:tavLst>
                                    </p:anim>
                                  </p:childTnLst>
                                </p:cTn>
                              </p:par>
                              <p:par>
                                <p:cTn id="205" presetID="42" presetClass="entr" presetSubtype="0" fill="hold" grpId="0" nodeType="afterEffect">
                                  <p:stCondLst>
                                    <p:cond delay="1700"/>
                                  </p:stCondLst>
                                  <p:childTnLst>
                                    <p:set>
                                      <p:cBhvr>
                                        <p:cTn id="206" dur="1" fill="hold">
                                          <p:stCondLst>
                                            <p:cond delay="0"/>
                                          </p:stCondLst>
                                        </p:cTn>
                                        <p:tgtEl>
                                          <p:spTgt spid="51"/>
                                        </p:tgtEl>
                                        <p:attrNameLst>
                                          <p:attrName>style.visibility</p:attrName>
                                        </p:attrNameLst>
                                      </p:cBhvr>
                                      <p:to>
                                        <p:strVal val="visible"/>
                                      </p:to>
                                    </p:set>
                                    <p:animEffect transition="in" filter="fade">
                                      <p:cBhvr>
                                        <p:cTn id="207" dur="380"/>
                                        <p:tgtEl>
                                          <p:spTgt spid="51"/>
                                        </p:tgtEl>
                                      </p:cBhvr>
                                    </p:animEffect>
                                    <p:anim calcmode="lin" valueType="num">
                                      <p:cBhvr additive="base">
                                        <p:cTn id="208" dur="380" fill="hold"/>
                                        <p:tgtEl>
                                          <p:spTgt spid="51"/>
                                        </p:tgtEl>
                                        <p:attrNameLst>
                                          <p:attrName>ppt_y</p:attrName>
                                        </p:attrNameLst>
                                      </p:cBhvr>
                                      <p:tavLst>
                                        <p:tav tm="0">
                                          <p:val>
                                            <p:strVal val="#ppt_y+0.03"/>
                                          </p:val>
                                        </p:tav>
                                        <p:tav tm="100000">
                                          <p:val>
                                            <p:strVal val="#ppt_y"/>
                                          </p:val>
                                        </p:tav>
                                      </p:tavLst>
                                    </p:anim>
                                  </p:childTnLst>
                                </p:cTn>
                              </p:par>
                              <p:par>
                                <p:cTn id="209" presetID="42" presetClass="entr" presetSubtype="0" fill="hold" grpId="0" nodeType="afterEffect">
                                  <p:stCondLst>
                                    <p:cond delay="1734"/>
                                  </p:stCondLst>
                                  <p:childTnLst>
                                    <p:set>
                                      <p:cBhvr>
                                        <p:cTn id="210" dur="1" fill="hold">
                                          <p:stCondLst>
                                            <p:cond delay="0"/>
                                          </p:stCondLst>
                                        </p:cTn>
                                        <p:tgtEl>
                                          <p:spTgt spid="52"/>
                                        </p:tgtEl>
                                        <p:attrNameLst>
                                          <p:attrName>style.visibility</p:attrName>
                                        </p:attrNameLst>
                                      </p:cBhvr>
                                      <p:to>
                                        <p:strVal val="visible"/>
                                      </p:to>
                                    </p:set>
                                    <p:animEffect transition="in" filter="fade">
                                      <p:cBhvr>
                                        <p:cTn id="211" dur="380"/>
                                        <p:tgtEl>
                                          <p:spTgt spid="52"/>
                                        </p:tgtEl>
                                      </p:cBhvr>
                                    </p:animEffect>
                                    <p:anim calcmode="lin" valueType="num">
                                      <p:cBhvr additive="base">
                                        <p:cTn id="212" dur="380" fill="hold"/>
                                        <p:tgtEl>
                                          <p:spTgt spid="52"/>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 grpId="0"/>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P spid="37" grpId="0"/>
      <p:bldP spid="38" grpId="0"/>
      <p:bldP spid="39" grpId="0"/>
      <p:bldP spid="40" grpId="0"/>
      <p:bldP spid="41" grpId="0"/>
      <p:bldP spid="42" grpId="0"/>
      <p:bldP spid="43" grpId="0"/>
      <p:bldP spid="44" grpId="0"/>
      <p:bldP spid="45" grpId="0"/>
      <p:bldP spid="46" grpId="0"/>
      <p:bldP spid="47" grpId="0"/>
      <p:bldP spid="48" grpId="0"/>
      <p:bldP spid="49" grpId="0"/>
      <p:bldP spid="50" grpId="0"/>
      <p:bldP spid="51" grpId="0"/>
      <p:bldP spid="52" grpId="0"/>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37744"/>
          </a:xfrm>
          <a:prstGeom prst="rect">
            <a:avLst/>
          </a:prstGeom>
          <a:noFill/>
          <a:ln/>
        </p:spPr>
        <p:txBody>
          <a:bodyPr wrap="square" lIns="0" tIns="0" rIns="0" bIns="0" rtlCol="0" anchor="ctr"/>
          <a:lstStyle/>
          <a:p>
            <a:pPr indent="0" marL="0">
              <a:buNone/>
            </a:pPr>
            <a:r>
              <a:rPr lang="en-US" sz="1050" b="1" spc="200" kern="0" dirty="0">
                <a:solidFill>
                  <a:srgbClr val="00C39A"/>
                </a:solidFill>
                <a:latin typeface="Calibri" pitchFamily="34" charset="0"/>
                <a:ea typeface="Calibri" pitchFamily="34" charset="-122"/>
                <a:cs typeface="Calibri" pitchFamily="34" charset="-120"/>
              </a:rPr>
              <a:t>PROPOSED BUDGET</a:t>
            </a:r>
            <a:endParaRPr lang="en-US" sz="1050" dirty="0"/>
          </a:p>
        </p:txBody>
      </p:sp>
      <p:sp>
        <p:nvSpPr>
          <p:cNvPr id="3" name="Text 1"/>
          <p:cNvSpPr/>
          <p:nvPr/>
        </p:nvSpPr>
        <p:spPr>
          <a:xfrm>
            <a:off x="548640" y="658368"/>
            <a:ext cx="11064240" cy="658368"/>
          </a:xfrm>
          <a:prstGeom prst="rect">
            <a:avLst/>
          </a:prstGeom>
          <a:noFill/>
          <a:ln/>
        </p:spPr>
        <p:txBody>
          <a:bodyPr wrap="square" lIns="0" tIns="0" rIns="0" bIns="0" rtlCol="0" anchor="t"/>
          <a:lstStyle/>
          <a:p>
            <a:pPr indent="0" marL="0">
              <a:buNone/>
            </a:pPr>
            <a:r>
              <a:rPr lang="en-US" sz="3400" b="1" dirty="0">
                <a:solidFill>
                  <a:srgbClr val="141B3D"/>
                </a:solidFill>
                <a:latin typeface="Cambria" pitchFamily="34" charset="0"/>
                <a:ea typeface="Cambria" pitchFamily="34" charset="-122"/>
                <a:cs typeface="Cambria" pitchFamily="34" charset="-120"/>
              </a:rPr>
              <a:t>₹ 89,000 for twelve months</a:t>
            </a:r>
            <a:endParaRPr lang="en-US" sz="3400" dirty="0"/>
          </a:p>
        </p:txBody>
      </p:sp>
      <p:sp>
        <p:nvSpPr>
          <p:cNvPr id="4" name="Text 2"/>
          <p:cNvSpPr/>
          <p:nvPr/>
        </p:nvSpPr>
        <p:spPr>
          <a:xfrm>
            <a:off x="548640" y="1371600"/>
            <a:ext cx="10424160" cy="329184"/>
          </a:xfrm>
          <a:prstGeom prst="rect">
            <a:avLst/>
          </a:prstGeom>
          <a:noFill/>
          <a:ln/>
        </p:spPr>
        <p:txBody>
          <a:bodyPr wrap="square" lIns="0" tIns="0" rIns="0" bIns="0" rtlCol="0" anchor="ctr"/>
          <a:lstStyle/>
          <a:p>
            <a:pPr indent="0" marL="0">
              <a:buNone/>
            </a:pPr>
            <a:r>
              <a:rPr lang="en-US" sz="1350" dirty="0">
                <a:solidFill>
                  <a:srgbClr val="646E8C"/>
                </a:solidFill>
                <a:latin typeface="Calibri" pitchFamily="34" charset="0"/>
                <a:ea typeface="Calibri" pitchFamily="34" charset="-122"/>
                <a:cs typeface="Calibri" pitchFamily="34" charset="-120"/>
              </a:rPr>
              <a:t>All figures in Indian Rupees. No equipment purchase is requested — LabSubmit runs in a browser, so lab computers need no compilers, IDEs or installation.</a:t>
            </a:r>
            <a:endParaRPr lang="en-US" sz="1350" dirty="0"/>
          </a:p>
        </p:txBody>
      </p:sp>
      <p:graphicFrame>
        <p:nvGraphicFramePr>
          <p:cNvPr id="5" name="Chart 0" descr=""/>
          <p:cNvGraphicFramePr/>
          <p:nvPr/>
        </p:nvGraphicFramePr>
        <p:xfrm>
          <a:off x="384048" y="1810512"/>
          <a:ext cx="3931920" cy="39319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1481328" y="3401568"/>
            <a:ext cx="1737360" cy="457200"/>
          </a:xfrm>
          <a:prstGeom prst="rect">
            <a:avLst/>
          </a:prstGeom>
          <a:noFill/>
          <a:ln/>
        </p:spPr>
        <p:txBody>
          <a:bodyPr wrap="square" lIns="0" tIns="0" rIns="0" bIns="0" rtlCol="0" anchor="ctr"/>
          <a:lstStyle/>
          <a:p>
            <a:pPr algn="ctr" indent="0" marL="0">
              <a:buNone/>
            </a:pPr>
            <a:r>
              <a:rPr lang="en-US" sz="2500" b="1" dirty="0">
                <a:solidFill>
                  <a:srgbClr val="141B3D"/>
                </a:solidFill>
                <a:latin typeface="Cambria" pitchFamily="34" charset="0"/>
                <a:ea typeface="Cambria" pitchFamily="34" charset="-122"/>
                <a:cs typeface="Cambria" pitchFamily="34" charset="-120"/>
              </a:rPr>
              <a:t>₹89,000</a:t>
            </a:r>
            <a:endParaRPr lang="en-US" sz="2500" dirty="0"/>
          </a:p>
        </p:txBody>
      </p:sp>
      <p:sp>
        <p:nvSpPr>
          <p:cNvPr id="7" name="Text 4"/>
          <p:cNvSpPr/>
          <p:nvPr/>
        </p:nvSpPr>
        <p:spPr>
          <a:xfrm>
            <a:off x="1481328" y="3840480"/>
            <a:ext cx="1737360" cy="256032"/>
          </a:xfrm>
          <a:prstGeom prst="rect">
            <a:avLst/>
          </a:prstGeom>
          <a:noFill/>
          <a:ln/>
        </p:spPr>
        <p:txBody>
          <a:bodyPr wrap="square" lIns="0" tIns="0" rIns="0" bIns="0" rtlCol="0" anchor="ctr"/>
          <a:lstStyle/>
          <a:p>
            <a:pPr algn="ctr" indent="0" marL="0">
              <a:buNone/>
            </a:pPr>
            <a:r>
              <a:rPr lang="en-US" sz="1050" dirty="0">
                <a:solidFill>
                  <a:srgbClr val="646E8C"/>
                </a:solidFill>
                <a:latin typeface="Calibri" pitchFamily="34" charset="0"/>
                <a:ea typeface="Calibri" pitchFamily="34" charset="-122"/>
                <a:cs typeface="Calibri" pitchFamily="34" charset="-120"/>
              </a:rPr>
              <a:t>total, 12 months</a:t>
            </a:r>
            <a:endParaRPr lang="en-US" sz="1050" dirty="0"/>
          </a:p>
        </p:txBody>
      </p:sp>
      <p:sp>
        <p:nvSpPr>
          <p:cNvPr id="8" name="Shape 5"/>
          <p:cNvSpPr/>
          <p:nvPr/>
        </p:nvSpPr>
        <p:spPr>
          <a:xfrm>
            <a:off x="4572000" y="1810512"/>
            <a:ext cx="7068312" cy="493776"/>
          </a:xfrm>
          <a:prstGeom prst="roundRect">
            <a:avLst>
              <a:gd name="adj" fmla="val 12963"/>
            </a:avLst>
          </a:prstGeom>
          <a:solidFill>
            <a:srgbClr val="F4F6FC"/>
          </a:solidFill>
          <a:ln w="6350">
            <a:solidFill>
              <a:srgbClr val="DDE3F5"/>
            </a:solidFill>
            <a:prstDash val="solid"/>
          </a:ln>
        </p:spPr>
      </p:sp>
      <p:sp>
        <p:nvSpPr>
          <p:cNvPr id="9" name="Shape 6"/>
          <p:cNvSpPr/>
          <p:nvPr/>
        </p:nvSpPr>
        <p:spPr>
          <a:xfrm>
            <a:off x="4754880" y="1984248"/>
            <a:ext cx="146304" cy="146304"/>
          </a:xfrm>
          <a:prstGeom prst="ellipse">
            <a:avLst/>
          </a:prstGeom>
          <a:solidFill>
            <a:srgbClr val="00C39A"/>
          </a:solidFill>
          <a:ln w="12700">
            <a:solidFill>
              <a:srgbClr val="333333"/>
            </a:solidFill>
            <a:prstDash val="solid"/>
          </a:ln>
        </p:spPr>
      </p:sp>
      <p:sp>
        <p:nvSpPr>
          <p:cNvPr id="10" name="Text 7"/>
          <p:cNvSpPr/>
          <p:nvPr/>
        </p:nvSpPr>
        <p:spPr>
          <a:xfrm>
            <a:off x="5029200" y="1828800"/>
            <a:ext cx="3200400" cy="457200"/>
          </a:xfrm>
          <a:prstGeom prst="rect">
            <a:avLst/>
          </a:prstGeom>
          <a:noFill/>
          <a:ln/>
        </p:spPr>
        <p:txBody>
          <a:bodyPr wrap="square" lIns="0" tIns="0" rIns="0" bIns="0" rtlCol="0" anchor="ctr"/>
          <a:lstStyle/>
          <a:p>
            <a:pPr indent="0" marL="0">
              <a:buNone/>
            </a:pPr>
            <a:r>
              <a:rPr lang="en-US" sz="1200" b="1" dirty="0">
                <a:solidFill>
                  <a:srgbClr val="141B3D"/>
                </a:solidFill>
                <a:latin typeface="Calibri" pitchFamily="34" charset="0"/>
                <a:ea typeface="Calibri" pitchFamily="34" charset="-122"/>
                <a:cs typeface="Calibri" pitchFamily="34" charset="-120"/>
              </a:rPr>
              <a:t>Manpower — student honorarium</a:t>
            </a:r>
            <a:endParaRPr lang="en-US" sz="1200" dirty="0"/>
          </a:p>
        </p:txBody>
      </p:sp>
      <p:sp>
        <p:nvSpPr>
          <p:cNvPr id="11" name="Text 8"/>
          <p:cNvSpPr/>
          <p:nvPr/>
        </p:nvSpPr>
        <p:spPr>
          <a:xfrm>
            <a:off x="8229600" y="1828800"/>
            <a:ext cx="2286000" cy="457200"/>
          </a:xfrm>
          <a:prstGeom prst="rect">
            <a:avLst/>
          </a:prstGeom>
          <a:noFill/>
          <a:ln/>
        </p:spPr>
        <p:txBody>
          <a:bodyPr wrap="square" lIns="0" tIns="0" rIns="0" bIns="0" rtlCol="0" anchor="ctr"/>
          <a:lstStyle/>
          <a:p>
            <a:pPr indent="0" marL="0">
              <a:buNone/>
            </a:pPr>
            <a:r>
              <a:rPr lang="en-US" sz="950" dirty="0">
                <a:solidFill>
                  <a:srgbClr val="646E8C"/>
                </a:solidFill>
                <a:latin typeface="Calibri" pitchFamily="34" charset="0"/>
                <a:ea typeface="Calibri" pitchFamily="34" charset="-122"/>
                <a:cs typeface="Calibri" pitchFamily="34" charset="-120"/>
              </a:rPr>
              <a:t>2 developers × ₹2,000 × 9 months</a:t>
            </a:r>
            <a:endParaRPr lang="en-US" sz="950" dirty="0"/>
          </a:p>
        </p:txBody>
      </p:sp>
      <p:sp>
        <p:nvSpPr>
          <p:cNvPr id="12" name="Text 9"/>
          <p:cNvSpPr/>
          <p:nvPr/>
        </p:nvSpPr>
        <p:spPr>
          <a:xfrm>
            <a:off x="10424160" y="1828800"/>
            <a:ext cx="1051560" cy="457200"/>
          </a:xfrm>
          <a:prstGeom prst="rect">
            <a:avLst/>
          </a:prstGeom>
          <a:noFill/>
          <a:ln/>
        </p:spPr>
        <p:txBody>
          <a:bodyPr wrap="square" lIns="0" tIns="0" rIns="0" bIns="0" rtlCol="0" anchor="ctr"/>
          <a:lstStyle/>
          <a:p>
            <a:pPr algn="r" indent="0" marL="0">
              <a:buNone/>
            </a:pPr>
            <a:r>
              <a:rPr lang="en-US" sz="1250" b="1" dirty="0">
                <a:solidFill>
                  <a:srgbClr val="141B3D"/>
                </a:solidFill>
                <a:latin typeface="Calibri" pitchFamily="34" charset="0"/>
                <a:ea typeface="Calibri" pitchFamily="34" charset="-122"/>
                <a:cs typeface="Calibri" pitchFamily="34" charset="-120"/>
              </a:rPr>
              <a:t>₹ 36,000</a:t>
            </a:r>
            <a:endParaRPr lang="en-US" sz="1250" dirty="0"/>
          </a:p>
        </p:txBody>
      </p:sp>
      <p:sp>
        <p:nvSpPr>
          <p:cNvPr id="13" name="Shape 10"/>
          <p:cNvSpPr/>
          <p:nvPr/>
        </p:nvSpPr>
        <p:spPr>
          <a:xfrm>
            <a:off x="4572000" y="2377440"/>
            <a:ext cx="7068312" cy="493776"/>
          </a:xfrm>
          <a:prstGeom prst="roundRect">
            <a:avLst>
              <a:gd name="adj" fmla="val 12963"/>
            </a:avLst>
          </a:prstGeom>
          <a:solidFill>
            <a:srgbClr val="FFFFFF"/>
          </a:solidFill>
          <a:ln w="6350">
            <a:solidFill>
              <a:srgbClr val="DDE3F5"/>
            </a:solidFill>
            <a:prstDash val="solid"/>
          </a:ln>
        </p:spPr>
      </p:sp>
      <p:sp>
        <p:nvSpPr>
          <p:cNvPr id="14" name="Shape 11"/>
          <p:cNvSpPr/>
          <p:nvPr/>
        </p:nvSpPr>
        <p:spPr>
          <a:xfrm>
            <a:off x="4754880" y="2551176"/>
            <a:ext cx="146304" cy="146304"/>
          </a:xfrm>
          <a:prstGeom prst="ellipse">
            <a:avLst/>
          </a:prstGeom>
          <a:solidFill>
            <a:srgbClr val="1E2761"/>
          </a:solidFill>
          <a:ln w="12700">
            <a:solidFill>
              <a:srgbClr val="333333"/>
            </a:solidFill>
            <a:prstDash val="solid"/>
          </a:ln>
        </p:spPr>
      </p:sp>
      <p:sp>
        <p:nvSpPr>
          <p:cNvPr id="15" name="Text 12"/>
          <p:cNvSpPr/>
          <p:nvPr/>
        </p:nvSpPr>
        <p:spPr>
          <a:xfrm>
            <a:off x="5029200" y="2395728"/>
            <a:ext cx="3200400" cy="457200"/>
          </a:xfrm>
          <a:prstGeom prst="rect">
            <a:avLst/>
          </a:prstGeom>
          <a:noFill/>
          <a:ln/>
        </p:spPr>
        <p:txBody>
          <a:bodyPr wrap="square" lIns="0" tIns="0" rIns="0" bIns="0" rtlCol="0" anchor="ctr"/>
          <a:lstStyle/>
          <a:p>
            <a:pPr indent="0" marL="0">
              <a:buNone/>
            </a:pPr>
            <a:r>
              <a:rPr lang="en-US" sz="1200" b="1" dirty="0">
                <a:solidFill>
                  <a:srgbClr val="141B3D"/>
                </a:solidFill>
                <a:latin typeface="Calibri" pitchFamily="34" charset="0"/>
                <a:ea typeface="Calibri" pitchFamily="34" charset="-122"/>
                <a:cs typeface="Calibri" pitchFamily="34" charset="-120"/>
              </a:rPr>
              <a:t>Execution engine + database</a:t>
            </a:r>
            <a:endParaRPr lang="en-US" sz="1200" dirty="0"/>
          </a:p>
        </p:txBody>
      </p:sp>
      <p:sp>
        <p:nvSpPr>
          <p:cNvPr id="16" name="Text 13"/>
          <p:cNvSpPr/>
          <p:nvPr/>
        </p:nvSpPr>
        <p:spPr>
          <a:xfrm>
            <a:off x="8229600" y="2395728"/>
            <a:ext cx="2286000" cy="457200"/>
          </a:xfrm>
          <a:prstGeom prst="rect">
            <a:avLst/>
          </a:prstGeom>
          <a:noFill/>
          <a:ln/>
        </p:spPr>
        <p:txBody>
          <a:bodyPr wrap="square" lIns="0" tIns="0" rIns="0" bIns="0" rtlCol="0" anchor="ctr"/>
          <a:lstStyle/>
          <a:p>
            <a:pPr indent="0" marL="0">
              <a:buNone/>
            </a:pPr>
            <a:r>
              <a:rPr lang="en-US" sz="950" dirty="0">
                <a:solidFill>
                  <a:srgbClr val="646E8C"/>
                </a:solidFill>
                <a:latin typeface="Calibri" pitchFamily="34" charset="0"/>
                <a:ea typeface="Calibri" pitchFamily="34" charset="-122"/>
                <a:cs typeface="Calibri" pitchFamily="34" charset="-120"/>
              </a:rPr>
              <a:t>Always-on container, ~₹1,900/month</a:t>
            </a:r>
            <a:endParaRPr lang="en-US" sz="950" dirty="0"/>
          </a:p>
        </p:txBody>
      </p:sp>
      <p:sp>
        <p:nvSpPr>
          <p:cNvPr id="17" name="Text 14"/>
          <p:cNvSpPr/>
          <p:nvPr/>
        </p:nvSpPr>
        <p:spPr>
          <a:xfrm>
            <a:off x="10424160" y="2395728"/>
            <a:ext cx="1051560" cy="457200"/>
          </a:xfrm>
          <a:prstGeom prst="rect">
            <a:avLst/>
          </a:prstGeom>
          <a:noFill/>
          <a:ln/>
        </p:spPr>
        <p:txBody>
          <a:bodyPr wrap="square" lIns="0" tIns="0" rIns="0" bIns="0" rtlCol="0" anchor="ctr"/>
          <a:lstStyle/>
          <a:p>
            <a:pPr algn="r" indent="0" marL="0">
              <a:buNone/>
            </a:pPr>
            <a:r>
              <a:rPr lang="en-US" sz="1250" b="1" dirty="0">
                <a:solidFill>
                  <a:srgbClr val="141B3D"/>
                </a:solidFill>
                <a:latin typeface="Calibri" pitchFamily="34" charset="0"/>
                <a:ea typeface="Calibri" pitchFamily="34" charset="-122"/>
                <a:cs typeface="Calibri" pitchFamily="34" charset="-120"/>
              </a:rPr>
              <a:t>₹ 22,800</a:t>
            </a:r>
            <a:endParaRPr lang="en-US" sz="1250" dirty="0"/>
          </a:p>
        </p:txBody>
      </p:sp>
      <p:sp>
        <p:nvSpPr>
          <p:cNvPr id="18" name="Shape 15"/>
          <p:cNvSpPr/>
          <p:nvPr/>
        </p:nvSpPr>
        <p:spPr>
          <a:xfrm>
            <a:off x="4572000" y="2944368"/>
            <a:ext cx="7068312" cy="493776"/>
          </a:xfrm>
          <a:prstGeom prst="roundRect">
            <a:avLst>
              <a:gd name="adj" fmla="val 12963"/>
            </a:avLst>
          </a:prstGeom>
          <a:solidFill>
            <a:srgbClr val="F4F6FC"/>
          </a:solidFill>
          <a:ln w="6350">
            <a:solidFill>
              <a:srgbClr val="DDE3F5"/>
            </a:solidFill>
            <a:prstDash val="solid"/>
          </a:ln>
        </p:spPr>
      </p:sp>
      <p:sp>
        <p:nvSpPr>
          <p:cNvPr id="19" name="Shape 16"/>
          <p:cNvSpPr/>
          <p:nvPr/>
        </p:nvSpPr>
        <p:spPr>
          <a:xfrm>
            <a:off x="4754880" y="3118104"/>
            <a:ext cx="146304" cy="146304"/>
          </a:xfrm>
          <a:prstGeom prst="ellipse">
            <a:avLst/>
          </a:prstGeom>
          <a:solidFill>
            <a:srgbClr val="3D5A9E"/>
          </a:solidFill>
          <a:ln w="12700">
            <a:solidFill>
              <a:srgbClr val="333333"/>
            </a:solidFill>
            <a:prstDash val="solid"/>
          </a:ln>
        </p:spPr>
      </p:sp>
      <p:sp>
        <p:nvSpPr>
          <p:cNvPr id="20" name="Text 17"/>
          <p:cNvSpPr/>
          <p:nvPr/>
        </p:nvSpPr>
        <p:spPr>
          <a:xfrm>
            <a:off x="5029200" y="2962656"/>
            <a:ext cx="3200400" cy="457200"/>
          </a:xfrm>
          <a:prstGeom prst="rect">
            <a:avLst/>
          </a:prstGeom>
          <a:noFill/>
          <a:ln/>
        </p:spPr>
        <p:txBody>
          <a:bodyPr wrap="square" lIns="0" tIns="0" rIns="0" bIns="0" rtlCol="0" anchor="ctr"/>
          <a:lstStyle/>
          <a:p>
            <a:pPr indent="0" marL="0">
              <a:buNone/>
            </a:pPr>
            <a:r>
              <a:rPr lang="en-US" sz="1200" b="1" dirty="0">
                <a:solidFill>
                  <a:srgbClr val="141B3D"/>
                </a:solidFill>
                <a:latin typeface="Calibri" pitchFamily="34" charset="0"/>
                <a:ea typeface="Calibri" pitchFamily="34" charset="-122"/>
                <a:cs typeface="Calibri" pitchFamily="34" charset="-120"/>
              </a:rPr>
              <a:t>Application hosting (web + API)</a:t>
            </a:r>
            <a:endParaRPr lang="en-US" sz="1200" dirty="0"/>
          </a:p>
        </p:txBody>
      </p:sp>
      <p:sp>
        <p:nvSpPr>
          <p:cNvPr id="21" name="Text 18"/>
          <p:cNvSpPr/>
          <p:nvPr/>
        </p:nvSpPr>
        <p:spPr>
          <a:xfrm>
            <a:off x="8229600" y="2962656"/>
            <a:ext cx="2286000" cy="457200"/>
          </a:xfrm>
          <a:prstGeom prst="rect">
            <a:avLst/>
          </a:prstGeom>
          <a:noFill/>
          <a:ln/>
        </p:spPr>
        <p:txBody>
          <a:bodyPr wrap="square" lIns="0" tIns="0" rIns="0" bIns="0" rtlCol="0" anchor="ctr"/>
          <a:lstStyle/>
          <a:p>
            <a:pPr indent="0" marL="0">
              <a:buNone/>
            </a:pPr>
            <a:r>
              <a:rPr lang="en-US" sz="950" dirty="0">
                <a:solidFill>
                  <a:srgbClr val="646E8C"/>
                </a:solidFill>
                <a:latin typeface="Calibri" pitchFamily="34" charset="0"/>
                <a:ea typeface="Calibri" pitchFamily="34" charset="-122"/>
                <a:cs typeface="Calibri" pitchFamily="34" charset="-120"/>
              </a:rPr>
              <a:t>Vercel Pro, ₹1,900 × 6 active months</a:t>
            </a:r>
            <a:endParaRPr lang="en-US" sz="950" dirty="0"/>
          </a:p>
        </p:txBody>
      </p:sp>
      <p:sp>
        <p:nvSpPr>
          <p:cNvPr id="22" name="Text 19"/>
          <p:cNvSpPr/>
          <p:nvPr/>
        </p:nvSpPr>
        <p:spPr>
          <a:xfrm>
            <a:off x="10424160" y="2962656"/>
            <a:ext cx="1051560" cy="457200"/>
          </a:xfrm>
          <a:prstGeom prst="rect">
            <a:avLst/>
          </a:prstGeom>
          <a:noFill/>
          <a:ln/>
        </p:spPr>
        <p:txBody>
          <a:bodyPr wrap="square" lIns="0" tIns="0" rIns="0" bIns="0" rtlCol="0" anchor="ctr"/>
          <a:lstStyle/>
          <a:p>
            <a:pPr algn="r" indent="0" marL="0">
              <a:buNone/>
            </a:pPr>
            <a:r>
              <a:rPr lang="en-US" sz="1250" b="1" dirty="0">
                <a:solidFill>
                  <a:srgbClr val="141B3D"/>
                </a:solidFill>
                <a:latin typeface="Calibri" pitchFamily="34" charset="0"/>
                <a:ea typeface="Calibri" pitchFamily="34" charset="-122"/>
                <a:cs typeface="Calibri" pitchFamily="34" charset="-120"/>
              </a:rPr>
              <a:t>₹ 11,400</a:t>
            </a:r>
            <a:endParaRPr lang="en-US" sz="1250" dirty="0"/>
          </a:p>
        </p:txBody>
      </p:sp>
      <p:sp>
        <p:nvSpPr>
          <p:cNvPr id="23" name="Shape 20"/>
          <p:cNvSpPr/>
          <p:nvPr/>
        </p:nvSpPr>
        <p:spPr>
          <a:xfrm>
            <a:off x="4572000" y="3511296"/>
            <a:ext cx="7068312" cy="493776"/>
          </a:xfrm>
          <a:prstGeom prst="roundRect">
            <a:avLst>
              <a:gd name="adj" fmla="val 12963"/>
            </a:avLst>
          </a:prstGeom>
          <a:solidFill>
            <a:srgbClr val="FFFFFF"/>
          </a:solidFill>
          <a:ln w="6350">
            <a:solidFill>
              <a:srgbClr val="DDE3F5"/>
            </a:solidFill>
            <a:prstDash val="solid"/>
          </a:ln>
        </p:spPr>
      </p:sp>
      <p:sp>
        <p:nvSpPr>
          <p:cNvPr id="24" name="Shape 21"/>
          <p:cNvSpPr/>
          <p:nvPr/>
        </p:nvSpPr>
        <p:spPr>
          <a:xfrm>
            <a:off x="4754880" y="3685032"/>
            <a:ext cx="146304" cy="146304"/>
          </a:xfrm>
          <a:prstGeom prst="ellipse">
            <a:avLst/>
          </a:prstGeom>
          <a:solidFill>
            <a:srgbClr val="028090"/>
          </a:solidFill>
          <a:ln w="12700">
            <a:solidFill>
              <a:srgbClr val="333333"/>
            </a:solidFill>
            <a:prstDash val="solid"/>
          </a:ln>
        </p:spPr>
      </p:sp>
      <p:sp>
        <p:nvSpPr>
          <p:cNvPr id="25" name="Text 22"/>
          <p:cNvSpPr/>
          <p:nvPr/>
        </p:nvSpPr>
        <p:spPr>
          <a:xfrm>
            <a:off x="5029200" y="3529584"/>
            <a:ext cx="3200400" cy="457200"/>
          </a:xfrm>
          <a:prstGeom prst="rect">
            <a:avLst/>
          </a:prstGeom>
          <a:noFill/>
          <a:ln/>
        </p:spPr>
        <p:txBody>
          <a:bodyPr wrap="square" lIns="0" tIns="0" rIns="0" bIns="0" rtlCol="0" anchor="ctr"/>
          <a:lstStyle/>
          <a:p>
            <a:pPr indent="0" marL="0">
              <a:buNone/>
            </a:pPr>
            <a:r>
              <a:rPr lang="en-US" sz="1200" b="1" dirty="0">
                <a:solidFill>
                  <a:srgbClr val="141B3D"/>
                </a:solidFill>
                <a:latin typeface="Calibri" pitchFamily="34" charset="0"/>
                <a:ea typeface="Calibri" pitchFamily="34" charset="-122"/>
                <a:cs typeface="Calibri" pitchFamily="34" charset="-120"/>
              </a:rPr>
              <a:t>AI / LLM API services</a:t>
            </a:r>
            <a:endParaRPr lang="en-US" sz="1200" dirty="0"/>
          </a:p>
        </p:txBody>
      </p:sp>
      <p:sp>
        <p:nvSpPr>
          <p:cNvPr id="26" name="Text 23"/>
          <p:cNvSpPr/>
          <p:nvPr/>
        </p:nvSpPr>
        <p:spPr>
          <a:xfrm>
            <a:off x="8229600" y="3529584"/>
            <a:ext cx="2286000" cy="457200"/>
          </a:xfrm>
          <a:prstGeom prst="rect">
            <a:avLst/>
          </a:prstGeom>
          <a:noFill/>
          <a:ln/>
        </p:spPr>
        <p:txBody>
          <a:bodyPr wrap="square" lIns="0" tIns="0" rIns="0" bIns="0" rtlCol="0" anchor="ctr"/>
          <a:lstStyle/>
          <a:p>
            <a:pPr indent="0" marL="0">
              <a:buNone/>
            </a:pPr>
            <a:r>
              <a:rPr lang="en-US" sz="950" dirty="0">
                <a:solidFill>
                  <a:srgbClr val="646E8C"/>
                </a:solidFill>
                <a:latin typeface="Calibri" pitchFamily="34" charset="0"/>
                <a:ea typeface="Calibri" pitchFamily="34" charset="-122"/>
                <a:cs typeface="Calibri" pitchFamily="34" charset="-120"/>
              </a:rPr>
              <a:t>Similarity explanation, ~₹750/month</a:t>
            </a:r>
            <a:endParaRPr lang="en-US" sz="950" dirty="0"/>
          </a:p>
        </p:txBody>
      </p:sp>
      <p:sp>
        <p:nvSpPr>
          <p:cNvPr id="27" name="Text 24"/>
          <p:cNvSpPr/>
          <p:nvPr/>
        </p:nvSpPr>
        <p:spPr>
          <a:xfrm>
            <a:off x="10424160" y="3529584"/>
            <a:ext cx="1051560" cy="457200"/>
          </a:xfrm>
          <a:prstGeom prst="rect">
            <a:avLst/>
          </a:prstGeom>
          <a:noFill/>
          <a:ln/>
        </p:spPr>
        <p:txBody>
          <a:bodyPr wrap="square" lIns="0" tIns="0" rIns="0" bIns="0" rtlCol="0" anchor="ctr"/>
          <a:lstStyle/>
          <a:p>
            <a:pPr algn="r" indent="0" marL="0">
              <a:buNone/>
            </a:pPr>
            <a:r>
              <a:rPr lang="en-US" sz="1250" b="1" dirty="0">
                <a:solidFill>
                  <a:srgbClr val="141B3D"/>
                </a:solidFill>
                <a:latin typeface="Calibri" pitchFamily="34" charset="0"/>
                <a:ea typeface="Calibri" pitchFamily="34" charset="-122"/>
                <a:cs typeface="Calibri" pitchFamily="34" charset="-120"/>
              </a:rPr>
              <a:t>₹ 9,000</a:t>
            </a:r>
            <a:endParaRPr lang="en-US" sz="1250" dirty="0"/>
          </a:p>
        </p:txBody>
      </p:sp>
      <p:sp>
        <p:nvSpPr>
          <p:cNvPr id="28" name="Shape 25"/>
          <p:cNvSpPr/>
          <p:nvPr/>
        </p:nvSpPr>
        <p:spPr>
          <a:xfrm>
            <a:off x="4572000" y="4078224"/>
            <a:ext cx="7068312" cy="493776"/>
          </a:xfrm>
          <a:prstGeom prst="roundRect">
            <a:avLst>
              <a:gd name="adj" fmla="val 12963"/>
            </a:avLst>
          </a:prstGeom>
          <a:solidFill>
            <a:srgbClr val="F4F6FC"/>
          </a:solidFill>
          <a:ln w="6350">
            <a:solidFill>
              <a:srgbClr val="DDE3F5"/>
            </a:solidFill>
            <a:prstDash val="solid"/>
          </a:ln>
        </p:spPr>
      </p:sp>
      <p:sp>
        <p:nvSpPr>
          <p:cNvPr id="29" name="Shape 26"/>
          <p:cNvSpPr/>
          <p:nvPr/>
        </p:nvSpPr>
        <p:spPr>
          <a:xfrm>
            <a:off x="4754880" y="4251960"/>
            <a:ext cx="146304" cy="146304"/>
          </a:xfrm>
          <a:prstGeom prst="ellipse">
            <a:avLst/>
          </a:prstGeom>
          <a:solidFill>
            <a:srgbClr val="8FA8DC"/>
          </a:solidFill>
          <a:ln w="12700">
            <a:solidFill>
              <a:srgbClr val="333333"/>
            </a:solidFill>
            <a:prstDash val="solid"/>
          </a:ln>
        </p:spPr>
      </p:sp>
      <p:sp>
        <p:nvSpPr>
          <p:cNvPr id="30" name="Text 27"/>
          <p:cNvSpPr/>
          <p:nvPr/>
        </p:nvSpPr>
        <p:spPr>
          <a:xfrm>
            <a:off x="5029200" y="4096512"/>
            <a:ext cx="3200400" cy="457200"/>
          </a:xfrm>
          <a:prstGeom prst="rect">
            <a:avLst/>
          </a:prstGeom>
          <a:noFill/>
          <a:ln/>
        </p:spPr>
        <p:txBody>
          <a:bodyPr wrap="square" lIns="0" tIns="0" rIns="0" bIns="0" rtlCol="0" anchor="ctr"/>
          <a:lstStyle/>
          <a:p>
            <a:pPr indent="0" marL="0">
              <a:buNone/>
            </a:pPr>
            <a:r>
              <a:rPr lang="en-US" sz="1200" b="1" dirty="0">
                <a:solidFill>
                  <a:srgbClr val="141B3D"/>
                </a:solidFill>
                <a:latin typeface="Calibri" pitchFamily="34" charset="0"/>
                <a:ea typeface="Calibri" pitchFamily="34" charset="-122"/>
                <a:cs typeface="Calibri" pitchFamily="34" charset="-120"/>
              </a:rPr>
              <a:t>Backups, monitoring, load testing</a:t>
            </a:r>
            <a:endParaRPr lang="en-US" sz="1200" dirty="0"/>
          </a:p>
        </p:txBody>
      </p:sp>
      <p:sp>
        <p:nvSpPr>
          <p:cNvPr id="31" name="Text 28"/>
          <p:cNvSpPr/>
          <p:nvPr/>
        </p:nvSpPr>
        <p:spPr>
          <a:xfrm>
            <a:off x="8229600" y="4096512"/>
            <a:ext cx="2286000" cy="457200"/>
          </a:xfrm>
          <a:prstGeom prst="rect">
            <a:avLst/>
          </a:prstGeom>
          <a:noFill/>
          <a:ln/>
        </p:spPr>
        <p:txBody>
          <a:bodyPr wrap="square" lIns="0" tIns="0" rIns="0" bIns="0" rtlCol="0" anchor="ctr"/>
          <a:lstStyle/>
          <a:p>
            <a:pPr indent="0" marL="0">
              <a:buNone/>
            </a:pPr>
            <a:r>
              <a:rPr lang="en-US" sz="950" dirty="0">
                <a:solidFill>
                  <a:srgbClr val="646E8C"/>
                </a:solidFill>
                <a:latin typeface="Calibri" pitchFamily="34" charset="0"/>
                <a:ea typeface="Calibri" pitchFamily="34" charset="-122"/>
                <a:cs typeface="Calibri" pitchFamily="34" charset="-120"/>
              </a:rPr>
              <a:t>Snapshots, alerting, staging resources</a:t>
            </a:r>
            <a:endParaRPr lang="en-US" sz="950" dirty="0"/>
          </a:p>
        </p:txBody>
      </p:sp>
      <p:sp>
        <p:nvSpPr>
          <p:cNvPr id="32" name="Text 29"/>
          <p:cNvSpPr/>
          <p:nvPr/>
        </p:nvSpPr>
        <p:spPr>
          <a:xfrm>
            <a:off x="10424160" y="4096512"/>
            <a:ext cx="1051560" cy="457200"/>
          </a:xfrm>
          <a:prstGeom prst="rect">
            <a:avLst/>
          </a:prstGeom>
          <a:noFill/>
          <a:ln/>
        </p:spPr>
        <p:txBody>
          <a:bodyPr wrap="square" lIns="0" tIns="0" rIns="0" bIns="0" rtlCol="0" anchor="ctr"/>
          <a:lstStyle/>
          <a:p>
            <a:pPr algn="r" indent="0" marL="0">
              <a:buNone/>
            </a:pPr>
            <a:r>
              <a:rPr lang="en-US" sz="1250" b="1" dirty="0">
                <a:solidFill>
                  <a:srgbClr val="141B3D"/>
                </a:solidFill>
                <a:latin typeface="Calibri" pitchFamily="34" charset="0"/>
                <a:ea typeface="Calibri" pitchFamily="34" charset="-122"/>
                <a:cs typeface="Calibri" pitchFamily="34" charset="-120"/>
              </a:rPr>
              <a:t>₹ 6,000</a:t>
            </a:r>
            <a:endParaRPr lang="en-US" sz="1250" dirty="0"/>
          </a:p>
        </p:txBody>
      </p:sp>
      <p:sp>
        <p:nvSpPr>
          <p:cNvPr id="33" name="Shape 30"/>
          <p:cNvSpPr/>
          <p:nvPr/>
        </p:nvSpPr>
        <p:spPr>
          <a:xfrm>
            <a:off x="4572000" y="4645152"/>
            <a:ext cx="7068312" cy="493776"/>
          </a:xfrm>
          <a:prstGeom prst="roundRect">
            <a:avLst>
              <a:gd name="adj" fmla="val 12963"/>
            </a:avLst>
          </a:prstGeom>
          <a:solidFill>
            <a:srgbClr val="FFFFFF"/>
          </a:solidFill>
          <a:ln w="6350">
            <a:solidFill>
              <a:srgbClr val="DDE3F5"/>
            </a:solidFill>
            <a:prstDash val="solid"/>
          </a:ln>
        </p:spPr>
      </p:sp>
      <p:sp>
        <p:nvSpPr>
          <p:cNvPr id="34" name="Shape 31"/>
          <p:cNvSpPr/>
          <p:nvPr/>
        </p:nvSpPr>
        <p:spPr>
          <a:xfrm>
            <a:off x="4754880" y="4818888"/>
            <a:ext cx="146304" cy="146304"/>
          </a:xfrm>
          <a:prstGeom prst="ellipse">
            <a:avLst/>
          </a:prstGeom>
          <a:solidFill>
            <a:srgbClr val="9AA6C4"/>
          </a:solidFill>
          <a:ln w="12700">
            <a:solidFill>
              <a:srgbClr val="333333"/>
            </a:solidFill>
            <a:prstDash val="solid"/>
          </a:ln>
        </p:spPr>
      </p:sp>
      <p:sp>
        <p:nvSpPr>
          <p:cNvPr id="35" name="Text 32"/>
          <p:cNvSpPr/>
          <p:nvPr/>
        </p:nvSpPr>
        <p:spPr>
          <a:xfrm>
            <a:off x="5029200" y="4663440"/>
            <a:ext cx="3200400" cy="457200"/>
          </a:xfrm>
          <a:prstGeom prst="rect">
            <a:avLst/>
          </a:prstGeom>
          <a:noFill/>
          <a:ln/>
        </p:spPr>
        <p:txBody>
          <a:bodyPr wrap="square" lIns="0" tIns="0" rIns="0" bIns="0" rtlCol="0" anchor="ctr"/>
          <a:lstStyle/>
          <a:p>
            <a:pPr indent="0" marL="0">
              <a:buNone/>
            </a:pPr>
            <a:r>
              <a:rPr lang="en-US" sz="1200" b="1" dirty="0">
                <a:solidFill>
                  <a:srgbClr val="141B3D"/>
                </a:solidFill>
                <a:latin typeface="Calibri" pitchFamily="34" charset="0"/>
                <a:ea typeface="Calibri" pitchFamily="34" charset="-122"/>
                <a:cs typeface="Calibri" pitchFamily="34" charset="-120"/>
              </a:rPr>
              <a:t>Domain, SSL and contingency</a:t>
            </a:r>
            <a:endParaRPr lang="en-US" sz="1200" dirty="0"/>
          </a:p>
        </p:txBody>
      </p:sp>
      <p:sp>
        <p:nvSpPr>
          <p:cNvPr id="36" name="Text 33"/>
          <p:cNvSpPr/>
          <p:nvPr/>
        </p:nvSpPr>
        <p:spPr>
          <a:xfrm>
            <a:off x="8229600" y="4663440"/>
            <a:ext cx="2286000" cy="457200"/>
          </a:xfrm>
          <a:prstGeom prst="rect">
            <a:avLst/>
          </a:prstGeom>
          <a:noFill/>
          <a:ln/>
        </p:spPr>
        <p:txBody>
          <a:bodyPr wrap="square" lIns="0" tIns="0" rIns="0" bIns="0" rtlCol="0" anchor="ctr"/>
          <a:lstStyle/>
          <a:p>
            <a:pPr indent="0" marL="0">
              <a:buNone/>
            </a:pPr>
            <a:r>
              <a:rPr lang="en-US" sz="950" dirty="0">
                <a:solidFill>
                  <a:srgbClr val="646E8C"/>
                </a:solidFill>
                <a:latin typeface="Calibri" pitchFamily="34" charset="0"/>
                <a:ea typeface="Calibri" pitchFamily="34" charset="-122"/>
                <a:cs typeface="Calibri" pitchFamily="34" charset="-120"/>
              </a:rPr>
              <a:t>₹0 if college IT issues the subdomain</a:t>
            </a:r>
            <a:endParaRPr lang="en-US" sz="950" dirty="0"/>
          </a:p>
        </p:txBody>
      </p:sp>
      <p:sp>
        <p:nvSpPr>
          <p:cNvPr id="37" name="Text 34"/>
          <p:cNvSpPr/>
          <p:nvPr/>
        </p:nvSpPr>
        <p:spPr>
          <a:xfrm>
            <a:off x="10424160" y="4663440"/>
            <a:ext cx="1051560" cy="457200"/>
          </a:xfrm>
          <a:prstGeom prst="rect">
            <a:avLst/>
          </a:prstGeom>
          <a:noFill/>
          <a:ln/>
        </p:spPr>
        <p:txBody>
          <a:bodyPr wrap="square" lIns="0" tIns="0" rIns="0" bIns="0" rtlCol="0" anchor="ctr"/>
          <a:lstStyle/>
          <a:p>
            <a:pPr algn="r" indent="0" marL="0">
              <a:buNone/>
            </a:pPr>
            <a:r>
              <a:rPr lang="en-US" sz="1250" b="1" dirty="0">
                <a:solidFill>
                  <a:srgbClr val="141B3D"/>
                </a:solidFill>
                <a:latin typeface="Calibri" pitchFamily="34" charset="0"/>
                <a:ea typeface="Calibri" pitchFamily="34" charset="-122"/>
                <a:cs typeface="Calibri" pitchFamily="34" charset="-120"/>
              </a:rPr>
              <a:t>₹ 3,800</a:t>
            </a:r>
            <a:endParaRPr lang="en-US" sz="1250" dirty="0"/>
          </a:p>
        </p:txBody>
      </p:sp>
      <p:sp>
        <p:nvSpPr>
          <p:cNvPr id="38" name="Shape 35"/>
          <p:cNvSpPr/>
          <p:nvPr/>
        </p:nvSpPr>
        <p:spPr>
          <a:xfrm>
            <a:off x="4572000" y="5212080"/>
            <a:ext cx="7068312" cy="548640"/>
          </a:xfrm>
          <a:prstGeom prst="roundRect">
            <a:avLst>
              <a:gd name="adj" fmla="val 11667"/>
            </a:avLst>
          </a:prstGeom>
          <a:solidFill>
            <a:srgbClr val="141B3D"/>
          </a:solidFill>
          <a:ln w="12700">
            <a:solidFill>
              <a:srgbClr val="333333"/>
            </a:solidFill>
            <a:prstDash val="solid"/>
          </a:ln>
        </p:spPr>
      </p:sp>
      <p:sp>
        <p:nvSpPr>
          <p:cNvPr id="39" name="Text 36"/>
          <p:cNvSpPr/>
          <p:nvPr/>
        </p:nvSpPr>
        <p:spPr>
          <a:xfrm>
            <a:off x="5029200" y="5212080"/>
            <a:ext cx="4572000" cy="548640"/>
          </a:xfrm>
          <a:prstGeom prst="rect">
            <a:avLst/>
          </a:prstGeom>
          <a:noFill/>
          <a:ln/>
        </p:spPr>
        <p:txBody>
          <a:bodyPr wrap="square" lIns="0" tIns="0" rIns="0" bIns="0" rtlCol="0" anchor="ctr"/>
          <a:lstStyle/>
          <a:p>
            <a:pPr indent="0" marL="0">
              <a:buNone/>
            </a:pPr>
            <a:r>
              <a:rPr lang="en-US" sz="1200" b="1" spc="100" kern="0" dirty="0">
                <a:solidFill>
                  <a:srgbClr val="00C39A"/>
                </a:solidFill>
                <a:latin typeface="Calibri" pitchFamily="34" charset="0"/>
                <a:ea typeface="Calibri" pitchFamily="34" charset="-122"/>
                <a:cs typeface="Calibri" pitchFamily="34" charset="-120"/>
              </a:rPr>
              <a:t>TOTAL PROPOSED BUDGET</a:t>
            </a:r>
            <a:endParaRPr lang="en-US" sz="1200" dirty="0"/>
          </a:p>
        </p:txBody>
      </p:sp>
      <p:sp>
        <p:nvSpPr>
          <p:cNvPr id="40" name="Text 37"/>
          <p:cNvSpPr/>
          <p:nvPr/>
        </p:nvSpPr>
        <p:spPr>
          <a:xfrm>
            <a:off x="9966960" y="5212080"/>
            <a:ext cx="1508760" cy="548640"/>
          </a:xfrm>
          <a:prstGeom prst="rect">
            <a:avLst/>
          </a:prstGeom>
          <a:noFill/>
          <a:ln/>
        </p:spPr>
        <p:txBody>
          <a:bodyPr wrap="square" lIns="0" tIns="0" rIns="0" bIns="0" rtlCol="0" anchor="ctr"/>
          <a:lstStyle/>
          <a:p>
            <a:pPr algn="r" indent="0" marL="0">
              <a:buNone/>
            </a:pPr>
            <a:r>
              <a:rPr lang="en-US" sz="1700" b="1" dirty="0">
                <a:solidFill>
                  <a:srgbClr val="FFFFFF"/>
                </a:solidFill>
                <a:latin typeface="Cambria" pitchFamily="34" charset="0"/>
                <a:ea typeface="Cambria" pitchFamily="34" charset="-122"/>
                <a:cs typeface="Cambria" pitchFamily="34" charset="-120"/>
              </a:rPr>
              <a:t>₹ 89,000</a:t>
            </a:r>
            <a:endParaRPr lang="en-US" sz="1700" dirty="0"/>
          </a:p>
        </p:txBody>
      </p:sp>
      <p:sp>
        <p:nvSpPr>
          <p:cNvPr id="41" name="Text 38"/>
          <p:cNvSpPr/>
          <p:nvPr/>
        </p:nvSpPr>
        <p:spPr>
          <a:xfrm>
            <a:off x="384048" y="6053328"/>
            <a:ext cx="11338560" cy="310896"/>
          </a:xfrm>
          <a:prstGeom prst="rect">
            <a:avLst/>
          </a:prstGeom>
          <a:noFill/>
          <a:ln/>
        </p:spPr>
        <p:txBody>
          <a:bodyPr wrap="square" lIns="0" tIns="0" rIns="0" bIns="0" rtlCol="0" anchor="ctr"/>
          <a:lstStyle/>
          <a:p>
            <a:pPr algn="ctr" indent="0" marL="0">
              <a:buNone/>
            </a:pPr>
            <a:r>
              <a:rPr lang="en-US" sz="1050" i="1" dirty="0">
                <a:solidFill>
                  <a:srgbClr val="646E8C"/>
                </a:solidFill>
                <a:latin typeface="Calibri" pitchFamily="34" charset="0"/>
                <a:ea typeface="Calibri" pitchFamily="34" charset="-122"/>
                <a:cs typeface="Calibri" pitchFamily="34" charset="-120"/>
              </a:rPr>
              <a:t>Licence cost ₹0 and development cost ₹0 — every component is open-source and the platform is already built.  ·  No equipment purchase and no cost to students at any point.</a:t>
            </a:r>
            <a:endParaRPr lang="en-US" sz="1050" dirty="0"/>
          </a:p>
        </p:txBody>
      </p:sp>
    </p:spTree>
  </p:cSld>
  <p:clrMapOvr>
    <a:masterClrMapping/>
  </p:clrMapOvr>
  <mc:AlternateContent xmlns:mc="http://schemas.openxmlformats.org/markup-compatibility/2006">
    <mc:Choice xmlns:p14="http://schemas.microsoft.com/office/powerpoint/2010/main" Requires="p14">
      <p:transition spd="slow" p14:dur="65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
                                        </p:tgtEl>
                                        <p:attrNameLst>
                                          <p:attrName>style.visibility</p:attrName>
                                        </p:attrNameLst>
                                      </p:cBhvr>
                                      <p:to>
                                        <p:strVal val="visible"/>
                                      </p:to>
                                    </p:set>
                                    <p:animEffect transition="in" filter="fade">
                                      <p:cBhvr>
                                        <p:cTn id="7" dur="380"/>
                                        <p:tgtEl>
                                          <p:spTgt spid="1"/>
                                        </p:tgtEl>
                                      </p:cBhvr>
                                    </p:animEffect>
                                    <p:anim calcmode="lin" valueType="num">
                                      <p:cBhvr additive="base">
                                        <p:cTn id="8" dur="380" fill="hold"/>
                                        <p:tgtEl>
                                          <p:spTgt spid="1"/>
                                        </p:tgtEl>
                                        <p:attrNameLst>
                                          <p:attrName>ppt_y</p:attrName>
                                        </p:attrNameLst>
                                      </p:cBhvr>
                                      <p:tavLst>
                                        <p:tav tm="0">
                                          <p:val>
                                            <p:strVal val="#ppt_y+0.03"/>
                                          </p:val>
                                        </p:tav>
                                        <p:tav tm="100000">
                                          <p:val>
                                            <p:strVal val="#ppt_y"/>
                                          </p:val>
                                        </p:tav>
                                      </p:tavLst>
                                    </p:anim>
                                  </p:childTnLst>
                                </p:cTn>
                              </p:par>
                              <p:par>
                                <p:cTn id="9" presetID="42" presetClass="entr" presetSubtype="0" fill="hold" grpId="0" nodeType="afterEffect">
                                  <p:stCondLst>
                                    <p:cond delay="43"/>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380"/>
                                        <p:tgtEl>
                                          <p:spTgt spid="2"/>
                                        </p:tgtEl>
                                      </p:cBhvr>
                                    </p:animEffect>
                                    <p:anim calcmode="lin" valueType="num">
                                      <p:cBhvr additive="base">
                                        <p:cTn id="12" dur="380" fill="hold"/>
                                        <p:tgtEl>
                                          <p:spTgt spid="2"/>
                                        </p:tgtEl>
                                        <p:attrNameLst>
                                          <p:attrName>ppt_y</p:attrName>
                                        </p:attrNameLst>
                                      </p:cBhvr>
                                      <p:tavLst>
                                        <p:tav tm="0">
                                          <p:val>
                                            <p:strVal val="#ppt_y+0.03"/>
                                          </p:val>
                                        </p:tav>
                                        <p:tav tm="100000">
                                          <p:val>
                                            <p:strVal val="#ppt_y"/>
                                          </p:val>
                                        </p:tav>
                                      </p:tavLst>
                                    </p:anim>
                                  </p:childTnLst>
                                </p:cTn>
                              </p:par>
                              <p:par>
                                <p:cTn id="13" presetID="42" presetClass="entr" presetSubtype="0" fill="hold" grpId="0" nodeType="afterEffect">
                                  <p:stCondLst>
                                    <p:cond delay="86"/>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380"/>
                                        <p:tgtEl>
                                          <p:spTgt spid="3"/>
                                        </p:tgtEl>
                                      </p:cBhvr>
                                    </p:animEffect>
                                    <p:anim calcmode="lin" valueType="num">
                                      <p:cBhvr additive="base">
                                        <p:cTn id="16" dur="380" fill="hold"/>
                                        <p:tgtEl>
                                          <p:spTgt spid="3"/>
                                        </p:tgtEl>
                                        <p:attrNameLst>
                                          <p:attrName>ppt_y</p:attrName>
                                        </p:attrNameLst>
                                      </p:cBhvr>
                                      <p:tavLst>
                                        <p:tav tm="0">
                                          <p:val>
                                            <p:strVal val="#ppt_y+0.03"/>
                                          </p:val>
                                        </p:tav>
                                        <p:tav tm="100000">
                                          <p:val>
                                            <p:strVal val="#ppt_y"/>
                                          </p:val>
                                        </p:tav>
                                      </p:tavLst>
                                    </p:anim>
                                  </p:childTnLst>
                                </p:cTn>
                              </p:par>
                              <p:par>
                                <p:cTn id="17" presetID="42" presetClass="entr" presetSubtype="0" fill="hold" grpId="0" nodeType="afterEffect">
                                  <p:stCondLst>
                                    <p:cond delay="129"/>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380"/>
                                        <p:tgtEl>
                                          <p:spTgt spid="4"/>
                                        </p:tgtEl>
                                      </p:cBhvr>
                                    </p:animEffect>
                                    <p:anim calcmode="lin" valueType="num">
                                      <p:cBhvr additive="base">
                                        <p:cTn id="20" dur="380" fill="hold"/>
                                        <p:tgtEl>
                                          <p:spTgt spid="4"/>
                                        </p:tgtEl>
                                        <p:attrNameLst>
                                          <p:attrName>ppt_y</p:attrName>
                                        </p:attrNameLst>
                                      </p:cBhvr>
                                      <p:tavLst>
                                        <p:tav tm="0">
                                          <p:val>
                                            <p:strVal val="#ppt_y+0.03"/>
                                          </p:val>
                                        </p:tav>
                                        <p:tav tm="100000">
                                          <p:val>
                                            <p:strVal val="#ppt_y"/>
                                          </p:val>
                                        </p:tav>
                                      </p:tavLst>
                                    </p:anim>
                                  </p:childTnLst>
                                </p:cTn>
                              </p:par>
                              <p:par>
                                <p:cTn id="21" presetID="42" presetClass="entr" presetSubtype="0" fill="hold" grpId="0" nodeType="afterEffect">
                                  <p:stCondLst>
                                    <p:cond delay="172"/>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380"/>
                                        <p:tgtEl>
                                          <p:spTgt spid="5"/>
                                        </p:tgtEl>
                                      </p:cBhvr>
                                    </p:animEffect>
                                    <p:anim calcmode="lin" valueType="num">
                                      <p:cBhvr additive="base">
                                        <p:cTn id="24" dur="380" fill="hold"/>
                                        <p:tgtEl>
                                          <p:spTgt spid="5"/>
                                        </p:tgtEl>
                                        <p:attrNameLst>
                                          <p:attrName>ppt_y</p:attrName>
                                        </p:attrNameLst>
                                      </p:cBhvr>
                                      <p:tavLst>
                                        <p:tav tm="0">
                                          <p:val>
                                            <p:strVal val="#ppt_y+0.03"/>
                                          </p:val>
                                        </p:tav>
                                        <p:tav tm="100000">
                                          <p:val>
                                            <p:strVal val="#ppt_y"/>
                                          </p:val>
                                        </p:tav>
                                      </p:tavLst>
                                    </p:anim>
                                  </p:childTnLst>
                                </p:cTn>
                              </p:par>
                              <p:par>
                                <p:cTn id="25" presetID="42" presetClass="entr" presetSubtype="0" fill="hold" grpId="0" nodeType="afterEffect">
                                  <p:stCondLst>
                                    <p:cond delay="215"/>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380"/>
                                        <p:tgtEl>
                                          <p:spTgt spid="6"/>
                                        </p:tgtEl>
                                      </p:cBhvr>
                                    </p:animEffect>
                                    <p:anim calcmode="lin" valueType="num">
                                      <p:cBhvr additive="base">
                                        <p:cTn id="28" dur="380" fill="hold"/>
                                        <p:tgtEl>
                                          <p:spTgt spid="6"/>
                                        </p:tgtEl>
                                        <p:attrNameLst>
                                          <p:attrName>ppt_y</p:attrName>
                                        </p:attrNameLst>
                                      </p:cBhvr>
                                      <p:tavLst>
                                        <p:tav tm="0">
                                          <p:val>
                                            <p:strVal val="#ppt_y+0.03"/>
                                          </p:val>
                                        </p:tav>
                                        <p:tav tm="100000">
                                          <p:val>
                                            <p:strVal val="#ppt_y"/>
                                          </p:val>
                                        </p:tav>
                                      </p:tavLst>
                                    </p:anim>
                                  </p:childTnLst>
                                </p:cTn>
                              </p:par>
                              <p:par>
                                <p:cTn id="29" presetID="42" presetClass="entr" presetSubtype="0" fill="hold" grpId="0" nodeType="afterEffect">
                                  <p:stCondLst>
                                    <p:cond delay="258"/>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380"/>
                                        <p:tgtEl>
                                          <p:spTgt spid="7"/>
                                        </p:tgtEl>
                                      </p:cBhvr>
                                    </p:animEffect>
                                    <p:anim calcmode="lin" valueType="num">
                                      <p:cBhvr additive="base">
                                        <p:cTn id="32" dur="380" fill="hold"/>
                                        <p:tgtEl>
                                          <p:spTgt spid="7"/>
                                        </p:tgtEl>
                                        <p:attrNameLst>
                                          <p:attrName>ppt_y</p:attrName>
                                        </p:attrNameLst>
                                      </p:cBhvr>
                                      <p:tavLst>
                                        <p:tav tm="0">
                                          <p:val>
                                            <p:strVal val="#ppt_y+0.03"/>
                                          </p:val>
                                        </p:tav>
                                        <p:tav tm="100000">
                                          <p:val>
                                            <p:strVal val="#ppt_y"/>
                                          </p:val>
                                        </p:tav>
                                      </p:tavLst>
                                    </p:anim>
                                  </p:childTnLst>
                                </p:cTn>
                              </p:par>
                              <p:par>
                                <p:cTn id="33" presetID="42" presetClass="entr" presetSubtype="0" fill="hold" grpId="0" nodeType="afterEffect">
                                  <p:stCondLst>
                                    <p:cond delay="301"/>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380"/>
                                        <p:tgtEl>
                                          <p:spTgt spid="8"/>
                                        </p:tgtEl>
                                      </p:cBhvr>
                                    </p:animEffect>
                                    <p:anim calcmode="lin" valueType="num">
                                      <p:cBhvr additive="base">
                                        <p:cTn id="36" dur="380" fill="hold"/>
                                        <p:tgtEl>
                                          <p:spTgt spid="8"/>
                                        </p:tgtEl>
                                        <p:attrNameLst>
                                          <p:attrName>ppt_y</p:attrName>
                                        </p:attrNameLst>
                                      </p:cBhvr>
                                      <p:tavLst>
                                        <p:tav tm="0">
                                          <p:val>
                                            <p:strVal val="#ppt_y+0.03"/>
                                          </p:val>
                                        </p:tav>
                                        <p:tav tm="100000">
                                          <p:val>
                                            <p:strVal val="#ppt_y"/>
                                          </p:val>
                                        </p:tav>
                                      </p:tavLst>
                                    </p:anim>
                                  </p:childTnLst>
                                </p:cTn>
                              </p:par>
                              <p:par>
                                <p:cTn id="37" presetID="42" presetClass="entr" presetSubtype="0" fill="hold" grpId="0" nodeType="afterEffect">
                                  <p:stCondLst>
                                    <p:cond delay="344"/>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380"/>
                                        <p:tgtEl>
                                          <p:spTgt spid="9"/>
                                        </p:tgtEl>
                                      </p:cBhvr>
                                    </p:animEffect>
                                    <p:anim calcmode="lin" valueType="num">
                                      <p:cBhvr additive="base">
                                        <p:cTn id="40" dur="380" fill="hold"/>
                                        <p:tgtEl>
                                          <p:spTgt spid="9"/>
                                        </p:tgtEl>
                                        <p:attrNameLst>
                                          <p:attrName>ppt_y</p:attrName>
                                        </p:attrNameLst>
                                      </p:cBhvr>
                                      <p:tavLst>
                                        <p:tav tm="0">
                                          <p:val>
                                            <p:strVal val="#ppt_y+0.03"/>
                                          </p:val>
                                        </p:tav>
                                        <p:tav tm="100000">
                                          <p:val>
                                            <p:strVal val="#ppt_y"/>
                                          </p:val>
                                        </p:tav>
                                      </p:tavLst>
                                    </p:anim>
                                  </p:childTnLst>
                                </p:cTn>
                              </p:par>
                              <p:par>
                                <p:cTn id="41" presetID="42" presetClass="entr" presetSubtype="0" fill="hold" grpId="0" nodeType="afterEffect">
                                  <p:stCondLst>
                                    <p:cond delay="387"/>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380"/>
                                        <p:tgtEl>
                                          <p:spTgt spid="10"/>
                                        </p:tgtEl>
                                      </p:cBhvr>
                                    </p:animEffect>
                                    <p:anim calcmode="lin" valueType="num">
                                      <p:cBhvr additive="base">
                                        <p:cTn id="44" dur="380" fill="hold"/>
                                        <p:tgtEl>
                                          <p:spTgt spid="10"/>
                                        </p:tgtEl>
                                        <p:attrNameLst>
                                          <p:attrName>ppt_y</p:attrName>
                                        </p:attrNameLst>
                                      </p:cBhvr>
                                      <p:tavLst>
                                        <p:tav tm="0">
                                          <p:val>
                                            <p:strVal val="#ppt_y+0.03"/>
                                          </p:val>
                                        </p:tav>
                                        <p:tav tm="100000">
                                          <p:val>
                                            <p:strVal val="#ppt_y"/>
                                          </p:val>
                                        </p:tav>
                                      </p:tavLst>
                                    </p:anim>
                                  </p:childTnLst>
                                </p:cTn>
                              </p:par>
                              <p:par>
                                <p:cTn id="45" presetID="42" presetClass="entr" presetSubtype="0" fill="hold" grpId="0" nodeType="afterEffect">
                                  <p:stCondLst>
                                    <p:cond delay="43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380"/>
                                        <p:tgtEl>
                                          <p:spTgt spid="11"/>
                                        </p:tgtEl>
                                      </p:cBhvr>
                                    </p:animEffect>
                                    <p:anim calcmode="lin" valueType="num">
                                      <p:cBhvr additive="base">
                                        <p:cTn id="48" dur="380" fill="hold"/>
                                        <p:tgtEl>
                                          <p:spTgt spid="11"/>
                                        </p:tgtEl>
                                        <p:attrNameLst>
                                          <p:attrName>ppt_y</p:attrName>
                                        </p:attrNameLst>
                                      </p:cBhvr>
                                      <p:tavLst>
                                        <p:tav tm="0">
                                          <p:val>
                                            <p:strVal val="#ppt_y+0.03"/>
                                          </p:val>
                                        </p:tav>
                                        <p:tav tm="100000">
                                          <p:val>
                                            <p:strVal val="#ppt_y"/>
                                          </p:val>
                                        </p:tav>
                                      </p:tavLst>
                                    </p:anim>
                                  </p:childTnLst>
                                </p:cTn>
                              </p:par>
                              <p:par>
                                <p:cTn id="49" presetID="42" presetClass="entr" presetSubtype="0" fill="hold" grpId="0" nodeType="afterEffect">
                                  <p:stCondLst>
                                    <p:cond delay="473"/>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380"/>
                                        <p:tgtEl>
                                          <p:spTgt spid="12"/>
                                        </p:tgtEl>
                                      </p:cBhvr>
                                    </p:animEffect>
                                    <p:anim calcmode="lin" valueType="num">
                                      <p:cBhvr additive="base">
                                        <p:cTn id="52" dur="380" fill="hold"/>
                                        <p:tgtEl>
                                          <p:spTgt spid="12"/>
                                        </p:tgtEl>
                                        <p:attrNameLst>
                                          <p:attrName>ppt_y</p:attrName>
                                        </p:attrNameLst>
                                      </p:cBhvr>
                                      <p:tavLst>
                                        <p:tav tm="0">
                                          <p:val>
                                            <p:strVal val="#ppt_y+0.03"/>
                                          </p:val>
                                        </p:tav>
                                        <p:tav tm="100000">
                                          <p:val>
                                            <p:strVal val="#ppt_y"/>
                                          </p:val>
                                        </p:tav>
                                      </p:tavLst>
                                    </p:anim>
                                  </p:childTnLst>
                                </p:cTn>
                              </p:par>
                              <p:par>
                                <p:cTn id="53" presetID="42" presetClass="entr" presetSubtype="0" fill="hold" grpId="0" nodeType="afterEffect">
                                  <p:stCondLst>
                                    <p:cond delay="516"/>
                                  </p:stCondLst>
                                  <p:childTnLst>
                                    <p:set>
                                      <p:cBhvr>
                                        <p:cTn id="54" dur="1" fill="hold">
                                          <p:stCondLst>
                                            <p:cond delay="0"/>
                                          </p:stCondLst>
                                        </p:cTn>
                                        <p:tgtEl>
                                          <p:spTgt spid="13"/>
                                        </p:tgtEl>
                                        <p:attrNameLst>
                                          <p:attrName>style.visibility</p:attrName>
                                        </p:attrNameLst>
                                      </p:cBhvr>
                                      <p:to>
                                        <p:strVal val="visible"/>
                                      </p:to>
                                    </p:set>
                                    <p:animEffect transition="in" filter="fade">
                                      <p:cBhvr>
                                        <p:cTn id="55" dur="380"/>
                                        <p:tgtEl>
                                          <p:spTgt spid="13"/>
                                        </p:tgtEl>
                                      </p:cBhvr>
                                    </p:animEffect>
                                    <p:anim calcmode="lin" valueType="num">
                                      <p:cBhvr additive="base">
                                        <p:cTn id="56" dur="380" fill="hold"/>
                                        <p:tgtEl>
                                          <p:spTgt spid="13"/>
                                        </p:tgtEl>
                                        <p:attrNameLst>
                                          <p:attrName>ppt_y</p:attrName>
                                        </p:attrNameLst>
                                      </p:cBhvr>
                                      <p:tavLst>
                                        <p:tav tm="0">
                                          <p:val>
                                            <p:strVal val="#ppt_y+0.03"/>
                                          </p:val>
                                        </p:tav>
                                        <p:tav tm="100000">
                                          <p:val>
                                            <p:strVal val="#ppt_y"/>
                                          </p:val>
                                        </p:tav>
                                      </p:tavLst>
                                    </p:anim>
                                  </p:childTnLst>
                                </p:cTn>
                              </p:par>
                              <p:par>
                                <p:cTn id="57" presetID="42" presetClass="entr" presetSubtype="0" fill="hold" grpId="0" nodeType="afterEffect">
                                  <p:stCondLst>
                                    <p:cond delay="559"/>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380"/>
                                        <p:tgtEl>
                                          <p:spTgt spid="14"/>
                                        </p:tgtEl>
                                      </p:cBhvr>
                                    </p:animEffect>
                                    <p:anim calcmode="lin" valueType="num">
                                      <p:cBhvr additive="base">
                                        <p:cTn id="60" dur="380" fill="hold"/>
                                        <p:tgtEl>
                                          <p:spTgt spid="14"/>
                                        </p:tgtEl>
                                        <p:attrNameLst>
                                          <p:attrName>ppt_y</p:attrName>
                                        </p:attrNameLst>
                                      </p:cBhvr>
                                      <p:tavLst>
                                        <p:tav tm="0">
                                          <p:val>
                                            <p:strVal val="#ppt_y+0.03"/>
                                          </p:val>
                                        </p:tav>
                                        <p:tav tm="100000">
                                          <p:val>
                                            <p:strVal val="#ppt_y"/>
                                          </p:val>
                                        </p:tav>
                                      </p:tavLst>
                                    </p:anim>
                                  </p:childTnLst>
                                </p:cTn>
                              </p:par>
                              <p:par>
                                <p:cTn id="61" presetID="42" presetClass="entr" presetSubtype="0" fill="hold" grpId="0" nodeType="afterEffect">
                                  <p:stCondLst>
                                    <p:cond delay="602"/>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380"/>
                                        <p:tgtEl>
                                          <p:spTgt spid="15"/>
                                        </p:tgtEl>
                                      </p:cBhvr>
                                    </p:animEffect>
                                    <p:anim calcmode="lin" valueType="num">
                                      <p:cBhvr additive="base">
                                        <p:cTn id="64" dur="380" fill="hold"/>
                                        <p:tgtEl>
                                          <p:spTgt spid="15"/>
                                        </p:tgtEl>
                                        <p:attrNameLst>
                                          <p:attrName>ppt_y</p:attrName>
                                        </p:attrNameLst>
                                      </p:cBhvr>
                                      <p:tavLst>
                                        <p:tav tm="0">
                                          <p:val>
                                            <p:strVal val="#ppt_y+0.03"/>
                                          </p:val>
                                        </p:tav>
                                        <p:tav tm="100000">
                                          <p:val>
                                            <p:strVal val="#ppt_y"/>
                                          </p:val>
                                        </p:tav>
                                      </p:tavLst>
                                    </p:anim>
                                  </p:childTnLst>
                                </p:cTn>
                              </p:par>
                              <p:par>
                                <p:cTn id="65" presetID="42" presetClass="entr" presetSubtype="0" fill="hold" grpId="0" nodeType="afterEffect">
                                  <p:stCondLst>
                                    <p:cond delay="645"/>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380"/>
                                        <p:tgtEl>
                                          <p:spTgt spid="16"/>
                                        </p:tgtEl>
                                      </p:cBhvr>
                                    </p:animEffect>
                                    <p:anim calcmode="lin" valueType="num">
                                      <p:cBhvr additive="base">
                                        <p:cTn id="68" dur="380" fill="hold"/>
                                        <p:tgtEl>
                                          <p:spTgt spid="16"/>
                                        </p:tgtEl>
                                        <p:attrNameLst>
                                          <p:attrName>ppt_y</p:attrName>
                                        </p:attrNameLst>
                                      </p:cBhvr>
                                      <p:tavLst>
                                        <p:tav tm="0">
                                          <p:val>
                                            <p:strVal val="#ppt_y+0.03"/>
                                          </p:val>
                                        </p:tav>
                                        <p:tav tm="100000">
                                          <p:val>
                                            <p:strVal val="#ppt_y"/>
                                          </p:val>
                                        </p:tav>
                                      </p:tavLst>
                                    </p:anim>
                                  </p:childTnLst>
                                </p:cTn>
                              </p:par>
                              <p:par>
                                <p:cTn id="69" presetID="42" presetClass="entr" presetSubtype="0" fill="hold" grpId="0" nodeType="afterEffect">
                                  <p:stCondLst>
                                    <p:cond delay="688"/>
                                  </p:stCondLst>
                                  <p:childTnLst>
                                    <p:set>
                                      <p:cBhvr>
                                        <p:cTn id="70" dur="1" fill="hold">
                                          <p:stCondLst>
                                            <p:cond delay="0"/>
                                          </p:stCondLst>
                                        </p:cTn>
                                        <p:tgtEl>
                                          <p:spTgt spid="17"/>
                                        </p:tgtEl>
                                        <p:attrNameLst>
                                          <p:attrName>style.visibility</p:attrName>
                                        </p:attrNameLst>
                                      </p:cBhvr>
                                      <p:to>
                                        <p:strVal val="visible"/>
                                      </p:to>
                                    </p:set>
                                    <p:animEffect transition="in" filter="fade">
                                      <p:cBhvr>
                                        <p:cTn id="71" dur="380"/>
                                        <p:tgtEl>
                                          <p:spTgt spid="17"/>
                                        </p:tgtEl>
                                      </p:cBhvr>
                                    </p:animEffect>
                                    <p:anim calcmode="lin" valueType="num">
                                      <p:cBhvr additive="base">
                                        <p:cTn id="72" dur="380" fill="hold"/>
                                        <p:tgtEl>
                                          <p:spTgt spid="17"/>
                                        </p:tgtEl>
                                        <p:attrNameLst>
                                          <p:attrName>ppt_y</p:attrName>
                                        </p:attrNameLst>
                                      </p:cBhvr>
                                      <p:tavLst>
                                        <p:tav tm="0">
                                          <p:val>
                                            <p:strVal val="#ppt_y+0.03"/>
                                          </p:val>
                                        </p:tav>
                                        <p:tav tm="100000">
                                          <p:val>
                                            <p:strVal val="#ppt_y"/>
                                          </p:val>
                                        </p:tav>
                                      </p:tavLst>
                                    </p:anim>
                                  </p:childTnLst>
                                </p:cTn>
                              </p:par>
                              <p:par>
                                <p:cTn id="73" presetID="42" presetClass="entr" presetSubtype="0" fill="hold" grpId="0" nodeType="afterEffect">
                                  <p:stCondLst>
                                    <p:cond delay="731"/>
                                  </p:stCondLst>
                                  <p:childTnLst>
                                    <p:set>
                                      <p:cBhvr>
                                        <p:cTn id="74" dur="1" fill="hold">
                                          <p:stCondLst>
                                            <p:cond delay="0"/>
                                          </p:stCondLst>
                                        </p:cTn>
                                        <p:tgtEl>
                                          <p:spTgt spid="18"/>
                                        </p:tgtEl>
                                        <p:attrNameLst>
                                          <p:attrName>style.visibility</p:attrName>
                                        </p:attrNameLst>
                                      </p:cBhvr>
                                      <p:to>
                                        <p:strVal val="visible"/>
                                      </p:to>
                                    </p:set>
                                    <p:animEffect transition="in" filter="fade">
                                      <p:cBhvr>
                                        <p:cTn id="75" dur="380"/>
                                        <p:tgtEl>
                                          <p:spTgt spid="18"/>
                                        </p:tgtEl>
                                      </p:cBhvr>
                                    </p:animEffect>
                                    <p:anim calcmode="lin" valueType="num">
                                      <p:cBhvr additive="base">
                                        <p:cTn id="76" dur="380" fill="hold"/>
                                        <p:tgtEl>
                                          <p:spTgt spid="18"/>
                                        </p:tgtEl>
                                        <p:attrNameLst>
                                          <p:attrName>ppt_y</p:attrName>
                                        </p:attrNameLst>
                                      </p:cBhvr>
                                      <p:tavLst>
                                        <p:tav tm="0">
                                          <p:val>
                                            <p:strVal val="#ppt_y+0.03"/>
                                          </p:val>
                                        </p:tav>
                                        <p:tav tm="100000">
                                          <p:val>
                                            <p:strVal val="#ppt_y"/>
                                          </p:val>
                                        </p:tav>
                                      </p:tavLst>
                                    </p:anim>
                                  </p:childTnLst>
                                </p:cTn>
                              </p:par>
                              <p:par>
                                <p:cTn id="77" presetID="42" presetClass="entr" presetSubtype="0" fill="hold" grpId="0" nodeType="afterEffect">
                                  <p:stCondLst>
                                    <p:cond delay="774"/>
                                  </p:stCondLst>
                                  <p:childTnLst>
                                    <p:set>
                                      <p:cBhvr>
                                        <p:cTn id="78" dur="1" fill="hold">
                                          <p:stCondLst>
                                            <p:cond delay="0"/>
                                          </p:stCondLst>
                                        </p:cTn>
                                        <p:tgtEl>
                                          <p:spTgt spid="19"/>
                                        </p:tgtEl>
                                        <p:attrNameLst>
                                          <p:attrName>style.visibility</p:attrName>
                                        </p:attrNameLst>
                                      </p:cBhvr>
                                      <p:to>
                                        <p:strVal val="visible"/>
                                      </p:to>
                                    </p:set>
                                    <p:animEffect transition="in" filter="fade">
                                      <p:cBhvr>
                                        <p:cTn id="79" dur="380"/>
                                        <p:tgtEl>
                                          <p:spTgt spid="19"/>
                                        </p:tgtEl>
                                      </p:cBhvr>
                                    </p:animEffect>
                                    <p:anim calcmode="lin" valueType="num">
                                      <p:cBhvr additive="base">
                                        <p:cTn id="80" dur="380" fill="hold"/>
                                        <p:tgtEl>
                                          <p:spTgt spid="19"/>
                                        </p:tgtEl>
                                        <p:attrNameLst>
                                          <p:attrName>ppt_y</p:attrName>
                                        </p:attrNameLst>
                                      </p:cBhvr>
                                      <p:tavLst>
                                        <p:tav tm="0">
                                          <p:val>
                                            <p:strVal val="#ppt_y+0.03"/>
                                          </p:val>
                                        </p:tav>
                                        <p:tav tm="100000">
                                          <p:val>
                                            <p:strVal val="#ppt_y"/>
                                          </p:val>
                                        </p:tav>
                                      </p:tavLst>
                                    </p:anim>
                                  </p:childTnLst>
                                </p:cTn>
                              </p:par>
                              <p:par>
                                <p:cTn id="81" presetID="42" presetClass="entr" presetSubtype="0" fill="hold" grpId="0" nodeType="afterEffect">
                                  <p:stCondLst>
                                    <p:cond delay="817"/>
                                  </p:stCondLst>
                                  <p:childTnLst>
                                    <p:set>
                                      <p:cBhvr>
                                        <p:cTn id="82" dur="1" fill="hold">
                                          <p:stCondLst>
                                            <p:cond delay="0"/>
                                          </p:stCondLst>
                                        </p:cTn>
                                        <p:tgtEl>
                                          <p:spTgt spid="20"/>
                                        </p:tgtEl>
                                        <p:attrNameLst>
                                          <p:attrName>style.visibility</p:attrName>
                                        </p:attrNameLst>
                                      </p:cBhvr>
                                      <p:to>
                                        <p:strVal val="visible"/>
                                      </p:to>
                                    </p:set>
                                    <p:animEffect transition="in" filter="fade">
                                      <p:cBhvr>
                                        <p:cTn id="83" dur="380"/>
                                        <p:tgtEl>
                                          <p:spTgt spid="20"/>
                                        </p:tgtEl>
                                      </p:cBhvr>
                                    </p:animEffect>
                                    <p:anim calcmode="lin" valueType="num">
                                      <p:cBhvr additive="base">
                                        <p:cTn id="84" dur="380" fill="hold"/>
                                        <p:tgtEl>
                                          <p:spTgt spid="20"/>
                                        </p:tgtEl>
                                        <p:attrNameLst>
                                          <p:attrName>ppt_y</p:attrName>
                                        </p:attrNameLst>
                                      </p:cBhvr>
                                      <p:tavLst>
                                        <p:tav tm="0">
                                          <p:val>
                                            <p:strVal val="#ppt_y+0.03"/>
                                          </p:val>
                                        </p:tav>
                                        <p:tav tm="100000">
                                          <p:val>
                                            <p:strVal val="#ppt_y"/>
                                          </p:val>
                                        </p:tav>
                                      </p:tavLst>
                                    </p:anim>
                                  </p:childTnLst>
                                </p:cTn>
                              </p:par>
                              <p:par>
                                <p:cTn id="85" presetID="42" presetClass="entr" presetSubtype="0" fill="hold" grpId="0" nodeType="afterEffect">
                                  <p:stCondLst>
                                    <p:cond delay="860"/>
                                  </p:stCondLst>
                                  <p:childTnLst>
                                    <p:set>
                                      <p:cBhvr>
                                        <p:cTn id="86" dur="1" fill="hold">
                                          <p:stCondLst>
                                            <p:cond delay="0"/>
                                          </p:stCondLst>
                                        </p:cTn>
                                        <p:tgtEl>
                                          <p:spTgt spid="21"/>
                                        </p:tgtEl>
                                        <p:attrNameLst>
                                          <p:attrName>style.visibility</p:attrName>
                                        </p:attrNameLst>
                                      </p:cBhvr>
                                      <p:to>
                                        <p:strVal val="visible"/>
                                      </p:to>
                                    </p:set>
                                    <p:animEffect transition="in" filter="fade">
                                      <p:cBhvr>
                                        <p:cTn id="87" dur="380"/>
                                        <p:tgtEl>
                                          <p:spTgt spid="21"/>
                                        </p:tgtEl>
                                      </p:cBhvr>
                                    </p:animEffect>
                                    <p:anim calcmode="lin" valueType="num">
                                      <p:cBhvr additive="base">
                                        <p:cTn id="88" dur="380" fill="hold"/>
                                        <p:tgtEl>
                                          <p:spTgt spid="21"/>
                                        </p:tgtEl>
                                        <p:attrNameLst>
                                          <p:attrName>ppt_y</p:attrName>
                                        </p:attrNameLst>
                                      </p:cBhvr>
                                      <p:tavLst>
                                        <p:tav tm="0">
                                          <p:val>
                                            <p:strVal val="#ppt_y+0.03"/>
                                          </p:val>
                                        </p:tav>
                                        <p:tav tm="100000">
                                          <p:val>
                                            <p:strVal val="#ppt_y"/>
                                          </p:val>
                                        </p:tav>
                                      </p:tavLst>
                                    </p:anim>
                                  </p:childTnLst>
                                </p:cTn>
                              </p:par>
                              <p:par>
                                <p:cTn id="89" presetID="42" presetClass="entr" presetSubtype="0" fill="hold" grpId="0" nodeType="afterEffect">
                                  <p:stCondLst>
                                    <p:cond delay="903"/>
                                  </p:stCondLst>
                                  <p:childTnLst>
                                    <p:set>
                                      <p:cBhvr>
                                        <p:cTn id="90" dur="1" fill="hold">
                                          <p:stCondLst>
                                            <p:cond delay="0"/>
                                          </p:stCondLst>
                                        </p:cTn>
                                        <p:tgtEl>
                                          <p:spTgt spid="22"/>
                                        </p:tgtEl>
                                        <p:attrNameLst>
                                          <p:attrName>style.visibility</p:attrName>
                                        </p:attrNameLst>
                                      </p:cBhvr>
                                      <p:to>
                                        <p:strVal val="visible"/>
                                      </p:to>
                                    </p:set>
                                    <p:animEffect transition="in" filter="fade">
                                      <p:cBhvr>
                                        <p:cTn id="91" dur="380"/>
                                        <p:tgtEl>
                                          <p:spTgt spid="22"/>
                                        </p:tgtEl>
                                      </p:cBhvr>
                                    </p:animEffect>
                                    <p:anim calcmode="lin" valueType="num">
                                      <p:cBhvr additive="base">
                                        <p:cTn id="92" dur="380" fill="hold"/>
                                        <p:tgtEl>
                                          <p:spTgt spid="22"/>
                                        </p:tgtEl>
                                        <p:attrNameLst>
                                          <p:attrName>ppt_y</p:attrName>
                                        </p:attrNameLst>
                                      </p:cBhvr>
                                      <p:tavLst>
                                        <p:tav tm="0">
                                          <p:val>
                                            <p:strVal val="#ppt_y+0.03"/>
                                          </p:val>
                                        </p:tav>
                                        <p:tav tm="100000">
                                          <p:val>
                                            <p:strVal val="#ppt_y"/>
                                          </p:val>
                                        </p:tav>
                                      </p:tavLst>
                                    </p:anim>
                                  </p:childTnLst>
                                </p:cTn>
                              </p:par>
                              <p:par>
                                <p:cTn id="93" presetID="42" presetClass="entr" presetSubtype="0" fill="hold" grpId="0" nodeType="afterEffect">
                                  <p:stCondLst>
                                    <p:cond delay="946"/>
                                  </p:stCondLst>
                                  <p:childTnLst>
                                    <p:set>
                                      <p:cBhvr>
                                        <p:cTn id="94" dur="1" fill="hold">
                                          <p:stCondLst>
                                            <p:cond delay="0"/>
                                          </p:stCondLst>
                                        </p:cTn>
                                        <p:tgtEl>
                                          <p:spTgt spid="23"/>
                                        </p:tgtEl>
                                        <p:attrNameLst>
                                          <p:attrName>style.visibility</p:attrName>
                                        </p:attrNameLst>
                                      </p:cBhvr>
                                      <p:to>
                                        <p:strVal val="visible"/>
                                      </p:to>
                                    </p:set>
                                    <p:animEffect transition="in" filter="fade">
                                      <p:cBhvr>
                                        <p:cTn id="95" dur="380"/>
                                        <p:tgtEl>
                                          <p:spTgt spid="23"/>
                                        </p:tgtEl>
                                      </p:cBhvr>
                                    </p:animEffect>
                                    <p:anim calcmode="lin" valueType="num">
                                      <p:cBhvr additive="base">
                                        <p:cTn id="96" dur="380" fill="hold"/>
                                        <p:tgtEl>
                                          <p:spTgt spid="23"/>
                                        </p:tgtEl>
                                        <p:attrNameLst>
                                          <p:attrName>ppt_y</p:attrName>
                                        </p:attrNameLst>
                                      </p:cBhvr>
                                      <p:tavLst>
                                        <p:tav tm="0">
                                          <p:val>
                                            <p:strVal val="#ppt_y+0.03"/>
                                          </p:val>
                                        </p:tav>
                                        <p:tav tm="100000">
                                          <p:val>
                                            <p:strVal val="#ppt_y"/>
                                          </p:val>
                                        </p:tav>
                                      </p:tavLst>
                                    </p:anim>
                                  </p:childTnLst>
                                </p:cTn>
                              </p:par>
                              <p:par>
                                <p:cTn id="97" presetID="42" presetClass="entr" presetSubtype="0" fill="hold" grpId="0" nodeType="afterEffect">
                                  <p:stCondLst>
                                    <p:cond delay="989"/>
                                  </p:stCondLst>
                                  <p:childTnLst>
                                    <p:set>
                                      <p:cBhvr>
                                        <p:cTn id="98" dur="1" fill="hold">
                                          <p:stCondLst>
                                            <p:cond delay="0"/>
                                          </p:stCondLst>
                                        </p:cTn>
                                        <p:tgtEl>
                                          <p:spTgt spid="24"/>
                                        </p:tgtEl>
                                        <p:attrNameLst>
                                          <p:attrName>style.visibility</p:attrName>
                                        </p:attrNameLst>
                                      </p:cBhvr>
                                      <p:to>
                                        <p:strVal val="visible"/>
                                      </p:to>
                                    </p:set>
                                    <p:animEffect transition="in" filter="fade">
                                      <p:cBhvr>
                                        <p:cTn id="99" dur="380"/>
                                        <p:tgtEl>
                                          <p:spTgt spid="24"/>
                                        </p:tgtEl>
                                      </p:cBhvr>
                                    </p:animEffect>
                                    <p:anim calcmode="lin" valueType="num">
                                      <p:cBhvr additive="base">
                                        <p:cTn id="100" dur="380" fill="hold"/>
                                        <p:tgtEl>
                                          <p:spTgt spid="24"/>
                                        </p:tgtEl>
                                        <p:attrNameLst>
                                          <p:attrName>ppt_y</p:attrName>
                                        </p:attrNameLst>
                                      </p:cBhvr>
                                      <p:tavLst>
                                        <p:tav tm="0">
                                          <p:val>
                                            <p:strVal val="#ppt_y+0.03"/>
                                          </p:val>
                                        </p:tav>
                                        <p:tav tm="100000">
                                          <p:val>
                                            <p:strVal val="#ppt_y"/>
                                          </p:val>
                                        </p:tav>
                                      </p:tavLst>
                                    </p:anim>
                                  </p:childTnLst>
                                </p:cTn>
                              </p:par>
                              <p:par>
                                <p:cTn id="101" presetID="42" presetClass="entr" presetSubtype="0" fill="hold" grpId="0" nodeType="afterEffect">
                                  <p:stCondLst>
                                    <p:cond delay="1032"/>
                                  </p:stCondLst>
                                  <p:childTnLst>
                                    <p:set>
                                      <p:cBhvr>
                                        <p:cTn id="102" dur="1" fill="hold">
                                          <p:stCondLst>
                                            <p:cond delay="0"/>
                                          </p:stCondLst>
                                        </p:cTn>
                                        <p:tgtEl>
                                          <p:spTgt spid="25"/>
                                        </p:tgtEl>
                                        <p:attrNameLst>
                                          <p:attrName>style.visibility</p:attrName>
                                        </p:attrNameLst>
                                      </p:cBhvr>
                                      <p:to>
                                        <p:strVal val="visible"/>
                                      </p:to>
                                    </p:set>
                                    <p:animEffect transition="in" filter="fade">
                                      <p:cBhvr>
                                        <p:cTn id="103" dur="380"/>
                                        <p:tgtEl>
                                          <p:spTgt spid="25"/>
                                        </p:tgtEl>
                                      </p:cBhvr>
                                    </p:animEffect>
                                    <p:anim calcmode="lin" valueType="num">
                                      <p:cBhvr additive="base">
                                        <p:cTn id="104" dur="380" fill="hold"/>
                                        <p:tgtEl>
                                          <p:spTgt spid="25"/>
                                        </p:tgtEl>
                                        <p:attrNameLst>
                                          <p:attrName>ppt_y</p:attrName>
                                        </p:attrNameLst>
                                      </p:cBhvr>
                                      <p:tavLst>
                                        <p:tav tm="0">
                                          <p:val>
                                            <p:strVal val="#ppt_y+0.03"/>
                                          </p:val>
                                        </p:tav>
                                        <p:tav tm="100000">
                                          <p:val>
                                            <p:strVal val="#ppt_y"/>
                                          </p:val>
                                        </p:tav>
                                      </p:tavLst>
                                    </p:anim>
                                  </p:childTnLst>
                                </p:cTn>
                              </p:par>
                              <p:par>
                                <p:cTn id="105" presetID="42" presetClass="entr" presetSubtype="0" fill="hold" grpId="0" nodeType="afterEffect">
                                  <p:stCondLst>
                                    <p:cond delay="1075"/>
                                  </p:stCondLst>
                                  <p:childTnLst>
                                    <p:set>
                                      <p:cBhvr>
                                        <p:cTn id="106" dur="1" fill="hold">
                                          <p:stCondLst>
                                            <p:cond delay="0"/>
                                          </p:stCondLst>
                                        </p:cTn>
                                        <p:tgtEl>
                                          <p:spTgt spid="26"/>
                                        </p:tgtEl>
                                        <p:attrNameLst>
                                          <p:attrName>style.visibility</p:attrName>
                                        </p:attrNameLst>
                                      </p:cBhvr>
                                      <p:to>
                                        <p:strVal val="visible"/>
                                      </p:to>
                                    </p:set>
                                    <p:animEffect transition="in" filter="fade">
                                      <p:cBhvr>
                                        <p:cTn id="107" dur="380"/>
                                        <p:tgtEl>
                                          <p:spTgt spid="26"/>
                                        </p:tgtEl>
                                      </p:cBhvr>
                                    </p:animEffect>
                                    <p:anim calcmode="lin" valueType="num">
                                      <p:cBhvr additive="base">
                                        <p:cTn id="108" dur="380" fill="hold"/>
                                        <p:tgtEl>
                                          <p:spTgt spid="26"/>
                                        </p:tgtEl>
                                        <p:attrNameLst>
                                          <p:attrName>ppt_y</p:attrName>
                                        </p:attrNameLst>
                                      </p:cBhvr>
                                      <p:tavLst>
                                        <p:tav tm="0">
                                          <p:val>
                                            <p:strVal val="#ppt_y+0.03"/>
                                          </p:val>
                                        </p:tav>
                                        <p:tav tm="100000">
                                          <p:val>
                                            <p:strVal val="#ppt_y"/>
                                          </p:val>
                                        </p:tav>
                                      </p:tavLst>
                                    </p:anim>
                                  </p:childTnLst>
                                </p:cTn>
                              </p:par>
                              <p:par>
                                <p:cTn id="109" presetID="42" presetClass="entr" presetSubtype="0" fill="hold" grpId="0" nodeType="afterEffect">
                                  <p:stCondLst>
                                    <p:cond delay="1118"/>
                                  </p:stCondLst>
                                  <p:childTnLst>
                                    <p:set>
                                      <p:cBhvr>
                                        <p:cTn id="110" dur="1" fill="hold">
                                          <p:stCondLst>
                                            <p:cond delay="0"/>
                                          </p:stCondLst>
                                        </p:cTn>
                                        <p:tgtEl>
                                          <p:spTgt spid="27"/>
                                        </p:tgtEl>
                                        <p:attrNameLst>
                                          <p:attrName>style.visibility</p:attrName>
                                        </p:attrNameLst>
                                      </p:cBhvr>
                                      <p:to>
                                        <p:strVal val="visible"/>
                                      </p:to>
                                    </p:set>
                                    <p:animEffect transition="in" filter="fade">
                                      <p:cBhvr>
                                        <p:cTn id="111" dur="380"/>
                                        <p:tgtEl>
                                          <p:spTgt spid="27"/>
                                        </p:tgtEl>
                                      </p:cBhvr>
                                    </p:animEffect>
                                    <p:anim calcmode="lin" valueType="num">
                                      <p:cBhvr additive="base">
                                        <p:cTn id="112" dur="380" fill="hold"/>
                                        <p:tgtEl>
                                          <p:spTgt spid="27"/>
                                        </p:tgtEl>
                                        <p:attrNameLst>
                                          <p:attrName>ppt_y</p:attrName>
                                        </p:attrNameLst>
                                      </p:cBhvr>
                                      <p:tavLst>
                                        <p:tav tm="0">
                                          <p:val>
                                            <p:strVal val="#ppt_y+0.03"/>
                                          </p:val>
                                        </p:tav>
                                        <p:tav tm="100000">
                                          <p:val>
                                            <p:strVal val="#ppt_y"/>
                                          </p:val>
                                        </p:tav>
                                      </p:tavLst>
                                    </p:anim>
                                  </p:childTnLst>
                                </p:cTn>
                              </p:par>
                              <p:par>
                                <p:cTn id="113" presetID="42" presetClass="entr" presetSubtype="0" fill="hold" grpId="0" nodeType="afterEffect">
                                  <p:stCondLst>
                                    <p:cond delay="1161"/>
                                  </p:stCondLst>
                                  <p:childTnLst>
                                    <p:set>
                                      <p:cBhvr>
                                        <p:cTn id="114" dur="1" fill="hold">
                                          <p:stCondLst>
                                            <p:cond delay="0"/>
                                          </p:stCondLst>
                                        </p:cTn>
                                        <p:tgtEl>
                                          <p:spTgt spid="28"/>
                                        </p:tgtEl>
                                        <p:attrNameLst>
                                          <p:attrName>style.visibility</p:attrName>
                                        </p:attrNameLst>
                                      </p:cBhvr>
                                      <p:to>
                                        <p:strVal val="visible"/>
                                      </p:to>
                                    </p:set>
                                    <p:animEffect transition="in" filter="fade">
                                      <p:cBhvr>
                                        <p:cTn id="115" dur="380"/>
                                        <p:tgtEl>
                                          <p:spTgt spid="28"/>
                                        </p:tgtEl>
                                      </p:cBhvr>
                                    </p:animEffect>
                                    <p:anim calcmode="lin" valueType="num">
                                      <p:cBhvr additive="base">
                                        <p:cTn id="116" dur="380" fill="hold"/>
                                        <p:tgtEl>
                                          <p:spTgt spid="28"/>
                                        </p:tgtEl>
                                        <p:attrNameLst>
                                          <p:attrName>ppt_y</p:attrName>
                                        </p:attrNameLst>
                                      </p:cBhvr>
                                      <p:tavLst>
                                        <p:tav tm="0">
                                          <p:val>
                                            <p:strVal val="#ppt_y+0.03"/>
                                          </p:val>
                                        </p:tav>
                                        <p:tav tm="100000">
                                          <p:val>
                                            <p:strVal val="#ppt_y"/>
                                          </p:val>
                                        </p:tav>
                                      </p:tavLst>
                                    </p:anim>
                                  </p:childTnLst>
                                </p:cTn>
                              </p:par>
                              <p:par>
                                <p:cTn id="117" presetID="42" presetClass="entr" presetSubtype="0" fill="hold" grpId="0" nodeType="afterEffect">
                                  <p:stCondLst>
                                    <p:cond delay="1204"/>
                                  </p:stCondLst>
                                  <p:childTnLst>
                                    <p:set>
                                      <p:cBhvr>
                                        <p:cTn id="118" dur="1" fill="hold">
                                          <p:stCondLst>
                                            <p:cond delay="0"/>
                                          </p:stCondLst>
                                        </p:cTn>
                                        <p:tgtEl>
                                          <p:spTgt spid="29"/>
                                        </p:tgtEl>
                                        <p:attrNameLst>
                                          <p:attrName>style.visibility</p:attrName>
                                        </p:attrNameLst>
                                      </p:cBhvr>
                                      <p:to>
                                        <p:strVal val="visible"/>
                                      </p:to>
                                    </p:set>
                                    <p:animEffect transition="in" filter="fade">
                                      <p:cBhvr>
                                        <p:cTn id="119" dur="380"/>
                                        <p:tgtEl>
                                          <p:spTgt spid="29"/>
                                        </p:tgtEl>
                                      </p:cBhvr>
                                    </p:animEffect>
                                    <p:anim calcmode="lin" valueType="num">
                                      <p:cBhvr additive="base">
                                        <p:cTn id="120" dur="380" fill="hold"/>
                                        <p:tgtEl>
                                          <p:spTgt spid="29"/>
                                        </p:tgtEl>
                                        <p:attrNameLst>
                                          <p:attrName>ppt_y</p:attrName>
                                        </p:attrNameLst>
                                      </p:cBhvr>
                                      <p:tavLst>
                                        <p:tav tm="0">
                                          <p:val>
                                            <p:strVal val="#ppt_y+0.03"/>
                                          </p:val>
                                        </p:tav>
                                        <p:tav tm="100000">
                                          <p:val>
                                            <p:strVal val="#ppt_y"/>
                                          </p:val>
                                        </p:tav>
                                      </p:tavLst>
                                    </p:anim>
                                  </p:childTnLst>
                                </p:cTn>
                              </p:par>
                              <p:par>
                                <p:cTn id="121" presetID="42" presetClass="entr" presetSubtype="0" fill="hold" grpId="0" nodeType="afterEffect">
                                  <p:stCondLst>
                                    <p:cond delay="1247"/>
                                  </p:stCondLst>
                                  <p:childTnLst>
                                    <p:set>
                                      <p:cBhvr>
                                        <p:cTn id="122" dur="1" fill="hold">
                                          <p:stCondLst>
                                            <p:cond delay="0"/>
                                          </p:stCondLst>
                                        </p:cTn>
                                        <p:tgtEl>
                                          <p:spTgt spid="30"/>
                                        </p:tgtEl>
                                        <p:attrNameLst>
                                          <p:attrName>style.visibility</p:attrName>
                                        </p:attrNameLst>
                                      </p:cBhvr>
                                      <p:to>
                                        <p:strVal val="visible"/>
                                      </p:to>
                                    </p:set>
                                    <p:animEffect transition="in" filter="fade">
                                      <p:cBhvr>
                                        <p:cTn id="123" dur="380"/>
                                        <p:tgtEl>
                                          <p:spTgt spid="30"/>
                                        </p:tgtEl>
                                      </p:cBhvr>
                                    </p:animEffect>
                                    <p:anim calcmode="lin" valueType="num">
                                      <p:cBhvr additive="base">
                                        <p:cTn id="124" dur="380" fill="hold"/>
                                        <p:tgtEl>
                                          <p:spTgt spid="30"/>
                                        </p:tgtEl>
                                        <p:attrNameLst>
                                          <p:attrName>ppt_y</p:attrName>
                                        </p:attrNameLst>
                                      </p:cBhvr>
                                      <p:tavLst>
                                        <p:tav tm="0">
                                          <p:val>
                                            <p:strVal val="#ppt_y+0.03"/>
                                          </p:val>
                                        </p:tav>
                                        <p:tav tm="100000">
                                          <p:val>
                                            <p:strVal val="#ppt_y"/>
                                          </p:val>
                                        </p:tav>
                                      </p:tavLst>
                                    </p:anim>
                                  </p:childTnLst>
                                </p:cTn>
                              </p:par>
                              <p:par>
                                <p:cTn id="125" presetID="42" presetClass="entr" presetSubtype="0" fill="hold" grpId="0" nodeType="afterEffect">
                                  <p:stCondLst>
                                    <p:cond delay="1290"/>
                                  </p:stCondLst>
                                  <p:childTnLst>
                                    <p:set>
                                      <p:cBhvr>
                                        <p:cTn id="126" dur="1" fill="hold">
                                          <p:stCondLst>
                                            <p:cond delay="0"/>
                                          </p:stCondLst>
                                        </p:cTn>
                                        <p:tgtEl>
                                          <p:spTgt spid="31"/>
                                        </p:tgtEl>
                                        <p:attrNameLst>
                                          <p:attrName>style.visibility</p:attrName>
                                        </p:attrNameLst>
                                      </p:cBhvr>
                                      <p:to>
                                        <p:strVal val="visible"/>
                                      </p:to>
                                    </p:set>
                                    <p:animEffect transition="in" filter="fade">
                                      <p:cBhvr>
                                        <p:cTn id="127" dur="380"/>
                                        <p:tgtEl>
                                          <p:spTgt spid="31"/>
                                        </p:tgtEl>
                                      </p:cBhvr>
                                    </p:animEffect>
                                    <p:anim calcmode="lin" valueType="num">
                                      <p:cBhvr additive="base">
                                        <p:cTn id="128" dur="380" fill="hold"/>
                                        <p:tgtEl>
                                          <p:spTgt spid="31"/>
                                        </p:tgtEl>
                                        <p:attrNameLst>
                                          <p:attrName>ppt_y</p:attrName>
                                        </p:attrNameLst>
                                      </p:cBhvr>
                                      <p:tavLst>
                                        <p:tav tm="0">
                                          <p:val>
                                            <p:strVal val="#ppt_y+0.03"/>
                                          </p:val>
                                        </p:tav>
                                        <p:tav tm="100000">
                                          <p:val>
                                            <p:strVal val="#ppt_y"/>
                                          </p:val>
                                        </p:tav>
                                      </p:tavLst>
                                    </p:anim>
                                  </p:childTnLst>
                                </p:cTn>
                              </p:par>
                              <p:par>
                                <p:cTn id="129" presetID="42" presetClass="entr" presetSubtype="0" fill="hold" grpId="0" nodeType="afterEffect">
                                  <p:stCondLst>
                                    <p:cond delay="1333"/>
                                  </p:stCondLst>
                                  <p:childTnLst>
                                    <p:set>
                                      <p:cBhvr>
                                        <p:cTn id="130" dur="1" fill="hold">
                                          <p:stCondLst>
                                            <p:cond delay="0"/>
                                          </p:stCondLst>
                                        </p:cTn>
                                        <p:tgtEl>
                                          <p:spTgt spid="32"/>
                                        </p:tgtEl>
                                        <p:attrNameLst>
                                          <p:attrName>style.visibility</p:attrName>
                                        </p:attrNameLst>
                                      </p:cBhvr>
                                      <p:to>
                                        <p:strVal val="visible"/>
                                      </p:to>
                                    </p:set>
                                    <p:animEffect transition="in" filter="fade">
                                      <p:cBhvr>
                                        <p:cTn id="131" dur="380"/>
                                        <p:tgtEl>
                                          <p:spTgt spid="32"/>
                                        </p:tgtEl>
                                      </p:cBhvr>
                                    </p:animEffect>
                                    <p:anim calcmode="lin" valueType="num">
                                      <p:cBhvr additive="base">
                                        <p:cTn id="132" dur="380" fill="hold"/>
                                        <p:tgtEl>
                                          <p:spTgt spid="32"/>
                                        </p:tgtEl>
                                        <p:attrNameLst>
                                          <p:attrName>ppt_y</p:attrName>
                                        </p:attrNameLst>
                                      </p:cBhvr>
                                      <p:tavLst>
                                        <p:tav tm="0">
                                          <p:val>
                                            <p:strVal val="#ppt_y+0.03"/>
                                          </p:val>
                                        </p:tav>
                                        <p:tav tm="100000">
                                          <p:val>
                                            <p:strVal val="#ppt_y"/>
                                          </p:val>
                                        </p:tav>
                                      </p:tavLst>
                                    </p:anim>
                                  </p:childTnLst>
                                </p:cTn>
                              </p:par>
                              <p:par>
                                <p:cTn id="133" presetID="42" presetClass="entr" presetSubtype="0" fill="hold" grpId="0" nodeType="afterEffect">
                                  <p:stCondLst>
                                    <p:cond delay="1376"/>
                                  </p:stCondLst>
                                  <p:childTnLst>
                                    <p:set>
                                      <p:cBhvr>
                                        <p:cTn id="134" dur="1" fill="hold">
                                          <p:stCondLst>
                                            <p:cond delay="0"/>
                                          </p:stCondLst>
                                        </p:cTn>
                                        <p:tgtEl>
                                          <p:spTgt spid="33"/>
                                        </p:tgtEl>
                                        <p:attrNameLst>
                                          <p:attrName>style.visibility</p:attrName>
                                        </p:attrNameLst>
                                      </p:cBhvr>
                                      <p:to>
                                        <p:strVal val="visible"/>
                                      </p:to>
                                    </p:set>
                                    <p:animEffect transition="in" filter="fade">
                                      <p:cBhvr>
                                        <p:cTn id="135" dur="380"/>
                                        <p:tgtEl>
                                          <p:spTgt spid="33"/>
                                        </p:tgtEl>
                                      </p:cBhvr>
                                    </p:animEffect>
                                    <p:anim calcmode="lin" valueType="num">
                                      <p:cBhvr additive="base">
                                        <p:cTn id="136" dur="380" fill="hold"/>
                                        <p:tgtEl>
                                          <p:spTgt spid="33"/>
                                        </p:tgtEl>
                                        <p:attrNameLst>
                                          <p:attrName>ppt_y</p:attrName>
                                        </p:attrNameLst>
                                      </p:cBhvr>
                                      <p:tavLst>
                                        <p:tav tm="0">
                                          <p:val>
                                            <p:strVal val="#ppt_y+0.03"/>
                                          </p:val>
                                        </p:tav>
                                        <p:tav tm="100000">
                                          <p:val>
                                            <p:strVal val="#ppt_y"/>
                                          </p:val>
                                        </p:tav>
                                      </p:tavLst>
                                    </p:anim>
                                  </p:childTnLst>
                                </p:cTn>
                              </p:par>
                              <p:par>
                                <p:cTn id="137" presetID="42" presetClass="entr" presetSubtype="0" fill="hold" grpId="0" nodeType="afterEffect">
                                  <p:stCondLst>
                                    <p:cond delay="1419"/>
                                  </p:stCondLst>
                                  <p:childTnLst>
                                    <p:set>
                                      <p:cBhvr>
                                        <p:cTn id="138" dur="1" fill="hold">
                                          <p:stCondLst>
                                            <p:cond delay="0"/>
                                          </p:stCondLst>
                                        </p:cTn>
                                        <p:tgtEl>
                                          <p:spTgt spid="34"/>
                                        </p:tgtEl>
                                        <p:attrNameLst>
                                          <p:attrName>style.visibility</p:attrName>
                                        </p:attrNameLst>
                                      </p:cBhvr>
                                      <p:to>
                                        <p:strVal val="visible"/>
                                      </p:to>
                                    </p:set>
                                    <p:animEffect transition="in" filter="fade">
                                      <p:cBhvr>
                                        <p:cTn id="139" dur="380"/>
                                        <p:tgtEl>
                                          <p:spTgt spid="34"/>
                                        </p:tgtEl>
                                      </p:cBhvr>
                                    </p:animEffect>
                                    <p:anim calcmode="lin" valueType="num">
                                      <p:cBhvr additive="base">
                                        <p:cTn id="140" dur="380" fill="hold"/>
                                        <p:tgtEl>
                                          <p:spTgt spid="34"/>
                                        </p:tgtEl>
                                        <p:attrNameLst>
                                          <p:attrName>ppt_y</p:attrName>
                                        </p:attrNameLst>
                                      </p:cBhvr>
                                      <p:tavLst>
                                        <p:tav tm="0">
                                          <p:val>
                                            <p:strVal val="#ppt_y+0.03"/>
                                          </p:val>
                                        </p:tav>
                                        <p:tav tm="100000">
                                          <p:val>
                                            <p:strVal val="#ppt_y"/>
                                          </p:val>
                                        </p:tav>
                                      </p:tavLst>
                                    </p:anim>
                                  </p:childTnLst>
                                </p:cTn>
                              </p:par>
                              <p:par>
                                <p:cTn id="141" presetID="42" presetClass="entr" presetSubtype="0" fill="hold" grpId="0" nodeType="afterEffect">
                                  <p:stCondLst>
                                    <p:cond delay="1462"/>
                                  </p:stCondLst>
                                  <p:childTnLst>
                                    <p:set>
                                      <p:cBhvr>
                                        <p:cTn id="142" dur="1" fill="hold">
                                          <p:stCondLst>
                                            <p:cond delay="0"/>
                                          </p:stCondLst>
                                        </p:cTn>
                                        <p:tgtEl>
                                          <p:spTgt spid="35"/>
                                        </p:tgtEl>
                                        <p:attrNameLst>
                                          <p:attrName>style.visibility</p:attrName>
                                        </p:attrNameLst>
                                      </p:cBhvr>
                                      <p:to>
                                        <p:strVal val="visible"/>
                                      </p:to>
                                    </p:set>
                                    <p:animEffect transition="in" filter="fade">
                                      <p:cBhvr>
                                        <p:cTn id="143" dur="380"/>
                                        <p:tgtEl>
                                          <p:spTgt spid="35"/>
                                        </p:tgtEl>
                                      </p:cBhvr>
                                    </p:animEffect>
                                    <p:anim calcmode="lin" valueType="num">
                                      <p:cBhvr additive="base">
                                        <p:cTn id="144" dur="380" fill="hold"/>
                                        <p:tgtEl>
                                          <p:spTgt spid="35"/>
                                        </p:tgtEl>
                                        <p:attrNameLst>
                                          <p:attrName>ppt_y</p:attrName>
                                        </p:attrNameLst>
                                      </p:cBhvr>
                                      <p:tavLst>
                                        <p:tav tm="0">
                                          <p:val>
                                            <p:strVal val="#ppt_y+0.03"/>
                                          </p:val>
                                        </p:tav>
                                        <p:tav tm="100000">
                                          <p:val>
                                            <p:strVal val="#ppt_y"/>
                                          </p:val>
                                        </p:tav>
                                      </p:tavLst>
                                    </p:anim>
                                  </p:childTnLst>
                                </p:cTn>
                              </p:par>
                              <p:par>
                                <p:cTn id="145" presetID="42" presetClass="entr" presetSubtype="0" fill="hold" grpId="0" nodeType="afterEffect">
                                  <p:stCondLst>
                                    <p:cond delay="1505"/>
                                  </p:stCondLst>
                                  <p:childTnLst>
                                    <p:set>
                                      <p:cBhvr>
                                        <p:cTn id="146" dur="1" fill="hold">
                                          <p:stCondLst>
                                            <p:cond delay="0"/>
                                          </p:stCondLst>
                                        </p:cTn>
                                        <p:tgtEl>
                                          <p:spTgt spid="36"/>
                                        </p:tgtEl>
                                        <p:attrNameLst>
                                          <p:attrName>style.visibility</p:attrName>
                                        </p:attrNameLst>
                                      </p:cBhvr>
                                      <p:to>
                                        <p:strVal val="visible"/>
                                      </p:to>
                                    </p:set>
                                    <p:animEffect transition="in" filter="fade">
                                      <p:cBhvr>
                                        <p:cTn id="147" dur="380"/>
                                        <p:tgtEl>
                                          <p:spTgt spid="36"/>
                                        </p:tgtEl>
                                      </p:cBhvr>
                                    </p:animEffect>
                                    <p:anim calcmode="lin" valueType="num">
                                      <p:cBhvr additive="base">
                                        <p:cTn id="148" dur="380" fill="hold"/>
                                        <p:tgtEl>
                                          <p:spTgt spid="36"/>
                                        </p:tgtEl>
                                        <p:attrNameLst>
                                          <p:attrName>ppt_y</p:attrName>
                                        </p:attrNameLst>
                                      </p:cBhvr>
                                      <p:tavLst>
                                        <p:tav tm="0">
                                          <p:val>
                                            <p:strVal val="#ppt_y+0.03"/>
                                          </p:val>
                                        </p:tav>
                                        <p:tav tm="100000">
                                          <p:val>
                                            <p:strVal val="#ppt_y"/>
                                          </p:val>
                                        </p:tav>
                                      </p:tavLst>
                                    </p:anim>
                                  </p:childTnLst>
                                </p:cTn>
                              </p:par>
                              <p:par>
                                <p:cTn id="149" presetID="42" presetClass="entr" presetSubtype="0" fill="hold" grpId="0" nodeType="afterEffect">
                                  <p:stCondLst>
                                    <p:cond delay="1548"/>
                                  </p:stCondLst>
                                  <p:childTnLst>
                                    <p:set>
                                      <p:cBhvr>
                                        <p:cTn id="150" dur="1" fill="hold">
                                          <p:stCondLst>
                                            <p:cond delay="0"/>
                                          </p:stCondLst>
                                        </p:cTn>
                                        <p:tgtEl>
                                          <p:spTgt spid="37"/>
                                        </p:tgtEl>
                                        <p:attrNameLst>
                                          <p:attrName>style.visibility</p:attrName>
                                        </p:attrNameLst>
                                      </p:cBhvr>
                                      <p:to>
                                        <p:strVal val="visible"/>
                                      </p:to>
                                    </p:set>
                                    <p:animEffect transition="in" filter="fade">
                                      <p:cBhvr>
                                        <p:cTn id="151" dur="380"/>
                                        <p:tgtEl>
                                          <p:spTgt spid="37"/>
                                        </p:tgtEl>
                                      </p:cBhvr>
                                    </p:animEffect>
                                    <p:anim calcmode="lin" valueType="num">
                                      <p:cBhvr additive="base">
                                        <p:cTn id="152" dur="380" fill="hold"/>
                                        <p:tgtEl>
                                          <p:spTgt spid="37"/>
                                        </p:tgtEl>
                                        <p:attrNameLst>
                                          <p:attrName>ppt_y</p:attrName>
                                        </p:attrNameLst>
                                      </p:cBhvr>
                                      <p:tavLst>
                                        <p:tav tm="0">
                                          <p:val>
                                            <p:strVal val="#ppt_y+0.03"/>
                                          </p:val>
                                        </p:tav>
                                        <p:tav tm="100000">
                                          <p:val>
                                            <p:strVal val="#ppt_y"/>
                                          </p:val>
                                        </p:tav>
                                      </p:tavLst>
                                    </p:anim>
                                  </p:childTnLst>
                                </p:cTn>
                              </p:par>
                              <p:par>
                                <p:cTn id="153" presetID="42" presetClass="entr" presetSubtype="0" fill="hold" grpId="0" nodeType="afterEffect">
                                  <p:stCondLst>
                                    <p:cond delay="1591"/>
                                  </p:stCondLst>
                                  <p:childTnLst>
                                    <p:set>
                                      <p:cBhvr>
                                        <p:cTn id="154" dur="1" fill="hold">
                                          <p:stCondLst>
                                            <p:cond delay="0"/>
                                          </p:stCondLst>
                                        </p:cTn>
                                        <p:tgtEl>
                                          <p:spTgt spid="38"/>
                                        </p:tgtEl>
                                        <p:attrNameLst>
                                          <p:attrName>style.visibility</p:attrName>
                                        </p:attrNameLst>
                                      </p:cBhvr>
                                      <p:to>
                                        <p:strVal val="visible"/>
                                      </p:to>
                                    </p:set>
                                    <p:animEffect transition="in" filter="fade">
                                      <p:cBhvr>
                                        <p:cTn id="155" dur="380"/>
                                        <p:tgtEl>
                                          <p:spTgt spid="38"/>
                                        </p:tgtEl>
                                      </p:cBhvr>
                                    </p:animEffect>
                                    <p:anim calcmode="lin" valueType="num">
                                      <p:cBhvr additive="base">
                                        <p:cTn id="156" dur="380" fill="hold"/>
                                        <p:tgtEl>
                                          <p:spTgt spid="38"/>
                                        </p:tgtEl>
                                        <p:attrNameLst>
                                          <p:attrName>ppt_y</p:attrName>
                                        </p:attrNameLst>
                                      </p:cBhvr>
                                      <p:tavLst>
                                        <p:tav tm="0">
                                          <p:val>
                                            <p:strVal val="#ppt_y+0.03"/>
                                          </p:val>
                                        </p:tav>
                                        <p:tav tm="100000">
                                          <p:val>
                                            <p:strVal val="#ppt_y"/>
                                          </p:val>
                                        </p:tav>
                                      </p:tavLst>
                                    </p:anim>
                                  </p:childTnLst>
                                </p:cTn>
                              </p:par>
                              <p:par>
                                <p:cTn id="157" presetID="42" presetClass="entr" presetSubtype="0" fill="hold" grpId="0" nodeType="afterEffect">
                                  <p:stCondLst>
                                    <p:cond delay="1634"/>
                                  </p:stCondLst>
                                  <p:childTnLst>
                                    <p:set>
                                      <p:cBhvr>
                                        <p:cTn id="158" dur="1" fill="hold">
                                          <p:stCondLst>
                                            <p:cond delay="0"/>
                                          </p:stCondLst>
                                        </p:cTn>
                                        <p:tgtEl>
                                          <p:spTgt spid="39"/>
                                        </p:tgtEl>
                                        <p:attrNameLst>
                                          <p:attrName>style.visibility</p:attrName>
                                        </p:attrNameLst>
                                      </p:cBhvr>
                                      <p:to>
                                        <p:strVal val="visible"/>
                                      </p:to>
                                    </p:set>
                                    <p:animEffect transition="in" filter="fade">
                                      <p:cBhvr>
                                        <p:cTn id="159" dur="380"/>
                                        <p:tgtEl>
                                          <p:spTgt spid="39"/>
                                        </p:tgtEl>
                                      </p:cBhvr>
                                    </p:animEffect>
                                    <p:anim calcmode="lin" valueType="num">
                                      <p:cBhvr additive="base">
                                        <p:cTn id="160" dur="380" fill="hold"/>
                                        <p:tgtEl>
                                          <p:spTgt spid="39"/>
                                        </p:tgtEl>
                                        <p:attrNameLst>
                                          <p:attrName>ppt_y</p:attrName>
                                        </p:attrNameLst>
                                      </p:cBhvr>
                                      <p:tavLst>
                                        <p:tav tm="0">
                                          <p:val>
                                            <p:strVal val="#ppt_y+0.03"/>
                                          </p:val>
                                        </p:tav>
                                        <p:tav tm="100000">
                                          <p:val>
                                            <p:strVal val="#ppt_y"/>
                                          </p:val>
                                        </p:tav>
                                      </p:tavLst>
                                    </p:anim>
                                  </p:childTnLst>
                                </p:cTn>
                              </p:par>
                              <p:par>
                                <p:cTn id="161" presetID="42" presetClass="entr" presetSubtype="0" fill="hold" grpId="0" nodeType="afterEffect">
                                  <p:stCondLst>
                                    <p:cond delay="1677"/>
                                  </p:stCondLst>
                                  <p:childTnLst>
                                    <p:set>
                                      <p:cBhvr>
                                        <p:cTn id="162" dur="1" fill="hold">
                                          <p:stCondLst>
                                            <p:cond delay="0"/>
                                          </p:stCondLst>
                                        </p:cTn>
                                        <p:tgtEl>
                                          <p:spTgt spid="40"/>
                                        </p:tgtEl>
                                        <p:attrNameLst>
                                          <p:attrName>style.visibility</p:attrName>
                                        </p:attrNameLst>
                                      </p:cBhvr>
                                      <p:to>
                                        <p:strVal val="visible"/>
                                      </p:to>
                                    </p:set>
                                    <p:animEffect transition="in" filter="fade">
                                      <p:cBhvr>
                                        <p:cTn id="163" dur="380"/>
                                        <p:tgtEl>
                                          <p:spTgt spid="40"/>
                                        </p:tgtEl>
                                      </p:cBhvr>
                                    </p:animEffect>
                                    <p:anim calcmode="lin" valueType="num">
                                      <p:cBhvr additive="base">
                                        <p:cTn id="164" dur="380" fill="hold"/>
                                        <p:tgtEl>
                                          <p:spTgt spid="40"/>
                                        </p:tgtEl>
                                        <p:attrNameLst>
                                          <p:attrName>ppt_y</p:attrName>
                                        </p:attrNameLst>
                                      </p:cBhvr>
                                      <p:tavLst>
                                        <p:tav tm="0">
                                          <p:val>
                                            <p:strVal val="#ppt_y+0.03"/>
                                          </p:val>
                                        </p:tav>
                                        <p:tav tm="100000">
                                          <p:val>
                                            <p:strVal val="#ppt_y"/>
                                          </p:val>
                                        </p:tav>
                                      </p:tavLst>
                                    </p:anim>
                                  </p:childTnLst>
                                </p:cTn>
                              </p:par>
                              <p:par>
                                <p:cTn id="165" presetID="42" presetClass="entr" presetSubtype="0" fill="hold" grpId="0" nodeType="afterEffect">
                                  <p:stCondLst>
                                    <p:cond delay="1720"/>
                                  </p:stCondLst>
                                  <p:childTnLst>
                                    <p:set>
                                      <p:cBhvr>
                                        <p:cTn id="166" dur="1" fill="hold">
                                          <p:stCondLst>
                                            <p:cond delay="0"/>
                                          </p:stCondLst>
                                        </p:cTn>
                                        <p:tgtEl>
                                          <p:spTgt spid="41"/>
                                        </p:tgtEl>
                                        <p:attrNameLst>
                                          <p:attrName>style.visibility</p:attrName>
                                        </p:attrNameLst>
                                      </p:cBhvr>
                                      <p:to>
                                        <p:strVal val="visible"/>
                                      </p:to>
                                    </p:set>
                                    <p:animEffect transition="in" filter="fade">
                                      <p:cBhvr>
                                        <p:cTn id="167" dur="380"/>
                                        <p:tgtEl>
                                          <p:spTgt spid="41"/>
                                        </p:tgtEl>
                                      </p:cBhvr>
                                    </p:animEffect>
                                    <p:anim calcmode="lin" valueType="num">
                                      <p:cBhvr additive="base">
                                        <p:cTn id="168" dur="380" fill="hold"/>
                                        <p:tgtEl>
                                          <p:spTgt spid="41"/>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 grpId="0"/>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P spid="37" grpId="0"/>
      <p:bldP spid="38" grpId="0"/>
      <p:bldP spid="39" grpId="0"/>
      <p:bldP spid="40" grpId="0"/>
      <p:bldP spid="41" grpId="0"/>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37744"/>
          </a:xfrm>
          <a:prstGeom prst="rect">
            <a:avLst/>
          </a:prstGeom>
          <a:noFill/>
          <a:ln/>
        </p:spPr>
        <p:txBody>
          <a:bodyPr wrap="square" lIns="0" tIns="0" rIns="0" bIns="0" rtlCol="0" anchor="ctr"/>
          <a:lstStyle/>
          <a:p>
            <a:pPr indent="0" marL="0">
              <a:buNone/>
            </a:pPr>
            <a:r>
              <a:rPr lang="en-US" sz="1050" b="1" spc="200" kern="0" dirty="0">
                <a:solidFill>
                  <a:srgbClr val="00C39A"/>
                </a:solidFill>
                <a:latin typeface="Calibri" pitchFamily="34" charset="0"/>
                <a:ea typeface="Calibri" pitchFamily="34" charset="-122"/>
                <a:cs typeface="Calibri" pitchFamily="34" charset="-120"/>
              </a:rPr>
              <a:t>THREE-YEAR VIEW</a:t>
            </a:r>
            <a:endParaRPr lang="en-US" sz="1050" dirty="0"/>
          </a:p>
        </p:txBody>
      </p:sp>
      <p:sp>
        <p:nvSpPr>
          <p:cNvPr id="3" name="Text 1"/>
          <p:cNvSpPr/>
          <p:nvPr/>
        </p:nvSpPr>
        <p:spPr>
          <a:xfrm>
            <a:off x="548640" y="658368"/>
            <a:ext cx="11064240" cy="658368"/>
          </a:xfrm>
          <a:prstGeom prst="rect">
            <a:avLst/>
          </a:prstGeom>
          <a:noFill/>
          <a:ln/>
        </p:spPr>
        <p:txBody>
          <a:bodyPr wrap="square" lIns="0" tIns="0" rIns="0" bIns="0" rtlCol="0" anchor="t"/>
          <a:lstStyle/>
          <a:p>
            <a:pPr indent="0" marL="0">
              <a:buNone/>
            </a:pPr>
            <a:r>
              <a:rPr lang="en-US" sz="3400" b="1" dirty="0">
                <a:solidFill>
                  <a:srgbClr val="141B3D"/>
                </a:solidFill>
                <a:latin typeface="Cambria" pitchFamily="34" charset="0"/>
                <a:ea typeface="Cambria" pitchFamily="34" charset="-122"/>
                <a:cs typeface="Cambria" pitchFamily="34" charset="-120"/>
              </a:rPr>
              <a:t>What it costs after the grant year</a:t>
            </a:r>
            <a:endParaRPr lang="en-US" sz="3400" dirty="0"/>
          </a:p>
        </p:txBody>
      </p:sp>
      <p:sp>
        <p:nvSpPr>
          <p:cNvPr id="4" name="Text 2"/>
          <p:cNvSpPr/>
          <p:nvPr/>
        </p:nvSpPr>
        <p:spPr>
          <a:xfrm>
            <a:off x="548640" y="1371600"/>
            <a:ext cx="10424160" cy="329184"/>
          </a:xfrm>
          <a:prstGeom prst="rect">
            <a:avLst/>
          </a:prstGeom>
          <a:noFill/>
          <a:ln/>
        </p:spPr>
        <p:txBody>
          <a:bodyPr wrap="square" lIns="0" tIns="0" rIns="0" bIns="0" rtlCol="0" anchor="ctr"/>
          <a:lstStyle/>
          <a:p>
            <a:pPr indent="0" marL="0">
              <a:buNone/>
            </a:pPr>
            <a:r>
              <a:rPr lang="en-US" sz="1400" dirty="0">
                <a:solidFill>
                  <a:srgbClr val="646E8C"/>
                </a:solidFill>
                <a:latin typeface="Calibri" pitchFamily="34" charset="0"/>
                <a:ea typeface="Calibri" pitchFamily="34" charset="-122"/>
                <a:cs typeface="Calibri" pitchFamily="34" charset="-120"/>
              </a:rPr>
              <a:t>Two honest paths. The cheaper one is not the one that gets the platform running fastest, so we recommend starting with A and migrating to B.</a:t>
            </a:r>
            <a:endParaRPr lang="en-US" sz="1400" dirty="0"/>
          </a:p>
        </p:txBody>
      </p:sp>
      <p:sp>
        <p:nvSpPr>
          <p:cNvPr id="5" name="Shape 3"/>
          <p:cNvSpPr/>
          <p:nvPr/>
        </p:nvSpPr>
        <p:spPr>
          <a:xfrm>
            <a:off x="548640" y="1956816"/>
            <a:ext cx="5440680" cy="3200400"/>
          </a:xfrm>
          <a:prstGeom prst="roundRect">
            <a:avLst>
              <a:gd name="adj" fmla="val 2571"/>
            </a:avLst>
          </a:prstGeom>
          <a:solidFill>
            <a:srgbClr val="F4F6FC"/>
          </a:solidFill>
          <a:ln w="9525">
            <a:solidFill>
              <a:srgbClr val="F4F6FC"/>
            </a:solidFill>
            <a:prstDash val="solid"/>
          </a:ln>
          <a:effectLst>
            <a:outerShdw sx="100000" sy="100000" kx="0" ky="0" algn="bl" rotWithShape="0" blurRad="177800" dist="38100" dir="5400000">
              <a:srgbClr val="1E2761">
                <a:alpha val="10000"/>
              </a:srgbClr>
            </a:outerShdw>
          </a:effectLst>
        </p:spPr>
      </p:sp>
      <p:sp>
        <p:nvSpPr>
          <p:cNvPr id="6" name="Shape 4"/>
          <p:cNvSpPr/>
          <p:nvPr/>
        </p:nvSpPr>
        <p:spPr>
          <a:xfrm>
            <a:off x="822960" y="2212848"/>
            <a:ext cx="512064" cy="512064"/>
          </a:xfrm>
          <a:prstGeom prst="ellipse">
            <a:avLst/>
          </a:prstGeom>
          <a:solidFill>
            <a:srgbClr val="1E2761"/>
          </a:solidFill>
          <a:ln w="12700">
            <a:solidFill>
              <a:srgbClr val="333333"/>
            </a:solidFill>
            <a:prstDash val="solid"/>
          </a:ln>
        </p:spPr>
      </p:sp>
      <p:sp>
        <p:nvSpPr>
          <p:cNvPr id="7" name="Text 5"/>
          <p:cNvSpPr/>
          <p:nvPr/>
        </p:nvSpPr>
        <p:spPr>
          <a:xfrm>
            <a:off x="822960" y="2212848"/>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a:t>
            </a:r>
            <a:endParaRPr lang="en-US" sz="1800" dirty="0"/>
          </a:p>
        </p:txBody>
      </p:sp>
      <p:sp>
        <p:nvSpPr>
          <p:cNvPr id="8" name="Text 6"/>
          <p:cNvSpPr/>
          <p:nvPr/>
        </p:nvSpPr>
        <p:spPr>
          <a:xfrm>
            <a:off x="1481328" y="2231136"/>
            <a:ext cx="4251960" cy="475488"/>
          </a:xfrm>
          <a:prstGeom prst="rect">
            <a:avLst/>
          </a:prstGeom>
          <a:noFill/>
          <a:ln/>
        </p:spPr>
        <p:txBody>
          <a:bodyPr wrap="square" lIns="0" tIns="0" rIns="0" bIns="0" rtlCol="0" anchor="ctr"/>
          <a:lstStyle/>
          <a:p>
            <a:pPr indent="0" marL="0">
              <a:buNone/>
            </a:pPr>
            <a:r>
              <a:rPr lang="en-US" sz="1700" b="1" dirty="0">
                <a:solidFill>
                  <a:srgbClr val="141B3D"/>
                </a:solidFill>
                <a:latin typeface="Cambria" pitchFamily="34" charset="0"/>
                <a:ea typeface="Cambria" pitchFamily="34" charset="-122"/>
                <a:cs typeface="Cambria" pitchFamily="34" charset="-120"/>
              </a:rPr>
              <a:t>Stay on commercial cloud</a:t>
            </a:r>
            <a:endParaRPr lang="en-US" sz="1700" dirty="0"/>
          </a:p>
        </p:txBody>
      </p:sp>
      <p:sp>
        <p:nvSpPr>
          <p:cNvPr id="9" name="Text 7"/>
          <p:cNvSpPr/>
          <p:nvPr/>
        </p:nvSpPr>
        <p:spPr>
          <a:xfrm>
            <a:off x="841248" y="2926080"/>
            <a:ext cx="3291840" cy="402336"/>
          </a:xfrm>
          <a:prstGeom prst="rect">
            <a:avLst/>
          </a:prstGeom>
          <a:noFill/>
          <a:ln/>
        </p:spPr>
        <p:txBody>
          <a:bodyPr wrap="square" lIns="0" tIns="0" rIns="0" bIns="0" rtlCol="0" anchor="ctr"/>
          <a:lstStyle/>
          <a:p>
            <a:pPr indent="0" marL="0">
              <a:buNone/>
            </a:pPr>
            <a:r>
              <a:rPr lang="en-US" sz="1250" dirty="0">
                <a:solidFill>
                  <a:srgbClr val="1A1F36"/>
                </a:solidFill>
                <a:latin typeface="Calibri" pitchFamily="34" charset="0"/>
                <a:ea typeface="Calibri" pitchFamily="34" charset="-122"/>
                <a:cs typeface="Calibri" pitchFamily="34" charset="-120"/>
              </a:rPr>
              <a:t>Year 1 — grant year</a:t>
            </a:r>
            <a:endParaRPr lang="en-US" sz="1250" dirty="0"/>
          </a:p>
        </p:txBody>
      </p:sp>
      <p:sp>
        <p:nvSpPr>
          <p:cNvPr id="10" name="Text 8"/>
          <p:cNvSpPr/>
          <p:nvPr/>
        </p:nvSpPr>
        <p:spPr>
          <a:xfrm>
            <a:off x="3931920" y="2926080"/>
            <a:ext cx="1783080" cy="402336"/>
          </a:xfrm>
          <a:prstGeom prst="rect">
            <a:avLst/>
          </a:prstGeom>
          <a:noFill/>
          <a:ln/>
        </p:spPr>
        <p:txBody>
          <a:bodyPr wrap="square" lIns="0" tIns="0" rIns="0" bIns="0" rtlCol="0" anchor="ctr"/>
          <a:lstStyle/>
          <a:p>
            <a:pPr algn="r" indent="0" marL="0">
              <a:buNone/>
            </a:pPr>
            <a:r>
              <a:rPr lang="en-US" sz="1300" b="1" dirty="0">
                <a:solidFill>
                  <a:srgbClr val="141B3D"/>
                </a:solidFill>
                <a:latin typeface="Calibri" pitchFamily="34" charset="0"/>
                <a:ea typeface="Calibri" pitchFamily="34" charset="-122"/>
                <a:cs typeface="Calibri" pitchFamily="34" charset="-120"/>
              </a:rPr>
              <a:t>₹ 89,000</a:t>
            </a:r>
            <a:endParaRPr lang="en-US" sz="1300" dirty="0"/>
          </a:p>
        </p:txBody>
      </p:sp>
      <p:sp>
        <p:nvSpPr>
          <p:cNvPr id="11" name="Text 9"/>
          <p:cNvSpPr/>
          <p:nvPr/>
        </p:nvSpPr>
        <p:spPr>
          <a:xfrm>
            <a:off x="841248" y="3383280"/>
            <a:ext cx="3291840" cy="402336"/>
          </a:xfrm>
          <a:prstGeom prst="rect">
            <a:avLst/>
          </a:prstGeom>
          <a:noFill/>
          <a:ln/>
        </p:spPr>
        <p:txBody>
          <a:bodyPr wrap="square" lIns="0" tIns="0" rIns="0" bIns="0" rtlCol="0" anchor="ctr"/>
          <a:lstStyle/>
          <a:p>
            <a:pPr indent="0" marL="0">
              <a:buNone/>
            </a:pPr>
            <a:r>
              <a:rPr lang="en-US" sz="1250" dirty="0">
                <a:solidFill>
                  <a:srgbClr val="1A1F36"/>
                </a:solidFill>
                <a:latin typeface="Calibri" pitchFamily="34" charset="0"/>
                <a:ea typeface="Calibri" pitchFamily="34" charset="-122"/>
                <a:cs typeface="Calibri" pitchFamily="34" charset="-120"/>
              </a:rPr>
              <a:t>Year 2 — full department</a:t>
            </a:r>
            <a:endParaRPr lang="en-US" sz="1250" dirty="0"/>
          </a:p>
        </p:txBody>
      </p:sp>
      <p:sp>
        <p:nvSpPr>
          <p:cNvPr id="12" name="Text 10"/>
          <p:cNvSpPr/>
          <p:nvPr/>
        </p:nvSpPr>
        <p:spPr>
          <a:xfrm>
            <a:off x="3931920" y="3383280"/>
            <a:ext cx="1783080" cy="402336"/>
          </a:xfrm>
          <a:prstGeom prst="rect">
            <a:avLst/>
          </a:prstGeom>
          <a:noFill/>
          <a:ln/>
        </p:spPr>
        <p:txBody>
          <a:bodyPr wrap="square" lIns="0" tIns="0" rIns="0" bIns="0" rtlCol="0" anchor="ctr"/>
          <a:lstStyle/>
          <a:p>
            <a:pPr algn="r" indent="0" marL="0">
              <a:buNone/>
            </a:pPr>
            <a:r>
              <a:rPr lang="en-US" sz="1300" b="1" dirty="0">
                <a:solidFill>
                  <a:srgbClr val="141B3D"/>
                </a:solidFill>
                <a:latin typeface="Calibri" pitchFamily="34" charset="0"/>
                <a:ea typeface="Calibri" pitchFamily="34" charset="-122"/>
                <a:cs typeface="Calibri" pitchFamily="34" charset="-120"/>
              </a:rPr>
              <a:t>₹ 53,000</a:t>
            </a:r>
            <a:endParaRPr lang="en-US" sz="1300" dirty="0"/>
          </a:p>
        </p:txBody>
      </p:sp>
      <p:sp>
        <p:nvSpPr>
          <p:cNvPr id="13" name="Text 11"/>
          <p:cNvSpPr/>
          <p:nvPr/>
        </p:nvSpPr>
        <p:spPr>
          <a:xfrm>
            <a:off x="841248" y="3840480"/>
            <a:ext cx="3291840" cy="402336"/>
          </a:xfrm>
          <a:prstGeom prst="rect">
            <a:avLst/>
          </a:prstGeom>
          <a:noFill/>
          <a:ln/>
        </p:spPr>
        <p:txBody>
          <a:bodyPr wrap="square" lIns="0" tIns="0" rIns="0" bIns="0" rtlCol="0" anchor="ctr"/>
          <a:lstStyle/>
          <a:p>
            <a:pPr indent="0" marL="0">
              <a:buNone/>
            </a:pPr>
            <a:r>
              <a:rPr lang="en-US" sz="1250" dirty="0">
                <a:solidFill>
                  <a:srgbClr val="1A1F36"/>
                </a:solidFill>
                <a:latin typeface="Calibri" pitchFamily="34" charset="0"/>
                <a:ea typeface="Calibri" pitchFamily="34" charset="-122"/>
                <a:cs typeface="Calibri" pitchFamily="34" charset="-120"/>
              </a:rPr>
              <a:t>Year 3 — 2–3 departments</a:t>
            </a:r>
            <a:endParaRPr lang="en-US" sz="1250" dirty="0"/>
          </a:p>
        </p:txBody>
      </p:sp>
      <p:sp>
        <p:nvSpPr>
          <p:cNvPr id="14" name="Text 12"/>
          <p:cNvSpPr/>
          <p:nvPr/>
        </p:nvSpPr>
        <p:spPr>
          <a:xfrm>
            <a:off x="3931920" y="3840480"/>
            <a:ext cx="1783080" cy="402336"/>
          </a:xfrm>
          <a:prstGeom prst="rect">
            <a:avLst/>
          </a:prstGeom>
          <a:noFill/>
          <a:ln/>
        </p:spPr>
        <p:txBody>
          <a:bodyPr wrap="square" lIns="0" tIns="0" rIns="0" bIns="0" rtlCol="0" anchor="ctr"/>
          <a:lstStyle/>
          <a:p>
            <a:pPr algn="r" indent="0" marL="0">
              <a:buNone/>
            </a:pPr>
            <a:r>
              <a:rPr lang="en-US" sz="1300" b="1" dirty="0">
                <a:solidFill>
                  <a:srgbClr val="141B3D"/>
                </a:solidFill>
                <a:latin typeface="Calibri" pitchFamily="34" charset="0"/>
                <a:ea typeface="Calibri" pitchFamily="34" charset="-122"/>
                <a:cs typeface="Calibri" pitchFamily="34" charset="-120"/>
              </a:rPr>
              <a:t>₹ 53,000</a:t>
            </a:r>
            <a:endParaRPr lang="en-US" sz="1300" dirty="0"/>
          </a:p>
        </p:txBody>
      </p:sp>
      <p:sp>
        <p:nvSpPr>
          <p:cNvPr id="15" name="Shape 13"/>
          <p:cNvSpPr/>
          <p:nvPr/>
        </p:nvSpPr>
        <p:spPr>
          <a:xfrm>
            <a:off x="841248" y="4352544"/>
            <a:ext cx="4855464" cy="603504"/>
          </a:xfrm>
          <a:prstGeom prst="roundRect">
            <a:avLst>
              <a:gd name="adj" fmla="val 10606"/>
            </a:avLst>
          </a:prstGeom>
          <a:solidFill>
            <a:srgbClr val="FFFFFF"/>
          </a:solidFill>
          <a:ln w="9525">
            <a:solidFill>
              <a:srgbClr val="DDE3F5"/>
            </a:solidFill>
            <a:prstDash val="solid"/>
          </a:ln>
        </p:spPr>
      </p:sp>
      <p:sp>
        <p:nvSpPr>
          <p:cNvPr id="16" name="Text 14"/>
          <p:cNvSpPr/>
          <p:nvPr/>
        </p:nvSpPr>
        <p:spPr>
          <a:xfrm>
            <a:off x="1024128" y="4352544"/>
            <a:ext cx="3017520" cy="603504"/>
          </a:xfrm>
          <a:prstGeom prst="rect">
            <a:avLst/>
          </a:prstGeom>
          <a:noFill/>
          <a:ln/>
        </p:spPr>
        <p:txBody>
          <a:bodyPr wrap="square" lIns="0" tIns="0" rIns="0" bIns="0" rtlCol="0" anchor="ctr"/>
          <a:lstStyle/>
          <a:p>
            <a:pPr indent="0" marL="0">
              <a:buNone/>
            </a:pPr>
            <a:r>
              <a:rPr lang="en-US" sz="1050" b="1" dirty="0">
                <a:solidFill>
                  <a:srgbClr val="646E8C"/>
                </a:solidFill>
                <a:latin typeface="Calibri" pitchFamily="34" charset="0"/>
                <a:ea typeface="Calibri" pitchFamily="34" charset="-122"/>
                <a:cs typeface="Calibri" pitchFamily="34" charset="-120"/>
              </a:rPr>
              <a:t>3-year total</a:t>
            </a:r>
            <a:endParaRPr lang="en-US" sz="1050" dirty="0"/>
          </a:p>
        </p:txBody>
      </p:sp>
      <p:sp>
        <p:nvSpPr>
          <p:cNvPr id="17" name="Text 15"/>
          <p:cNvSpPr/>
          <p:nvPr/>
        </p:nvSpPr>
        <p:spPr>
          <a:xfrm>
            <a:off x="3840480" y="4352544"/>
            <a:ext cx="1600200" cy="603504"/>
          </a:xfrm>
          <a:prstGeom prst="rect">
            <a:avLst/>
          </a:prstGeom>
          <a:noFill/>
          <a:ln/>
        </p:spPr>
        <p:txBody>
          <a:bodyPr wrap="square" lIns="0" tIns="0" rIns="0" bIns="0" rtlCol="0" anchor="ctr"/>
          <a:lstStyle/>
          <a:p>
            <a:pPr algn="r" indent="0" marL="0">
              <a:buNone/>
            </a:pPr>
            <a:r>
              <a:rPr lang="en-US" sz="1700" b="1" dirty="0">
                <a:solidFill>
                  <a:srgbClr val="141B3D"/>
                </a:solidFill>
                <a:latin typeface="Cambria" pitchFamily="34" charset="0"/>
                <a:ea typeface="Cambria" pitchFamily="34" charset="-122"/>
                <a:cs typeface="Cambria" pitchFamily="34" charset="-120"/>
              </a:rPr>
              <a:t>₹ 1,95,000</a:t>
            </a:r>
            <a:endParaRPr lang="en-US" sz="1700" dirty="0"/>
          </a:p>
        </p:txBody>
      </p:sp>
      <p:sp>
        <p:nvSpPr>
          <p:cNvPr id="18" name="Shape 16"/>
          <p:cNvSpPr/>
          <p:nvPr/>
        </p:nvSpPr>
        <p:spPr>
          <a:xfrm>
            <a:off x="6181344" y="1956816"/>
            <a:ext cx="5440680" cy="3200400"/>
          </a:xfrm>
          <a:prstGeom prst="roundRect">
            <a:avLst>
              <a:gd name="adj" fmla="val 2571"/>
            </a:avLst>
          </a:prstGeom>
          <a:solidFill>
            <a:srgbClr val="141B3D"/>
          </a:solidFill>
          <a:ln w="9525">
            <a:solidFill>
              <a:srgbClr val="141B3D"/>
            </a:solidFill>
            <a:prstDash val="solid"/>
          </a:ln>
          <a:effectLst>
            <a:outerShdw sx="100000" sy="100000" kx="0" ky="0" algn="bl" rotWithShape="0" blurRad="177800" dist="38100" dir="5400000">
              <a:srgbClr val="1E2761">
                <a:alpha val="10000"/>
              </a:srgbClr>
            </a:outerShdw>
          </a:effectLst>
        </p:spPr>
      </p:sp>
      <p:sp>
        <p:nvSpPr>
          <p:cNvPr id="19" name="Shape 17"/>
          <p:cNvSpPr/>
          <p:nvPr/>
        </p:nvSpPr>
        <p:spPr>
          <a:xfrm>
            <a:off x="6455664" y="2212848"/>
            <a:ext cx="512064" cy="512064"/>
          </a:xfrm>
          <a:prstGeom prst="ellipse">
            <a:avLst/>
          </a:prstGeom>
          <a:solidFill>
            <a:srgbClr val="00C39A"/>
          </a:solidFill>
          <a:ln w="12700">
            <a:solidFill>
              <a:srgbClr val="333333"/>
            </a:solidFill>
            <a:prstDash val="solid"/>
          </a:ln>
        </p:spPr>
      </p:sp>
      <p:sp>
        <p:nvSpPr>
          <p:cNvPr id="20" name="Text 18"/>
          <p:cNvSpPr/>
          <p:nvPr/>
        </p:nvSpPr>
        <p:spPr>
          <a:xfrm>
            <a:off x="6455664" y="2212848"/>
            <a:ext cx="512064" cy="512064"/>
          </a:xfrm>
          <a:prstGeom prst="rect">
            <a:avLst/>
          </a:prstGeom>
          <a:noFill/>
          <a:ln/>
        </p:spPr>
        <p:txBody>
          <a:bodyPr wrap="square" lIns="0" tIns="0" rIns="0" bIns="0" rtlCol="0" anchor="ctr"/>
          <a:lstStyle/>
          <a:p>
            <a:pPr algn="ctr" indent="0" marL="0">
              <a:buNone/>
            </a:pPr>
            <a:r>
              <a:rPr lang="en-US" sz="1800" b="1" dirty="0">
                <a:solidFill>
                  <a:srgbClr val="141B3D"/>
                </a:solidFill>
                <a:latin typeface="Cambria" pitchFamily="34" charset="0"/>
                <a:ea typeface="Cambria" pitchFamily="34" charset="-122"/>
                <a:cs typeface="Cambria" pitchFamily="34" charset="-120"/>
              </a:rPr>
              <a:t>B</a:t>
            </a:r>
            <a:endParaRPr lang="en-US" sz="1800" dirty="0"/>
          </a:p>
        </p:txBody>
      </p:sp>
      <p:sp>
        <p:nvSpPr>
          <p:cNvPr id="21" name="Text 19"/>
          <p:cNvSpPr/>
          <p:nvPr/>
        </p:nvSpPr>
        <p:spPr>
          <a:xfrm>
            <a:off x="7114032" y="2231136"/>
            <a:ext cx="4251960" cy="47548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Cloud year one, then college VM</a:t>
            </a:r>
            <a:endParaRPr lang="en-US" sz="1700" dirty="0"/>
          </a:p>
        </p:txBody>
      </p:sp>
      <p:sp>
        <p:nvSpPr>
          <p:cNvPr id="22" name="Text 20"/>
          <p:cNvSpPr/>
          <p:nvPr/>
        </p:nvSpPr>
        <p:spPr>
          <a:xfrm>
            <a:off x="6473952" y="2926080"/>
            <a:ext cx="3291840" cy="402336"/>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Year 1 — grant year</a:t>
            </a:r>
            <a:endParaRPr lang="en-US" sz="1250" dirty="0"/>
          </a:p>
        </p:txBody>
      </p:sp>
      <p:sp>
        <p:nvSpPr>
          <p:cNvPr id="23" name="Text 21"/>
          <p:cNvSpPr/>
          <p:nvPr/>
        </p:nvSpPr>
        <p:spPr>
          <a:xfrm>
            <a:off x="9564624" y="2926080"/>
            <a:ext cx="1783080" cy="402336"/>
          </a:xfrm>
          <a:prstGeom prst="rect">
            <a:avLst/>
          </a:prstGeom>
          <a:noFill/>
          <a:ln/>
        </p:spPr>
        <p:txBody>
          <a:bodyPr wrap="square" lIns="0" tIns="0" rIns="0" bIns="0" rtlCol="0" anchor="ctr"/>
          <a:lstStyle/>
          <a:p>
            <a:pPr algn="r" indent="0" marL="0">
              <a:buNone/>
            </a:pPr>
            <a:r>
              <a:rPr lang="en-US" sz="1300" b="1" dirty="0">
                <a:solidFill>
                  <a:srgbClr val="FFFFFF"/>
                </a:solidFill>
                <a:latin typeface="Calibri" pitchFamily="34" charset="0"/>
                <a:ea typeface="Calibri" pitchFamily="34" charset="-122"/>
                <a:cs typeface="Calibri" pitchFamily="34" charset="-120"/>
              </a:rPr>
              <a:t>₹ 89,000</a:t>
            </a:r>
            <a:endParaRPr lang="en-US" sz="1300" dirty="0"/>
          </a:p>
        </p:txBody>
      </p:sp>
      <p:sp>
        <p:nvSpPr>
          <p:cNvPr id="24" name="Text 22"/>
          <p:cNvSpPr/>
          <p:nvPr/>
        </p:nvSpPr>
        <p:spPr>
          <a:xfrm>
            <a:off x="6473952" y="3383280"/>
            <a:ext cx="3291840" cy="402336"/>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Year 2 — migrate to college VM</a:t>
            </a:r>
            <a:endParaRPr lang="en-US" sz="1250" dirty="0"/>
          </a:p>
        </p:txBody>
      </p:sp>
      <p:sp>
        <p:nvSpPr>
          <p:cNvPr id="25" name="Text 23"/>
          <p:cNvSpPr/>
          <p:nvPr/>
        </p:nvSpPr>
        <p:spPr>
          <a:xfrm>
            <a:off x="9564624" y="3383280"/>
            <a:ext cx="1783080" cy="402336"/>
          </a:xfrm>
          <a:prstGeom prst="rect">
            <a:avLst/>
          </a:prstGeom>
          <a:noFill/>
          <a:ln/>
        </p:spPr>
        <p:txBody>
          <a:bodyPr wrap="square" lIns="0" tIns="0" rIns="0" bIns="0" rtlCol="0" anchor="ctr"/>
          <a:lstStyle/>
          <a:p>
            <a:pPr algn="r" indent="0" marL="0">
              <a:buNone/>
            </a:pPr>
            <a:r>
              <a:rPr lang="en-US" sz="1300" b="1" dirty="0">
                <a:solidFill>
                  <a:srgbClr val="FFFFFF"/>
                </a:solidFill>
                <a:latin typeface="Calibri" pitchFamily="34" charset="0"/>
                <a:ea typeface="Calibri" pitchFamily="34" charset="-122"/>
                <a:cs typeface="Calibri" pitchFamily="34" charset="-120"/>
              </a:rPr>
              <a:t>₹ 0</a:t>
            </a:r>
            <a:endParaRPr lang="en-US" sz="1300" dirty="0"/>
          </a:p>
        </p:txBody>
      </p:sp>
      <p:sp>
        <p:nvSpPr>
          <p:cNvPr id="26" name="Text 24"/>
          <p:cNvSpPr/>
          <p:nvPr/>
        </p:nvSpPr>
        <p:spPr>
          <a:xfrm>
            <a:off x="6473952" y="3840480"/>
            <a:ext cx="3291840" cy="402336"/>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Year 3 — steady state</a:t>
            </a:r>
            <a:endParaRPr lang="en-US" sz="1250" dirty="0"/>
          </a:p>
        </p:txBody>
      </p:sp>
      <p:sp>
        <p:nvSpPr>
          <p:cNvPr id="27" name="Text 25"/>
          <p:cNvSpPr/>
          <p:nvPr/>
        </p:nvSpPr>
        <p:spPr>
          <a:xfrm>
            <a:off x="9564624" y="3840480"/>
            <a:ext cx="1783080" cy="402336"/>
          </a:xfrm>
          <a:prstGeom prst="rect">
            <a:avLst/>
          </a:prstGeom>
          <a:noFill/>
          <a:ln/>
        </p:spPr>
        <p:txBody>
          <a:bodyPr wrap="square" lIns="0" tIns="0" rIns="0" bIns="0" rtlCol="0" anchor="ctr"/>
          <a:lstStyle/>
          <a:p>
            <a:pPr algn="r" indent="0" marL="0">
              <a:buNone/>
            </a:pPr>
            <a:r>
              <a:rPr lang="en-US" sz="1300" b="1" dirty="0">
                <a:solidFill>
                  <a:srgbClr val="FFFFFF"/>
                </a:solidFill>
                <a:latin typeface="Calibri" pitchFamily="34" charset="0"/>
                <a:ea typeface="Calibri" pitchFamily="34" charset="-122"/>
                <a:cs typeface="Calibri" pitchFamily="34" charset="-120"/>
              </a:rPr>
              <a:t>₹ 0</a:t>
            </a:r>
            <a:endParaRPr lang="en-US" sz="1300" dirty="0"/>
          </a:p>
        </p:txBody>
      </p:sp>
      <p:sp>
        <p:nvSpPr>
          <p:cNvPr id="28" name="Shape 26"/>
          <p:cNvSpPr/>
          <p:nvPr/>
        </p:nvSpPr>
        <p:spPr>
          <a:xfrm>
            <a:off x="6473952" y="4352544"/>
            <a:ext cx="4855464" cy="603504"/>
          </a:xfrm>
          <a:prstGeom prst="roundRect">
            <a:avLst>
              <a:gd name="adj" fmla="val 10606"/>
            </a:avLst>
          </a:prstGeom>
          <a:solidFill>
            <a:srgbClr val="00C39A"/>
          </a:solidFill>
          <a:ln w="9525">
            <a:solidFill>
              <a:srgbClr val="00C39A"/>
            </a:solidFill>
            <a:prstDash val="solid"/>
          </a:ln>
        </p:spPr>
      </p:sp>
      <p:sp>
        <p:nvSpPr>
          <p:cNvPr id="29" name="Text 27"/>
          <p:cNvSpPr/>
          <p:nvPr/>
        </p:nvSpPr>
        <p:spPr>
          <a:xfrm>
            <a:off x="6656832" y="4352544"/>
            <a:ext cx="3017520" cy="603504"/>
          </a:xfrm>
          <a:prstGeom prst="rect">
            <a:avLst/>
          </a:prstGeom>
          <a:noFill/>
          <a:ln/>
        </p:spPr>
        <p:txBody>
          <a:bodyPr wrap="square" lIns="0" tIns="0" rIns="0" bIns="0" rtlCol="0" anchor="ctr"/>
          <a:lstStyle/>
          <a:p>
            <a:pPr indent="0" marL="0">
              <a:buNone/>
            </a:pPr>
            <a:r>
              <a:rPr lang="en-US" sz="1050" b="1" dirty="0">
                <a:solidFill>
                  <a:srgbClr val="141B3D"/>
                </a:solidFill>
                <a:latin typeface="Calibri" pitchFamily="34" charset="0"/>
                <a:ea typeface="Calibri" pitchFamily="34" charset="-122"/>
                <a:cs typeface="Calibri" pitchFamily="34" charset="-120"/>
              </a:rPr>
              <a:t>3-year total, if a VM is available</a:t>
            </a:r>
            <a:endParaRPr lang="en-US" sz="1050" dirty="0"/>
          </a:p>
        </p:txBody>
      </p:sp>
      <p:sp>
        <p:nvSpPr>
          <p:cNvPr id="30" name="Text 28"/>
          <p:cNvSpPr/>
          <p:nvPr/>
        </p:nvSpPr>
        <p:spPr>
          <a:xfrm>
            <a:off x="9473184" y="4352544"/>
            <a:ext cx="1600200" cy="603504"/>
          </a:xfrm>
          <a:prstGeom prst="rect">
            <a:avLst/>
          </a:prstGeom>
          <a:noFill/>
          <a:ln/>
        </p:spPr>
        <p:txBody>
          <a:bodyPr wrap="square" lIns="0" tIns="0" rIns="0" bIns="0" rtlCol="0" anchor="ctr"/>
          <a:lstStyle/>
          <a:p>
            <a:pPr algn="r" indent="0" marL="0">
              <a:buNone/>
            </a:pPr>
            <a:r>
              <a:rPr lang="en-US" sz="1700" b="1" dirty="0">
                <a:solidFill>
                  <a:srgbClr val="141B3D"/>
                </a:solidFill>
                <a:latin typeface="Cambria" pitchFamily="34" charset="0"/>
                <a:ea typeface="Cambria" pitchFamily="34" charset="-122"/>
                <a:cs typeface="Cambria" pitchFamily="34" charset="-120"/>
              </a:rPr>
              <a:t>₹ 89,000</a:t>
            </a:r>
            <a:endParaRPr lang="en-US" sz="1700" dirty="0"/>
          </a:p>
        </p:txBody>
      </p:sp>
      <p:sp>
        <p:nvSpPr>
          <p:cNvPr id="31" name="Shape 29"/>
          <p:cNvSpPr/>
          <p:nvPr/>
        </p:nvSpPr>
        <p:spPr>
          <a:xfrm>
            <a:off x="548640" y="5413248"/>
            <a:ext cx="11091672" cy="969264"/>
          </a:xfrm>
          <a:prstGeom prst="roundRect">
            <a:avLst>
              <a:gd name="adj" fmla="val 8491"/>
            </a:avLst>
          </a:prstGeom>
          <a:solidFill>
            <a:srgbClr val="F4F6FC"/>
          </a:solidFill>
          <a:ln w="9525">
            <a:solidFill>
              <a:srgbClr val="F4F6FC"/>
            </a:solidFill>
            <a:prstDash val="solid"/>
          </a:ln>
          <a:effectLst>
            <a:outerShdw sx="100000" sy="100000" kx="0" ky="0" algn="bl" rotWithShape="0" blurRad="177800" dist="38100" dir="5400000">
              <a:srgbClr val="1E2761">
                <a:alpha val="10000"/>
              </a:srgbClr>
            </a:outerShdw>
          </a:effectLst>
        </p:spPr>
      </p:sp>
      <p:sp>
        <p:nvSpPr>
          <p:cNvPr id="32" name="Shape 30"/>
          <p:cNvSpPr/>
          <p:nvPr/>
        </p:nvSpPr>
        <p:spPr>
          <a:xfrm>
            <a:off x="786384" y="5614416"/>
            <a:ext cx="566928" cy="566928"/>
          </a:xfrm>
          <a:prstGeom prst="ellipse">
            <a:avLst/>
          </a:prstGeom>
          <a:solidFill>
            <a:srgbClr val="1E2761"/>
          </a:solidFill>
          <a:ln w="12700">
            <a:solidFill>
              <a:srgbClr val="1E2761"/>
            </a:solidFill>
            <a:prstDash val="solid"/>
          </a:ln>
        </p:spPr>
      </p:sp>
      <p:pic>
        <p:nvPicPr>
          <p:cNvPr id="33" name="Image 0" descr="preencoded.png">    </p:cNvPr>
          <p:cNvPicPr>
            <a:picLocks noChangeAspect="1"/>
          </p:cNvPicPr>
          <p:nvPr/>
        </p:nvPicPr>
        <p:blipFill>
          <a:blip r:embed="rId1"/>
          <a:stretch>
            <a:fillRect/>
          </a:stretch>
        </p:blipFill>
        <p:spPr>
          <a:xfrm>
            <a:off x="950793" y="5778825"/>
            <a:ext cx="238110" cy="238110"/>
          </a:xfrm>
          <a:prstGeom prst="rect">
            <a:avLst/>
          </a:prstGeom>
        </p:spPr>
      </p:pic>
      <p:sp>
        <p:nvSpPr>
          <p:cNvPr id="34" name="Text 31"/>
          <p:cNvSpPr/>
          <p:nvPr/>
        </p:nvSpPr>
        <p:spPr>
          <a:xfrm>
            <a:off x="1499616" y="5541264"/>
            <a:ext cx="9921240" cy="731520"/>
          </a:xfrm>
          <a:prstGeom prst="rect">
            <a:avLst/>
          </a:prstGeom>
          <a:noFill/>
          <a:ln/>
        </p:spPr>
        <p:txBody>
          <a:bodyPr wrap="square" lIns="0" tIns="0" rIns="0" bIns="0" rtlCol="0" anchor="ctr"/>
          <a:lstStyle/>
          <a:p>
            <a:pPr indent="0" marL="0">
              <a:lnSpc>
                <a:spcPts val="1600"/>
              </a:lnSpc>
              <a:buNone/>
            </a:pPr>
            <a:r>
              <a:rPr lang="en-US" sz="1200" dirty="0">
                <a:solidFill>
                  <a:srgbClr val="1A1F36"/>
                </a:solidFill>
                <a:latin typeface="Calibri" pitchFamily="34" charset="0"/>
                <a:ea typeface="Calibri" pitchFamily="34" charset="-122"/>
                <a:cs typeface="Calibri" pitchFamily="34" charset="-120"/>
              </a:rPr>
              <a:t>Recommendation — begin on the cloud, migrate to campus infrastructure once the platform has proven itself. Recurring cost falls to almost nothing, student data stays physically within the institution, and the move pays for itself inside the second year.</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slow" p14:dur="65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
                                        </p:tgtEl>
                                        <p:attrNameLst>
                                          <p:attrName>style.visibility</p:attrName>
                                        </p:attrNameLst>
                                      </p:cBhvr>
                                      <p:to>
                                        <p:strVal val="visible"/>
                                      </p:to>
                                    </p:set>
                                    <p:animEffect transition="in" filter="fade">
                                      <p:cBhvr>
                                        <p:cTn id="7" dur="380"/>
                                        <p:tgtEl>
                                          <p:spTgt spid="1"/>
                                        </p:tgtEl>
                                      </p:cBhvr>
                                    </p:animEffect>
                                    <p:anim calcmode="lin" valueType="num">
                                      <p:cBhvr additive="base">
                                        <p:cTn id="8" dur="380" fill="hold"/>
                                        <p:tgtEl>
                                          <p:spTgt spid="1"/>
                                        </p:tgtEl>
                                        <p:attrNameLst>
                                          <p:attrName>ppt_y</p:attrName>
                                        </p:attrNameLst>
                                      </p:cBhvr>
                                      <p:tavLst>
                                        <p:tav tm="0">
                                          <p:val>
                                            <p:strVal val="#ppt_y+0.03"/>
                                          </p:val>
                                        </p:tav>
                                        <p:tav tm="100000">
                                          <p:val>
                                            <p:strVal val="#ppt_y"/>
                                          </p:val>
                                        </p:tav>
                                      </p:tavLst>
                                    </p:anim>
                                  </p:childTnLst>
                                </p:cTn>
                              </p:par>
                              <p:par>
                                <p:cTn id="9" presetID="42" presetClass="entr" presetSubtype="0" fill="hold" grpId="0" nodeType="afterEffect">
                                  <p:stCondLst>
                                    <p:cond delay="52"/>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380"/>
                                        <p:tgtEl>
                                          <p:spTgt spid="2"/>
                                        </p:tgtEl>
                                      </p:cBhvr>
                                    </p:animEffect>
                                    <p:anim calcmode="lin" valueType="num">
                                      <p:cBhvr additive="base">
                                        <p:cTn id="12" dur="380" fill="hold"/>
                                        <p:tgtEl>
                                          <p:spTgt spid="2"/>
                                        </p:tgtEl>
                                        <p:attrNameLst>
                                          <p:attrName>ppt_y</p:attrName>
                                        </p:attrNameLst>
                                      </p:cBhvr>
                                      <p:tavLst>
                                        <p:tav tm="0">
                                          <p:val>
                                            <p:strVal val="#ppt_y+0.03"/>
                                          </p:val>
                                        </p:tav>
                                        <p:tav tm="100000">
                                          <p:val>
                                            <p:strVal val="#ppt_y"/>
                                          </p:val>
                                        </p:tav>
                                      </p:tavLst>
                                    </p:anim>
                                  </p:childTnLst>
                                </p:cTn>
                              </p:par>
                              <p:par>
                                <p:cTn id="13" presetID="42" presetClass="entr" presetSubtype="0" fill="hold" grpId="0" nodeType="afterEffect">
                                  <p:stCondLst>
                                    <p:cond delay="104"/>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380"/>
                                        <p:tgtEl>
                                          <p:spTgt spid="3"/>
                                        </p:tgtEl>
                                      </p:cBhvr>
                                    </p:animEffect>
                                    <p:anim calcmode="lin" valueType="num">
                                      <p:cBhvr additive="base">
                                        <p:cTn id="16" dur="380" fill="hold"/>
                                        <p:tgtEl>
                                          <p:spTgt spid="3"/>
                                        </p:tgtEl>
                                        <p:attrNameLst>
                                          <p:attrName>ppt_y</p:attrName>
                                        </p:attrNameLst>
                                      </p:cBhvr>
                                      <p:tavLst>
                                        <p:tav tm="0">
                                          <p:val>
                                            <p:strVal val="#ppt_y+0.03"/>
                                          </p:val>
                                        </p:tav>
                                        <p:tav tm="100000">
                                          <p:val>
                                            <p:strVal val="#ppt_y"/>
                                          </p:val>
                                        </p:tav>
                                      </p:tavLst>
                                    </p:anim>
                                  </p:childTnLst>
                                </p:cTn>
                              </p:par>
                              <p:par>
                                <p:cTn id="17" presetID="42" presetClass="entr" presetSubtype="0" fill="hold" grpId="0" nodeType="afterEffect">
                                  <p:stCondLst>
                                    <p:cond delay="156"/>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380"/>
                                        <p:tgtEl>
                                          <p:spTgt spid="4"/>
                                        </p:tgtEl>
                                      </p:cBhvr>
                                    </p:animEffect>
                                    <p:anim calcmode="lin" valueType="num">
                                      <p:cBhvr additive="base">
                                        <p:cTn id="20" dur="380" fill="hold"/>
                                        <p:tgtEl>
                                          <p:spTgt spid="4"/>
                                        </p:tgtEl>
                                        <p:attrNameLst>
                                          <p:attrName>ppt_y</p:attrName>
                                        </p:attrNameLst>
                                      </p:cBhvr>
                                      <p:tavLst>
                                        <p:tav tm="0">
                                          <p:val>
                                            <p:strVal val="#ppt_y+0.03"/>
                                          </p:val>
                                        </p:tav>
                                        <p:tav tm="100000">
                                          <p:val>
                                            <p:strVal val="#ppt_y"/>
                                          </p:val>
                                        </p:tav>
                                      </p:tavLst>
                                    </p:anim>
                                  </p:childTnLst>
                                </p:cTn>
                              </p:par>
                              <p:par>
                                <p:cTn id="21" presetID="42" presetClass="entr" presetSubtype="0" fill="hold" grpId="0" nodeType="afterEffect">
                                  <p:stCondLst>
                                    <p:cond delay="208"/>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380"/>
                                        <p:tgtEl>
                                          <p:spTgt spid="5"/>
                                        </p:tgtEl>
                                      </p:cBhvr>
                                    </p:animEffect>
                                    <p:anim calcmode="lin" valueType="num">
                                      <p:cBhvr additive="base">
                                        <p:cTn id="24" dur="380" fill="hold"/>
                                        <p:tgtEl>
                                          <p:spTgt spid="5"/>
                                        </p:tgtEl>
                                        <p:attrNameLst>
                                          <p:attrName>ppt_y</p:attrName>
                                        </p:attrNameLst>
                                      </p:cBhvr>
                                      <p:tavLst>
                                        <p:tav tm="0">
                                          <p:val>
                                            <p:strVal val="#ppt_y+0.03"/>
                                          </p:val>
                                        </p:tav>
                                        <p:tav tm="100000">
                                          <p:val>
                                            <p:strVal val="#ppt_y"/>
                                          </p:val>
                                        </p:tav>
                                      </p:tavLst>
                                    </p:anim>
                                  </p:childTnLst>
                                </p:cTn>
                              </p:par>
                              <p:par>
                                <p:cTn id="25" presetID="42" presetClass="entr" presetSubtype="0" fill="hold" grpId="0" nodeType="afterEffect">
                                  <p:stCondLst>
                                    <p:cond delay="26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380"/>
                                        <p:tgtEl>
                                          <p:spTgt spid="6"/>
                                        </p:tgtEl>
                                      </p:cBhvr>
                                    </p:animEffect>
                                    <p:anim calcmode="lin" valueType="num">
                                      <p:cBhvr additive="base">
                                        <p:cTn id="28" dur="380" fill="hold"/>
                                        <p:tgtEl>
                                          <p:spTgt spid="6"/>
                                        </p:tgtEl>
                                        <p:attrNameLst>
                                          <p:attrName>ppt_y</p:attrName>
                                        </p:attrNameLst>
                                      </p:cBhvr>
                                      <p:tavLst>
                                        <p:tav tm="0">
                                          <p:val>
                                            <p:strVal val="#ppt_y+0.03"/>
                                          </p:val>
                                        </p:tav>
                                        <p:tav tm="100000">
                                          <p:val>
                                            <p:strVal val="#ppt_y"/>
                                          </p:val>
                                        </p:tav>
                                      </p:tavLst>
                                    </p:anim>
                                  </p:childTnLst>
                                </p:cTn>
                              </p:par>
                              <p:par>
                                <p:cTn id="29" presetID="42" presetClass="entr" presetSubtype="0" fill="hold" grpId="0" nodeType="afterEffect">
                                  <p:stCondLst>
                                    <p:cond delay="312"/>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380"/>
                                        <p:tgtEl>
                                          <p:spTgt spid="7"/>
                                        </p:tgtEl>
                                      </p:cBhvr>
                                    </p:animEffect>
                                    <p:anim calcmode="lin" valueType="num">
                                      <p:cBhvr additive="base">
                                        <p:cTn id="32" dur="380" fill="hold"/>
                                        <p:tgtEl>
                                          <p:spTgt spid="7"/>
                                        </p:tgtEl>
                                        <p:attrNameLst>
                                          <p:attrName>ppt_y</p:attrName>
                                        </p:attrNameLst>
                                      </p:cBhvr>
                                      <p:tavLst>
                                        <p:tav tm="0">
                                          <p:val>
                                            <p:strVal val="#ppt_y+0.03"/>
                                          </p:val>
                                        </p:tav>
                                        <p:tav tm="100000">
                                          <p:val>
                                            <p:strVal val="#ppt_y"/>
                                          </p:val>
                                        </p:tav>
                                      </p:tavLst>
                                    </p:anim>
                                  </p:childTnLst>
                                </p:cTn>
                              </p:par>
                              <p:par>
                                <p:cTn id="33" presetID="42" presetClass="entr" presetSubtype="0" fill="hold" grpId="0" nodeType="afterEffect">
                                  <p:stCondLst>
                                    <p:cond delay="364"/>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380"/>
                                        <p:tgtEl>
                                          <p:spTgt spid="8"/>
                                        </p:tgtEl>
                                      </p:cBhvr>
                                    </p:animEffect>
                                    <p:anim calcmode="lin" valueType="num">
                                      <p:cBhvr additive="base">
                                        <p:cTn id="36" dur="380" fill="hold"/>
                                        <p:tgtEl>
                                          <p:spTgt spid="8"/>
                                        </p:tgtEl>
                                        <p:attrNameLst>
                                          <p:attrName>ppt_y</p:attrName>
                                        </p:attrNameLst>
                                      </p:cBhvr>
                                      <p:tavLst>
                                        <p:tav tm="0">
                                          <p:val>
                                            <p:strVal val="#ppt_y+0.03"/>
                                          </p:val>
                                        </p:tav>
                                        <p:tav tm="100000">
                                          <p:val>
                                            <p:strVal val="#ppt_y"/>
                                          </p:val>
                                        </p:tav>
                                      </p:tavLst>
                                    </p:anim>
                                  </p:childTnLst>
                                </p:cTn>
                              </p:par>
                              <p:par>
                                <p:cTn id="37" presetID="42" presetClass="entr" presetSubtype="0" fill="hold" grpId="0" nodeType="afterEffect">
                                  <p:stCondLst>
                                    <p:cond delay="416"/>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380"/>
                                        <p:tgtEl>
                                          <p:spTgt spid="9"/>
                                        </p:tgtEl>
                                      </p:cBhvr>
                                    </p:animEffect>
                                    <p:anim calcmode="lin" valueType="num">
                                      <p:cBhvr additive="base">
                                        <p:cTn id="40" dur="380" fill="hold"/>
                                        <p:tgtEl>
                                          <p:spTgt spid="9"/>
                                        </p:tgtEl>
                                        <p:attrNameLst>
                                          <p:attrName>ppt_y</p:attrName>
                                        </p:attrNameLst>
                                      </p:cBhvr>
                                      <p:tavLst>
                                        <p:tav tm="0">
                                          <p:val>
                                            <p:strVal val="#ppt_y+0.03"/>
                                          </p:val>
                                        </p:tav>
                                        <p:tav tm="100000">
                                          <p:val>
                                            <p:strVal val="#ppt_y"/>
                                          </p:val>
                                        </p:tav>
                                      </p:tavLst>
                                    </p:anim>
                                  </p:childTnLst>
                                </p:cTn>
                              </p:par>
                              <p:par>
                                <p:cTn id="41" presetID="42" presetClass="entr" presetSubtype="0" fill="hold" grpId="0" nodeType="afterEffect">
                                  <p:stCondLst>
                                    <p:cond delay="468"/>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380"/>
                                        <p:tgtEl>
                                          <p:spTgt spid="10"/>
                                        </p:tgtEl>
                                      </p:cBhvr>
                                    </p:animEffect>
                                    <p:anim calcmode="lin" valueType="num">
                                      <p:cBhvr additive="base">
                                        <p:cTn id="44" dur="380" fill="hold"/>
                                        <p:tgtEl>
                                          <p:spTgt spid="10"/>
                                        </p:tgtEl>
                                        <p:attrNameLst>
                                          <p:attrName>ppt_y</p:attrName>
                                        </p:attrNameLst>
                                      </p:cBhvr>
                                      <p:tavLst>
                                        <p:tav tm="0">
                                          <p:val>
                                            <p:strVal val="#ppt_y+0.03"/>
                                          </p:val>
                                        </p:tav>
                                        <p:tav tm="100000">
                                          <p:val>
                                            <p:strVal val="#ppt_y"/>
                                          </p:val>
                                        </p:tav>
                                      </p:tavLst>
                                    </p:anim>
                                  </p:childTnLst>
                                </p:cTn>
                              </p:par>
                              <p:par>
                                <p:cTn id="45" presetID="42" presetClass="entr" presetSubtype="0" fill="hold" grpId="0" nodeType="afterEffect">
                                  <p:stCondLst>
                                    <p:cond delay="52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380"/>
                                        <p:tgtEl>
                                          <p:spTgt spid="11"/>
                                        </p:tgtEl>
                                      </p:cBhvr>
                                    </p:animEffect>
                                    <p:anim calcmode="lin" valueType="num">
                                      <p:cBhvr additive="base">
                                        <p:cTn id="48" dur="380" fill="hold"/>
                                        <p:tgtEl>
                                          <p:spTgt spid="11"/>
                                        </p:tgtEl>
                                        <p:attrNameLst>
                                          <p:attrName>ppt_y</p:attrName>
                                        </p:attrNameLst>
                                      </p:cBhvr>
                                      <p:tavLst>
                                        <p:tav tm="0">
                                          <p:val>
                                            <p:strVal val="#ppt_y+0.03"/>
                                          </p:val>
                                        </p:tav>
                                        <p:tav tm="100000">
                                          <p:val>
                                            <p:strVal val="#ppt_y"/>
                                          </p:val>
                                        </p:tav>
                                      </p:tavLst>
                                    </p:anim>
                                  </p:childTnLst>
                                </p:cTn>
                              </p:par>
                              <p:par>
                                <p:cTn id="49" presetID="42" presetClass="entr" presetSubtype="0" fill="hold" grpId="0" nodeType="afterEffect">
                                  <p:stCondLst>
                                    <p:cond delay="572"/>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380"/>
                                        <p:tgtEl>
                                          <p:spTgt spid="12"/>
                                        </p:tgtEl>
                                      </p:cBhvr>
                                    </p:animEffect>
                                    <p:anim calcmode="lin" valueType="num">
                                      <p:cBhvr additive="base">
                                        <p:cTn id="52" dur="380" fill="hold"/>
                                        <p:tgtEl>
                                          <p:spTgt spid="12"/>
                                        </p:tgtEl>
                                        <p:attrNameLst>
                                          <p:attrName>ppt_y</p:attrName>
                                        </p:attrNameLst>
                                      </p:cBhvr>
                                      <p:tavLst>
                                        <p:tav tm="0">
                                          <p:val>
                                            <p:strVal val="#ppt_y+0.03"/>
                                          </p:val>
                                        </p:tav>
                                        <p:tav tm="100000">
                                          <p:val>
                                            <p:strVal val="#ppt_y"/>
                                          </p:val>
                                        </p:tav>
                                      </p:tavLst>
                                    </p:anim>
                                  </p:childTnLst>
                                </p:cTn>
                              </p:par>
                              <p:par>
                                <p:cTn id="53" presetID="42" presetClass="entr" presetSubtype="0" fill="hold" grpId="0" nodeType="afterEffect">
                                  <p:stCondLst>
                                    <p:cond delay="624"/>
                                  </p:stCondLst>
                                  <p:childTnLst>
                                    <p:set>
                                      <p:cBhvr>
                                        <p:cTn id="54" dur="1" fill="hold">
                                          <p:stCondLst>
                                            <p:cond delay="0"/>
                                          </p:stCondLst>
                                        </p:cTn>
                                        <p:tgtEl>
                                          <p:spTgt spid="13"/>
                                        </p:tgtEl>
                                        <p:attrNameLst>
                                          <p:attrName>style.visibility</p:attrName>
                                        </p:attrNameLst>
                                      </p:cBhvr>
                                      <p:to>
                                        <p:strVal val="visible"/>
                                      </p:to>
                                    </p:set>
                                    <p:animEffect transition="in" filter="fade">
                                      <p:cBhvr>
                                        <p:cTn id="55" dur="380"/>
                                        <p:tgtEl>
                                          <p:spTgt spid="13"/>
                                        </p:tgtEl>
                                      </p:cBhvr>
                                    </p:animEffect>
                                    <p:anim calcmode="lin" valueType="num">
                                      <p:cBhvr additive="base">
                                        <p:cTn id="56" dur="380" fill="hold"/>
                                        <p:tgtEl>
                                          <p:spTgt spid="13"/>
                                        </p:tgtEl>
                                        <p:attrNameLst>
                                          <p:attrName>ppt_y</p:attrName>
                                        </p:attrNameLst>
                                      </p:cBhvr>
                                      <p:tavLst>
                                        <p:tav tm="0">
                                          <p:val>
                                            <p:strVal val="#ppt_y+0.03"/>
                                          </p:val>
                                        </p:tav>
                                        <p:tav tm="100000">
                                          <p:val>
                                            <p:strVal val="#ppt_y"/>
                                          </p:val>
                                        </p:tav>
                                      </p:tavLst>
                                    </p:anim>
                                  </p:childTnLst>
                                </p:cTn>
                              </p:par>
                              <p:par>
                                <p:cTn id="57" presetID="42" presetClass="entr" presetSubtype="0" fill="hold" grpId="0" nodeType="afterEffect">
                                  <p:stCondLst>
                                    <p:cond delay="676"/>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380"/>
                                        <p:tgtEl>
                                          <p:spTgt spid="14"/>
                                        </p:tgtEl>
                                      </p:cBhvr>
                                    </p:animEffect>
                                    <p:anim calcmode="lin" valueType="num">
                                      <p:cBhvr additive="base">
                                        <p:cTn id="60" dur="380" fill="hold"/>
                                        <p:tgtEl>
                                          <p:spTgt spid="14"/>
                                        </p:tgtEl>
                                        <p:attrNameLst>
                                          <p:attrName>ppt_y</p:attrName>
                                        </p:attrNameLst>
                                      </p:cBhvr>
                                      <p:tavLst>
                                        <p:tav tm="0">
                                          <p:val>
                                            <p:strVal val="#ppt_y+0.03"/>
                                          </p:val>
                                        </p:tav>
                                        <p:tav tm="100000">
                                          <p:val>
                                            <p:strVal val="#ppt_y"/>
                                          </p:val>
                                        </p:tav>
                                      </p:tavLst>
                                    </p:anim>
                                  </p:childTnLst>
                                </p:cTn>
                              </p:par>
                              <p:par>
                                <p:cTn id="61" presetID="42" presetClass="entr" presetSubtype="0" fill="hold" grpId="0" nodeType="afterEffect">
                                  <p:stCondLst>
                                    <p:cond delay="728"/>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380"/>
                                        <p:tgtEl>
                                          <p:spTgt spid="15"/>
                                        </p:tgtEl>
                                      </p:cBhvr>
                                    </p:animEffect>
                                    <p:anim calcmode="lin" valueType="num">
                                      <p:cBhvr additive="base">
                                        <p:cTn id="64" dur="380" fill="hold"/>
                                        <p:tgtEl>
                                          <p:spTgt spid="15"/>
                                        </p:tgtEl>
                                        <p:attrNameLst>
                                          <p:attrName>ppt_y</p:attrName>
                                        </p:attrNameLst>
                                      </p:cBhvr>
                                      <p:tavLst>
                                        <p:tav tm="0">
                                          <p:val>
                                            <p:strVal val="#ppt_y+0.03"/>
                                          </p:val>
                                        </p:tav>
                                        <p:tav tm="100000">
                                          <p:val>
                                            <p:strVal val="#ppt_y"/>
                                          </p:val>
                                        </p:tav>
                                      </p:tavLst>
                                    </p:anim>
                                  </p:childTnLst>
                                </p:cTn>
                              </p:par>
                              <p:par>
                                <p:cTn id="65" presetID="42" presetClass="entr" presetSubtype="0" fill="hold" grpId="0" nodeType="afterEffect">
                                  <p:stCondLst>
                                    <p:cond delay="78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380"/>
                                        <p:tgtEl>
                                          <p:spTgt spid="16"/>
                                        </p:tgtEl>
                                      </p:cBhvr>
                                    </p:animEffect>
                                    <p:anim calcmode="lin" valueType="num">
                                      <p:cBhvr additive="base">
                                        <p:cTn id="68" dur="380" fill="hold"/>
                                        <p:tgtEl>
                                          <p:spTgt spid="16"/>
                                        </p:tgtEl>
                                        <p:attrNameLst>
                                          <p:attrName>ppt_y</p:attrName>
                                        </p:attrNameLst>
                                      </p:cBhvr>
                                      <p:tavLst>
                                        <p:tav tm="0">
                                          <p:val>
                                            <p:strVal val="#ppt_y+0.03"/>
                                          </p:val>
                                        </p:tav>
                                        <p:tav tm="100000">
                                          <p:val>
                                            <p:strVal val="#ppt_y"/>
                                          </p:val>
                                        </p:tav>
                                      </p:tavLst>
                                    </p:anim>
                                  </p:childTnLst>
                                </p:cTn>
                              </p:par>
                              <p:par>
                                <p:cTn id="69" presetID="42" presetClass="entr" presetSubtype="0" fill="hold" grpId="0" nodeType="afterEffect">
                                  <p:stCondLst>
                                    <p:cond delay="832"/>
                                  </p:stCondLst>
                                  <p:childTnLst>
                                    <p:set>
                                      <p:cBhvr>
                                        <p:cTn id="70" dur="1" fill="hold">
                                          <p:stCondLst>
                                            <p:cond delay="0"/>
                                          </p:stCondLst>
                                        </p:cTn>
                                        <p:tgtEl>
                                          <p:spTgt spid="17"/>
                                        </p:tgtEl>
                                        <p:attrNameLst>
                                          <p:attrName>style.visibility</p:attrName>
                                        </p:attrNameLst>
                                      </p:cBhvr>
                                      <p:to>
                                        <p:strVal val="visible"/>
                                      </p:to>
                                    </p:set>
                                    <p:animEffect transition="in" filter="fade">
                                      <p:cBhvr>
                                        <p:cTn id="71" dur="380"/>
                                        <p:tgtEl>
                                          <p:spTgt spid="17"/>
                                        </p:tgtEl>
                                      </p:cBhvr>
                                    </p:animEffect>
                                    <p:anim calcmode="lin" valueType="num">
                                      <p:cBhvr additive="base">
                                        <p:cTn id="72" dur="380" fill="hold"/>
                                        <p:tgtEl>
                                          <p:spTgt spid="17"/>
                                        </p:tgtEl>
                                        <p:attrNameLst>
                                          <p:attrName>ppt_y</p:attrName>
                                        </p:attrNameLst>
                                      </p:cBhvr>
                                      <p:tavLst>
                                        <p:tav tm="0">
                                          <p:val>
                                            <p:strVal val="#ppt_y+0.03"/>
                                          </p:val>
                                        </p:tav>
                                        <p:tav tm="100000">
                                          <p:val>
                                            <p:strVal val="#ppt_y"/>
                                          </p:val>
                                        </p:tav>
                                      </p:tavLst>
                                    </p:anim>
                                  </p:childTnLst>
                                </p:cTn>
                              </p:par>
                              <p:par>
                                <p:cTn id="73" presetID="42" presetClass="entr" presetSubtype="0" fill="hold" grpId="0" nodeType="afterEffect">
                                  <p:stCondLst>
                                    <p:cond delay="884"/>
                                  </p:stCondLst>
                                  <p:childTnLst>
                                    <p:set>
                                      <p:cBhvr>
                                        <p:cTn id="74" dur="1" fill="hold">
                                          <p:stCondLst>
                                            <p:cond delay="0"/>
                                          </p:stCondLst>
                                        </p:cTn>
                                        <p:tgtEl>
                                          <p:spTgt spid="18"/>
                                        </p:tgtEl>
                                        <p:attrNameLst>
                                          <p:attrName>style.visibility</p:attrName>
                                        </p:attrNameLst>
                                      </p:cBhvr>
                                      <p:to>
                                        <p:strVal val="visible"/>
                                      </p:to>
                                    </p:set>
                                    <p:animEffect transition="in" filter="fade">
                                      <p:cBhvr>
                                        <p:cTn id="75" dur="380"/>
                                        <p:tgtEl>
                                          <p:spTgt spid="18"/>
                                        </p:tgtEl>
                                      </p:cBhvr>
                                    </p:animEffect>
                                    <p:anim calcmode="lin" valueType="num">
                                      <p:cBhvr additive="base">
                                        <p:cTn id="76" dur="380" fill="hold"/>
                                        <p:tgtEl>
                                          <p:spTgt spid="18"/>
                                        </p:tgtEl>
                                        <p:attrNameLst>
                                          <p:attrName>ppt_y</p:attrName>
                                        </p:attrNameLst>
                                      </p:cBhvr>
                                      <p:tavLst>
                                        <p:tav tm="0">
                                          <p:val>
                                            <p:strVal val="#ppt_y+0.03"/>
                                          </p:val>
                                        </p:tav>
                                        <p:tav tm="100000">
                                          <p:val>
                                            <p:strVal val="#ppt_y"/>
                                          </p:val>
                                        </p:tav>
                                      </p:tavLst>
                                    </p:anim>
                                  </p:childTnLst>
                                </p:cTn>
                              </p:par>
                              <p:par>
                                <p:cTn id="77" presetID="42" presetClass="entr" presetSubtype="0" fill="hold" grpId="0" nodeType="afterEffect">
                                  <p:stCondLst>
                                    <p:cond delay="936"/>
                                  </p:stCondLst>
                                  <p:childTnLst>
                                    <p:set>
                                      <p:cBhvr>
                                        <p:cTn id="78" dur="1" fill="hold">
                                          <p:stCondLst>
                                            <p:cond delay="0"/>
                                          </p:stCondLst>
                                        </p:cTn>
                                        <p:tgtEl>
                                          <p:spTgt spid="19"/>
                                        </p:tgtEl>
                                        <p:attrNameLst>
                                          <p:attrName>style.visibility</p:attrName>
                                        </p:attrNameLst>
                                      </p:cBhvr>
                                      <p:to>
                                        <p:strVal val="visible"/>
                                      </p:to>
                                    </p:set>
                                    <p:animEffect transition="in" filter="fade">
                                      <p:cBhvr>
                                        <p:cTn id="79" dur="380"/>
                                        <p:tgtEl>
                                          <p:spTgt spid="19"/>
                                        </p:tgtEl>
                                      </p:cBhvr>
                                    </p:animEffect>
                                    <p:anim calcmode="lin" valueType="num">
                                      <p:cBhvr additive="base">
                                        <p:cTn id="80" dur="380" fill="hold"/>
                                        <p:tgtEl>
                                          <p:spTgt spid="19"/>
                                        </p:tgtEl>
                                        <p:attrNameLst>
                                          <p:attrName>ppt_y</p:attrName>
                                        </p:attrNameLst>
                                      </p:cBhvr>
                                      <p:tavLst>
                                        <p:tav tm="0">
                                          <p:val>
                                            <p:strVal val="#ppt_y+0.03"/>
                                          </p:val>
                                        </p:tav>
                                        <p:tav tm="100000">
                                          <p:val>
                                            <p:strVal val="#ppt_y"/>
                                          </p:val>
                                        </p:tav>
                                      </p:tavLst>
                                    </p:anim>
                                  </p:childTnLst>
                                </p:cTn>
                              </p:par>
                              <p:par>
                                <p:cTn id="81" presetID="42" presetClass="entr" presetSubtype="0" fill="hold" grpId="0" nodeType="afterEffect">
                                  <p:stCondLst>
                                    <p:cond delay="988"/>
                                  </p:stCondLst>
                                  <p:childTnLst>
                                    <p:set>
                                      <p:cBhvr>
                                        <p:cTn id="82" dur="1" fill="hold">
                                          <p:stCondLst>
                                            <p:cond delay="0"/>
                                          </p:stCondLst>
                                        </p:cTn>
                                        <p:tgtEl>
                                          <p:spTgt spid="20"/>
                                        </p:tgtEl>
                                        <p:attrNameLst>
                                          <p:attrName>style.visibility</p:attrName>
                                        </p:attrNameLst>
                                      </p:cBhvr>
                                      <p:to>
                                        <p:strVal val="visible"/>
                                      </p:to>
                                    </p:set>
                                    <p:animEffect transition="in" filter="fade">
                                      <p:cBhvr>
                                        <p:cTn id="83" dur="380"/>
                                        <p:tgtEl>
                                          <p:spTgt spid="20"/>
                                        </p:tgtEl>
                                      </p:cBhvr>
                                    </p:animEffect>
                                    <p:anim calcmode="lin" valueType="num">
                                      <p:cBhvr additive="base">
                                        <p:cTn id="84" dur="380" fill="hold"/>
                                        <p:tgtEl>
                                          <p:spTgt spid="20"/>
                                        </p:tgtEl>
                                        <p:attrNameLst>
                                          <p:attrName>ppt_y</p:attrName>
                                        </p:attrNameLst>
                                      </p:cBhvr>
                                      <p:tavLst>
                                        <p:tav tm="0">
                                          <p:val>
                                            <p:strVal val="#ppt_y+0.03"/>
                                          </p:val>
                                        </p:tav>
                                        <p:tav tm="100000">
                                          <p:val>
                                            <p:strVal val="#ppt_y"/>
                                          </p:val>
                                        </p:tav>
                                      </p:tavLst>
                                    </p:anim>
                                  </p:childTnLst>
                                </p:cTn>
                              </p:par>
                              <p:par>
                                <p:cTn id="85" presetID="42" presetClass="entr" presetSubtype="0" fill="hold" grpId="0" nodeType="afterEffect">
                                  <p:stCondLst>
                                    <p:cond delay="1040"/>
                                  </p:stCondLst>
                                  <p:childTnLst>
                                    <p:set>
                                      <p:cBhvr>
                                        <p:cTn id="86" dur="1" fill="hold">
                                          <p:stCondLst>
                                            <p:cond delay="0"/>
                                          </p:stCondLst>
                                        </p:cTn>
                                        <p:tgtEl>
                                          <p:spTgt spid="21"/>
                                        </p:tgtEl>
                                        <p:attrNameLst>
                                          <p:attrName>style.visibility</p:attrName>
                                        </p:attrNameLst>
                                      </p:cBhvr>
                                      <p:to>
                                        <p:strVal val="visible"/>
                                      </p:to>
                                    </p:set>
                                    <p:animEffect transition="in" filter="fade">
                                      <p:cBhvr>
                                        <p:cTn id="87" dur="380"/>
                                        <p:tgtEl>
                                          <p:spTgt spid="21"/>
                                        </p:tgtEl>
                                      </p:cBhvr>
                                    </p:animEffect>
                                    <p:anim calcmode="lin" valueType="num">
                                      <p:cBhvr additive="base">
                                        <p:cTn id="88" dur="380" fill="hold"/>
                                        <p:tgtEl>
                                          <p:spTgt spid="21"/>
                                        </p:tgtEl>
                                        <p:attrNameLst>
                                          <p:attrName>ppt_y</p:attrName>
                                        </p:attrNameLst>
                                      </p:cBhvr>
                                      <p:tavLst>
                                        <p:tav tm="0">
                                          <p:val>
                                            <p:strVal val="#ppt_y+0.03"/>
                                          </p:val>
                                        </p:tav>
                                        <p:tav tm="100000">
                                          <p:val>
                                            <p:strVal val="#ppt_y"/>
                                          </p:val>
                                        </p:tav>
                                      </p:tavLst>
                                    </p:anim>
                                  </p:childTnLst>
                                </p:cTn>
                              </p:par>
                              <p:par>
                                <p:cTn id="89" presetID="42" presetClass="entr" presetSubtype="0" fill="hold" grpId="0" nodeType="afterEffect">
                                  <p:stCondLst>
                                    <p:cond delay="1092"/>
                                  </p:stCondLst>
                                  <p:childTnLst>
                                    <p:set>
                                      <p:cBhvr>
                                        <p:cTn id="90" dur="1" fill="hold">
                                          <p:stCondLst>
                                            <p:cond delay="0"/>
                                          </p:stCondLst>
                                        </p:cTn>
                                        <p:tgtEl>
                                          <p:spTgt spid="22"/>
                                        </p:tgtEl>
                                        <p:attrNameLst>
                                          <p:attrName>style.visibility</p:attrName>
                                        </p:attrNameLst>
                                      </p:cBhvr>
                                      <p:to>
                                        <p:strVal val="visible"/>
                                      </p:to>
                                    </p:set>
                                    <p:animEffect transition="in" filter="fade">
                                      <p:cBhvr>
                                        <p:cTn id="91" dur="380"/>
                                        <p:tgtEl>
                                          <p:spTgt spid="22"/>
                                        </p:tgtEl>
                                      </p:cBhvr>
                                    </p:animEffect>
                                    <p:anim calcmode="lin" valueType="num">
                                      <p:cBhvr additive="base">
                                        <p:cTn id="92" dur="380" fill="hold"/>
                                        <p:tgtEl>
                                          <p:spTgt spid="22"/>
                                        </p:tgtEl>
                                        <p:attrNameLst>
                                          <p:attrName>ppt_y</p:attrName>
                                        </p:attrNameLst>
                                      </p:cBhvr>
                                      <p:tavLst>
                                        <p:tav tm="0">
                                          <p:val>
                                            <p:strVal val="#ppt_y+0.03"/>
                                          </p:val>
                                        </p:tav>
                                        <p:tav tm="100000">
                                          <p:val>
                                            <p:strVal val="#ppt_y"/>
                                          </p:val>
                                        </p:tav>
                                      </p:tavLst>
                                    </p:anim>
                                  </p:childTnLst>
                                </p:cTn>
                              </p:par>
                              <p:par>
                                <p:cTn id="93" presetID="42" presetClass="entr" presetSubtype="0" fill="hold" grpId="0" nodeType="afterEffect">
                                  <p:stCondLst>
                                    <p:cond delay="1144"/>
                                  </p:stCondLst>
                                  <p:childTnLst>
                                    <p:set>
                                      <p:cBhvr>
                                        <p:cTn id="94" dur="1" fill="hold">
                                          <p:stCondLst>
                                            <p:cond delay="0"/>
                                          </p:stCondLst>
                                        </p:cTn>
                                        <p:tgtEl>
                                          <p:spTgt spid="23"/>
                                        </p:tgtEl>
                                        <p:attrNameLst>
                                          <p:attrName>style.visibility</p:attrName>
                                        </p:attrNameLst>
                                      </p:cBhvr>
                                      <p:to>
                                        <p:strVal val="visible"/>
                                      </p:to>
                                    </p:set>
                                    <p:animEffect transition="in" filter="fade">
                                      <p:cBhvr>
                                        <p:cTn id="95" dur="380"/>
                                        <p:tgtEl>
                                          <p:spTgt spid="23"/>
                                        </p:tgtEl>
                                      </p:cBhvr>
                                    </p:animEffect>
                                    <p:anim calcmode="lin" valueType="num">
                                      <p:cBhvr additive="base">
                                        <p:cTn id="96" dur="380" fill="hold"/>
                                        <p:tgtEl>
                                          <p:spTgt spid="23"/>
                                        </p:tgtEl>
                                        <p:attrNameLst>
                                          <p:attrName>ppt_y</p:attrName>
                                        </p:attrNameLst>
                                      </p:cBhvr>
                                      <p:tavLst>
                                        <p:tav tm="0">
                                          <p:val>
                                            <p:strVal val="#ppt_y+0.03"/>
                                          </p:val>
                                        </p:tav>
                                        <p:tav tm="100000">
                                          <p:val>
                                            <p:strVal val="#ppt_y"/>
                                          </p:val>
                                        </p:tav>
                                      </p:tavLst>
                                    </p:anim>
                                  </p:childTnLst>
                                </p:cTn>
                              </p:par>
                              <p:par>
                                <p:cTn id="97" presetID="42" presetClass="entr" presetSubtype="0" fill="hold" grpId="0" nodeType="afterEffect">
                                  <p:stCondLst>
                                    <p:cond delay="1196"/>
                                  </p:stCondLst>
                                  <p:childTnLst>
                                    <p:set>
                                      <p:cBhvr>
                                        <p:cTn id="98" dur="1" fill="hold">
                                          <p:stCondLst>
                                            <p:cond delay="0"/>
                                          </p:stCondLst>
                                        </p:cTn>
                                        <p:tgtEl>
                                          <p:spTgt spid="24"/>
                                        </p:tgtEl>
                                        <p:attrNameLst>
                                          <p:attrName>style.visibility</p:attrName>
                                        </p:attrNameLst>
                                      </p:cBhvr>
                                      <p:to>
                                        <p:strVal val="visible"/>
                                      </p:to>
                                    </p:set>
                                    <p:animEffect transition="in" filter="fade">
                                      <p:cBhvr>
                                        <p:cTn id="99" dur="380"/>
                                        <p:tgtEl>
                                          <p:spTgt spid="24"/>
                                        </p:tgtEl>
                                      </p:cBhvr>
                                    </p:animEffect>
                                    <p:anim calcmode="lin" valueType="num">
                                      <p:cBhvr additive="base">
                                        <p:cTn id="100" dur="380" fill="hold"/>
                                        <p:tgtEl>
                                          <p:spTgt spid="24"/>
                                        </p:tgtEl>
                                        <p:attrNameLst>
                                          <p:attrName>ppt_y</p:attrName>
                                        </p:attrNameLst>
                                      </p:cBhvr>
                                      <p:tavLst>
                                        <p:tav tm="0">
                                          <p:val>
                                            <p:strVal val="#ppt_y+0.03"/>
                                          </p:val>
                                        </p:tav>
                                        <p:tav tm="100000">
                                          <p:val>
                                            <p:strVal val="#ppt_y"/>
                                          </p:val>
                                        </p:tav>
                                      </p:tavLst>
                                    </p:anim>
                                  </p:childTnLst>
                                </p:cTn>
                              </p:par>
                              <p:par>
                                <p:cTn id="101" presetID="42" presetClass="entr" presetSubtype="0" fill="hold" grpId="0" nodeType="afterEffect">
                                  <p:stCondLst>
                                    <p:cond delay="1248"/>
                                  </p:stCondLst>
                                  <p:childTnLst>
                                    <p:set>
                                      <p:cBhvr>
                                        <p:cTn id="102" dur="1" fill="hold">
                                          <p:stCondLst>
                                            <p:cond delay="0"/>
                                          </p:stCondLst>
                                        </p:cTn>
                                        <p:tgtEl>
                                          <p:spTgt spid="25"/>
                                        </p:tgtEl>
                                        <p:attrNameLst>
                                          <p:attrName>style.visibility</p:attrName>
                                        </p:attrNameLst>
                                      </p:cBhvr>
                                      <p:to>
                                        <p:strVal val="visible"/>
                                      </p:to>
                                    </p:set>
                                    <p:animEffect transition="in" filter="fade">
                                      <p:cBhvr>
                                        <p:cTn id="103" dur="380"/>
                                        <p:tgtEl>
                                          <p:spTgt spid="25"/>
                                        </p:tgtEl>
                                      </p:cBhvr>
                                    </p:animEffect>
                                    <p:anim calcmode="lin" valueType="num">
                                      <p:cBhvr additive="base">
                                        <p:cTn id="104" dur="380" fill="hold"/>
                                        <p:tgtEl>
                                          <p:spTgt spid="25"/>
                                        </p:tgtEl>
                                        <p:attrNameLst>
                                          <p:attrName>ppt_y</p:attrName>
                                        </p:attrNameLst>
                                      </p:cBhvr>
                                      <p:tavLst>
                                        <p:tav tm="0">
                                          <p:val>
                                            <p:strVal val="#ppt_y+0.03"/>
                                          </p:val>
                                        </p:tav>
                                        <p:tav tm="100000">
                                          <p:val>
                                            <p:strVal val="#ppt_y"/>
                                          </p:val>
                                        </p:tav>
                                      </p:tavLst>
                                    </p:anim>
                                  </p:childTnLst>
                                </p:cTn>
                              </p:par>
                              <p:par>
                                <p:cTn id="105" presetID="42" presetClass="entr" presetSubtype="0" fill="hold" grpId="0" nodeType="afterEffect">
                                  <p:stCondLst>
                                    <p:cond delay="1300"/>
                                  </p:stCondLst>
                                  <p:childTnLst>
                                    <p:set>
                                      <p:cBhvr>
                                        <p:cTn id="106" dur="1" fill="hold">
                                          <p:stCondLst>
                                            <p:cond delay="0"/>
                                          </p:stCondLst>
                                        </p:cTn>
                                        <p:tgtEl>
                                          <p:spTgt spid="26"/>
                                        </p:tgtEl>
                                        <p:attrNameLst>
                                          <p:attrName>style.visibility</p:attrName>
                                        </p:attrNameLst>
                                      </p:cBhvr>
                                      <p:to>
                                        <p:strVal val="visible"/>
                                      </p:to>
                                    </p:set>
                                    <p:animEffect transition="in" filter="fade">
                                      <p:cBhvr>
                                        <p:cTn id="107" dur="380"/>
                                        <p:tgtEl>
                                          <p:spTgt spid="26"/>
                                        </p:tgtEl>
                                      </p:cBhvr>
                                    </p:animEffect>
                                    <p:anim calcmode="lin" valueType="num">
                                      <p:cBhvr additive="base">
                                        <p:cTn id="108" dur="380" fill="hold"/>
                                        <p:tgtEl>
                                          <p:spTgt spid="26"/>
                                        </p:tgtEl>
                                        <p:attrNameLst>
                                          <p:attrName>ppt_y</p:attrName>
                                        </p:attrNameLst>
                                      </p:cBhvr>
                                      <p:tavLst>
                                        <p:tav tm="0">
                                          <p:val>
                                            <p:strVal val="#ppt_y+0.03"/>
                                          </p:val>
                                        </p:tav>
                                        <p:tav tm="100000">
                                          <p:val>
                                            <p:strVal val="#ppt_y"/>
                                          </p:val>
                                        </p:tav>
                                      </p:tavLst>
                                    </p:anim>
                                  </p:childTnLst>
                                </p:cTn>
                              </p:par>
                              <p:par>
                                <p:cTn id="109" presetID="42" presetClass="entr" presetSubtype="0" fill="hold" grpId="0" nodeType="afterEffect">
                                  <p:stCondLst>
                                    <p:cond delay="1352"/>
                                  </p:stCondLst>
                                  <p:childTnLst>
                                    <p:set>
                                      <p:cBhvr>
                                        <p:cTn id="110" dur="1" fill="hold">
                                          <p:stCondLst>
                                            <p:cond delay="0"/>
                                          </p:stCondLst>
                                        </p:cTn>
                                        <p:tgtEl>
                                          <p:spTgt spid="27"/>
                                        </p:tgtEl>
                                        <p:attrNameLst>
                                          <p:attrName>style.visibility</p:attrName>
                                        </p:attrNameLst>
                                      </p:cBhvr>
                                      <p:to>
                                        <p:strVal val="visible"/>
                                      </p:to>
                                    </p:set>
                                    <p:animEffect transition="in" filter="fade">
                                      <p:cBhvr>
                                        <p:cTn id="111" dur="380"/>
                                        <p:tgtEl>
                                          <p:spTgt spid="27"/>
                                        </p:tgtEl>
                                      </p:cBhvr>
                                    </p:animEffect>
                                    <p:anim calcmode="lin" valueType="num">
                                      <p:cBhvr additive="base">
                                        <p:cTn id="112" dur="380" fill="hold"/>
                                        <p:tgtEl>
                                          <p:spTgt spid="27"/>
                                        </p:tgtEl>
                                        <p:attrNameLst>
                                          <p:attrName>ppt_y</p:attrName>
                                        </p:attrNameLst>
                                      </p:cBhvr>
                                      <p:tavLst>
                                        <p:tav tm="0">
                                          <p:val>
                                            <p:strVal val="#ppt_y+0.03"/>
                                          </p:val>
                                        </p:tav>
                                        <p:tav tm="100000">
                                          <p:val>
                                            <p:strVal val="#ppt_y"/>
                                          </p:val>
                                        </p:tav>
                                      </p:tavLst>
                                    </p:anim>
                                  </p:childTnLst>
                                </p:cTn>
                              </p:par>
                              <p:par>
                                <p:cTn id="113" presetID="42" presetClass="entr" presetSubtype="0" fill="hold" grpId="0" nodeType="afterEffect">
                                  <p:stCondLst>
                                    <p:cond delay="1404"/>
                                  </p:stCondLst>
                                  <p:childTnLst>
                                    <p:set>
                                      <p:cBhvr>
                                        <p:cTn id="114" dur="1" fill="hold">
                                          <p:stCondLst>
                                            <p:cond delay="0"/>
                                          </p:stCondLst>
                                        </p:cTn>
                                        <p:tgtEl>
                                          <p:spTgt spid="28"/>
                                        </p:tgtEl>
                                        <p:attrNameLst>
                                          <p:attrName>style.visibility</p:attrName>
                                        </p:attrNameLst>
                                      </p:cBhvr>
                                      <p:to>
                                        <p:strVal val="visible"/>
                                      </p:to>
                                    </p:set>
                                    <p:animEffect transition="in" filter="fade">
                                      <p:cBhvr>
                                        <p:cTn id="115" dur="380"/>
                                        <p:tgtEl>
                                          <p:spTgt spid="28"/>
                                        </p:tgtEl>
                                      </p:cBhvr>
                                    </p:animEffect>
                                    <p:anim calcmode="lin" valueType="num">
                                      <p:cBhvr additive="base">
                                        <p:cTn id="116" dur="380" fill="hold"/>
                                        <p:tgtEl>
                                          <p:spTgt spid="28"/>
                                        </p:tgtEl>
                                        <p:attrNameLst>
                                          <p:attrName>ppt_y</p:attrName>
                                        </p:attrNameLst>
                                      </p:cBhvr>
                                      <p:tavLst>
                                        <p:tav tm="0">
                                          <p:val>
                                            <p:strVal val="#ppt_y+0.03"/>
                                          </p:val>
                                        </p:tav>
                                        <p:tav tm="100000">
                                          <p:val>
                                            <p:strVal val="#ppt_y"/>
                                          </p:val>
                                        </p:tav>
                                      </p:tavLst>
                                    </p:anim>
                                  </p:childTnLst>
                                </p:cTn>
                              </p:par>
                              <p:par>
                                <p:cTn id="117" presetID="42" presetClass="entr" presetSubtype="0" fill="hold" grpId="0" nodeType="afterEffect">
                                  <p:stCondLst>
                                    <p:cond delay="1456"/>
                                  </p:stCondLst>
                                  <p:childTnLst>
                                    <p:set>
                                      <p:cBhvr>
                                        <p:cTn id="118" dur="1" fill="hold">
                                          <p:stCondLst>
                                            <p:cond delay="0"/>
                                          </p:stCondLst>
                                        </p:cTn>
                                        <p:tgtEl>
                                          <p:spTgt spid="29"/>
                                        </p:tgtEl>
                                        <p:attrNameLst>
                                          <p:attrName>style.visibility</p:attrName>
                                        </p:attrNameLst>
                                      </p:cBhvr>
                                      <p:to>
                                        <p:strVal val="visible"/>
                                      </p:to>
                                    </p:set>
                                    <p:animEffect transition="in" filter="fade">
                                      <p:cBhvr>
                                        <p:cTn id="119" dur="380"/>
                                        <p:tgtEl>
                                          <p:spTgt spid="29"/>
                                        </p:tgtEl>
                                      </p:cBhvr>
                                    </p:animEffect>
                                    <p:anim calcmode="lin" valueType="num">
                                      <p:cBhvr additive="base">
                                        <p:cTn id="120" dur="380" fill="hold"/>
                                        <p:tgtEl>
                                          <p:spTgt spid="29"/>
                                        </p:tgtEl>
                                        <p:attrNameLst>
                                          <p:attrName>ppt_y</p:attrName>
                                        </p:attrNameLst>
                                      </p:cBhvr>
                                      <p:tavLst>
                                        <p:tav tm="0">
                                          <p:val>
                                            <p:strVal val="#ppt_y+0.03"/>
                                          </p:val>
                                        </p:tav>
                                        <p:tav tm="100000">
                                          <p:val>
                                            <p:strVal val="#ppt_y"/>
                                          </p:val>
                                        </p:tav>
                                      </p:tavLst>
                                    </p:anim>
                                  </p:childTnLst>
                                </p:cTn>
                              </p:par>
                              <p:par>
                                <p:cTn id="121" presetID="42" presetClass="entr" presetSubtype="0" fill="hold" grpId="0" nodeType="afterEffect">
                                  <p:stCondLst>
                                    <p:cond delay="1508"/>
                                  </p:stCondLst>
                                  <p:childTnLst>
                                    <p:set>
                                      <p:cBhvr>
                                        <p:cTn id="122" dur="1" fill="hold">
                                          <p:stCondLst>
                                            <p:cond delay="0"/>
                                          </p:stCondLst>
                                        </p:cTn>
                                        <p:tgtEl>
                                          <p:spTgt spid="30"/>
                                        </p:tgtEl>
                                        <p:attrNameLst>
                                          <p:attrName>style.visibility</p:attrName>
                                        </p:attrNameLst>
                                      </p:cBhvr>
                                      <p:to>
                                        <p:strVal val="visible"/>
                                      </p:to>
                                    </p:set>
                                    <p:animEffect transition="in" filter="fade">
                                      <p:cBhvr>
                                        <p:cTn id="123" dur="380"/>
                                        <p:tgtEl>
                                          <p:spTgt spid="30"/>
                                        </p:tgtEl>
                                      </p:cBhvr>
                                    </p:animEffect>
                                    <p:anim calcmode="lin" valueType="num">
                                      <p:cBhvr additive="base">
                                        <p:cTn id="124" dur="380" fill="hold"/>
                                        <p:tgtEl>
                                          <p:spTgt spid="30"/>
                                        </p:tgtEl>
                                        <p:attrNameLst>
                                          <p:attrName>ppt_y</p:attrName>
                                        </p:attrNameLst>
                                      </p:cBhvr>
                                      <p:tavLst>
                                        <p:tav tm="0">
                                          <p:val>
                                            <p:strVal val="#ppt_y+0.03"/>
                                          </p:val>
                                        </p:tav>
                                        <p:tav tm="100000">
                                          <p:val>
                                            <p:strVal val="#ppt_y"/>
                                          </p:val>
                                        </p:tav>
                                      </p:tavLst>
                                    </p:anim>
                                  </p:childTnLst>
                                </p:cTn>
                              </p:par>
                              <p:par>
                                <p:cTn id="125" presetID="42" presetClass="entr" presetSubtype="0" fill="hold" grpId="0" nodeType="afterEffect">
                                  <p:stCondLst>
                                    <p:cond delay="1560"/>
                                  </p:stCondLst>
                                  <p:childTnLst>
                                    <p:set>
                                      <p:cBhvr>
                                        <p:cTn id="126" dur="1" fill="hold">
                                          <p:stCondLst>
                                            <p:cond delay="0"/>
                                          </p:stCondLst>
                                        </p:cTn>
                                        <p:tgtEl>
                                          <p:spTgt spid="31"/>
                                        </p:tgtEl>
                                        <p:attrNameLst>
                                          <p:attrName>style.visibility</p:attrName>
                                        </p:attrNameLst>
                                      </p:cBhvr>
                                      <p:to>
                                        <p:strVal val="visible"/>
                                      </p:to>
                                    </p:set>
                                    <p:animEffect transition="in" filter="fade">
                                      <p:cBhvr>
                                        <p:cTn id="127" dur="380"/>
                                        <p:tgtEl>
                                          <p:spTgt spid="31"/>
                                        </p:tgtEl>
                                      </p:cBhvr>
                                    </p:animEffect>
                                    <p:anim calcmode="lin" valueType="num">
                                      <p:cBhvr additive="base">
                                        <p:cTn id="128" dur="380" fill="hold"/>
                                        <p:tgtEl>
                                          <p:spTgt spid="31"/>
                                        </p:tgtEl>
                                        <p:attrNameLst>
                                          <p:attrName>ppt_y</p:attrName>
                                        </p:attrNameLst>
                                      </p:cBhvr>
                                      <p:tavLst>
                                        <p:tav tm="0">
                                          <p:val>
                                            <p:strVal val="#ppt_y+0.03"/>
                                          </p:val>
                                        </p:tav>
                                        <p:tav tm="100000">
                                          <p:val>
                                            <p:strVal val="#ppt_y"/>
                                          </p:val>
                                        </p:tav>
                                      </p:tavLst>
                                    </p:anim>
                                  </p:childTnLst>
                                </p:cTn>
                              </p:par>
                              <p:par>
                                <p:cTn id="129" presetID="42" presetClass="entr" presetSubtype="0" fill="hold" grpId="0" nodeType="afterEffect">
                                  <p:stCondLst>
                                    <p:cond delay="1612"/>
                                  </p:stCondLst>
                                  <p:childTnLst>
                                    <p:set>
                                      <p:cBhvr>
                                        <p:cTn id="130" dur="1" fill="hold">
                                          <p:stCondLst>
                                            <p:cond delay="0"/>
                                          </p:stCondLst>
                                        </p:cTn>
                                        <p:tgtEl>
                                          <p:spTgt spid="32"/>
                                        </p:tgtEl>
                                        <p:attrNameLst>
                                          <p:attrName>style.visibility</p:attrName>
                                        </p:attrNameLst>
                                      </p:cBhvr>
                                      <p:to>
                                        <p:strVal val="visible"/>
                                      </p:to>
                                    </p:set>
                                    <p:animEffect transition="in" filter="fade">
                                      <p:cBhvr>
                                        <p:cTn id="131" dur="380"/>
                                        <p:tgtEl>
                                          <p:spTgt spid="32"/>
                                        </p:tgtEl>
                                      </p:cBhvr>
                                    </p:animEffect>
                                    <p:anim calcmode="lin" valueType="num">
                                      <p:cBhvr additive="base">
                                        <p:cTn id="132" dur="380" fill="hold"/>
                                        <p:tgtEl>
                                          <p:spTgt spid="32"/>
                                        </p:tgtEl>
                                        <p:attrNameLst>
                                          <p:attrName>ppt_y</p:attrName>
                                        </p:attrNameLst>
                                      </p:cBhvr>
                                      <p:tavLst>
                                        <p:tav tm="0">
                                          <p:val>
                                            <p:strVal val="#ppt_y+0.03"/>
                                          </p:val>
                                        </p:tav>
                                        <p:tav tm="100000">
                                          <p:val>
                                            <p:strVal val="#ppt_y"/>
                                          </p:val>
                                        </p:tav>
                                      </p:tavLst>
                                    </p:anim>
                                  </p:childTnLst>
                                </p:cTn>
                              </p:par>
                              <p:par>
                                <p:cTn id="133" presetID="42" presetClass="entr" presetSubtype="0" fill="hold" grpId="0" nodeType="afterEffect">
                                  <p:stCondLst>
                                    <p:cond delay="1664"/>
                                  </p:stCondLst>
                                  <p:childTnLst>
                                    <p:set>
                                      <p:cBhvr>
                                        <p:cTn id="134" dur="1" fill="hold">
                                          <p:stCondLst>
                                            <p:cond delay="0"/>
                                          </p:stCondLst>
                                        </p:cTn>
                                        <p:tgtEl>
                                          <p:spTgt spid="33"/>
                                        </p:tgtEl>
                                        <p:attrNameLst>
                                          <p:attrName>style.visibility</p:attrName>
                                        </p:attrNameLst>
                                      </p:cBhvr>
                                      <p:to>
                                        <p:strVal val="visible"/>
                                      </p:to>
                                    </p:set>
                                    <p:animEffect transition="in" filter="fade">
                                      <p:cBhvr>
                                        <p:cTn id="135" dur="380"/>
                                        <p:tgtEl>
                                          <p:spTgt spid="33"/>
                                        </p:tgtEl>
                                      </p:cBhvr>
                                    </p:animEffect>
                                    <p:anim calcmode="lin" valueType="num">
                                      <p:cBhvr additive="base">
                                        <p:cTn id="136" dur="380" fill="hold"/>
                                        <p:tgtEl>
                                          <p:spTgt spid="33"/>
                                        </p:tgtEl>
                                        <p:attrNameLst>
                                          <p:attrName>ppt_y</p:attrName>
                                        </p:attrNameLst>
                                      </p:cBhvr>
                                      <p:tavLst>
                                        <p:tav tm="0">
                                          <p:val>
                                            <p:strVal val="#ppt_y+0.03"/>
                                          </p:val>
                                        </p:tav>
                                        <p:tav tm="100000">
                                          <p:val>
                                            <p:strVal val="#ppt_y"/>
                                          </p:val>
                                        </p:tav>
                                      </p:tavLst>
                                    </p:anim>
                                  </p:childTnLst>
                                </p:cTn>
                              </p:par>
                              <p:par>
                                <p:cTn id="137" presetID="42" presetClass="entr" presetSubtype="0" fill="hold" grpId="0" nodeType="afterEffect">
                                  <p:stCondLst>
                                    <p:cond delay="1716"/>
                                  </p:stCondLst>
                                  <p:childTnLst>
                                    <p:set>
                                      <p:cBhvr>
                                        <p:cTn id="138" dur="1" fill="hold">
                                          <p:stCondLst>
                                            <p:cond delay="0"/>
                                          </p:stCondLst>
                                        </p:cTn>
                                        <p:tgtEl>
                                          <p:spTgt spid="34"/>
                                        </p:tgtEl>
                                        <p:attrNameLst>
                                          <p:attrName>style.visibility</p:attrName>
                                        </p:attrNameLst>
                                      </p:cBhvr>
                                      <p:to>
                                        <p:strVal val="visible"/>
                                      </p:to>
                                    </p:set>
                                    <p:animEffect transition="in" filter="fade">
                                      <p:cBhvr>
                                        <p:cTn id="139" dur="380"/>
                                        <p:tgtEl>
                                          <p:spTgt spid="34"/>
                                        </p:tgtEl>
                                      </p:cBhvr>
                                    </p:animEffect>
                                    <p:anim calcmode="lin" valueType="num">
                                      <p:cBhvr additive="base">
                                        <p:cTn id="140" dur="380" fill="hold"/>
                                        <p:tgtEl>
                                          <p:spTgt spid="34"/>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 grpId="0"/>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p:bldP spid="33" grpId="0"/>
      <p:bldP spid="34" grpId="0"/>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37744"/>
          </a:xfrm>
          <a:prstGeom prst="rect">
            <a:avLst/>
          </a:prstGeom>
          <a:noFill/>
          <a:ln/>
        </p:spPr>
        <p:txBody>
          <a:bodyPr wrap="square" lIns="0" tIns="0" rIns="0" bIns="0" rtlCol="0" anchor="ctr"/>
          <a:lstStyle/>
          <a:p>
            <a:pPr indent="0" marL="0">
              <a:buNone/>
            </a:pPr>
            <a:r>
              <a:rPr lang="en-US" sz="1050" b="1" spc="200" kern="0" dirty="0">
                <a:solidFill>
                  <a:srgbClr val="00C39A"/>
                </a:solidFill>
                <a:latin typeface="Calibri" pitchFamily="34" charset="0"/>
                <a:ea typeface="Calibri" pitchFamily="34" charset="-122"/>
                <a:cs typeface="Calibri" pitchFamily="34" charset="-120"/>
              </a:rPr>
              <a:t>RISKS &amp; LIMITATIONS</a:t>
            </a:r>
            <a:endParaRPr lang="en-US" sz="1050" dirty="0"/>
          </a:p>
        </p:txBody>
      </p:sp>
      <p:sp>
        <p:nvSpPr>
          <p:cNvPr id="3" name="Text 1"/>
          <p:cNvSpPr/>
          <p:nvPr/>
        </p:nvSpPr>
        <p:spPr>
          <a:xfrm>
            <a:off x="548640" y="658368"/>
            <a:ext cx="11064240" cy="658368"/>
          </a:xfrm>
          <a:prstGeom prst="rect">
            <a:avLst/>
          </a:prstGeom>
          <a:noFill/>
          <a:ln/>
        </p:spPr>
        <p:txBody>
          <a:bodyPr wrap="square" lIns="0" tIns="0" rIns="0" bIns="0" rtlCol="0" anchor="t"/>
          <a:lstStyle/>
          <a:p>
            <a:pPr indent="0" marL="0">
              <a:buNone/>
            </a:pPr>
            <a:r>
              <a:rPr lang="en-US" sz="3400" b="1" dirty="0">
                <a:solidFill>
                  <a:srgbClr val="141B3D"/>
                </a:solidFill>
                <a:latin typeface="Cambria" pitchFamily="34" charset="0"/>
                <a:ea typeface="Cambria" pitchFamily="34" charset="-122"/>
                <a:cs typeface="Cambria" pitchFamily="34" charset="-120"/>
              </a:rPr>
              <a:t>Stated plainly, with the mitigation for each</a:t>
            </a:r>
            <a:endParaRPr lang="en-US" sz="3400" dirty="0"/>
          </a:p>
        </p:txBody>
      </p:sp>
      <p:sp>
        <p:nvSpPr>
          <p:cNvPr id="4" name="Text 2"/>
          <p:cNvSpPr/>
          <p:nvPr/>
        </p:nvSpPr>
        <p:spPr>
          <a:xfrm>
            <a:off x="548640" y="1371600"/>
            <a:ext cx="10607040" cy="329184"/>
          </a:xfrm>
          <a:prstGeom prst="rect">
            <a:avLst/>
          </a:prstGeom>
          <a:noFill/>
          <a:ln/>
        </p:spPr>
        <p:txBody>
          <a:bodyPr wrap="square" lIns="0" tIns="0" rIns="0" bIns="0" rtlCol="0" anchor="ctr"/>
          <a:lstStyle/>
          <a:p>
            <a:pPr indent="0" marL="0">
              <a:buNone/>
            </a:pPr>
            <a:r>
              <a:rPr lang="en-US" sz="1350" dirty="0">
                <a:solidFill>
                  <a:srgbClr val="646E8C"/>
                </a:solidFill>
                <a:latin typeface="Calibri" pitchFamily="34" charset="0"/>
                <a:ea typeface="Calibri" pitchFamily="34" charset="-122"/>
                <a:cs typeface="Calibri" pitchFamily="34" charset="-120"/>
              </a:rPr>
              <a:t>The platform is presented as it actually is, including where it is not yet ready. The pilot exists so these limits are tested at small scale rather than discovered during a graded examination.</a:t>
            </a:r>
            <a:endParaRPr lang="en-US" sz="1350" dirty="0"/>
          </a:p>
        </p:txBody>
      </p:sp>
      <p:sp>
        <p:nvSpPr>
          <p:cNvPr id="5" name="Shape 3"/>
          <p:cNvSpPr/>
          <p:nvPr/>
        </p:nvSpPr>
        <p:spPr>
          <a:xfrm>
            <a:off x="548640" y="1956816"/>
            <a:ext cx="5440680" cy="1975104"/>
          </a:xfrm>
          <a:prstGeom prst="roundRect">
            <a:avLst>
              <a:gd name="adj" fmla="val 4167"/>
            </a:avLst>
          </a:prstGeom>
          <a:solidFill>
            <a:srgbClr val="FFFFFF"/>
          </a:solidFill>
          <a:ln w="9525">
            <a:solidFill>
              <a:srgbClr val="FFFFFF"/>
            </a:solidFill>
            <a:prstDash val="solid"/>
          </a:ln>
          <a:effectLst>
            <a:outerShdw sx="100000" sy="100000" kx="0" ky="0" algn="bl" rotWithShape="0" blurRad="177800" dist="38100" dir="5400000">
              <a:srgbClr val="1E2761">
                <a:alpha val="10000"/>
              </a:srgbClr>
            </a:outerShdw>
          </a:effectLst>
        </p:spPr>
      </p:sp>
      <p:sp>
        <p:nvSpPr>
          <p:cNvPr id="6" name="Shape 4"/>
          <p:cNvSpPr/>
          <p:nvPr/>
        </p:nvSpPr>
        <p:spPr>
          <a:xfrm>
            <a:off x="804672" y="2194560"/>
            <a:ext cx="475488" cy="475488"/>
          </a:xfrm>
          <a:prstGeom prst="ellipse">
            <a:avLst/>
          </a:prstGeom>
          <a:solidFill>
            <a:srgbClr val="1E2761"/>
          </a:solidFill>
          <a:ln w="12700">
            <a:solidFill>
              <a:srgbClr val="1E2761"/>
            </a:solidFill>
            <a:prstDash val="solid"/>
          </a:ln>
        </p:spPr>
      </p:sp>
      <p:pic>
        <p:nvPicPr>
          <p:cNvPr id="7" name="Image 0" descr="preencoded.png">    </p:cNvPr>
          <p:cNvPicPr>
            <a:picLocks noChangeAspect="1"/>
          </p:cNvPicPr>
          <p:nvPr/>
        </p:nvPicPr>
        <p:blipFill>
          <a:blip r:embed="rId1"/>
          <a:stretch>
            <a:fillRect/>
          </a:stretch>
        </p:blipFill>
        <p:spPr>
          <a:xfrm>
            <a:off x="942564" y="2332452"/>
            <a:ext cx="199705" cy="199705"/>
          </a:xfrm>
          <a:prstGeom prst="rect">
            <a:avLst/>
          </a:prstGeom>
        </p:spPr>
      </p:pic>
      <p:sp>
        <p:nvSpPr>
          <p:cNvPr id="8" name="Text 5"/>
          <p:cNvSpPr/>
          <p:nvPr/>
        </p:nvSpPr>
        <p:spPr>
          <a:xfrm>
            <a:off x="1408176" y="2176272"/>
            <a:ext cx="4343400" cy="512064"/>
          </a:xfrm>
          <a:prstGeom prst="rect">
            <a:avLst/>
          </a:prstGeom>
          <a:noFill/>
          <a:ln/>
        </p:spPr>
        <p:txBody>
          <a:bodyPr wrap="square" lIns="0" tIns="0" rIns="0" bIns="0" rtlCol="0" anchor="ctr"/>
          <a:lstStyle/>
          <a:p>
            <a:pPr indent="0" marL="0">
              <a:lnSpc>
                <a:spcPts val="1800"/>
              </a:lnSpc>
              <a:buNone/>
            </a:pPr>
            <a:r>
              <a:rPr lang="en-US" sz="1400" b="1" dirty="0">
                <a:solidFill>
                  <a:srgbClr val="141B3D"/>
                </a:solidFill>
                <a:latin typeface="Calibri" pitchFamily="34" charset="0"/>
                <a:ea typeface="Calibri" pitchFamily="34" charset="-122"/>
                <a:cs typeface="Calibri" pitchFamily="34" charset="-120"/>
              </a:rPr>
              <a:t>No isolation between running submissions</a:t>
            </a:r>
            <a:endParaRPr lang="en-US" sz="1400" dirty="0"/>
          </a:p>
        </p:txBody>
      </p:sp>
      <p:sp>
        <p:nvSpPr>
          <p:cNvPr id="9" name="Text 6"/>
          <p:cNvSpPr/>
          <p:nvPr/>
        </p:nvSpPr>
        <p:spPr>
          <a:xfrm>
            <a:off x="804672" y="2761488"/>
            <a:ext cx="4928616" cy="512064"/>
          </a:xfrm>
          <a:prstGeom prst="rect">
            <a:avLst/>
          </a:prstGeom>
          <a:noFill/>
          <a:ln/>
        </p:spPr>
        <p:txBody>
          <a:bodyPr wrap="square" lIns="0" tIns="0" rIns="0" bIns="0" rtlCol="0" anchor="t"/>
          <a:lstStyle/>
          <a:p>
            <a:pPr indent="0" marL="0">
              <a:lnSpc>
                <a:spcPts val="1400"/>
              </a:lnSpc>
              <a:buNone/>
            </a:pPr>
            <a:r>
              <a:rPr lang="en-US" sz="1100" dirty="0">
                <a:solidFill>
                  <a:srgbClr val="646E8C"/>
                </a:solidFill>
                <a:latin typeface="Calibri" pitchFamily="34" charset="0"/>
                <a:ea typeface="Calibri" pitchFamily="34" charset="-122"/>
                <a:cs typeface="Calibri" pitchFamily="34" charset="-120"/>
              </a:rPr>
              <a:t>Student code runs as an ordinary process in a shared container — one infinite loop can slow the session.</a:t>
            </a:r>
            <a:endParaRPr lang="en-US" sz="1100" dirty="0"/>
          </a:p>
        </p:txBody>
      </p:sp>
      <p:sp>
        <p:nvSpPr>
          <p:cNvPr id="10" name="Shape 7"/>
          <p:cNvSpPr/>
          <p:nvPr/>
        </p:nvSpPr>
        <p:spPr>
          <a:xfrm>
            <a:off x="804672" y="3273552"/>
            <a:ext cx="4928616" cy="530352"/>
          </a:xfrm>
          <a:prstGeom prst="roundRect">
            <a:avLst>
              <a:gd name="adj" fmla="val 12069"/>
            </a:avLst>
          </a:prstGeom>
          <a:solidFill>
            <a:srgbClr val="F4F6FC"/>
          </a:solidFill>
          <a:ln w="12700">
            <a:solidFill>
              <a:srgbClr val="333333"/>
            </a:solidFill>
            <a:prstDash val="solid"/>
          </a:ln>
        </p:spPr>
      </p:sp>
      <p:sp>
        <p:nvSpPr>
          <p:cNvPr id="11" name="Text 8"/>
          <p:cNvSpPr/>
          <p:nvPr/>
        </p:nvSpPr>
        <p:spPr>
          <a:xfrm>
            <a:off x="950976" y="3273552"/>
            <a:ext cx="4636008" cy="530352"/>
          </a:xfrm>
          <a:prstGeom prst="rect">
            <a:avLst/>
          </a:prstGeom>
          <a:noFill/>
          <a:ln/>
        </p:spPr>
        <p:txBody>
          <a:bodyPr wrap="square" lIns="0" tIns="0" rIns="0" bIns="0" rtlCol="0" anchor="ctr"/>
          <a:lstStyle/>
          <a:p>
            <a:pPr indent="0" marL="0">
              <a:lnSpc>
                <a:spcPts val="1350"/>
              </a:lnSpc>
              <a:buNone/>
            </a:pPr>
            <a:r>
              <a:rPr lang="en-US" sz="1050" b="1" dirty="0">
                <a:solidFill>
                  <a:srgbClr val="00C39A"/>
                </a:solidFill>
                <a:latin typeface="Calibri" pitchFamily="34" charset="0"/>
                <a:ea typeface="Calibri" pitchFamily="34" charset="-122"/>
                <a:cs typeface="Calibri" pitchFamily="34" charset="-120"/>
              </a:rPr>
              <a:t>Mitigation   </a:t>
            </a:r>
            <a:pPr indent="0" marL="0">
              <a:lnSpc>
                <a:spcPts val="1350"/>
              </a:lnSpc>
              <a:buNone/>
            </a:pPr>
            <a:r>
              <a:rPr lang="en-US" sz="1050" dirty="0">
                <a:solidFill>
                  <a:srgbClr val="1A1F36"/>
                </a:solidFill>
                <a:latin typeface="Calibri" pitchFamily="34" charset="0"/>
                <a:ea typeface="Calibri" pitchFamily="34" charset="-122"/>
                <a:cs typeface="Calibri" pitchFamily="34" charset="-120"/>
              </a:rPr>
              <a:t>Per-student CPU, memory and time limits are the first priority of this project (Phase P2).</a:t>
            </a:r>
            <a:endParaRPr lang="en-US" sz="1050" dirty="0"/>
          </a:p>
        </p:txBody>
      </p:sp>
      <p:sp>
        <p:nvSpPr>
          <p:cNvPr id="12" name="Shape 9"/>
          <p:cNvSpPr/>
          <p:nvPr/>
        </p:nvSpPr>
        <p:spPr>
          <a:xfrm>
            <a:off x="6199632" y="1956816"/>
            <a:ext cx="5440680" cy="1975104"/>
          </a:xfrm>
          <a:prstGeom prst="roundRect">
            <a:avLst>
              <a:gd name="adj" fmla="val 4167"/>
            </a:avLst>
          </a:prstGeom>
          <a:solidFill>
            <a:srgbClr val="FFFFFF"/>
          </a:solidFill>
          <a:ln w="9525">
            <a:solidFill>
              <a:srgbClr val="FFFFFF"/>
            </a:solidFill>
            <a:prstDash val="solid"/>
          </a:ln>
          <a:effectLst>
            <a:outerShdw sx="100000" sy="100000" kx="0" ky="0" algn="bl" rotWithShape="0" blurRad="177800" dist="38100" dir="5400000">
              <a:srgbClr val="1E2761">
                <a:alpha val="10000"/>
              </a:srgbClr>
            </a:outerShdw>
          </a:effectLst>
        </p:spPr>
      </p:sp>
      <p:sp>
        <p:nvSpPr>
          <p:cNvPr id="13" name="Shape 10"/>
          <p:cNvSpPr/>
          <p:nvPr/>
        </p:nvSpPr>
        <p:spPr>
          <a:xfrm>
            <a:off x="6455664" y="2194560"/>
            <a:ext cx="475488" cy="475488"/>
          </a:xfrm>
          <a:prstGeom prst="ellipse">
            <a:avLst/>
          </a:prstGeom>
          <a:solidFill>
            <a:srgbClr val="1E2761"/>
          </a:solidFill>
          <a:ln w="12700">
            <a:solidFill>
              <a:srgbClr val="1E2761"/>
            </a:solidFill>
            <a:prstDash val="solid"/>
          </a:ln>
        </p:spPr>
      </p:sp>
      <p:pic>
        <p:nvPicPr>
          <p:cNvPr id="14" name="Image 1" descr="preencoded.png">    </p:cNvPr>
          <p:cNvPicPr>
            <a:picLocks noChangeAspect="1"/>
          </p:cNvPicPr>
          <p:nvPr/>
        </p:nvPicPr>
        <p:blipFill>
          <a:blip r:embed="rId2"/>
          <a:stretch>
            <a:fillRect/>
          </a:stretch>
        </p:blipFill>
        <p:spPr>
          <a:xfrm>
            <a:off x="6593556" y="2332452"/>
            <a:ext cx="199705" cy="199705"/>
          </a:xfrm>
          <a:prstGeom prst="rect">
            <a:avLst/>
          </a:prstGeom>
        </p:spPr>
      </p:pic>
      <p:sp>
        <p:nvSpPr>
          <p:cNvPr id="15" name="Text 11"/>
          <p:cNvSpPr/>
          <p:nvPr/>
        </p:nvSpPr>
        <p:spPr>
          <a:xfrm>
            <a:off x="7059168" y="2176272"/>
            <a:ext cx="4343400" cy="512064"/>
          </a:xfrm>
          <a:prstGeom prst="rect">
            <a:avLst/>
          </a:prstGeom>
          <a:noFill/>
          <a:ln/>
        </p:spPr>
        <p:txBody>
          <a:bodyPr wrap="square" lIns="0" tIns="0" rIns="0" bIns="0" rtlCol="0" anchor="ctr"/>
          <a:lstStyle/>
          <a:p>
            <a:pPr indent="0" marL="0">
              <a:lnSpc>
                <a:spcPts val="1800"/>
              </a:lnSpc>
              <a:buNone/>
            </a:pPr>
            <a:r>
              <a:rPr lang="en-US" sz="1400" b="1" dirty="0">
                <a:solidFill>
                  <a:srgbClr val="141B3D"/>
                </a:solidFill>
                <a:latin typeface="Calibri" pitchFamily="34" charset="0"/>
                <a:ea typeface="Calibri" pitchFamily="34" charset="-122"/>
                <a:cs typeface="Calibri" pitchFamily="34" charset="-120"/>
              </a:rPr>
              <a:t>Concurrent load at department scale untested</a:t>
            </a:r>
            <a:endParaRPr lang="en-US" sz="1400" dirty="0"/>
          </a:p>
        </p:txBody>
      </p:sp>
      <p:sp>
        <p:nvSpPr>
          <p:cNvPr id="16" name="Text 12"/>
          <p:cNvSpPr/>
          <p:nvPr/>
        </p:nvSpPr>
        <p:spPr>
          <a:xfrm>
            <a:off x="6455664" y="2761488"/>
            <a:ext cx="4928616" cy="512064"/>
          </a:xfrm>
          <a:prstGeom prst="rect">
            <a:avLst/>
          </a:prstGeom>
          <a:noFill/>
          <a:ln/>
        </p:spPr>
        <p:txBody>
          <a:bodyPr wrap="square" lIns="0" tIns="0" rIns="0" bIns="0" rtlCol="0" anchor="t"/>
          <a:lstStyle/>
          <a:p>
            <a:pPr indent="0" marL="0">
              <a:lnSpc>
                <a:spcPts val="1400"/>
              </a:lnSpc>
              <a:buNone/>
            </a:pPr>
            <a:r>
              <a:rPr lang="en-US" sz="1100" dirty="0">
                <a:solidFill>
                  <a:srgbClr val="646E8C"/>
                </a:solidFill>
                <a:latin typeface="Calibri" pitchFamily="34" charset="0"/>
                <a:ea typeface="Calibri" pitchFamily="34" charset="-122"/>
                <a:cs typeface="Calibri" pitchFamily="34" charset="-120"/>
              </a:rPr>
              <a:t>Behaviour with 300 simultaneous compilations has not yet been measured.</a:t>
            </a:r>
            <a:endParaRPr lang="en-US" sz="1100" dirty="0"/>
          </a:p>
        </p:txBody>
      </p:sp>
      <p:sp>
        <p:nvSpPr>
          <p:cNvPr id="17" name="Shape 13"/>
          <p:cNvSpPr/>
          <p:nvPr/>
        </p:nvSpPr>
        <p:spPr>
          <a:xfrm>
            <a:off x="6455664" y="3273552"/>
            <a:ext cx="4928616" cy="530352"/>
          </a:xfrm>
          <a:prstGeom prst="roundRect">
            <a:avLst>
              <a:gd name="adj" fmla="val 12069"/>
            </a:avLst>
          </a:prstGeom>
          <a:solidFill>
            <a:srgbClr val="F4F6FC"/>
          </a:solidFill>
          <a:ln w="12700">
            <a:solidFill>
              <a:srgbClr val="333333"/>
            </a:solidFill>
            <a:prstDash val="solid"/>
          </a:ln>
        </p:spPr>
      </p:sp>
      <p:sp>
        <p:nvSpPr>
          <p:cNvPr id="18" name="Text 14"/>
          <p:cNvSpPr/>
          <p:nvPr/>
        </p:nvSpPr>
        <p:spPr>
          <a:xfrm>
            <a:off x="6601968" y="3273552"/>
            <a:ext cx="4636008" cy="530352"/>
          </a:xfrm>
          <a:prstGeom prst="rect">
            <a:avLst/>
          </a:prstGeom>
          <a:noFill/>
          <a:ln/>
        </p:spPr>
        <p:txBody>
          <a:bodyPr wrap="square" lIns="0" tIns="0" rIns="0" bIns="0" rtlCol="0" anchor="ctr"/>
          <a:lstStyle/>
          <a:p>
            <a:pPr indent="0" marL="0">
              <a:lnSpc>
                <a:spcPts val="1350"/>
              </a:lnSpc>
              <a:buNone/>
            </a:pPr>
            <a:r>
              <a:rPr lang="en-US" sz="1050" b="1" dirty="0">
                <a:solidFill>
                  <a:srgbClr val="00C39A"/>
                </a:solidFill>
                <a:latin typeface="Calibri" pitchFamily="34" charset="0"/>
                <a:ea typeface="Calibri" pitchFamily="34" charset="-122"/>
                <a:cs typeface="Calibri" pitchFamily="34" charset="-120"/>
              </a:rPr>
              <a:t>Mitigation   </a:t>
            </a:r>
            <a:pPr indent="0" marL="0">
              <a:lnSpc>
                <a:spcPts val="1350"/>
              </a:lnSpc>
              <a:buNone/>
            </a:pPr>
            <a:r>
              <a:rPr lang="en-US" sz="1050" dirty="0">
                <a:solidFill>
                  <a:srgbClr val="1A1F36"/>
                </a:solidFill>
                <a:latin typeface="Calibri" pitchFamily="34" charset="0"/>
                <a:ea typeface="Calibri" pitchFamily="34" charset="-122"/>
                <a:cs typeface="Calibri" pitchFamily="34" charset="-120"/>
              </a:rPr>
              <a:t>Load testing at 60 and 300 concurrent compilations in Phase P4, before any wider commitment.</a:t>
            </a:r>
            <a:endParaRPr lang="en-US" sz="1050" dirty="0"/>
          </a:p>
        </p:txBody>
      </p:sp>
      <p:sp>
        <p:nvSpPr>
          <p:cNvPr id="19" name="Shape 15"/>
          <p:cNvSpPr/>
          <p:nvPr/>
        </p:nvSpPr>
        <p:spPr>
          <a:xfrm>
            <a:off x="548640" y="4187952"/>
            <a:ext cx="5440680" cy="1975104"/>
          </a:xfrm>
          <a:prstGeom prst="roundRect">
            <a:avLst>
              <a:gd name="adj" fmla="val 4167"/>
            </a:avLst>
          </a:prstGeom>
          <a:solidFill>
            <a:srgbClr val="FFFFFF"/>
          </a:solidFill>
          <a:ln w="9525">
            <a:solidFill>
              <a:srgbClr val="FFFFFF"/>
            </a:solidFill>
            <a:prstDash val="solid"/>
          </a:ln>
          <a:effectLst>
            <a:outerShdw sx="100000" sy="100000" kx="0" ky="0" algn="bl" rotWithShape="0" blurRad="177800" dist="38100" dir="5400000">
              <a:srgbClr val="1E2761">
                <a:alpha val="10000"/>
              </a:srgbClr>
            </a:outerShdw>
          </a:effectLst>
        </p:spPr>
      </p:sp>
      <p:sp>
        <p:nvSpPr>
          <p:cNvPr id="20" name="Shape 16"/>
          <p:cNvSpPr/>
          <p:nvPr/>
        </p:nvSpPr>
        <p:spPr>
          <a:xfrm>
            <a:off x="804672" y="4425696"/>
            <a:ext cx="475488" cy="475488"/>
          </a:xfrm>
          <a:prstGeom prst="ellipse">
            <a:avLst/>
          </a:prstGeom>
          <a:solidFill>
            <a:srgbClr val="1E2761"/>
          </a:solidFill>
          <a:ln w="12700">
            <a:solidFill>
              <a:srgbClr val="1E2761"/>
            </a:solidFill>
            <a:prstDash val="solid"/>
          </a:ln>
        </p:spPr>
      </p:sp>
      <p:pic>
        <p:nvPicPr>
          <p:cNvPr id="21" name="Image 2" descr="preencoded.png">    </p:cNvPr>
          <p:cNvPicPr>
            <a:picLocks noChangeAspect="1"/>
          </p:cNvPicPr>
          <p:nvPr/>
        </p:nvPicPr>
        <p:blipFill>
          <a:blip r:embed="rId3"/>
          <a:stretch>
            <a:fillRect/>
          </a:stretch>
        </p:blipFill>
        <p:spPr>
          <a:xfrm>
            <a:off x="942564" y="4563588"/>
            <a:ext cx="199705" cy="199705"/>
          </a:xfrm>
          <a:prstGeom prst="rect">
            <a:avLst/>
          </a:prstGeom>
        </p:spPr>
      </p:pic>
      <p:sp>
        <p:nvSpPr>
          <p:cNvPr id="22" name="Text 17"/>
          <p:cNvSpPr/>
          <p:nvPr/>
        </p:nvSpPr>
        <p:spPr>
          <a:xfrm>
            <a:off x="1408176" y="4407408"/>
            <a:ext cx="4343400" cy="512064"/>
          </a:xfrm>
          <a:prstGeom prst="rect">
            <a:avLst/>
          </a:prstGeom>
          <a:noFill/>
          <a:ln/>
        </p:spPr>
        <p:txBody>
          <a:bodyPr wrap="square" lIns="0" tIns="0" rIns="0" bIns="0" rtlCol="0" anchor="ctr"/>
          <a:lstStyle/>
          <a:p>
            <a:pPr indent="0" marL="0">
              <a:lnSpc>
                <a:spcPts val="1800"/>
              </a:lnSpc>
              <a:buNone/>
            </a:pPr>
            <a:r>
              <a:rPr lang="en-US" sz="1400" b="1" dirty="0">
                <a:solidFill>
                  <a:srgbClr val="141B3D"/>
                </a:solidFill>
                <a:latin typeface="Calibri" pitchFamily="34" charset="0"/>
                <a:ea typeface="Calibri" pitchFamily="34" charset="-122"/>
                <a:cs typeface="Calibri" pitchFamily="34" charset="-120"/>
              </a:rPr>
              <a:t>Anti-cheat is browser-level only</a:t>
            </a:r>
            <a:endParaRPr lang="en-US" sz="1400" dirty="0"/>
          </a:p>
        </p:txBody>
      </p:sp>
      <p:sp>
        <p:nvSpPr>
          <p:cNvPr id="23" name="Text 18"/>
          <p:cNvSpPr/>
          <p:nvPr/>
        </p:nvSpPr>
        <p:spPr>
          <a:xfrm>
            <a:off x="804672" y="4992624"/>
            <a:ext cx="4928616" cy="512064"/>
          </a:xfrm>
          <a:prstGeom prst="rect">
            <a:avLst/>
          </a:prstGeom>
          <a:noFill/>
          <a:ln/>
        </p:spPr>
        <p:txBody>
          <a:bodyPr wrap="square" lIns="0" tIns="0" rIns="0" bIns="0" rtlCol="0" anchor="t"/>
          <a:lstStyle/>
          <a:p>
            <a:pPr indent="0" marL="0">
              <a:lnSpc>
                <a:spcPts val="1400"/>
              </a:lnSpc>
              <a:buNone/>
            </a:pPr>
            <a:r>
              <a:rPr lang="en-US" sz="1100" dirty="0">
                <a:solidFill>
                  <a:srgbClr val="646E8C"/>
                </a:solidFill>
                <a:latin typeface="Calibri" pitchFamily="34" charset="0"/>
                <a:ea typeface="Calibri" pitchFamily="34" charset="-122"/>
                <a:cs typeface="Calibri" pitchFamily="34" charset="-120"/>
              </a:rPr>
              <a:t>Copy, paste and shortcuts are blocked, but a determined student can use a second device.</a:t>
            </a:r>
            <a:endParaRPr lang="en-US" sz="1100" dirty="0"/>
          </a:p>
        </p:txBody>
      </p:sp>
      <p:sp>
        <p:nvSpPr>
          <p:cNvPr id="24" name="Shape 19"/>
          <p:cNvSpPr/>
          <p:nvPr/>
        </p:nvSpPr>
        <p:spPr>
          <a:xfrm>
            <a:off x="804672" y="5504688"/>
            <a:ext cx="4928616" cy="530352"/>
          </a:xfrm>
          <a:prstGeom prst="roundRect">
            <a:avLst>
              <a:gd name="adj" fmla="val 12069"/>
            </a:avLst>
          </a:prstGeom>
          <a:solidFill>
            <a:srgbClr val="F4F6FC"/>
          </a:solidFill>
          <a:ln w="12700">
            <a:solidFill>
              <a:srgbClr val="333333"/>
            </a:solidFill>
            <a:prstDash val="solid"/>
          </a:ln>
        </p:spPr>
      </p:sp>
      <p:sp>
        <p:nvSpPr>
          <p:cNvPr id="25" name="Text 20"/>
          <p:cNvSpPr/>
          <p:nvPr/>
        </p:nvSpPr>
        <p:spPr>
          <a:xfrm>
            <a:off x="950976" y="5504688"/>
            <a:ext cx="4636008" cy="530352"/>
          </a:xfrm>
          <a:prstGeom prst="rect">
            <a:avLst/>
          </a:prstGeom>
          <a:noFill/>
          <a:ln/>
        </p:spPr>
        <p:txBody>
          <a:bodyPr wrap="square" lIns="0" tIns="0" rIns="0" bIns="0" rtlCol="0" anchor="ctr"/>
          <a:lstStyle/>
          <a:p>
            <a:pPr indent="0" marL="0">
              <a:lnSpc>
                <a:spcPts val="1350"/>
              </a:lnSpc>
              <a:buNone/>
            </a:pPr>
            <a:r>
              <a:rPr lang="en-US" sz="1050" b="1" dirty="0">
                <a:solidFill>
                  <a:srgbClr val="00C39A"/>
                </a:solidFill>
                <a:latin typeface="Calibri" pitchFamily="34" charset="0"/>
                <a:ea typeface="Calibri" pitchFamily="34" charset="-122"/>
                <a:cs typeface="Calibri" pitchFamily="34" charset="-120"/>
              </a:rPr>
              <a:t>Mitigation   </a:t>
            </a:r>
            <a:pPr indent="0" marL="0">
              <a:lnSpc>
                <a:spcPts val="1350"/>
              </a:lnSpc>
              <a:buNone/>
            </a:pPr>
            <a:r>
              <a:rPr lang="en-US" sz="1050" dirty="0">
                <a:solidFill>
                  <a:srgbClr val="1A1F36"/>
                </a:solidFill>
                <a:latin typeface="Calibri" pitchFamily="34" charset="0"/>
                <a:ea typeface="Calibri" pitchFamily="34" charset="-122"/>
                <a:cs typeface="Calibri" pitchFamily="34" charset="-120"/>
              </a:rPr>
              <a:t>The platform supplements invigilation; fullscreen-exit counts are recorded and flagged to the lecturer.</a:t>
            </a:r>
            <a:endParaRPr lang="en-US" sz="1050" dirty="0"/>
          </a:p>
        </p:txBody>
      </p:sp>
      <p:sp>
        <p:nvSpPr>
          <p:cNvPr id="26" name="Shape 21"/>
          <p:cNvSpPr/>
          <p:nvPr/>
        </p:nvSpPr>
        <p:spPr>
          <a:xfrm>
            <a:off x="6199632" y="4187952"/>
            <a:ext cx="5440680" cy="1975104"/>
          </a:xfrm>
          <a:prstGeom prst="roundRect">
            <a:avLst>
              <a:gd name="adj" fmla="val 4167"/>
            </a:avLst>
          </a:prstGeom>
          <a:solidFill>
            <a:srgbClr val="FFFFFF"/>
          </a:solidFill>
          <a:ln w="9525">
            <a:solidFill>
              <a:srgbClr val="FFFFFF"/>
            </a:solidFill>
            <a:prstDash val="solid"/>
          </a:ln>
          <a:effectLst>
            <a:outerShdw sx="100000" sy="100000" kx="0" ky="0" algn="bl" rotWithShape="0" blurRad="177800" dist="38100" dir="5400000">
              <a:srgbClr val="1E2761">
                <a:alpha val="10000"/>
              </a:srgbClr>
            </a:outerShdw>
          </a:effectLst>
        </p:spPr>
      </p:sp>
      <p:sp>
        <p:nvSpPr>
          <p:cNvPr id="27" name="Shape 22"/>
          <p:cNvSpPr/>
          <p:nvPr/>
        </p:nvSpPr>
        <p:spPr>
          <a:xfrm>
            <a:off x="6455664" y="4425696"/>
            <a:ext cx="475488" cy="475488"/>
          </a:xfrm>
          <a:prstGeom prst="ellipse">
            <a:avLst/>
          </a:prstGeom>
          <a:solidFill>
            <a:srgbClr val="1E2761"/>
          </a:solidFill>
          <a:ln w="12700">
            <a:solidFill>
              <a:srgbClr val="1E2761"/>
            </a:solidFill>
            <a:prstDash val="solid"/>
          </a:ln>
        </p:spPr>
      </p:sp>
      <p:pic>
        <p:nvPicPr>
          <p:cNvPr id="28" name="Image 3" descr="preencoded.png">    </p:cNvPr>
          <p:cNvPicPr>
            <a:picLocks noChangeAspect="1"/>
          </p:cNvPicPr>
          <p:nvPr/>
        </p:nvPicPr>
        <p:blipFill>
          <a:blip r:embed="rId4"/>
          <a:stretch>
            <a:fillRect/>
          </a:stretch>
        </p:blipFill>
        <p:spPr>
          <a:xfrm>
            <a:off x="6593556" y="4563588"/>
            <a:ext cx="199705" cy="199705"/>
          </a:xfrm>
          <a:prstGeom prst="rect">
            <a:avLst/>
          </a:prstGeom>
        </p:spPr>
      </p:pic>
      <p:sp>
        <p:nvSpPr>
          <p:cNvPr id="29" name="Text 23"/>
          <p:cNvSpPr/>
          <p:nvPr/>
        </p:nvSpPr>
        <p:spPr>
          <a:xfrm>
            <a:off x="7059168" y="4407408"/>
            <a:ext cx="4343400" cy="512064"/>
          </a:xfrm>
          <a:prstGeom prst="rect">
            <a:avLst/>
          </a:prstGeom>
          <a:noFill/>
          <a:ln/>
        </p:spPr>
        <p:txBody>
          <a:bodyPr wrap="square" lIns="0" tIns="0" rIns="0" bIns="0" rtlCol="0" anchor="ctr"/>
          <a:lstStyle/>
          <a:p>
            <a:pPr indent="0" marL="0">
              <a:lnSpc>
                <a:spcPts val="1800"/>
              </a:lnSpc>
              <a:buNone/>
            </a:pPr>
            <a:r>
              <a:rPr lang="en-US" sz="1400" b="1" dirty="0">
                <a:solidFill>
                  <a:srgbClr val="141B3D"/>
                </a:solidFill>
                <a:latin typeface="Calibri" pitchFamily="34" charset="0"/>
                <a:ea typeface="Calibri" pitchFamily="34" charset="-122"/>
                <a:cs typeface="Calibri" pitchFamily="34" charset="-120"/>
              </a:rPr>
              <a:t>Single-maintainer dependency</a:t>
            </a:r>
            <a:endParaRPr lang="en-US" sz="1400" dirty="0"/>
          </a:p>
        </p:txBody>
      </p:sp>
      <p:sp>
        <p:nvSpPr>
          <p:cNvPr id="30" name="Text 24"/>
          <p:cNvSpPr/>
          <p:nvPr/>
        </p:nvSpPr>
        <p:spPr>
          <a:xfrm>
            <a:off x="6455664" y="4992624"/>
            <a:ext cx="4928616" cy="512064"/>
          </a:xfrm>
          <a:prstGeom prst="rect">
            <a:avLst/>
          </a:prstGeom>
          <a:noFill/>
          <a:ln/>
        </p:spPr>
        <p:txBody>
          <a:bodyPr wrap="square" lIns="0" tIns="0" rIns="0" bIns="0" rtlCol="0" anchor="t"/>
          <a:lstStyle/>
          <a:p>
            <a:pPr indent="0" marL="0">
              <a:lnSpc>
                <a:spcPts val="1400"/>
              </a:lnSpc>
              <a:buNone/>
            </a:pPr>
            <a:r>
              <a:rPr lang="en-US" sz="1100" dirty="0">
                <a:solidFill>
                  <a:srgbClr val="646E8C"/>
                </a:solidFill>
                <a:latin typeface="Calibri" pitchFamily="34" charset="0"/>
                <a:ea typeface="Calibri" pitchFamily="34" charset="-122"/>
                <a:cs typeface="Calibri" pitchFamily="34" charset="-120"/>
              </a:rPr>
              <a:t>The platform currently has one developer, who will eventually graduate.</a:t>
            </a:r>
            <a:endParaRPr lang="en-US" sz="1100" dirty="0"/>
          </a:p>
        </p:txBody>
      </p:sp>
      <p:sp>
        <p:nvSpPr>
          <p:cNvPr id="31" name="Shape 25"/>
          <p:cNvSpPr/>
          <p:nvPr/>
        </p:nvSpPr>
        <p:spPr>
          <a:xfrm>
            <a:off x="6455664" y="5504688"/>
            <a:ext cx="4928616" cy="530352"/>
          </a:xfrm>
          <a:prstGeom prst="roundRect">
            <a:avLst>
              <a:gd name="adj" fmla="val 12069"/>
            </a:avLst>
          </a:prstGeom>
          <a:solidFill>
            <a:srgbClr val="F4F6FC"/>
          </a:solidFill>
          <a:ln w="12700">
            <a:solidFill>
              <a:srgbClr val="333333"/>
            </a:solidFill>
            <a:prstDash val="solid"/>
          </a:ln>
        </p:spPr>
      </p:sp>
      <p:sp>
        <p:nvSpPr>
          <p:cNvPr id="32" name="Text 26"/>
          <p:cNvSpPr/>
          <p:nvPr/>
        </p:nvSpPr>
        <p:spPr>
          <a:xfrm>
            <a:off x="6601968" y="5504688"/>
            <a:ext cx="4636008" cy="530352"/>
          </a:xfrm>
          <a:prstGeom prst="rect">
            <a:avLst/>
          </a:prstGeom>
          <a:noFill/>
          <a:ln/>
        </p:spPr>
        <p:txBody>
          <a:bodyPr wrap="square" lIns="0" tIns="0" rIns="0" bIns="0" rtlCol="0" anchor="ctr"/>
          <a:lstStyle/>
          <a:p>
            <a:pPr indent="0" marL="0">
              <a:lnSpc>
                <a:spcPts val="1350"/>
              </a:lnSpc>
              <a:buNone/>
            </a:pPr>
            <a:r>
              <a:rPr lang="en-US" sz="1050" b="1" dirty="0">
                <a:solidFill>
                  <a:srgbClr val="00C39A"/>
                </a:solidFill>
                <a:latin typeface="Calibri" pitchFamily="34" charset="0"/>
                <a:ea typeface="Calibri" pitchFamily="34" charset="-122"/>
                <a:cs typeface="Calibri" pitchFamily="34" charset="-120"/>
              </a:rPr>
              <a:t>Mitigation   </a:t>
            </a:r>
            <a:pPr indent="0" marL="0">
              <a:lnSpc>
                <a:spcPts val="1350"/>
              </a:lnSpc>
              <a:buNone/>
            </a:pPr>
            <a:r>
              <a:rPr lang="en-US" sz="1050" dirty="0">
                <a:solidFill>
                  <a:srgbClr val="1A1F36"/>
                </a:solidFill>
                <a:latin typeface="Calibri" pitchFamily="34" charset="0"/>
                <a:ea typeface="Calibri" pitchFamily="34" charset="-122"/>
                <a:cs typeface="Calibri" pitchFamily="34" charset="-120"/>
              </a:rPr>
              <a:t>Source code, schema and deployment documentation are handed to the Department in Phase P5.</a:t>
            </a:r>
            <a:endParaRPr lang="en-US" sz="1050" dirty="0"/>
          </a:p>
        </p:txBody>
      </p:sp>
    </p:spTree>
  </p:cSld>
  <p:clrMapOvr>
    <a:masterClrMapping/>
  </p:clrMapOvr>
  <mc:AlternateContent xmlns:mc="http://schemas.openxmlformats.org/markup-compatibility/2006">
    <mc:Choice xmlns:p14="http://schemas.microsoft.com/office/powerpoint/2010/main" Requires="p14">
      <p:transition spd="slow" p14:dur="65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
                                        </p:tgtEl>
                                        <p:attrNameLst>
                                          <p:attrName>style.visibility</p:attrName>
                                        </p:attrNameLst>
                                      </p:cBhvr>
                                      <p:to>
                                        <p:strVal val="visible"/>
                                      </p:to>
                                    </p:set>
                                    <p:animEffect transition="in" filter="fade">
                                      <p:cBhvr>
                                        <p:cTn id="7" dur="380"/>
                                        <p:tgtEl>
                                          <p:spTgt spid="1"/>
                                        </p:tgtEl>
                                      </p:cBhvr>
                                    </p:animEffect>
                                    <p:anim calcmode="lin" valueType="num">
                                      <p:cBhvr additive="base">
                                        <p:cTn id="8" dur="380" fill="hold"/>
                                        <p:tgtEl>
                                          <p:spTgt spid="1"/>
                                        </p:tgtEl>
                                        <p:attrNameLst>
                                          <p:attrName>ppt_y</p:attrName>
                                        </p:attrNameLst>
                                      </p:cBhvr>
                                      <p:tavLst>
                                        <p:tav tm="0">
                                          <p:val>
                                            <p:strVal val="#ppt_y+0.03"/>
                                          </p:val>
                                        </p:tav>
                                        <p:tav tm="100000">
                                          <p:val>
                                            <p:strVal val="#ppt_y"/>
                                          </p:val>
                                        </p:tav>
                                      </p:tavLst>
                                    </p:anim>
                                  </p:childTnLst>
                                </p:cTn>
                              </p:par>
                              <p:par>
                                <p:cTn id="9" presetID="42" presetClass="entr" presetSubtype="0" fill="hold" grpId="0" nodeType="afterEffect">
                                  <p:stCondLst>
                                    <p:cond delay="56"/>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380"/>
                                        <p:tgtEl>
                                          <p:spTgt spid="2"/>
                                        </p:tgtEl>
                                      </p:cBhvr>
                                    </p:animEffect>
                                    <p:anim calcmode="lin" valueType="num">
                                      <p:cBhvr additive="base">
                                        <p:cTn id="12" dur="380" fill="hold"/>
                                        <p:tgtEl>
                                          <p:spTgt spid="2"/>
                                        </p:tgtEl>
                                        <p:attrNameLst>
                                          <p:attrName>ppt_y</p:attrName>
                                        </p:attrNameLst>
                                      </p:cBhvr>
                                      <p:tavLst>
                                        <p:tav tm="0">
                                          <p:val>
                                            <p:strVal val="#ppt_y+0.03"/>
                                          </p:val>
                                        </p:tav>
                                        <p:tav tm="100000">
                                          <p:val>
                                            <p:strVal val="#ppt_y"/>
                                          </p:val>
                                        </p:tav>
                                      </p:tavLst>
                                    </p:anim>
                                  </p:childTnLst>
                                </p:cTn>
                              </p:par>
                              <p:par>
                                <p:cTn id="13" presetID="42" presetClass="entr" presetSubtype="0" fill="hold" grpId="0" nodeType="afterEffect">
                                  <p:stCondLst>
                                    <p:cond delay="112"/>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380"/>
                                        <p:tgtEl>
                                          <p:spTgt spid="3"/>
                                        </p:tgtEl>
                                      </p:cBhvr>
                                    </p:animEffect>
                                    <p:anim calcmode="lin" valueType="num">
                                      <p:cBhvr additive="base">
                                        <p:cTn id="16" dur="380" fill="hold"/>
                                        <p:tgtEl>
                                          <p:spTgt spid="3"/>
                                        </p:tgtEl>
                                        <p:attrNameLst>
                                          <p:attrName>ppt_y</p:attrName>
                                        </p:attrNameLst>
                                      </p:cBhvr>
                                      <p:tavLst>
                                        <p:tav tm="0">
                                          <p:val>
                                            <p:strVal val="#ppt_y+0.03"/>
                                          </p:val>
                                        </p:tav>
                                        <p:tav tm="100000">
                                          <p:val>
                                            <p:strVal val="#ppt_y"/>
                                          </p:val>
                                        </p:tav>
                                      </p:tavLst>
                                    </p:anim>
                                  </p:childTnLst>
                                </p:cTn>
                              </p:par>
                              <p:par>
                                <p:cTn id="17" presetID="42" presetClass="entr" presetSubtype="0" fill="hold" grpId="0" nodeType="afterEffect">
                                  <p:stCondLst>
                                    <p:cond delay="168"/>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380"/>
                                        <p:tgtEl>
                                          <p:spTgt spid="4"/>
                                        </p:tgtEl>
                                      </p:cBhvr>
                                    </p:animEffect>
                                    <p:anim calcmode="lin" valueType="num">
                                      <p:cBhvr additive="base">
                                        <p:cTn id="20" dur="380" fill="hold"/>
                                        <p:tgtEl>
                                          <p:spTgt spid="4"/>
                                        </p:tgtEl>
                                        <p:attrNameLst>
                                          <p:attrName>ppt_y</p:attrName>
                                        </p:attrNameLst>
                                      </p:cBhvr>
                                      <p:tavLst>
                                        <p:tav tm="0">
                                          <p:val>
                                            <p:strVal val="#ppt_y+0.03"/>
                                          </p:val>
                                        </p:tav>
                                        <p:tav tm="100000">
                                          <p:val>
                                            <p:strVal val="#ppt_y"/>
                                          </p:val>
                                        </p:tav>
                                      </p:tavLst>
                                    </p:anim>
                                  </p:childTnLst>
                                </p:cTn>
                              </p:par>
                              <p:par>
                                <p:cTn id="21" presetID="42" presetClass="entr" presetSubtype="0" fill="hold" grpId="0" nodeType="afterEffect">
                                  <p:stCondLst>
                                    <p:cond delay="224"/>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380"/>
                                        <p:tgtEl>
                                          <p:spTgt spid="5"/>
                                        </p:tgtEl>
                                      </p:cBhvr>
                                    </p:animEffect>
                                    <p:anim calcmode="lin" valueType="num">
                                      <p:cBhvr additive="base">
                                        <p:cTn id="24" dur="380" fill="hold"/>
                                        <p:tgtEl>
                                          <p:spTgt spid="5"/>
                                        </p:tgtEl>
                                        <p:attrNameLst>
                                          <p:attrName>ppt_y</p:attrName>
                                        </p:attrNameLst>
                                      </p:cBhvr>
                                      <p:tavLst>
                                        <p:tav tm="0">
                                          <p:val>
                                            <p:strVal val="#ppt_y+0.03"/>
                                          </p:val>
                                        </p:tav>
                                        <p:tav tm="100000">
                                          <p:val>
                                            <p:strVal val="#ppt_y"/>
                                          </p:val>
                                        </p:tav>
                                      </p:tavLst>
                                    </p:anim>
                                  </p:childTnLst>
                                </p:cTn>
                              </p:par>
                              <p:par>
                                <p:cTn id="25" presetID="42" presetClass="entr" presetSubtype="0" fill="hold" grpId="0" nodeType="afterEffect">
                                  <p:stCondLst>
                                    <p:cond delay="28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380"/>
                                        <p:tgtEl>
                                          <p:spTgt spid="6"/>
                                        </p:tgtEl>
                                      </p:cBhvr>
                                    </p:animEffect>
                                    <p:anim calcmode="lin" valueType="num">
                                      <p:cBhvr additive="base">
                                        <p:cTn id="28" dur="380" fill="hold"/>
                                        <p:tgtEl>
                                          <p:spTgt spid="6"/>
                                        </p:tgtEl>
                                        <p:attrNameLst>
                                          <p:attrName>ppt_y</p:attrName>
                                        </p:attrNameLst>
                                      </p:cBhvr>
                                      <p:tavLst>
                                        <p:tav tm="0">
                                          <p:val>
                                            <p:strVal val="#ppt_y+0.03"/>
                                          </p:val>
                                        </p:tav>
                                        <p:tav tm="100000">
                                          <p:val>
                                            <p:strVal val="#ppt_y"/>
                                          </p:val>
                                        </p:tav>
                                      </p:tavLst>
                                    </p:anim>
                                  </p:childTnLst>
                                </p:cTn>
                              </p:par>
                              <p:par>
                                <p:cTn id="29" presetID="42" presetClass="entr" presetSubtype="0" fill="hold" grpId="0" nodeType="afterEffect">
                                  <p:stCondLst>
                                    <p:cond delay="336"/>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380"/>
                                        <p:tgtEl>
                                          <p:spTgt spid="7"/>
                                        </p:tgtEl>
                                      </p:cBhvr>
                                    </p:animEffect>
                                    <p:anim calcmode="lin" valueType="num">
                                      <p:cBhvr additive="base">
                                        <p:cTn id="32" dur="380" fill="hold"/>
                                        <p:tgtEl>
                                          <p:spTgt spid="7"/>
                                        </p:tgtEl>
                                        <p:attrNameLst>
                                          <p:attrName>ppt_y</p:attrName>
                                        </p:attrNameLst>
                                      </p:cBhvr>
                                      <p:tavLst>
                                        <p:tav tm="0">
                                          <p:val>
                                            <p:strVal val="#ppt_y+0.03"/>
                                          </p:val>
                                        </p:tav>
                                        <p:tav tm="100000">
                                          <p:val>
                                            <p:strVal val="#ppt_y"/>
                                          </p:val>
                                        </p:tav>
                                      </p:tavLst>
                                    </p:anim>
                                  </p:childTnLst>
                                </p:cTn>
                              </p:par>
                              <p:par>
                                <p:cTn id="33" presetID="42" presetClass="entr" presetSubtype="0" fill="hold" grpId="0" nodeType="afterEffect">
                                  <p:stCondLst>
                                    <p:cond delay="392"/>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380"/>
                                        <p:tgtEl>
                                          <p:spTgt spid="8"/>
                                        </p:tgtEl>
                                      </p:cBhvr>
                                    </p:animEffect>
                                    <p:anim calcmode="lin" valueType="num">
                                      <p:cBhvr additive="base">
                                        <p:cTn id="36" dur="380" fill="hold"/>
                                        <p:tgtEl>
                                          <p:spTgt spid="8"/>
                                        </p:tgtEl>
                                        <p:attrNameLst>
                                          <p:attrName>ppt_y</p:attrName>
                                        </p:attrNameLst>
                                      </p:cBhvr>
                                      <p:tavLst>
                                        <p:tav tm="0">
                                          <p:val>
                                            <p:strVal val="#ppt_y+0.03"/>
                                          </p:val>
                                        </p:tav>
                                        <p:tav tm="100000">
                                          <p:val>
                                            <p:strVal val="#ppt_y"/>
                                          </p:val>
                                        </p:tav>
                                      </p:tavLst>
                                    </p:anim>
                                  </p:childTnLst>
                                </p:cTn>
                              </p:par>
                              <p:par>
                                <p:cTn id="37" presetID="42" presetClass="entr" presetSubtype="0" fill="hold" grpId="0" nodeType="afterEffect">
                                  <p:stCondLst>
                                    <p:cond delay="448"/>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380"/>
                                        <p:tgtEl>
                                          <p:spTgt spid="9"/>
                                        </p:tgtEl>
                                      </p:cBhvr>
                                    </p:animEffect>
                                    <p:anim calcmode="lin" valueType="num">
                                      <p:cBhvr additive="base">
                                        <p:cTn id="40" dur="380" fill="hold"/>
                                        <p:tgtEl>
                                          <p:spTgt spid="9"/>
                                        </p:tgtEl>
                                        <p:attrNameLst>
                                          <p:attrName>ppt_y</p:attrName>
                                        </p:attrNameLst>
                                      </p:cBhvr>
                                      <p:tavLst>
                                        <p:tav tm="0">
                                          <p:val>
                                            <p:strVal val="#ppt_y+0.03"/>
                                          </p:val>
                                        </p:tav>
                                        <p:tav tm="100000">
                                          <p:val>
                                            <p:strVal val="#ppt_y"/>
                                          </p:val>
                                        </p:tav>
                                      </p:tavLst>
                                    </p:anim>
                                  </p:childTnLst>
                                </p:cTn>
                              </p:par>
                              <p:par>
                                <p:cTn id="41" presetID="42" presetClass="entr" presetSubtype="0" fill="hold" grpId="0" nodeType="afterEffect">
                                  <p:stCondLst>
                                    <p:cond delay="504"/>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380"/>
                                        <p:tgtEl>
                                          <p:spTgt spid="10"/>
                                        </p:tgtEl>
                                      </p:cBhvr>
                                    </p:animEffect>
                                    <p:anim calcmode="lin" valueType="num">
                                      <p:cBhvr additive="base">
                                        <p:cTn id="44" dur="380" fill="hold"/>
                                        <p:tgtEl>
                                          <p:spTgt spid="10"/>
                                        </p:tgtEl>
                                        <p:attrNameLst>
                                          <p:attrName>ppt_y</p:attrName>
                                        </p:attrNameLst>
                                      </p:cBhvr>
                                      <p:tavLst>
                                        <p:tav tm="0">
                                          <p:val>
                                            <p:strVal val="#ppt_y+0.03"/>
                                          </p:val>
                                        </p:tav>
                                        <p:tav tm="100000">
                                          <p:val>
                                            <p:strVal val="#ppt_y"/>
                                          </p:val>
                                        </p:tav>
                                      </p:tavLst>
                                    </p:anim>
                                  </p:childTnLst>
                                </p:cTn>
                              </p:par>
                              <p:par>
                                <p:cTn id="45" presetID="42" presetClass="entr" presetSubtype="0" fill="hold" grpId="0" nodeType="afterEffect">
                                  <p:stCondLst>
                                    <p:cond delay="56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380"/>
                                        <p:tgtEl>
                                          <p:spTgt spid="11"/>
                                        </p:tgtEl>
                                      </p:cBhvr>
                                    </p:animEffect>
                                    <p:anim calcmode="lin" valueType="num">
                                      <p:cBhvr additive="base">
                                        <p:cTn id="48" dur="380" fill="hold"/>
                                        <p:tgtEl>
                                          <p:spTgt spid="11"/>
                                        </p:tgtEl>
                                        <p:attrNameLst>
                                          <p:attrName>ppt_y</p:attrName>
                                        </p:attrNameLst>
                                      </p:cBhvr>
                                      <p:tavLst>
                                        <p:tav tm="0">
                                          <p:val>
                                            <p:strVal val="#ppt_y+0.03"/>
                                          </p:val>
                                        </p:tav>
                                        <p:tav tm="100000">
                                          <p:val>
                                            <p:strVal val="#ppt_y"/>
                                          </p:val>
                                        </p:tav>
                                      </p:tavLst>
                                    </p:anim>
                                  </p:childTnLst>
                                </p:cTn>
                              </p:par>
                              <p:par>
                                <p:cTn id="49" presetID="42" presetClass="entr" presetSubtype="0" fill="hold" grpId="0" nodeType="afterEffect">
                                  <p:stCondLst>
                                    <p:cond delay="616"/>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380"/>
                                        <p:tgtEl>
                                          <p:spTgt spid="12"/>
                                        </p:tgtEl>
                                      </p:cBhvr>
                                    </p:animEffect>
                                    <p:anim calcmode="lin" valueType="num">
                                      <p:cBhvr additive="base">
                                        <p:cTn id="52" dur="380" fill="hold"/>
                                        <p:tgtEl>
                                          <p:spTgt spid="12"/>
                                        </p:tgtEl>
                                        <p:attrNameLst>
                                          <p:attrName>ppt_y</p:attrName>
                                        </p:attrNameLst>
                                      </p:cBhvr>
                                      <p:tavLst>
                                        <p:tav tm="0">
                                          <p:val>
                                            <p:strVal val="#ppt_y+0.03"/>
                                          </p:val>
                                        </p:tav>
                                        <p:tav tm="100000">
                                          <p:val>
                                            <p:strVal val="#ppt_y"/>
                                          </p:val>
                                        </p:tav>
                                      </p:tavLst>
                                    </p:anim>
                                  </p:childTnLst>
                                </p:cTn>
                              </p:par>
                              <p:par>
                                <p:cTn id="53" presetID="42" presetClass="entr" presetSubtype="0" fill="hold" grpId="0" nodeType="afterEffect">
                                  <p:stCondLst>
                                    <p:cond delay="672"/>
                                  </p:stCondLst>
                                  <p:childTnLst>
                                    <p:set>
                                      <p:cBhvr>
                                        <p:cTn id="54" dur="1" fill="hold">
                                          <p:stCondLst>
                                            <p:cond delay="0"/>
                                          </p:stCondLst>
                                        </p:cTn>
                                        <p:tgtEl>
                                          <p:spTgt spid="13"/>
                                        </p:tgtEl>
                                        <p:attrNameLst>
                                          <p:attrName>style.visibility</p:attrName>
                                        </p:attrNameLst>
                                      </p:cBhvr>
                                      <p:to>
                                        <p:strVal val="visible"/>
                                      </p:to>
                                    </p:set>
                                    <p:animEffect transition="in" filter="fade">
                                      <p:cBhvr>
                                        <p:cTn id="55" dur="380"/>
                                        <p:tgtEl>
                                          <p:spTgt spid="13"/>
                                        </p:tgtEl>
                                      </p:cBhvr>
                                    </p:animEffect>
                                    <p:anim calcmode="lin" valueType="num">
                                      <p:cBhvr additive="base">
                                        <p:cTn id="56" dur="380" fill="hold"/>
                                        <p:tgtEl>
                                          <p:spTgt spid="13"/>
                                        </p:tgtEl>
                                        <p:attrNameLst>
                                          <p:attrName>ppt_y</p:attrName>
                                        </p:attrNameLst>
                                      </p:cBhvr>
                                      <p:tavLst>
                                        <p:tav tm="0">
                                          <p:val>
                                            <p:strVal val="#ppt_y+0.03"/>
                                          </p:val>
                                        </p:tav>
                                        <p:tav tm="100000">
                                          <p:val>
                                            <p:strVal val="#ppt_y"/>
                                          </p:val>
                                        </p:tav>
                                      </p:tavLst>
                                    </p:anim>
                                  </p:childTnLst>
                                </p:cTn>
                              </p:par>
                              <p:par>
                                <p:cTn id="57" presetID="42" presetClass="entr" presetSubtype="0" fill="hold" grpId="0" nodeType="afterEffect">
                                  <p:stCondLst>
                                    <p:cond delay="728"/>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380"/>
                                        <p:tgtEl>
                                          <p:spTgt spid="14"/>
                                        </p:tgtEl>
                                      </p:cBhvr>
                                    </p:animEffect>
                                    <p:anim calcmode="lin" valueType="num">
                                      <p:cBhvr additive="base">
                                        <p:cTn id="60" dur="380" fill="hold"/>
                                        <p:tgtEl>
                                          <p:spTgt spid="14"/>
                                        </p:tgtEl>
                                        <p:attrNameLst>
                                          <p:attrName>ppt_y</p:attrName>
                                        </p:attrNameLst>
                                      </p:cBhvr>
                                      <p:tavLst>
                                        <p:tav tm="0">
                                          <p:val>
                                            <p:strVal val="#ppt_y+0.03"/>
                                          </p:val>
                                        </p:tav>
                                        <p:tav tm="100000">
                                          <p:val>
                                            <p:strVal val="#ppt_y"/>
                                          </p:val>
                                        </p:tav>
                                      </p:tavLst>
                                    </p:anim>
                                  </p:childTnLst>
                                </p:cTn>
                              </p:par>
                              <p:par>
                                <p:cTn id="61" presetID="42" presetClass="entr" presetSubtype="0" fill="hold" grpId="0" nodeType="afterEffect">
                                  <p:stCondLst>
                                    <p:cond delay="784"/>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380"/>
                                        <p:tgtEl>
                                          <p:spTgt spid="15"/>
                                        </p:tgtEl>
                                      </p:cBhvr>
                                    </p:animEffect>
                                    <p:anim calcmode="lin" valueType="num">
                                      <p:cBhvr additive="base">
                                        <p:cTn id="64" dur="380" fill="hold"/>
                                        <p:tgtEl>
                                          <p:spTgt spid="15"/>
                                        </p:tgtEl>
                                        <p:attrNameLst>
                                          <p:attrName>ppt_y</p:attrName>
                                        </p:attrNameLst>
                                      </p:cBhvr>
                                      <p:tavLst>
                                        <p:tav tm="0">
                                          <p:val>
                                            <p:strVal val="#ppt_y+0.03"/>
                                          </p:val>
                                        </p:tav>
                                        <p:tav tm="100000">
                                          <p:val>
                                            <p:strVal val="#ppt_y"/>
                                          </p:val>
                                        </p:tav>
                                      </p:tavLst>
                                    </p:anim>
                                  </p:childTnLst>
                                </p:cTn>
                              </p:par>
                              <p:par>
                                <p:cTn id="65" presetID="42" presetClass="entr" presetSubtype="0" fill="hold" grpId="0" nodeType="afterEffect">
                                  <p:stCondLst>
                                    <p:cond delay="84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380"/>
                                        <p:tgtEl>
                                          <p:spTgt spid="16"/>
                                        </p:tgtEl>
                                      </p:cBhvr>
                                    </p:animEffect>
                                    <p:anim calcmode="lin" valueType="num">
                                      <p:cBhvr additive="base">
                                        <p:cTn id="68" dur="380" fill="hold"/>
                                        <p:tgtEl>
                                          <p:spTgt spid="16"/>
                                        </p:tgtEl>
                                        <p:attrNameLst>
                                          <p:attrName>ppt_y</p:attrName>
                                        </p:attrNameLst>
                                      </p:cBhvr>
                                      <p:tavLst>
                                        <p:tav tm="0">
                                          <p:val>
                                            <p:strVal val="#ppt_y+0.03"/>
                                          </p:val>
                                        </p:tav>
                                        <p:tav tm="100000">
                                          <p:val>
                                            <p:strVal val="#ppt_y"/>
                                          </p:val>
                                        </p:tav>
                                      </p:tavLst>
                                    </p:anim>
                                  </p:childTnLst>
                                </p:cTn>
                              </p:par>
                              <p:par>
                                <p:cTn id="69" presetID="42" presetClass="entr" presetSubtype="0" fill="hold" grpId="0" nodeType="afterEffect">
                                  <p:stCondLst>
                                    <p:cond delay="896"/>
                                  </p:stCondLst>
                                  <p:childTnLst>
                                    <p:set>
                                      <p:cBhvr>
                                        <p:cTn id="70" dur="1" fill="hold">
                                          <p:stCondLst>
                                            <p:cond delay="0"/>
                                          </p:stCondLst>
                                        </p:cTn>
                                        <p:tgtEl>
                                          <p:spTgt spid="17"/>
                                        </p:tgtEl>
                                        <p:attrNameLst>
                                          <p:attrName>style.visibility</p:attrName>
                                        </p:attrNameLst>
                                      </p:cBhvr>
                                      <p:to>
                                        <p:strVal val="visible"/>
                                      </p:to>
                                    </p:set>
                                    <p:animEffect transition="in" filter="fade">
                                      <p:cBhvr>
                                        <p:cTn id="71" dur="380"/>
                                        <p:tgtEl>
                                          <p:spTgt spid="17"/>
                                        </p:tgtEl>
                                      </p:cBhvr>
                                    </p:animEffect>
                                    <p:anim calcmode="lin" valueType="num">
                                      <p:cBhvr additive="base">
                                        <p:cTn id="72" dur="380" fill="hold"/>
                                        <p:tgtEl>
                                          <p:spTgt spid="17"/>
                                        </p:tgtEl>
                                        <p:attrNameLst>
                                          <p:attrName>ppt_y</p:attrName>
                                        </p:attrNameLst>
                                      </p:cBhvr>
                                      <p:tavLst>
                                        <p:tav tm="0">
                                          <p:val>
                                            <p:strVal val="#ppt_y+0.03"/>
                                          </p:val>
                                        </p:tav>
                                        <p:tav tm="100000">
                                          <p:val>
                                            <p:strVal val="#ppt_y"/>
                                          </p:val>
                                        </p:tav>
                                      </p:tavLst>
                                    </p:anim>
                                  </p:childTnLst>
                                </p:cTn>
                              </p:par>
                              <p:par>
                                <p:cTn id="73" presetID="42" presetClass="entr" presetSubtype="0" fill="hold" grpId="0" nodeType="afterEffect">
                                  <p:stCondLst>
                                    <p:cond delay="952"/>
                                  </p:stCondLst>
                                  <p:childTnLst>
                                    <p:set>
                                      <p:cBhvr>
                                        <p:cTn id="74" dur="1" fill="hold">
                                          <p:stCondLst>
                                            <p:cond delay="0"/>
                                          </p:stCondLst>
                                        </p:cTn>
                                        <p:tgtEl>
                                          <p:spTgt spid="18"/>
                                        </p:tgtEl>
                                        <p:attrNameLst>
                                          <p:attrName>style.visibility</p:attrName>
                                        </p:attrNameLst>
                                      </p:cBhvr>
                                      <p:to>
                                        <p:strVal val="visible"/>
                                      </p:to>
                                    </p:set>
                                    <p:animEffect transition="in" filter="fade">
                                      <p:cBhvr>
                                        <p:cTn id="75" dur="380"/>
                                        <p:tgtEl>
                                          <p:spTgt spid="18"/>
                                        </p:tgtEl>
                                      </p:cBhvr>
                                    </p:animEffect>
                                    <p:anim calcmode="lin" valueType="num">
                                      <p:cBhvr additive="base">
                                        <p:cTn id="76" dur="380" fill="hold"/>
                                        <p:tgtEl>
                                          <p:spTgt spid="18"/>
                                        </p:tgtEl>
                                        <p:attrNameLst>
                                          <p:attrName>ppt_y</p:attrName>
                                        </p:attrNameLst>
                                      </p:cBhvr>
                                      <p:tavLst>
                                        <p:tav tm="0">
                                          <p:val>
                                            <p:strVal val="#ppt_y+0.03"/>
                                          </p:val>
                                        </p:tav>
                                        <p:tav tm="100000">
                                          <p:val>
                                            <p:strVal val="#ppt_y"/>
                                          </p:val>
                                        </p:tav>
                                      </p:tavLst>
                                    </p:anim>
                                  </p:childTnLst>
                                </p:cTn>
                              </p:par>
                              <p:par>
                                <p:cTn id="77" presetID="42" presetClass="entr" presetSubtype="0" fill="hold" grpId="0" nodeType="afterEffect">
                                  <p:stCondLst>
                                    <p:cond delay="1008"/>
                                  </p:stCondLst>
                                  <p:childTnLst>
                                    <p:set>
                                      <p:cBhvr>
                                        <p:cTn id="78" dur="1" fill="hold">
                                          <p:stCondLst>
                                            <p:cond delay="0"/>
                                          </p:stCondLst>
                                        </p:cTn>
                                        <p:tgtEl>
                                          <p:spTgt spid="19"/>
                                        </p:tgtEl>
                                        <p:attrNameLst>
                                          <p:attrName>style.visibility</p:attrName>
                                        </p:attrNameLst>
                                      </p:cBhvr>
                                      <p:to>
                                        <p:strVal val="visible"/>
                                      </p:to>
                                    </p:set>
                                    <p:animEffect transition="in" filter="fade">
                                      <p:cBhvr>
                                        <p:cTn id="79" dur="380"/>
                                        <p:tgtEl>
                                          <p:spTgt spid="19"/>
                                        </p:tgtEl>
                                      </p:cBhvr>
                                    </p:animEffect>
                                    <p:anim calcmode="lin" valueType="num">
                                      <p:cBhvr additive="base">
                                        <p:cTn id="80" dur="380" fill="hold"/>
                                        <p:tgtEl>
                                          <p:spTgt spid="19"/>
                                        </p:tgtEl>
                                        <p:attrNameLst>
                                          <p:attrName>ppt_y</p:attrName>
                                        </p:attrNameLst>
                                      </p:cBhvr>
                                      <p:tavLst>
                                        <p:tav tm="0">
                                          <p:val>
                                            <p:strVal val="#ppt_y+0.03"/>
                                          </p:val>
                                        </p:tav>
                                        <p:tav tm="100000">
                                          <p:val>
                                            <p:strVal val="#ppt_y"/>
                                          </p:val>
                                        </p:tav>
                                      </p:tavLst>
                                    </p:anim>
                                  </p:childTnLst>
                                </p:cTn>
                              </p:par>
                              <p:par>
                                <p:cTn id="81" presetID="42" presetClass="entr" presetSubtype="0" fill="hold" grpId="0" nodeType="afterEffect">
                                  <p:stCondLst>
                                    <p:cond delay="1064"/>
                                  </p:stCondLst>
                                  <p:childTnLst>
                                    <p:set>
                                      <p:cBhvr>
                                        <p:cTn id="82" dur="1" fill="hold">
                                          <p:stCondLst>
                                            <p:cond delay="0"/>
                                          </p:stCondLst>
                                        </p:cTn>
                                        <p:tgtEl>
                                          <p:spTgt spid="20"/>
                                        </p:tgtEl>
                                        <p:attrNameLst>
                                          <p:attrName>style.visibility</p:attrName>
                                        </p:attrNameLst>
                                      </p:cBhvr>
                                      <p:to>
                                        <p:strVal val="visible"/>
                                      </p:to>
                                    </p:set>
                                    <p:animEffect transition="in" filter="fade">
                                      <p:cBhvr>
                                        <p:cTn id="83" dur="380"/>
                                        <p:tgtEl>
                                          <p:spTgt spid="20"/>
                                        </p:tgtEl>
                                      </p:cBhvr>
                                    </p:animEffect>
                                    <p:anim calcmode="lin" valueType="num">
                                      <p:cBhvr additive="base">
                                        <p:cTn id="84" dur="380" fill="hold"/>
                                        <p:tgtEl>
                                          <p:spTgt spid="20"/>
                                        </p:tgtEl>
                                        <p:attrNameLst>
                                          <p:attrName>ppt_y</p:attrName>
                                        </p:attrNameLst>
                                      </p:cBhvr>
                                      <p:tavLst>
                                        <p:tav tm="0">
                                          <p:val>
                                            <p:strVal val="#ppt_y+0.03"/>
                                          </p:val>
                                        </p:tav>
                                        <p:tav tm="100000">
                                          <p:val>
                                            <p:strVal val="#ppt_y"/>
                                          </p:val>
                                        </p:tav>
                                      </p:tavLst>
                                    </p:anim>
                                  </p:childTnLst>
                                </p:cTn>
                              </p:par>
                              <p:par>
                                <p:cTn id="85" presetID="42" presetClass="entr" presetSubtype="0" fill="hold" grpId="0" nodeType="afterEffect">
                                  <p:stCondLst>
                                    <p:cond delay="1120"/>
                                  </p:stCondLst>
                                  <p:childTnLst>
                                    <p:set>
                                      <p:cBhvr>
                                        <p:cTn id="86" dur="1" fill="hold">
                                          <p:stCondLst>
                                            <p:cond delay="0"/>
                                          </p:stCondLst>
                                        </p:cTn>
                                        <p:tgtEl>
                                          <p:spTgt spid="21"/>
                                        </p:tgtEl>
                                        <p:attrNameLst>
                                          <p:attrName>style.visibility</p:attrName>
                                        </p:attrNameLst>
                                      </p:cBhvr>
                                      <p:to>
                                        <p:strVal val="visible"/>
                                      </p:to>
                                    </p:set>
                                    <p:animEffect transition="in" filter="fade">
                                      <p:cBhvr>
                                        <p:cTn id="87" dur="380"/>
                                        <p:tgtEl>
                                          <p:spTgt spid="21"/>
                                        </p:tgtEl>
                                      </p:cBhvr>
                                    </p:animEffect>
                                    <p:anim calcmode="lin" valueType="num">
                                      <p:cBhvr additive="base">
                                        <p:cTn id="88" dur="380" fill="hold"/>
                                        <p:tgtEl>
                                          <p:spTgt spid="21"/>
                                        </p:tgtEl>
                                        <p:attrNameLst>
                                          <p:attrName>ppt_y</p:attrName>
                                        </p:attrNameLst>
                                      </p:cBhvr>
                                      <p:tavLst>
                                        <p:tav tm="0">
                                          <p:val>
                                            <p:strVal val="#ppt_y+0.03"/>
                                          </p:val>
                                        </p:tav>
                                        <p:tav tm="100000">
                                          <p:val>
                                            <p:strVal val="#ppt_y"/>
                                          </p:val>
                                        </p:tav>
                                      </p:tavLst>
                                    </p:anim>
                                  </p:childTnLst>
                                </p:cTn>
                              </p:par>
                              <p:par>
                                <p:cTn id="89" presetID="42" presetClass="entr" presetSubtype="0" fill="hold" grpId="0" nodeType="afterEffect">
                                  <p:stCondLst>
                                    <p:cond delay="1176"/>
                                  </p:stCondLst>
                                  <p:childTnLst>
                                    <p:set>
                                      <p:cBhvr>
                                        <p:cTn id="90" dur="1" fill="hold">
                                          <p:stCondLst>
                                            <p:cond delay="0"/>
                                          </p:stCondLst>
                                        </p:cTn>
                                        <p:tgtEl>
                                          <p:spTgt spid="22"/>
                                        </p:tgtEl>
                                        <p:attrNameLst>
                                          <p:attrName>style.visibility</p:attrName>
                                        </p:attrNameLst>
                                      </p:cBhvr>
                                      <p:to>
                                        <p:strVal val="visible"/>
                                      </p:to>
                                    </p:set>
                                    <p:animEffect transition="in" filter="fade">
                                      <p:cBhvr>
                                        <p:cTn id="91" dur="380"/>
                                        <p:tgtEl>
                                          <p:spTgt spid="22"/>
                                        </p:tgtEl>
                                      </p:cBhvr>
                                    </p:animEffect>
                                    <p:anim calcmode="lin" valueType="num">
                                      <p:cBhvr additive="base">
                                        <p:cTn id="92" dur="380" fill="hold"/>
                                        <p:tgtEl>
                                          <p:spTgt spid="22"/>
                                        </p:tgtEl>
                                        <p:attrNameLst>
                                          <p:attrName>ppt_y</p:attrName>
                                        </p:attrNameLst>
                                      </p:cBhvr>
                                      <p:tavLst>
                                        <p:tav tm="0">
                                          <p:val>
                                            <p:strVal val="#ppt_y+0.03"/>
                                          </p:val>
                                        </p:tav>
                                        <p:tav tm="100000">
                                          <p:val>
                                            <p:strVal val="#ppt_y"/>
                                          </p:val>
                                        </p:tav>
                                      </p:tavLst>
                                    </p:anim>
                                  </p:childTnLst>
                                </p:cTn>
                              </p:par>
                              <p:par>
                                <p:cTn id="93" presetID="42" presetClass="entr" presetSubtype="0" fill="hold" grpId="0" nodeType="afterEffect">
                                  <p:stCondLst>
                                    <p:cond delay="1232"/>
                                  </p:stCondLst>
                                  <p:childTnLst>
                                    <p:set>
                                      <p:cBhvr>
                                        <p:cTn id="94" dur="1" fill="hold">
                                          <p:stCondLst>
                                            <p:cond delay="0"/>
                                          </p:stCondLst>
                                        </p:cTn>
                                        <p:tgtEl>
                                          <p:spTgt spid="23"/>
                                        </p:tgtEl>
                                        <p:attrNameLst>
                                          <p:attrName>style.visibility</p:attrName>
                                        </p:attrNameLst>
                                      </p:cBhvr>
                                      <p:to>
                                        <p:strVal val="visible"/>
                                      </p:to>
                                    </p:set>
                                    <p:animEffect transition="in" filter="fade">
                                      <p:cBhvr>
                                        <p:cTn id="95" dur="380"/>
                                        <p:tgtEl>
                                          <p:spTgt spid="23"/>
                                        </p:tgtEl>
                                      </p:cBhvr>
                                    </p:animEffect>
                                    <p:anim calcmode="lin" valueType="num">
                                      <p:cBhvr additive="base">
                                        <p:cTn id="96" dur="380" fill="hold"/>
                                        <p:tgtEl>
                                          <p:spTgt spid="23"/>
                                        </p:tgtEl>
                                        <p:attrNameLst>
                                          <p:attrName>ppt_y</p:attrName>
                                        </p:attrNameLst>
                                      </p:cBhvr>
                                      <p:tavLst>
                                        <p:tav tm="0">
                                          <p:val>
                                            <p:strVal val="#ppt_y+0.03"/>
                                          </p:val>
                                        </p:tav>
                                        <p:tav tm="100000">
                                          <p:val>
                                            <p:strVal val="#ppt_y"/>
                                          </p:val>
                                        </p:tav>
                                      </p:tavLst>
                                    </p:anim>
                                  </p:childTnLst>
                                </p:cTn>
                              </p:par>
                              <p:par>
                                <p:cTn id="97" presetID="42" presetClass="entr" presetSubtype="0" fill="hold" grpId="0" nodeType="afterEffect">
                                  <p:stCondLst>
                                    <p:cond delay="1288"/>
                                  </p:stCondLst>
                                  <p:childTnLst>
                                    <p:set>
                                      <p:cBhvr>
                                        <p:cTn id="98" dur="1" fill="hold">
                                          <p:stCondLst>
                                            <p:cond delay="0"/>
                                          </p:stCondLst>
                                        </p:cTn>
                                        <p:tgtEl>
                                          <p:spTgt spid="24"/>
                                        </p:tgtEl>
                                        <p:attrNameLst>
                                          <p:attrName>style.visibility</p:attrName>
                                        </p:attrNameLst>
                                      </p:cBhvr>
                                      <p:to>
                                        <p:strVal val="visible"/>
                                      </p:to>
                                    </p:set>
                                    <p:animEffect transition="in" filter="fade">
                                      <p:cBhvr>
                                        <p:cTn id="99" dur="380"/>
                                        <p:tgtEl>
                                          <p:spTgt spid="24"/>
                                        </p:tgtEl>
                                      </p:cBhvr>
                                    </p:animEffect>
                                    <p:anim calcmode="lin" valueType="num">
                                      <p:cBhvr additive="base">
                                        <p:cTn id="100" dur="380" fill="hold"/>
                                        <p:tgtEl>
                                          <p:spTgt spid="24"/>
                                        </p:tgtEl>
                                        <p:attrNameLst>
                                          <p:attrName>ppt_y</p:attrName>
                                        </p:attrNameLst>
                                      </p:cBhvr>
                                      <p:tavLst>
                                        <p:tav tm="0">
                                          <p:val>
                                            <p:strVal val="#ppt_y+0.03"/>
                                          </p:val>
                                        </p:tav>
                                        <p:tav tm="100000">
                                          <p:val>
                                            <p:strVal val="#ppt_y"/>
                                          </p:val>
                                        </p:tav>
                                      </p:tavLst>
                                    </p:anim>
                                  </p:childTnLst>
                                </p:cTn>
                              </p:par>
                              <p:par>
                                <p:cTn id="101" presetID="42" presetClass="entr" presetSubtype="0" fill="hold" grpId="0" nodeType="afterEffect">
                                  <p:stCondLst>
                                    <p:cond delay="1344"/>
                                  </p:stCondLst>
                                  <p:childTnLst>
                                    <p:set>
                                      <p:cBhvr>
                                        <p:cTn id="102" dur="1" fill="hold">
                                          <p:stCondLst>
                                            <p:cond delay="0"/>
                                          </p:stCondLst>
                                        </p:cTn>
                                        <p:tgtEl>
                                          <p:spTgt spid="25"/>
                                        </p:tgtEl>
                                        <p:attrNameLst>
                                          <p:attrName>style.visibility</p:attrName>
                                        </p:attrNameLst>
                                      </p:cBhvr>
                                      <p:to>
                                        <p:strVal val="visible"/>
                                      </p:to>
                                    </p:set>
                                    <p:animEffect transition="in" filter="fade">
                                      <p:cBhvr>
                                        <p:cTn id="103" dur="380"/>
                                        <p:tgtEl>
                                          <p:spTgt spid="25"/>
                                        </p:tgtEl>
                                      </p:cBhvr>
                                    </p:animEffect>
                                    <p:anim calcmode="lin" valueType="num">
                                      <p:cBhvr additive="base">
                                        <p:cTn id="104" dur="380" fill="hold"/>
                                        <p:tgtEl>
                                          <p:spTgt spid="25"/>
                                        </p:tgtEl>
                                        <p:attrNameLst>
                                          <p:attrName>ppt_y</p:attrName>
                                        </p:attrNameLst>
                                      </p:cBhvr>
                                      <p:tavLst>
                                        <p:tav tm="0">
                                          <p:val>
                                            <p:strVal val="#ppt_y+0.03"/>
                                          </p:val>
                                        </p:tav>
                                        <p:tav tm="100000">
                                          <p:val>
                                            <p:strVal val="#ppt_y"/>
                                          </p:val>
                                        </p:tav>
                                      </p:tavLst>
                                    </p:anim>
                                  </p:childTnLst>
                                </p:cTn>
                              </p:par>
                              <p:par>
                                <p:cTn id="105" presetID="42" presetClass="entr" presetSubtype="0" fill="hold" grpId="0" nodeType="afterEffect">
                                  <p:stCondLst>
                                    <p:cond delay="1400"/>
                                  </p:stCondLst>
                                  <p:childTnLst>
                                    <p:set>
                                      <p:cBhvr>
                                        <p:cTn id="106" dur="1" fill="hold">
                                          <p:stCondLst>
                                            <p:cond delay="0"/>
                                          </p:stCondLst>
                                        </p:cTn>
                                        <p:tgtEl>
                                          <p:spTgt spid="26"/>
                                        </p:tgtEl>
                                        <p:attrNameLst>
                                          <p:attrName>style.visibility</p:attrName>
                                        </p:attrNameLst>
                                      </p:cBhvr>
                                      <p:to>
                                        <p:strVal val="visible"/>
                                      </p:to>
                                    </p:set>
                                    <p:animEffect transition="in" filter="fade">
                                      <p:cBhvr>
                                        <p:cTn id="107" dur="380"/>
                                        <p:tgtEl>
                                          <p:spTgt spid="26"/>
                                        </p:tgtEl>
                                      </p:cBhvr>
                                    </p:animEffect>
                                    <p:anim calcmode="lin" valueType="num">
                                      <p:cBhvr additive="base">
                                        <p:cTn id="108" dur="380" fill="hold"/>
                                        <p:tgtEl>
                                          <p:spTgt spid="26"/>
                                        </p:tgtEl>
                                        <p:attrNameLst>
                                          <p:attrName>ppt_y</p:attrName>
                                        </p:attrNameLst>
                                      </p:cBhvr>
                                      <p:tavLst>
                                        <p:tav tm="0">
                                          <p:val>
                                            <p:strVal val="#ppt_y+0.03"/>
                                          </p:val>
                                        </p:tav>
                                        <p:tav tm="100000">
                                          <p:val>
                                            <p:strVal val="#ppt_y"/>
                                          </p:val>
                                        </p:tav>
                                      </p:tavLst>
                                    </p:anim>
                                  </p:childTnLst>
                                </p:cTn>
                              </p:par>
                              <p:par>
                                <p:cTn id="109" presetID="42" presetClass="entr" presetSubtype="0" fill="hold" grpId="0" nodeType="afterEffect">
                                  <p:stCondLst>
                                    <p:cond delay="1456"/>
                                  </p:stCondLst>
                                  <p:childTnLst>
                                    <p:set>
                                      <p:cBhvr>
                                        <p:cTn id="110" dur="1" fill="hold">
                                          <p:stCondLst>
                                            <p:cond delay="0"/>
                                          </p:stCondLst>
                                        </p:cTn>
                                        <p:tgtEl>
                                          <p:spTgt spid="27"/>
                                        </p:tgtEl>
                                        <p:attrNameLst>
                                          <p:attrName>style.visibility</p:attrName>
                                        </p:attrNameLst>
                                      </p:cBhvr>
                                      <p:to>
                                        <p:strVal val="visible"/>
                                      </p:to>
                                    </p:set>
                                    <p:animEffect transition="in" filter="fade">
                                      <p:cBhvr>
                                        <p:cTn id="111" dur="380"/>
                                        <p:tgtEl>
                                          <p:spTgt spid="27"/>
                                        </p:tgtEl>
                                      </p:cBhvr>
                                    </p:animEffect>
                                    <p:anim calcmode="lin" valueType="num">
                                      <p:cBhvr additive="base">
                                        <p:cTn id="112" dur="380" fill="hold"/>
                                        <p:tgtEl>
                                          <p:spTgt spid="27"/>
                                        </p:tgtEl>
                                        <p:attrNameLst>
                                          <p:attrName>ppt_y</p:attrName>
                                        </p:attrNameLst>
                                      </p:cBhvr>
                                      <p:tavLst>
                                        <p:tav tm="0">
                                          <p:val>
                                            <p:strVal val="#ppt_y+0.03"/>
                                          </p:val>
                                        </p:tav>
                                        <p:tav tm="100000">
                                          <p:val>
                                            <p:strVal val="#ppt_y"/>
                                          </p:val>
                                        </p:tav>
                                      </p:tavLst>
                                    </p:anim>
                                  </p:childTnLst>
                                </p:cTn>
                              </p:par>
                              <p:par>
                                <p:cTn id="113" presetID="42" presetClass="entr" presetSubtype="0" fill="hold" grpId="0" nodeType="afterEffect">
                                  <p:stCondLst>
                                    <p:cond delay="1512"/>
                                  </p:stCondLst>
                                  <p:childTnLst>
                                    <p:set>
                                      <p:cBhvr>
                                        <p:cTn id="114" dur="1" fill="hold">
                                          <p:stCondLst>
                                            <p:cond delay="0"/>
                                          </p:stCondLst>
                                        </p:cTn>
                                        <p:tgtEl>
                                          <p:spTgt spid="28"/>
                                        </p:tgtEl>
                                        <p:attrNameLst>
                                          <p:attrName>style.visibility</p:attrName>
                                        </p:attrNameLst>
                                      </p:cBhvr>
                                      <p:to>
                                        <p:strVal val="visible"/>
                                      </p:to>
                                    </p:set>
                                    <p:animEffect transition="in" filter="fade">
                                      <p:cBhvr>
                                        <p:cTn id="115" dur="380"/>
                                        <p:tgtEl>
                                          <p:spTgt spid="28"/>
                                        </p:tgtEl>
                                      </p:cBhvr>
                                    </p:animEffect>
                                    <p:anim calcmode="lin" valueType="num">
                                      <p:cBhvr additive="base">
                                        <p:cTn id="116" dur="380" fill="hold"/>
                                        <p:tgtEl>
                                          <p:spTgt spid="28"/>
                                        </p:tgtEl>
                                        <p:attrNameLst>
                                          <p:attrName>ppt_y</p:attrName>
                                        </p:attrNameLst>
                                      </p:cBhvr>
                                      <p:tavLst>
                                        <p:tav tm="0">
                                          <p:val>
                                            <p:strVal val="#ppt_y+0.03"/>
                                          </p:val>
                                        </p:tav>
                                        <p:tav tm="100000">
                                          <p:val>
                                            <p:strVal val="#ppt_y"/>
                                          </p:val>
                                        </p:tav>
                                      </p:tavLst>
                                    </p:anim>
                                  </p:childTnLst>
                                </p:cTn>
                              </p:par>
                              <p:par>
                                <p:cTn id="117" presetID="42" presetClass="entr" presetSubtype="0" fill="hold" grpId="0" nodeType="afterEffect">
                                  <p:stCondLst>
                                    <p:cond delay="1568"/>
                                  </p:stCondLst>
                                  <p:childTnLst>
                                    <p:set>
                                      <p:cBhvr>
                                        <p:cTn id="118" dur="1" fill="hold">
                                          <p:stCondLst>
                                            <p:cond delay="0"/>
                                          </p:stCondLst>
                                        </p:cTn>
                                        <p:tgtEl>
                                          <p:spTgt spid="29"/>
                                        </p:tgtEl>
                                        <p:attrNameLst>
                                          <p:attrName>style.visibility</p:attrName>
                                        </p:attrNameLst>
                                      </p:cBhvr>
                                      <p:to>
                                        <p:strVal val="visible"/>
                                      </p:to>
                                    </p:set>
                                    <p:animEffect transition="in" filter="fade">
                                      <p:cBhvr>
                                        <p:cTn id="119" dur="380"/>
                                        <p:tgtEl>
                                          <p:spTgt spid="29"/>
                                        </p:tgtEl>
                                      </p:cBhvr>
                                    </p:animEffect>
                                    <p:anim calcmode="lin" valueType="num">
                                      <p:cBhvr additive="base">
                                        <p:cTn id="120" dur="380" fill="hold"/>
                                        <p:tgtEl>
                                          <p:spTgt spid="29"/>
                                        </p:tgtEl>
                                        <p:attrNameLst>
                                          <p:attrName>ppt_y</p:attrName>
                                        </p:attrNameLst>
                                      </p:cBhvr>
                                      <p:tavLst>
                                        <p:tav tm="0">
                                          <p:val>
                                            <p:strVal val="#ppt_y+0.03"/>
                                          </p:val>
                                        </p:tav>
                                        <p:tav tm="100000">
                                          <p:val>
                                            <p:strVal val="#ppt_y"/>
                                          </p:val>
                                        </p:tav>
                                      </p:tavLst>
                                    </p:anim>
                                  </p:childTnLst>
                                </p:cTn>
                              </p:par>
                              <p:par>
                                <p:cTn id="121" presetID="42" presetClass="entr" presetSubtype="0" fill="hold" grpId="0" nodeType="afterEffect">
                                  <p:stCondLst>
                                    <p:cond delay="1624"/>
                                  </p:stCondLst>
                                  <p:childTnLst>
                                    <p:set>
                                      <p:cBhvr>
                                        <p:cTn id="122" dur="1" fill="hold">
                                          <p:stCondLst>
                                            <p:cond delay="0"/>
                                          </p:stCondLst>
                                        </p:cTn>
                                        <p:tgtEl>
                                          <p:spTgt spid="30"/>
                                        </p:tgtEl>
                                        <p:attrNameLst>
                                          <p:attrName>style.visibility</p:attrName>
                                        </p:attrNameLst>
                                      </p:cBhvr>
                                      <p:to>
                                        <p:strVal val="visible"/>
                                      </p:to>
                                    </p:set>
                                    <p:animEffect transition="in" filter="fade">
                                      <p:cBhvr>
                                        <p:cTn id="123" dur="380"/>
                                        <p:tgtEl>
                                          <p:spTgt spid="30"/>
                                        </p:tgtEl>
                                      </p:cBhvr>
                                    </p:animEffect>
                                    <p:anim calcmode="lin" valueType="num">
                                      <p:cBhvr additive="base">
                                        <p:cTn id="124" dur="380" fill="hold"/>
                                        <p:tgtEl>
                                          <p:spTgt spid="30"/>
                                        </p:tgtEl>
                                        <p:attrNameLst>
                                          <p:attrName>ppt_y</p:attrName>
                                        </p:attrNameLst>
                                      </p:cBhvr>
                                      <p:tavLst>
                                        <p:tav tm="0">
                                          <p:val>
                                            <p:strVal val="#ppt_y+0.03"/>
                                          </p:val>
                                        </p:tav>
                                        <p:tav tm="100000">
                                          <p:val>
                                            <p:strVal val="#ppt_y"/>
                                          </p:val>
                                        </p:tav>
                                      </p:tavLst>
                                    </p:anim>
                                  </p:childTnLst>
                                </p:cTn>
                              </p:par>
                              <p:par>
                                <p:cTn id="125" presetID="42" presetClass="entr" presetSubtype="0" fill="hold" grpId="0" nodeType="afterEffect">
                                  <p:stCondLst>
                                    <p:cond delay="1680"/>
                                  </p:stCondLst>
                                  <p:childTnLst>
                                    <p:set>
                                      <p:cBhvr>
                                        <p:cTn id="126" dur="1" fill="hold">
                                          <p:stCondLst>
                                            <p:cond delay="0"/>
                                          </p:stCondLst>
                                        </p:cTn>
                                        <p:tgtEl>
                                          <p:spTgt spid="31"/>
                                        </p:tgtEl>
                                        <p:attrNameLst>
                                          <p:attrName>style.visibility</p:attrName>
                                        </p:attrNameLst>
                                      </p:cBhvr>
                                      <p:to>
                                        <p:strVal val="visible"/>
                                      </p:to>
                                    </p:set>
                                    <p:animEffect transition="in" filter="fade">
                                      <p:cBhvr>
                                        <p:cTn id="127" dur="380"/>
                                        <p:tgtEl>
                                          <p:spTgt spid="31"/>
                                        </p:tgtEl>
                                      </p:cBhvr>
                                    </p:animEffect>
                                    <p:anim calcmode="lin" valueType="num">
                                      <p:cBhvr additive="base">
                                        <p:cTn id="128" dur="380" fill="hold"/>
                                        <p:tgtEl>
                                          <p:spTgt spid="31"/>
                                        </p:tgtEl>
                                        <p:attrNameLst>
                                          <p:attrName>ppt_y</p:attrName>
                                        </p:attrNameLst>
                                      </p:cBhvr>
                                      <p:tavLst>
                                        <p:tav tm="0">
                                          <p:val>
                                            <p:strVal val="#ppt_y+0.03"/>
                                          </p:val>
                                        </p:tav>
                                        <p:tav tm="100000">
                                          <p:val>
                                            <p:strVal val="#ppt_y"/>
                                          </p:val>
                                        </p:tav>
                                      </p:tavLst>
                                    </p:anim>
                                  </p:childTnLst>
                                </p:cTn>
                              </p:par>
                              <p:par>
                                <p:cTn id="129" presetID="42" presetClass="entr" presetSubtype="0" fill="hold" grpId="0" nodeType="afterEffect">
                                  <p:stCondLst>
                                    <p:cond delay="1736"/>
                                  </p:stCondLst>
                                  <p:childTnLst>
                                    <p:set>
                                      <p:cBhvr>
                                        <p:cTn id="130" dur="1" fill="hold">
                                          <p:stCondLst>
                                            <p:cond delay="0"/>
                                          </p:stCondLst>
                                        </p:cTn>
                                        <p:tgtEl>
                                          <p:spTgt spid="32"/>
                                        </p:tgtEl>
                                        <p:attrNameLst>
                                          <p:attrName>style.visibility</p:attrName>
                                        </p:attrNameLst>
                                      </p:cBhvr>
                                      <p:to>
                                        <p:strVal val="visible"/>
                                      </p:to>
                                    </p:set>
                                    <p:animEffect transition="in" filter="fade">
                                      <p:cBhvr>
                                        <p:cTn id="131" dur="380"/>
                                        <p:tgtEl>
                                          <p:spTgt spid="32"/>
                                        </p:tgtEl>
                                      </p:cBhvr>
                                    </p:animEffect>
                                    <p:anim calcmode="lin" valueType="num">
                                      <p:cBhvr additive="base">
                                        <p:cTn id="132" dur="380" fill="hold"/>
                                        <p:tgtEl>
                                          <p:spTgt spid="32"/>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 grpId="0"/>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B3D"/>
        </a:solidFill>
      </p:bgPr>
    </p:bg>
    <p:spTree>
      <p:nvGrpSpPr>
        <p:cNvPr id="1" name=""/>
        <p:cNvGrpSpPr/>
        <p:nvPr/>
      </p:nvGrpSpPr>
      <p:grpSpPr>
        <a:xfrm>
          <a:off x="0" y="0"/>
          <a:ext cx="0" cy="0"/>
          <a:chOff x="0" y="0"/>
          <a:chExt cx="0" cy="0"/>
        </a:xfrm>
      </p:grpSpPr>
      <p:sp>
        <p:nvSpPr>
          <p:cNvPr id="2" name="Shape 0"/>
          <p:cNvSpPr/>
          <p:nvPr/>
        </p:nvSpPr>
        <p:spPr>
          <a:xfrm>
            <a:off x="-2011680" y="3291840"/>
            <a:ext cx="5669280" cy="5669280"/>
          </a:xfrm>
          <a:prstGeom prst="ellipse">
            <a:avLst/>
          </a:prstGeom>
          <a:solidFill>
            <a:srgbClr val="1E2761"/>
          </a:solidFill>
          <a:ln w="12700">
            <a:solidFill>
              <a:srgbClr val="333333"/>
            </a:solidFill>
            <a:prstDash val="solid"/>
          </a:ln>
        </p:spPr>
      </p:sp>
      <p:sp>
        <p:nvSpPr>
          <p:cNvPr id="3" name="Shape 1"/>
          <p:cNvSpPr/>
          <p:nvPr/>
        </p:nvSpPr>
        <p:spPr>
          <a:xfrm>
            <a:off x="9875520" y="-1737360"/>
            <a:ext cx="4754880" cy="4754880"/>
          </a:xfrm>
          <a:prstGeom prst="ellipse">
            <a:avLst/>
          </a:prstGeom>
          <a:solidFill>
            <a:srgbClr val="1E2761"/>
          </a:solidFill>
          <a:ln w="12700">
            <a:solidFill>
              <a:srgbClr val="333333"/>
            </a:solidFill>
            <a:prstDash val="solid"/>
          </a:ln>
        </p:spPr>
      </p:sp>
      <p:sp>
        <p:nvSpPr>
          <p:cNvPr id="4" name="Text 2"/>
          <p:cNvSpPr/>
          <p:nvPr/>
        </p:nvSpPr>
        <p:spPr>
          <a:xfrm>
            <a:off x="548640" y="658368"/>
            <a:ext cx="5486400" cy="256032"/>
          </a:xfrm>
          <a:prstGeom prst="rect">
            <a:avLst/>
          </a:prstGeom>
          <a:noFill/>
          <a:ln/>
        </p:spPr>
        <p:txBody>
          <a:bodyPr wrap="square" lIns="0" tIns="0" rIns="0" bIns="0" rtlCol="0" anchor="ctr"/>
          <a:lstStyle/>
          <a:p>
            <a:pPr indent="0" marL="0">
              <a:buNone/>
            </a:pPr>
            <a:r>
              <a:rPr lang="en-US" sz="1050" b="1" spc="200" kern="0" dirty="0">
                <a:solidFill>
                  <a:srgbClr val="00C39A"/>
                </a:solidFill>
                <a:latin typeface="Calibri" pitchFamily="34" charset="0"/>
                <a:ea typeface="Calibri" pitchFamily="34" charset="-122"/>
                <a:cs typeface="Calibri" pitchFamily="34" charset="-120"/>
              </a:rPr>
              <a:t>THE ASK</a:t>
            </a:r>
            <a:endParaRPr lang="en-US" sz="1050" dirty="0"/>
          </a:p>
        </p:txBody>
      </p:sp>
      <p:sp>
        <p:nvSpPr>
          <p:cNvPr id="5" name="Text 3"/>
          <p:cNvSpPr/>
          <p:nvPr/>
        </p:nvSpPr>
        <p:spPr>
          <a:xfrm>
            <a:off x="548640" y="1005840"/>
            <a:ext cx="10607040" cy="1371600"/>
          </a:xfrm>
          <a:prstGeom prst="rect">
            <a:avLst/>
          </a:prstGeom>
          <a:noFill/>
          <a:ln/>
        </p:spPr>
        <p:txBody>
          <a:bodyPr wrap="square" lIns="0" tIns="0" rIns="0" bIns="0" rtlCol="0" anchor="ctr"/>
          <a:lstStyle/>
          <a:p>
            <a:pPr indent="0" marL="0">
              <a:lnSpc>
                <a:spcPts val="4800"/>
              </a:lnSpc>
              <a:buNone/>
            </a:pPr>
            <a:r>
              <a:rPr lang="en-US" sz="3800" b="1" dirty="0">
                <a:solidFill>
                  <a:srgbClr val="FFFFFF"/>
                </a:solidFill>
                <a:latin typeface="Cambria" pitchFamily="34" charset="0"/>
                <a:ea typeface="Cambria" pitchFamily="34" charset="-122"/>
                <a:cs typeface="Cambria" pitchFamily="34" charset="-120"/>
              </a:rPr>
              <a:t>Approve ₹ 89,000 over twelve months</a:t>
            </a:r>
            <a:endParaRPr lang="en-US" sz="3800" dirty="0"/>
          </a:p>
          <a:p>
            <a:pPr indent="0" marL="0">
              <a:lnSpc>
                <a:spcPts val="4800"/>
              </a:lnSpc>
              <a:buNone/>
            </a:pPr>
            <a:r>
              <a:rPr lang="en-US" sz="3800" b="1" dirty="0">
                <a:solidFill>
                  <a:srgbClr val="FFFFFF"/>
                </a:solidFill>
                <a:latin typeface="Cambria" pitchFamily="34" charset="0"/>
                <a:ea typeface="Cambria" pitchFamily="34" charset="-122"/>
                <a:cs typeface="Cambria" pitchFamily="34" charset="-120"/>
              </a:rPr>
              <a:t>and one pilot section.</a:t>
            </a:r>
            <a:endParaRPr lang="en-US" sz="3800" dirty="0"/>
          </a:p>
        </p:txBody>
      </p:sp>
      <p:sp>
        <p:nvSpPr>
          <p:cNvPr id="6" name="Shape 4"/>
          <p:cNvSpPr/>
          <p:nvPr/>
        </p:nvSpPr>
        <p:spPr>
          <a:xfrm>
            <a:off x="548640" y="2743200"/>
            <a:ext cx="2615184" cy="2194560"/>
          </a:xfrm>
          <a:prstGeom prst="roundRect">
            <a:avLst>
              <a:gd name="adj" fmla="val 3750"/>
            </a:avLst>
          </a:prstGeom>
          <a:solidFill>
            <a:srgbClr val="1E2761"/>
          </a:solidFill>
          <a:ln w="12700">
            <a:solidFill>
              <a:srgbClr val="333333"/>
            </a:solidFill>
            <a:prstDash val="solid"/>
          </a:ln>
        </p:spPr>
      </p:sp>
      <p:sp>
        <p:nvSpPr>
          <p:cNvPr id="7" name="Shape 5"/>
          <p:cNvSpPr/>
          <p:nvPr/>
        </p:nvSpPr>
        <p:spPr>
          <a:xfrm>
            <a:off x="786384" y="2980944"/>
            <a:ext cx="512064" cy="512064"/>
          </a:xfrm>
          <a:prstGeom prst="ellipse">
            <a:avLst/>
          </a:prstGeom>
          <a:solidFill>
            <a:srgbClr val="35407F"/>
          </a:solidFill>
          <a:ln w="12700">
            <a:solidFill>
              <a:srgbClr val="333333"/>
            </a:solidFill>
            <a:prstDash val="solid"/>
          </a:ln>
        </p:spPr>
      </p:sp>
      <p:pic>
        <p:nvPicPr>
          <p:cNvPr id="8" name="Image 0" descr="preencoded.png">    </p:cNvPr>
          <p:cNvPicPr>
            <a:picLocks noChangeAspect="1"/>
          </p:cNvPicPr>
          <p:nvPr/>
        </p:nvPicPr>
        <p:blipFill>
          <a:blip r:embed="rId1"/>
          <a:stretch>
            <a:fillRect/>
          </a:stretch>
        </p:blipFill>
        <p:spPr>
          <a:xfrm>
            <a:off x="896112" y="3090672"/>
            <a:ext cx="292608" cy="292608"/>
          </a:xfrm>
          <a:prstGeom prst="rect">
            <a:avLst/>
          </a:prstGeom>
        </p:spPr>
      </p:pic>
      <p:sp>
        <p:nvSpPr>
          <p:cNvPr id="9" name="Text 6"/>
          <p:cNvSpPr/>
          <p:nvPr/>
        </p:nvSpPr>
        <p:spPr>
          <a:xfrm>
            <a:off x="786384" y="3602736"/>
            <a:ext cx="2139696" cy="40233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Production-hardened</a:t>
            </a:r>
            <a:endParaRPr lang="en-US" sz="1350" dirty="0"/>
          </a:p>
        </p:txBody>
      </p:sp>
      <p:sp>
        <p:nvSpPr>
          <p:cNvPr id="10" name="Text 7"/>
          <p:cNvSpPr/>
          <p:nvPr/>
        </p:nvSpPr>
        <p:spPr>
          <a:xfrm>
            <a:off x="786384" y="4005072"/>
            <a:ext cx="2139696" cy="822960"/>
          </a:xfrm>
          <a:prstGeom prst="rect">
            <a:avLst/>
          </a:prstGeom>
          <a:noFill/>
          <a:ln/>
        </p:spPr>
        <p:txBody>
          <a:bodyPr wrap="square" lIns="0" tIns="0" rIns="0" bIns="0" rtlCol="0" anchor="t"/>
          <a:lstStyle/>
          <a:p>
            <a:pPr indent="0" marL="0">
              <a:lnSpc>
                <a:spcPts val="1350"/>
              </a:lnSpc>
              <a:buNone/>
            </a:pPr>
            <a:r>
              <a:rPr lang="en-US" sz="1050" dirty="0">
                <a:solidFill>
                  <a:srgbClr val="CADCFC"/>
                </a:solidFill>
                <a:latin typeface="Calibri" pitchFamily="34" charset="0"/>
                <a:ea typeface="Calibri" pitchFamily="34" charset="-122"/>
                <a:cs typeface="Calibri" pitchFamily="34" charset="-120"/>
              </a:rPr>
              <a:t>Per-student sandboxes with CPU, memory and process limits, plus an execution queue.</a:t>
            </a:r>
            <a:endParaRPr lang="en-US" sz="1050" dirty="0"/>
          </a:p>
        </p:txBody>
      </p:sp>
      <p:sp>
        <p:nvSpPr>
          <p:cNvPr id="11" name="Shape 8"/>
          <p:cNvSpPr/>
          <p:nvPr/>
        </p:nvSpPr>
        <p:spPr>
          <a:xfrm>
            <a:off x="3483864" y="2743200"/>
            <a:ext cx="2615184" cy="2194560"/>
          </a:xfrm>
          <a:prstGeom prst="roundRect">
            <a:avLst>
              <a:gd name="adj" fmla="val 3750"/>
            </a:avLst>
          </a:prstGeom>
          <a:solidFill>
            <a:srgbClr val="1E2761"/>
          </a:solidFill>
          <a:ln w="12700">
            <a:solidFill>
              <a:srgbClr val="333333"/>
            </a:solidFill>
            <a:prstDash val="solid"/>
          </a:ln>
        </p:spPr>
      </p:sp>
      <p:sp>
        <p:nvSpPr>
          <p:cNvPr id="12" name="Shape 9"/>
          <p:cNvSpPr/>
          <p:nvPr/>
        </p:nvSpPr>
        <p:spPr>
          <a:xfrm>
            <a:off x="3721608" y="2980944"/>
            <a:ext cx="512064" cy="512064"/>
          </a:xfrm>
          <a:prstGeom prst="ellipse">
            <a:avLst/>
          </a:prstGeom>
          <a:solidFill>
            <a:srgbClr val="35407F"/>
          </a:solidFill>
          <a:ln w="12700">
            <a:solidFill>
              <a:srgbClr val="333333"/>
            </a:solidFill>
            <a:prstDash val="solid"/>
          </a:ln>
        </p:spPr>
      </p:sp>
      <p:pic>
        <p:nvPicPr>
          <p:cNvPr id="13" name="Image 1" descr="preencoded.png">    </p:cNvPr>
          <p:cNvPicPr>
            <a:picLocks noChangeAspect="1"/>
          </p:cNvPicPr>
          <p:nvPr/>
        </p:nvPicPr>
        <p:blipFill>
          <a:blip r:embed="rId2"/>
          <a:stretch>
            <a:fillRect/>
          </a:stretch>
        </p:blipFill>
        <p:spPr>
          <a:xfrm>
            <a:off x="3831336" y="3090672"/>
            <a:ext cx="292608" cy="292608"/>
          </a:xfrm>
          <a:prstGeom prst="rect">
            <a:avLst/>
          </a:prstGeom>
        </p:spPr>
      </p:pic>
      <p:sp>
        <p:nvSpPr>
          <p:cNvPr id="14" name="Text 10"/>
          <p:cNvSpPr/>
          <p:nvPr/>
        </p:nvSpPr>
        <p:spPr>
          <a:xfrm>
            <a:off x="3721608" y="3602736"/>
            <a:ext cx="2139696" cy="40233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Integrity module</a:t>
            </a:r>
            <a:endParaRPr lang="en-US" sz="1350" dirty="0"/>
          </a:p>
        </p:txBody>
      </p:sp>
      <p:sp>
        <p:nvSpPr>
          <p:cNvPr id="15" name="Text 11"/>
          <p:cNvSpPr/>
          <p:nvPr/>
        </p:nvSpPr>
        <p:spPr>
          <a:xfrm>
            <a:off x="3721608" y="4005072"/>
            <a:ext cx="2139696" cy="822960"/>
          </a:xfrm>
          <a:prstGeom prst="rect">
            <a:avLst/>
          </a:prstGeom>
          <a:noFill/>
          <a:ln/>
        </p:spPr>
        <p:txBody>
          <a:bodyPr wrap="square" lIns="0" tIns="0" rIns="0" bIns="0" rtlCol="0" anchor="t"/>
          <a:lstStyle/>
          <a:p>
            <a:pPr indent="0" marL="0">
              <a:lnSpc>
                <a:spcPts val="1350"/>
              </a:lnSpc>
              <a:buNone/>
            </a:pPr>
            <a:r>
              <a:rPr lang="en-US" sz="1050" dirty="0">
                <a:solidFill>
                  <a:srgbClr val="CADCFC"/>
                </a:solidFill>
                <a:latin typeface="Calibri" pitchFamily="34" charset="0"/>
                <a:ea typeface="Calibri" pitchFamily="34" charset="-122"/>
                <a:cs typeface="Calibri" pitchFamily="34" charset="-120"/>
              </a:rPr>
              <a:t>Similarity comparison across a section, telemetry, and AI-drafted remarks for faculty review.</a:t>
            </a:r>
            <a:endParaRPr lang="en-US" sz="1050" dirty="0"/>
          </a:p>
        </p:txBody>
      </p:sp>
      <p:sp>
        <p:nvSpPr>
          <p:cNvPr id="16" name="Shape 12"/>
          <p:cNvSpPr/>
          <p:nvPr/>
        </p:nvSpPr>
        <p:spPr>
          <a:xfrm>
            <a:off x="6419088" y="2743200"/>
            <a:ext cx="2615184" cy="2194560"/>
          </a:xfrm>
          <a:prstGeom prst="roundRect">
            <a:avLst>
              <a:gd name="adj" fmla="val 3750"/>
            </a:avLst>
          </a:prstGeom>
          <a:solidFill>
            <a:srgbClr val="1E2761"/>
          </a:solidFill>
          <a:ln w="12700">
            <a:solidFill>
              <a:srgbClr val="333333"/>
            </a:solidFill>
            <a:prstDash val="solid"/>
          </a:ln>
        </p:spPr>
      </p:sp>
      <p:sp>
        <p:nvSpPr>
          <p:cNvPr id="17" name="Shape 13"/>
          <p:cNvSpPr/>
          <p:nvPr/>
        </p:nvSpPr>
        <p:spPr>
          <a:xfrm>
            <a:off x="6656832" y="2980944"/>
            <a:ext cx="512064" cy="512064"/>
          </a:xfrm>
          <a:prstGeom prst="ellipse">
            <a:avLst/>
          </a:prstGeom>
          <a:solidFill>
            <a:srgbClr val="35407F"/>
          </a:solidFill>
          <a:ln w="12700">
            <a:solidFill>
              <a:srgbClr val="333333"/>
            </a:solidFill>
            <a:prstDash val="solid"/>
          </a:ln>
        </p:spPr>
      </p:sp>
      <p:pic>
        <p:nvPicPr>
          <p:cNvPr id="18" name="Image 2" descr="preencoded.png">    </p:cNvPr>
          <p:cNvPicPr>
            <a:picLocks noChangeAspect="1"/>
          </p:cNvPicPr>
          <p:nvPr/>
        </p:nvPicPr>
        <p:blipFill>
          <a:blip r:embed="rId3"/>
          <a:stretch>
            <a:fillRect/>
          </a:stretch>
        </p:blipFill>
        <p:spPr>
          <a:xfrm>
            <a:off x="6766560" y="3090672"/>
            <a:ext cx="292608" cy="292608"/>
          </a:xfrm>
          <a:prstGeom prst="rect">
            <a:avLst/>
          </a:prstGeom>
        </p:spPr>
      </p:pic>
      <p:sp>
        <p:nvSpPr>
          <p:cNvPr id="19" name="Text 14"/>
          <p:cNvSpPr/>
          <p:nvPr/>
        </p:nvSpPr>
        <p:spPr>
          <a:xfrm>
            <a:off x="6656832" y="3602736"/>
            <a:ext cx="2139696" cy="40233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Accreditation-ready</a:t>
            </a:r>
            <a:endParaRPr lang="en-US" sz="1350" dirty="0"/>
          </a:p>
        </p:txBody>
      </p:sp>
      <p:sp>
        <p:nvSpPr>
          <p:cNvPr id="20" name="Text 15"/>
          <p:cNvSpPr/>
          <p:nvPr/>
        </p:nvSpPr>
        <p:spPr>
          <a:xfrm>
            <a:off x="6656832" y="4005072"/>
            <a:ext cx="2139696" cy="822960"/>
          </a:xfrm>
          <a:prstGeom prst="rect">
            <a:avLst/>
          </a:prstGeom>
          <a:noFill/>
          <a:ln/>
        </p:spPr>
        <p:txBody>
          <a:bodyPr wrap="square" lIns="0" tIns="0" rIns="0" bIns="0" rtlCol="0" anchor="t"/>
          <a:lstStyle/>
          <a:p>
            <a:pPr indent="0" marL="0">
              <a:lnSpc>
                <a:spcPts val="1350"/>
              </a:lnSpc>
              <a:buNone/>
            </a:pPr>
            <a:r>
              <a:rPr lang="en-US" sz="1050" dirty="0">
                <a:solidFill>
                  <a:srgbClr val="CADCFC"/>
                </a:solidFill>
                <a:latin typeface="Calibri" pitchFamily="34" charset="0"/>
                <a:ea typeface="Calibri" pitchFamily="34" charset="-122"/>
                <a:cs typeface="Calibri" pitchFamily="34" charset="-120"/>
              </a:rPr>
              <a:t>Exportable mark sheets and submission trails for NBA / NAAC outcome-based reporting.</a:t>
            </a:r>
            <a:endParaRPr lang="en-US" sz="1050" dirty="0"/>
          </a:p>
        </p:txBody>
      </p:sp>
      <p:sp>
        <p:nvSpPr>
          <p:cNvPr id="21" name="Shape 16"/>
          <p:cNvSpPr/>
          <p:nvPr/>
        </p:nvSpPr>
        <p:spPr>
          <a:xfrm>
            <a:off x="9354312" y="2743200"/>
            <a:ext cx="2615184" cy="2194560"/>
          </a:xfrm>
          <a:prstGeom prst="roundRect">
            <a:avLst>
              <a:gd name="adj" fmla="val 3750"/>
            </a:avLst>
          </a:prstGeom>
          <a:solidFill>
            <a:srgbClr val="1E2761"/>
          </a:solidFill>
          <a:ln w="12700">
            <a:solidFill>
              <a:srgbClr val="333333"/>
            </a:solidFill>
            <a:prstDash val="solid"/>
          </a:ln>
        </p:spPr>
      </p:sp>
      <p:sp>
        <p:nvSpPr>
          <p:cNvPr id="22" name="Shape 17"/>
          <p:cNvSpPr/>
          <p:nvPr/>
        </p:nvSpPr>
        <p:spPr>
          <a:xfrm>
            <a:off x="9592056" y="2980944"/>
            <a:ext cx="512064" cy="512064"/>
          </a:xfrm>
          <a:prstGeom prst="ellipse">
            <a:avLst/>
          </a:prstGeom>
          <a:solidFill>
            <a:srgbClr val="35407F"/>
          </a:solidFill>
          <a:ln w="12700">
            <a:solidFill>
              <a:srgbClr val="333333"/>
            </a:solidFill>
            <a:prstDash val="solid"/>
          </a:ln>
        </p:spPr>
      </p:sp>
      <p:pic>
        <p:nvPicPr>
          <p:cNvPr id="23" name="Image 3" descr="preencoded.png">    </p:cNvPr>
          <p:cNvPicPr>
            <a:picLocks noChangeAspect="1"/>
          </p:cNvPicPr>
          <p:nvPr/>
        </p:nvPicPr>
        <p:blipFill>
          <a:blip r:embed="rId4"/>
          <a:stretch>
            <a:fillRect/>
          </a:stretch>
        </p:blipFill>
        <p:spPr>
          <a:xfrm>
            <a:off x="9701784" y="3090672"/>
            <a:ext cx="292608" cy="292608"/>
          </a:xfrm>
          <a:prstGeom prst="rect">
            <a:avLst/>
          </a:prstGeom>
        </p:spPr>
      </p:pic>
      <p:sp>
        <p:nvSpPr>
          <p:cNvPr id="24" name="Text 18"/>
          <p:cNvSpPr/>
          <p:nvPr/>
        </p:nvSpPr>
        <p:spPr>
          <a:xfrm>
            <a:off x="9592056" y="3602736"/>
            <a:ext cx="2139696" cy="40233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Handed to the Department</a:t>
            </a:r>
            <a:endParaRPr lang="en-US" sz="1350" dirty="0"/>
          </a:p>
        </p:txBody>
      </p:sp>
      <p:sp>
        <p:nvSpPr>
          <p:cNvPr id="25" name="Text 19"/>
          <p:cNvSpPr/>
          <p:nvPr/>
        </p:nvSpPr>
        <p:spPr>
          <a:xfrm>
            <a:off x="9592056" y="4005072"/>
            <a:ext cx="2139696" cy="822960"/>
          </a:xfrm>
          <a:prstGeom prst="rect">
            <a:avLst/>
          </a:prstGeom>
          <a:noFill/>
          <a:ln/>
        </p:spPr>
        <p:txBody>
          <a:bodyPr wrap="square" lIns="0" tIns="0" rIns="0" bIns="0" rtlCol="0" anchor="t"/>
          <a:lstStyle/>
          <a:p>
            <a:pPr indent="0" marL="0">
              <a:lnSpc>
                <a:spcPts val="1350"/>
              </a:lnSpc>
              <a:buNone/>
            </a:pPr>
            <a:r>
              <a:rPr lang="en-US" sz="1050" dirty="0">
                <a:solidFill>
                  <a:srgbClr val="CADCFC"/>
                </a:solidFill>
                <a:latin typeface="Calibri" pitchFamily="34" charset="0"/>
                <a:ea typeface="Calibri" pitchFamily="34" charset="-122"/>
                <a:cs typeface="Calibri" pitchFamily="34" charset="-120"/>
              </a:rPr>
              <a:t>Source code, schema, deployment guide and administrator manual — no vendor, no lock-in.</a:t>
            </a:r>
            <a:endParaRPr lang="en-US" sz="1050" dirty="0"/>
          </a:p>
        </p:txBody>
      </p:sp>
      <p:sp>
        <p:nvSpPr>
          <p:cNvPr id="26" name="Shape 20"/>
          <p:cNvSpPr/>
          <p:nvPr/>
        </p:nvSpPr>
        <p:spPr>
          <a:xfrm>
            <a:off x="548640" y="5230368"/>
            <a:ext cx="11091672" cy="786384"/>
          </a:xfrm>
          <a:prstGeom prst="roundRect">
            <a:avLst>
              <a:gd name="adj" fmla="val 11628"/>
            </a:avLst>
          </a:prstGeom>
          <a:solidFill>
            <a:srgbClr val="00C39A"/>
          </a:solidFill>
          <a:ln w="12700">
            <a:solidFill>
              <a:srgbClr val="333333"/>
            </a:solidFill>
            <a:prstDash val="solid"/>
          </a:ln>
        </p:spPr>
      </p:sp>
      <p:sp>
        <p:nvSpPr>
          <p:cNvPr id="27" name="Text 21"/>
          <p:cNvSpPr/>
          <p:nvPr/>
        </p:nvSpPr>
        <p:spPr>
          <a:xfrm>
            <a:off x="822960" y="5230368"/>
            <a:ext cx="10515600" cy="786384"/>
          </a:xfrm>
          <a:prstGeom prst="rect">
            <a:avLst/>
          </a:prstGeom>
          <a:noFill/>
          <a:ln/>
        </p:spPr>
        <p:txBody>
          <a:bodyPr wrap="square" lIns="0" tIns="0" rIns="0" bIns="0" rtlCol="0" anchor="ctr"/>
          <a:lstStyle/>
          <a:p>
            <a:pPr algn="ctr" indent="0" marL="0">
              <a:buNone/>
            </a:pPr>
            <a:r>
              <a:rPr lang="en-US" sz="1400" b="1" dirty="0">
                <a:solidFill>
                  <a:srgbClr val="141B3D"/>
                </a:solidFill>
                <a:latin typeface="Calibri" pitchFamily="34" charset="0"/>
                <a:ea typeface="Calibri" pitchFamily="34" charset="-122"/>
                <a:cs typeface="Calibri" pitchFamily="34" charset="-120"/>
              </a:rPr>
              <a:t>One platform replaces pen-drive submissions, manual compilation and spreadsheet grading — across every lab session, in every section, for ₹89,000 a year.</a:t>
            </a:r>
            <a:endParaRPr lang="en-US" sz="1400" dirty="0"/>
          </a:p>
        </p:txBody>
      </p:sp>
      <p:sp>
        <p:nvSpPr>
          <p:cNvPr id="28" name="Text 22"/>
          <p:cNvSpPr/>
          <p:nvPr/>
        </p:nvSpPr>
        <p:spPr>
          <a:xfrm>
            <a:off x="548640" y="6199632"/>
            <a:ext cx="11091672" cy="274320"/>
          </a:xfrm>
          <a:prstGeom prst="rect">
            <a:avLst/>
          </a:prstGeom>
          <a:noFill/>
          <a:ln/>
        </p:spPr>
        <p:txBody>
          <a:bodyPr wrap="square" lIns="0" tIns="0" rIns="0" bIns="0" rtlCol="0" anchor="ctr"/>
          <a:lstStyle/>
          <a:p>
            <a:pPr algn="ctr" indent="0" marL="0">
              <a:buNone/>
            </a:pPr>
            <a:r>
              <a:rPr lang="en-US" sz="1050" dirty="0">
                <a:solidFill>
                  <a:srgbClr val="9AA6C4"/>
                </a:solidFill>
                <a:latin typeface="Calibri" pitchFamily="34" charset="0"/>
                <a:ea typeface="Calibri" pitchFamily="34" charset="-122"/>
                <a:cs typeface="Calibri" pitchFamily="34" charset="-120"/>
              </a:rPr>
              <a:t>V Pranav · 160125749063     ·     K Sai Rithvik Reddy · 160125749026     ·     Department of CSE (IoT &amp; CSBCT), CBIT     ·     labsubmit.vercel.app</a:t>
            </a:r>
            <a:endParaRPr lang="en-US" sz="1050" dirty="0"/>
          </a:p>
        </p:txBody>
      </p:sp>
    </p:spTree>
  </p:cSld>
  <p:clrMapOvr>
    <a:masterClrMapping/>
  </p:clrMapOvr>
  <mc:AlternateContent xmlns:mc="http://schemas.openxmlformats.org/markup-compatibility/2006">
    <mc:Choice xmlns:p14="http://schemas.microsoft.com/office/powerpoint/2010/main" Requires="p14">
      <p:transition spd="slow" p14:dur="65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
                                        </p:tgtEl>
                                        <p:attrNameLst>
                                          <p:attrName>style.visibility</p:attrName>
                                        </p:attrNameLst>
                                      </p:cBhvr>
                                      <p:to>
                                        <p:strVal val="visible"/>
                                      </p:to>
                                    </p:set>
                                    <p:animEffect transition="in" filter="fade">
                                      <p:cBhvr>
                                        <p:cTn id="7" dur="380"/>
                                        <p:tgtEl>
                                          <p:spTgt spid="1"/>
                                        </p:tgtEl>
                                      </p:cBhvr>
                                    </p:animEffect>
                                    <p:anim calcmode="lin" valueType="num">
                                      <p:cBhvr additive="base">
                                        <p:cTn id="8" dur="380" fill="hold"/>
                                        <p:tgtEl>
                                          <p:spTgt spid="1"/>
                                        </p:tgtEl>
                                        <p:attrNameLst>
                                          <p:attrName>ppt_y</p:attrName>
                                        </p:attrNameLst>
                                      </p:cBhvr>
                                      <p:tavLst>
                                        <p:tav tm="0">
                                          <p:val>
                                            <p:strVal val="#ppt_y+0.03"/>
                                          </p:val>
                                        </p:tav>
                                        <p:tav tm="100000">
                                          <p:val>
                                            <p:strVal val="#ppt_y"/>
                                          </p:val>
                                        </p:tav>
                                      </p:tavLst>
                                    </p:anim>
                                  </p:childTnLst>
                                </p:cTn>
                              </p:par>
                              <p:par>
                                <p:cTn id="9" presetID="42" presetClass="entr" presetSubtype="0" fill="hold" grpId="0" nodeType="afterEffect">
                                  <p:stCondLst>
                                    <p:cond delay="64"/>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380"/>
                                        <p:tgtEl>
                                          <p:spTgt spid="2"/>
                                        </p:tgtEl>
                                      </p:cBhvr>
                                    </p:animEffect>
                                    <p:anim calcmode="lin" valueType="num">
                                      <p:cBhvr additive="base">
                                        <p:cTn id="12" dur="380" fill="hold"/>
                                        <p:tgtEl>
                                          <p:spTgt spid="2"/>
                                        </p:tgtEl>
                                        <p:attrNameLst>
                                          <p:attrName>ppt_y</p:attrName>
                                        </p:attrNameLst>
                                      </p:cBhvr>
                                      <p:tavLst>
                                        <p:tav tm="0">
                                          <p:val>
                                            <p:strVal val="#ppt_y+0.03"/>
                                          </p:val>
                                        </p:tav>
                                        <p:tav tm="100000">
                                          <p:val>
                                            <p:strVal val="#ppt_y"/>
                                          </p:val>
                                        </p:tav>
                                      </p:tavLst>
                                    </p:anim>
                                  </p:childTnLst>
                                </p:cTn>
                              </p:par>
                              <p:par>
                                <p:cTn id="13" presetID="42" presetClass="entr" presetSubtype="0" fill="hold" grpId="0" nodeType="afterEffect">
                                  <p:stCondLst>
                                    <p:cond delay="128"/>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380"/>
                                        <p:tgtEl>
                                          <p:spTgt spid="3"/>
                                        </p:tgtEl>
                                      </p:cBhvr>
                                    </p:animEffect>
                                    <p:anim calcmode="lin" valueType="num">
                                      <p:cBhvr additive="base">
                                        <p:cTn id="16" dur="380" fill="hold"/>
                                        <p:tgtEl>
                                          <p:spTgt spid="3"/>
                                        </p:tgtEl>
                                        <p:attrNameLst>
                                          <p:attrName>ppt_y</p:attrName>
                                        </p:attrNameLst>
                                      </p:cBhvr>
                                      <p:tavLst>
                                        <p:tav tm="0">
                                          <p:val>
                                            <p:strVal val="#ppt_y+0.03"/>
                                          </p:val>
                                        </p:tav>
                                        <p:tav tm="100000">
                                          <p:val>
                                            <p:strVal val="#ppt_y"/>
                                          </p:val>
                                        </p:tav>
                                      </p:tavLst>
                                    </p:anim>
                                  </p:childTnLst>
                                </p:cTn>
                              </p:par>
                              <p:par>
                                <p:cTn id="17" presetID="42" presetClass="entr" presetSubtype="0" fill="hold" grpId="0" nodeType="afterEffect">
                                  <p:stCondLst>
                                    <p:cond delay="192"/>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380"/>
                                        <p:tgtEl>
                                          <p:spTgt spid="4"/>
                                        </p:tgtEl>
                                      </p:cBhvr>
                                    </p:animEffect>
                                    <p:anim calcmode="lin" valueType="num">
                                      <p:cBhvr additive="base">
                                        <p:cTn id="20" dur="380" fill="hold"/>
                                        <p:tgtEl>
                                          <p:spTgt spid="4"/>
                                        </p:tgtEl>
                                        <p:attrNameLst>
                                          <p:attrName>ppt_y</p:attrName>
                                        </p:attrNameLst>
                                      </p:cBhvr>
                                      <p:tavLst>
                                        <p:tav tm="0">
                                          <p:val>
                                            <p:strVal val="#ppt_y+0.03"/>
                                          </p:val>
                                        </p:tav>
                                        <p:tav tm="100000">
                                          <p:val>
                                            <p:strVal val="#ppt_y"/>
                                          </p:val>
                                        </p:tav>
                                      </p:tavLst>
                                    </p:anim>
                                  </p:childTnLst>
                                </p:cTn>
                              </p:par>
                              <p:par>
                                <p:cTn id="21" presetID="42" presetClass="entr" presetSubtype="0" fill="hold" grpId="0" nodeType="afterEffect">
                                  <p:stCondLst>
                                    <p:cond delay="256"/>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380"/>
                                        <p:tgtEl>
                                          <p:spTgt spid="5"/>
                                        </p:tgtEl>
                                      </p:cBhvr>
                                    </p:animEffect>
                                    <p:anim calcmode="lin" valueType="num">
                                      <p:cBhvr additive="base">
                                        <p:cTn id="24" dur="380" fill="hold"/>
                                        <p:tgtEl>
                                          <p:spTgt spid="5"/>
                                        </p:tgtEl>
                                        <p:attrNameLst>
                                          <p:attrName>ppt_y</p:attrName>
                                        </p:attrNameLst>
                                      </p:cBhvr>
                                      <p:tavLst>
                                        <p:tav tm="0">
                                          <p:val>
                                            <p:strVal val="#ppt_y+0.03"/>
                                          </p:val>
                                        </p:tav>
                                        <p:tav tm="100000">
                                          <p:val>
                                            <p:strVal val="#ppt_y"/>
                                          </p:val>
                                        </p:tav>
                                      </p:tavLst>
                                    </p:anim>
                                  </p:childTnLst>
                                </p:cTn>
                              </p:par>
                              <p:par>
                                <p:cTn id="25" presetID="42" presetClass="entr" presetSubtype="0" fill="hold" grpId="0" nodeType="afterEffect">
                                  <p:stCondLst>
                                    <p:cond delay="32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380"/>
                                        <p:tgtEl>
                                          <p:spTgt spid="6"/>
                                        </p:tgtEl>
                                      </p:cBhvr>
                                    </p:animEffect>
                                    <p:anim calcmode="lin" valueType="num">
                                      <p:cBhvr additive="base">
                                        <p:cTn id="28" dur="380" fill="hold"/>
                                        <p:tgtEl>
                                          <p:spTgt spid="6"/>
                                        </p:tgtEl>
                                        <p:attrNameLst>
                                          <p:attrName>ppt_y</p:attrName>
                                        </p:attrNameLst>
                                      </p:cBhvr>
                                      <p:tavLst>
                                        <p:tav tm="0">
                                          <p:val>
                                            <p:strVal val="#ppt_y+0.03"/>
                                          </p:val>
                                        </p:tav>
                                        <p:tav tm="100000">
                                          <p:val>
                                            <p:strVal val="#ppt_y"/>
                                          </p:val>
                                        </p:tav>
                                      </p:tavLst>
                                    </p:anim>
                                  </p:childTnLst>
                                </p:cTn>
                              </p:par>
                              <p:par>
                                <p:cTn id="29" presetID="42" presetClass="entr" presetSubtype="0" fill="hold" grpId="0" nodeType="afterEffect">
                                  <p:stCondLst>
                                    <p:cond delay="384"/>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380"/>
                                        <p:tgtEl>
                                          <p:spTgt spid="7"/>
                                        </p:tgtEl>
                                      </p:cBhvr>
                                    </p:animEffect>
                                    <p:anim calcmode="lin" valueType="num">
                                      <p:cBhvr additive="base">
                                        <p:cTn id="32" dur="380" fill="hold"/>
                                        <p:tgtEl>
                                          <p:spTgt spid="7"/>
                                        </p:tgtEl>
                                        <p:attrNameLst>
                                          <p:attrName>ppt_y</p:attrName>
                                        </p:attrNameLst>
                                      </p:cBhvr>
                                      <p:tavLst>
                                        <p:tav tm="0">
                                          <p:val>
                                            <p:strVal val="#ppt_y+0.03"/>
                                          </p:val>
                                        </p:tav>
                                        <p:tav tm="100000">
                                          <p:val>
                                            <p:strVal val="#ppt_y"/>
                                          </p:val>
                                        </p:tav>
                                      </p:tavLst>
                                    </p:anim>
                                  </p:childTnLst>
                                </p:cTn>
                              </p:par>
                              <p:par>
                                <p:cTn id="33" presetID="42" presetClass="entr" presetSubtype="0" fill="hold" grpId="0" nodeType="afterEffect">
                                  <p:stCondLst>
                                    <p:cond delay="448"/>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380"/>
                                        <p:tgtEl>
                                          <p:spTgt spid="8"/>
                                        </p:tgtEl>
                                      </p:cBhvr>
                                    </p:animEffect>
                                    <p:anim calcmode="lin" valueType="num">
                                      <p:cBhvr additive="base">
                                        <p:cTn id="36" dur="380" fill="hold"/>
                                        <p:tgtEl>
                                          <p:spTgt spid="8"/>
                                        </p:tgtEl>
                                        <p:attrNameLst>
                                          <p:attrName>ppt_y</p:attrName>
                                        </p:attrNameLst>
                                      </p:cBhvr>
                                      <p:tavLst>
                                        <p:tav tm="0">
                                          <p:val>
                                            <p:strVal val="#ppt_y+0.03"/>
                                          </p:val>
                                        </p:tav>
                                        <p:tav tm="100000">
                                          <p:val>
                                            <p:strVal val="#ppt_y"/>
                                          </p:val>
                                        </p:tav>
                                      </p:tavLst>
                                    </p:anim>
                                  </p:childTnLst>
                                </p:cTn>
                              </p:par>
                              <p:par>
                                <p:cTn id="37" presetID="42" presetClass="entr" presetSubtype="0" fill="hold" grpId="0" nodeType="afterEffect">
                                  <p:stCondLst>
                                    <p:cond delay="512"/>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380"/>
                                        <p:tgtEl>
                                          <p:spTgt spid="9"/>
                                        </p:tgtEl>
                                      </p:cBhvr>
                                    </p:animEffect>
                                    <p:anim calcmode="lin" valueType="num">
                                      <p:cBhvr additive="base">
                                        <p:cTn id="40" dur="380" fill="hold"/>
                                        <p:tgtEl>
                                          <p:spTgt spid="9"/>
                                        </p:tgtEl>
                                        <p:attrNameLst>
                                          <p:attrName>ppt_y</p:attrName>
                                        </p:attrNameLst>
                                      </p:cBhvr>
                                      <p:tavLst>
                                        <p:tav tm="0">
                                          <p:val>
                                            <p:strVal val="#ppt_y+0.03"/>
                                          </p:val>
                                        </p:tav>
                                        <p:tav tm="100000">
                                          <p:val>
                                            <p:strVal val="#ppt_y"/>
                                          </p:val>
                                        </p:tav>
                                      </p:tavLst>
                                    </p:anim>
                                  </p:childTnLst>
                                </p:cTn>
                              </p:par>
                              <p:par>
                                <p:cTn id="41" presetID="42" presetClass="entr" presetSubtype="0" fill="hold" grpId="0" nodeType="afterEffect">
                                  <p:stCondLst>
                                    <p:cond delay="576"/>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380"/>
                                        <p:tgtEl>
                                          <p:spTgt spid="10"/>
                                        </p:tgtEl>
                                      </p:cBhvr>
                                    </p:animEffect>
                                    <p:anim calcmode="lin" valueType="num">
                                      <p:cBhvr additive="base">
                                        <p:cTn id="44" dur="380" fill="hold"/>
                                        <p:tgtEl>
                                          <p:spTgt spid="10"/>
                                        </p:tgtEl>
                                        <p:attrNameLst>
                                          <p:attrName>ppt_y</p:attrName>
                                        </p:attrNameLst>
                                      </p:cBhvr>
                                      <p:tavLst>
                                        <p:tav tm="0">
                                          <p:val>
                                            <p:strVal val="#ppt_y+0.03"/>
                                          </p:val>
                                        </p:tav>
                                        <p:tav tm="100000">
                                          <p:val>
                                            <p:strVal val="#ppt_y"/>
                                          </p:val>
                                        </p:tav>
                                      </p:tavLst>
                                    </p:anim>
                                  </p:childTnLst>
                                </p:cTn>
                              </p:par>
                              <p:par>
                                <p:cTn id="45" presetID="42" presetClass="entr" presetSubtype="0" fill="hold" grpId="0" nodeType="afterEffect">
                                  <p:stCondLst>
                                    <p:cond delay="64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380"/>
                                        <p:tgtEl>
                                          <p:spTgt spid="11"/>
                                        </p:tgtEl>
                                      </p:cBhvr>
                                    </p:animEffect>
                                    <p:anim calcmode="lin" valueType="num">
                                      <p:cBhvr additive="base">
                                        <p:cTn id="48" dur="380" fill="hold"/>
                                        <p:tgtEl>
                                          <p:spTgt spid="11"/>
                                        </p:tgtEl>
                                        <p:attrNameLst>
                                          <p:attrName>ppt_y</p:attrName>
                                        </p:attrNameLst>
                                      </p:cBhvr>
                                      <p:tavLst>
                                        <p:tav tm="0">
                                          <p:val>
                                            <p:strVal val="#ppt_y+0.03"/>
                                          </p:val>
                                        </p:tav>
                                        <p:tav tm="100000">
                                          <p:val>
                                            <p:strVal val="#ppt_y"/>
                                          </p:val>
                                        </p:tav>
                                      </p:tavLst>
                                    </p:anim>
                                  </p:childTnLst>
                                </p:cTn>
                              </p:par>
                              <p:par>
                                <p:cTn id="49" presetID="42" presetClass="entr" presetSubtype="0" fill="hold" grpId="0" nodeType="afterEffect">
                                  <p:stCondLst>
                                    <p:cond delay="704"/>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380"/>
                                        <p:tgtEl>
                                          <p:spTgt spid="12"/>
                                        </p:tgtEl>
                                      </p:cBhvr>
                                    </p:animEffect>
                                    <p:anim calcmode="lin" valueType="num">
                                      <p:cBhvr additive="base">
                                        <p:cTn id="52" dur="380" fill="hold"/>
                                        <p:tgtEl>
                                          <p:spTgt spid="12"/>
                                        </p:tgtEl>
                                        <p:attrNameLst>
                                          <p:attrName>ppt_y</p:attrName>
                                        </p:attrNameLst>
                                      </p:cBhvr>
                                      <p:tavLst>
                                        <p:tav tm="0">
                                          <p:val>
                                            <p:strVal val="#ppt_y+0.03"/>
                                          </p:val>
                                        </p:tav>
                                        <p:tav tm="100000">
                                          <p:val>
                                            <p:strVal val="#ppt_y"/>
                                          </p:val>
                                        </p:tav>
                                      </p:tavLst>
                                    </p:anim>
                                  </p:childTnLst>
                                </p:cTn>
                              </p:par>
                              <p:par>
                                <p:cTn id="53" presetID="42" presetClass="entr" presetSubtype="0" fill="hold" grpId="0" nodeType="afterEffect">
                                  <p:stCondLst>
                                    <p:cond delay="768"/>
                                  </p:stCondLst>
                                  <p:childTnLst>
                                    <p:set>
                                      <p:cBhvr>
                                        <p:cTn id="54" dur="1" fill="hold">
                                          <p:stCondLst>
                                            <p:cond delay="0"/>
                                          </p:stCondLst>
                                        </p:cTn>
                                        <p:tgtEl>
                                          <p:spTgt spid="13"/>
                                        </p:tgtEl>
                                        <p:attrNameLst>
                                          <p:attrName>style.visibility</p:attrName>
                                        </p:attrNameLst>
                                      </p:cBhvr>
                                      <p:to>
                                        <p:strVal val="visible"/>
                                      </p:to>
                                    </p:set>
                                    <p:animEffect transition="in" filter="fade">
                                      <p:cBhvr>
                                        <p:cTn id="55" dur="380"/>
                                        <p:tgtEl>
                                          <p:spTgt spid="13"/>
                                        </p:tgtEl>
                                      </p:cBhvr>
                                    </p:animEffect>
                                    <p:anim calcmode="lin" valueType="num">
                                      <p:cBhvr additive="base">
                                        <p:cTn id="56" dur="380" fill="hold"/>
                                        <p:tgtEl>
                                          <p:spTgt spid="13"/>
                                        </p:tgtEl>
                                        <p:attrNameLst>
                                          <p:attrName>ppt_y</p:attrName>
                                        </p:attrNameLst>
                                      </p:cBhvr>
                                      <p:tavLst>
                                        <p:tav tm="0">
                                          <p:val>
                                            <p:strVal val="#ppt_y+0.03"/>
                                          </p:val>
                                        </p:tav>
                                        <p:tav tm="100000">
                                          <p:val>
                                            <p:strVal val="#ppt_y"/>
                                          </p:val>
                                        </p:tav>
                                      </p:tavLst>
                                    </p:anim>
                                  </p:childTnLst>
                                </p:cTn>
                              </p:par>
                              <p:par>
                                <p:cTn id="57" presetID="42" presetClass="entr" presetSubtype="0" fill="hold" grpId="0" nodeType="afterEffect">
                                  <p:stCondLst>
                                    <p:cond delay="832"/>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380"/>
                                        <p:tgtEl>
                                          <p:spTgt spid="14"/>
                                        </p:tgtEl>
                                      </p:cBhvr>
                                    </p:animEffect>
                                    <p:anim calcmode="lin" valueType="num">
                                      <p:cBhvr additive="base">
                                        <p:cTn id="60" dur="380" fill="hold"/>
                                        <p:tgtEl>
                                          <p:spTgt spid="14"/>
                                        </p:tgtEl>
                                        <p:attrNameLst>
                                          <p:attrName>ppt_y</p:attrName>
                                        </p:attrNameLst>
                                      </p:cBhvr>
                                      <p:tavLst>
                                        <p:tav tm="0">
                                          <p:val>
                                            <p:strVal val="#ppt_y+0.03"/>
                                          </p:val>
                                        </p:tav>
                                        <p:tav tm="100000">
                                          <p:val>
                                            <p:strVal val="#ppt_y"/>
                                          </p:val>
                                        </p:tav>
                                      </p:tavLst>
                                    </p:anim>
                                  </p:childTnLst>
                                </p:cTn>
                              </p:par>
                              <p:par>
                                <p:cTn id="61" presetID="42" presetClass="entr" presetSubtype="0" fill="hold" grpId="0" nodeType="afterEffect">
                                  <p:stCondLst>
                                    <p:cond delay="896"/>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380"/>
                                        <p:tgtEl>
                                          <p:spTgt spid="15"/>
                                        </p:tgtEl>
                                      </p:cBhvr>
                                    </p:animEffect>
                                    <p:anim calcmode="lin" valueType="num">
                                      <p:cBhvr additive="base">
                                        <p:cTn id="64" dur="380" fill="hold"/>
                                        <p:tgtEl>
                                          <p:spTgt spid="15"/>
                                        </p:tgtEl>
                                        <p:attrNameLst>
                                          <p:attrName>ppt_y</p:attrName>
                                        </p:attrNameLst>
                                      </p:cBhvr>
                                      <p:tavLst>
                                        <p:tav tm="0">
                                          <p:val>
                                            <p:strVal val="#ppt_y+0.03"/>
                                          </p:val>
                                        </p:tav>
                                        <p:tav tm="100000">
                                          <p:val>
                                            <p:strVal val="#ppt_y"/>
                                          </p:val>
                                        </p:tav>
                                      </p:tavLst>
                                    </p:anim>
                                  </p:childTnLst>
                                </p:cTn>
                              </p:par>
                              <p:par>
                                <p:cTn id="65" presetID="42" presetClass="entr" presetSubtype="0" fill="hold" grpId="0" nodeType="afterEffect">
                                  <p:stCondLst>
                                    <p:cond delay="96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380"/>
                                        <p:tgtEl>
                                          <p:spTgt spid="16"/>
                                        </p:tgtEl>
                                      </p:cBhvr>
                                    </p:animEffect>
                                    <p:anim calcmode="lin" valueType="num">
                                      <p:cBhvr additive="base">
                                        <p:cTn id="68" dur="380" fill="hold"/>
                                        <p:tgtEl>
                                          <p:spTgt spid="16"/>
                                        </p:tgtEl>
                                        <p:attrNameLst>
                                          <p:attrName>ppt_y</p:attrName>
                                        </p:attrNameLst>
                                      </p:cBhvr>
                                      <p:tavLst>
                                        <p:tav tm="0">
                                          <p:val>
                                            <p:strVal val="#ppt_y+0.03"/>
                                          </p:val>
                                        </p:tav>
                                        <p:tav tm="100000">
                                          <p:val>
                                            <p:strVal val="#ppt_y"/>
                                          </p:val>
                                        </p:tav>
                                      </p:tavLst>
                                    </p:anim>
                                  </p:childTnLst>
                                </p:cTn>
                              </p:par>
                              <p:par>
                                <p:cTn id="69" presetID="42" presetClass="entr" presetSubtype="0" fill="hold" grpId="0" nodeType="afterEffect">
                                  <p:stCondLst>
                                    <p:cond delay="1024"/>
                                  </p:stCondLst>
                                  <p:childTnLst>
                                    <p:set>
                                      <p:cBhvr>
                                        <p:cTn id="70" dur="1" fill="hold">
                                          <p:stCondLst>
                                            <p:cond delay="0"/>
                                          </p:stCondLst>
                                        </p:cTn>
                                        <p:tgtEl>
                                          <p:spTgt spid="17"/>
                                        </p:tgtEl>
                                        <p:attrNameLst>
                                          <p:attrName>style.visibility</p:attrName>
                                        </p:attrNameLst>
                                      </p:cBhvr>
                                      <p:to>
                                        <p:strVal val="visible"/>
                                      </p:to>
                                    </p:set>
                                    <p:animEffect transition="in" filter="fade">
                                      <p:cBhvr>
                                        <p:cTn id="71" dur="380"/>
                                        <p:tgtEl>
                                          <p:spTgt spid="17"/>
                                        </p:tgtEl>
                                      </p:cBhvr>
                                    </p:animEffect>
                                    <p:anim calcmode="lin" valueType="num">
                                      <p:cBhvr additive="base">
                                        <p:cTn id="72" dur="380" fill="hold"/>
                                        <p:tgtEl>
                                          <p:spTgt spid="17"/>
                                        </p:tgtEl>
                                        <p:attrNameLst>
                                          <p:attrName>ppt_y</p:attrName>
                                        </p:attrNameLst>
                                      </p:cBhvr>
                                      <p:tavLst>
                                        <p:tav tm="0">
                                          <p:val>
                                            <p:strVal val="#ppt_y+0.03"/>
                                          </p:val>
                                        </p:tav>
                                        <p:tav tm="100000">
                                          <p:val>
                                            <p:strVal val="#ppt_y"/>
                                          </p:val>
                                        </p:tav>
                                      </p:tavLst>
                                    </p:anim>
                                  </p:childTnLst>
                                </p:cTn>
                              </p:par>
                              <p:par>
                                <p:cTn id="73" presetID="42" presetClass="entr" presetSubtype="0" fill="hold" grpId="0" nodeType="afterEffect">
                                  <p:stCondLst>
                                    <p:cond delay="1088"/>
                                  </p:stCondLst>
                                  <p:childTnLst>
                                    <p:set>
                                      <p:cBhvr>
                                        <p:cTn id="74" dur="1" fill="hold">
                                          <p:stCondLst>
                                            <p:cond delay="0"/>
                                          </p:stCondLst>
                                        </p:cTn>
                                        <p:tgtEl>
                                          <p:spTgt spid="18"/>
                                        </p:tgtEl>
                                        <p:attrNameLst>
                                          <p:attrName>style.visibility</p:attrName>
                                        </p:attrNameLst>
                                      </p:cBhvr>
                                      <p:to>
                                        <p:strVal val="visible"/>
                                      </p:to>
                                    </p:set>
                                    <p:animEffect transition="in" filter="fade">
                                      <p:cBhvr>
                                        <p:cTn id="75" dur="380"/>
                                        <p:tgtEl>
                                          <p:spTgt spid="18"/>
                                        </p:tgtEl>
                                      </p:cBhvr>
                                    </p:animEffect>
                                    <p:anim calcmode="lin" valueType="num">
                                      <p:cBhvr additive="base">
                                        <p:cTn id="76" dur="380" fill="hold"/>
                                        <p:tgtEl>
                                          <p:spTgt spid="18"/>
                                        </p:tgtEl>
                                        <p:attrNameLst>
                                          <p:attrName>ppt_y</p:attrName>
                                        </p:attrNameLst>
                                      </p:cBhvr>
                                      <p:tavLst>
                                        <p:tav tm="0">
                                          <p:val>
                                            <p:strVal val="#ppt_y+0.03"/>
                                          </p:val>
                                        </p:tav>
                                        <p:tav tm="100000">
                                          <p:val>
                                            <p:strVal val="#ppt_y"/>
                                          </p:val>
                                        </p:tav>
                                      </p:tavLst>
                                    </p:anim>
                                  </p:childTnLst>
                                </p:cTn>
                              </p:par>
                              <p:par>
                                <p:cTn id="77" presetID="42" presetClass="entr" presetSubtype="0" fill="hold" grpId="0" nodeType="afterEffect">
                                  <p:stCondLst>
                                    <p:cond delay="1152"/>
                                  </p:stCondLst>
                                  <p:childTnLst>
                                    <p:set>
                                      <p:cBhvr>
                                        <p:cTn id="78" dur="1" fill="hold">
                                          <p:stCondLst>
                                            <p:cond delay="0"/>
                                          </p:stCondLst>
                                        </p:cTn>
                                        <p:tgtEl>
                                          <p:spTgt spid="19"/>
                                        </p:tgtEl>
                                        <p:attrNameLst>
                                          <p:attrName>style.visibility</p:attrName>
                                        </p:attrNameLst>
                                      </p:cBhvr>
                                      <p:to>
                                        <p:strVal val="visible"/>
                                      </p:to>
                                    </p:set>
                                    <p:animEffect transition="in" filter="fade">
                                      <p:cBhvr>
                                        <p:cTn id="79" dur="380"/>
                                        <p:tgtEl>
                                          <p:spTgt spid="19"/>
                                        </p:tgtEl>
                                      </p:cBhvr>
                                    </p:animEffect>
                                    <p:anim calcmode="lin" valueType="num">
                                      <p:cBhvr additive="base">
                                        <p:cTn id="80" dur="380" fill="hold"/>
                                        <p:tgtEl>
                                          <p:spTgt spid="19"/>
                                        </p:tgtEl>
                                        <p:attrNameLst>
                                          <p:attrName>ppt_y</p:attrName>
                                        </p:attrNameLst>
                                      </p:cBhvr>
                                      <p:tavLst>
                                        <p:tav tm="0">
                                          <p:val>
                                            <p:strVal val="#ppt_y+0.03"/>
                                          </p:val>
                                        </p:tav>
                                        <p:tav tm="100000">
                                          <p:val>
                                            <p:strVal val="#ppt_y"/>
                                          </p:val>
                                        </p:tav>
                                      </p:tavLst>
                                    </p:anim>
                                  </p:childTnLst>
                                </p:cTn>
                              </p:par>
                              <p:par>
                                <p:cTn id="81" presetID="42" presetClass="entr" presetSubtype="0" fill="hold" grpId="0" nodeType="afterEffect">
                                  <p:stCondLst>
                                    <p:cond delay="1216"/>
                                  </p:stCondLst>
                                  <p:childTnLst>
                                    <p:set>
                                      <p:cBhvr>
                                        <p:cTn id="82" dur="1" fill="hold">
                                          <p:stCondLst>
                                            <p:cond delay="0"/>
                                          </p:stCondLst>
                                        </p:cTn>
                                        <p:tgtEl>
                                          <p:spTgt spid="20"/>
                                        </p:tgtEl>
                                        <p:attrNameLst>
                                          <p:attrName>style.visibility</p:attrName>
                                        </p:attrNameLst>
                                      </p:cBhvr>
                                      <p:to>
                                        <p:strVal val="visible"/>
                                      </p:to>
                                    </p:set>
                                    <p:animEffect transition="in" filter="fade">
                                      <p:cBhvr>
                                        <p:cTn id="83" dur="380"/>
                                        <p:tgtEl>
                                          <p:spTgt spid="20"/>
                                        </p:tgtEl>
                                      </p:cBhvr>
                                    </p:animEffect>
                                    <p:anim calcmode="lin" valueType="num">
                                      <p:cBhvr additive="base">
                                        <p:cTn id="84" dur="380" fill="hold"/>
                                        <p:tgtEl>
                                          <p:spTgt spid="20"/>
                                        </p:tgtEl>
                                        <p:attrNameLst>
                                          <p:attrName>ppt_y</p:attrName>
                                        </p:attrNameLst>
                                      </p:cBhvr>
                                      <p:tavLst>
                                        <p:tav tm="0">
                                          <p:val>
                                            <p:strVal val="#ppt_y+0.03"/>
                                          </p:val>
                                        </p:tav>
                                        <p:tav tm="100000">
                                          <p:val>
                                            <p:strVal val="#ppt_y"/>
                                          </p:val>
                                        </p:tav>
                                      </p:tavLst>
                                    </p:anim>
                                  </p:childTnLst>
                                </p:cTn>
                              </p:par>
                              <p:par>
                                <p:cTn id="85" presetID="42" presetClass="entr" presetSubtype="0" fill="hold" grpId="0" nodeType="afterEffect">
                                  <p:stCondLst>
                                    <p:cond delay="1280"/>
                                  </p:stCondLst>
                                  <p:childTnLst>
                                    <p:set>
                                      <p:cBhvr>
                                        <p:cTn id="86" dur="1" fill="hold">
                                          <p:stCondLst>
                                            <p:cond delay="0"/>
                                          </p:stCondLst>
                                        </p:cTn>
                                        <p:tgtEl>
                                          <p:spTgt spid="21"/>
                                        </p:tgtEl>
                                        <p:attrNameLst>
                                          <p:attrName>style.visibility</p:attrName>
                                        </p:attrNameLst>
                                      </p:cBhvr>
                                      <p:to>
                                        <p:strVal val="visible"/>
                                      </p:to>
                                    </p:set>
                                    <p:animEffect transition="in" filter="fade">
                                      <p:cBhvr>
                                        <p:cTn id="87" dur="380"/>
                                        <p:tgtEl>
                                          <p:spTgt spid="21"/>
                                        </p:tgtEl>
                                      </p:cBhvr>
                                    </p:animEffect>
                                    <p:anim calcmode="lin" valueType="num">
                                      <p:cBhvr additive="base">
                                        <p:cTn id="88" dur="380" fill="hold"/>
                                        <p:tgtEl>
                                          <p:spTgt spid="21"/>
                                        </p:tgtEl>
                                        <p:attrNameLst>
                                          <p:attrName>ppt_y</p:attrName>
                                        </p:attrNameLst>
                                      </p:cBhvr>
                                      <p:tavLst>
                                        <p:tav tm="0">
                                          <p:val>
                                            <p:strVal val="#ppt_y+0.03"/>
                                          </p:val>
                                        </p:tav>
                                        <p:tav tm="100000">
                                          <p:val>
                                            <p:strVal val="#ppt_y"/>
                                          </p:val>
                                        </p:tav>
                                      </p:tavLst>
                                    </p:anim>
                                  </p:childTnLst>
                                </p:cTn>
                              </p:par>
                              <p:par>
                                <p:cTn id="89" presetID="42" presetClass="entr" presetSubtype="0" fill="hold" grpId="0" nodeType="afterEffect">
                                  <p:stCondLst>
                                    <p:cond delay="1344"/>
                                  </p:stCondLst>
                                  <p:childTnLst>
                                    <p:set>
                                      <p:cBhvr>
                                        <p:cTn id="90" dur="1" fill="hold">
                                          <p:stCondLst>
                                            <p:cond delay="0"/>
                                          </p:stCondLst>
                                        </p:cTn>
                                        <p:tgtEl>
                                          <p:spTgt spid="22"/>
                                        </p:tgtEl>
                                        <p:attrNameLst>
                                          <p:attrName>style.visibility</p:attrName>
                                        </p:attrNameLst>
                                      </p:cBhvr>
                                      <p:to>
                                        <p:strVal val="visible"/>
                                      </p:to>
                                    </p:set>
                                    <p:animEffect transition="in" filter="fade">
                                      <p:cBhvr>
                                        <p:cTn id="91" dur="380"/>
                                        <p:tgtEl>
                                          <p:spTgt spid="22"/>
                                        </p:tgtEl>
                                      </p:cBhvr>
                                    </p:animEffect>
                                    <p:anim calcmode="lin" valueType="num">
                                      <p:cBhvr additive="base">
                                        <p:cTn id="92" dur="380" fill="hold"/>
                                        <p:tgtEl>
                                          <p:spTgt spid="22"/>
                                        </p:tgtEl>
                                        <p:attrNameLst>
                                          <p:attrName>ppt_y</p:attrName>
                                        </p:attrNameLst>
                                      </p:cBhvr>
                                      <p:tavLst>
                                        <p:tav tm="0">
                                          <p:val>
                                            <p:strVal val="#ppt_y+0.03"/>
                                          </p:val>
                                        </p:tav>
                                        <p:tav tm="100000">
                                          <p:val>
                                            <p:strVal val="#ppt_y"/>
                                          </p:val>
                                        </p:tav>
                                      </p:tavLst>
                                    </p:anim>
                                  </p:childTnLst>
                                </p:cTn>
                              </p:par>
                              <p:par>
                                <p:cTn id="93" presetID="42" presetClass="entr" presetSubtype="0" fill="hold" grpId="0" nodeType="afterEffect">
                                  <p:stCondLst>
                                    <p:cond delay="1408"/>
                                  </p:stCondLst>
                                  <p:childTnLst>
                                    <p:set>
                                      <p:cBhvr>
                                        <p:cTn id="94" dur="1" fill="hold">
                                          <p:stCondLst>
                                            <p:cond delay="0"/>
                                          </p:stCondLst>
                                        </p:cTn>
                                        <p:tgtEl>
                                          <p:spTgt spid="23"/>
                                        </p:tgtEl>
                                        <p:attrNameLst>
                                          <p:attrName>style.visibility</p:attrName>
                                        </p:attrNameLst>
                                      </p:cBhvr>
                                      <p:to>
                                        <p:strVal val="visible"/>
                                      </p:to>
                                    </p:set>
                                    <p:animEffect transition="in" filter="fade">
                                      <p:cBhvr>
                                        <p:cTn id="95" dur="380"/>
                                        <p:tgtEl>
                                          <p:spTgt spid="23"/>
                                        </p:tgtEl>
                                      </p:cBhvr>
                                    </p:animEffect>
                                    <p:anim calcmode="lin" valueType="num">
                                      <p:cBhvr additive="base">
                                        <p:cTn id="96" dur="380" fill="hold"/>
                                        <p:tgtEl>
                                          <p:spTgt spid="23"/>
                                        </p:tgtEl>
                                        <p:attrNameLst>
                                          <p:attrName>ppt_y</p:attrName>
                                        </p:attrNameLst>
                                      </p:cBhvr>
                                      <p:tavLst>
                                        <p:tav tm="0">
                                          <p:val>
                                            <p:strVal val="#ppt_y+0.03"/>
                                          </p:val>
                                        </p:tav>
                                        <p:tav tm="100000">
                                          <p:val>
                                            <p:strVal val="#ppt_y"/>
                                          </p:val>
                                        </p:tav>
                                      </p:tavLst>
                                    </p:anim>
                                  </p:childTnLst>
                                </p:cTn>
                              </p:par>
                              <p:par>
                                <p:cTn id="97" presetID="42" presetClass="entr" presetSubtype="0" fill="hold" grpId="0" nodeType="afterEffect">
                                  <p:stCondLst>
                                    <p:cond delay="1472"/>
                                  </p:stCondLst>
                                  <p:childTnLst>
                                    <p:set>
                                      <p:cBhvr>
                                        <p:cTn id="98" dur="1" fill="hold">
                                          <p:stCondLst>
                                            <p:cond delay="0"/>
                                          </p:stCondLst>
                                        </p:cTn>
                                        <p:tgtEl>
                                          <p:spTgt spid="24"/>
                                        </p:tgtEl>
                                        <p:attrNameLst>
                                          <p:attrName>style.visibility</p:attrName>
                                        </p:attrNameLst>
                                      </p:cBhvr>
                                      <p:to>
                                        <p:strVal val="visible"/>
                                      </p:to>
                                    </p:set>
                                    <p:animEffect transition="in" filter="fade">
                                      <p:cBhvr>
                                        <p:cTn id="99" dur="380"/>
                                        <p:tgtEl>
                                          <p:spTgt spid="24"/>
                                        </p:tgtEl>
                                      </p:cBhvr>
                                    </p:animEffect>
                                    <p:anim calcmode="lin" valueType="num">
                                      <p:cBhvr additive="base">
                                        <p:cTn id="100" dur="380" fill="hold"/>
                                        <p:tgtEl>
                                          <p:spTgt spid="24"/>
                                        </p:tgtEl>
                                        <p:attrNameLst>
                                          <p:attrName>ppt_y</p:attrName>
                                        </p:attrNameLst>
                                      </p:cBhvr>
                                      <p:tavLst>
                                        <p:tav tm="0">
                                          <p:val>
                                            <p:strVal val="#ppt_y+0.03"/>
                                          </p:val>
                                        </p:tav>
                                        <p:tav tm="100000">
                                          <p:val>
                                            <p:strVal val="#ppt_y"/>
                                          </p:val>
                                        </p:tav>
                                      </p:tavLst>
                                    </p:anim>
                                  </p:childTnLst>
                                </p:cTn>
                              </p:par>
                              <p:par>
                                <p:cTn id="101" presetID="42" presetClass="entr" presetSubtype="0" fill="hold" grpId="0" nodeType="afterEffect">
                                  <p:stCondLst>
                                    <p:cond delay="1536"/>
                                  </p:stCondLst>
                                  <p:childTnLst>
                                    <p:set>
                                      <p:cBhvr>
                                        <p:cTn id="102" dur="1" fill="hold">
                                          <p:stCondLst>
                                            <p:cond delay="0"/>
                                          </p:stCondLst>
                                        </p:cTn>
                                        <p:tgtEl>
                                          <p:spTgt spid="25"/>
                                        </p:tgtEl>
                                        <p:attrNameLst>
                                          <p:attrName>style.visibility</p:attrName>
                                        </p:attrNameLst>
                                      </p:cBhvr>
                                      <p:to>
                                        <p:strVal val="visible"/>
                                      </p:to>
                                    </p:set>
                                    <p:animEffect transition="in" filter="fade">
                                      <p:cBhvr>
                                        <p:cTn id="103" dur="380"/>
                                        <p:tgtEl>
                                          <p:spTgt spid="25"/>
                                        </p:tgtEl>
                                      </p:cBhvr>
                                    </p:animEffect>
                                    <p:anim calcmode="lin" valueType="num">
                                      <p:cBhvr additive="base">
                                        <p:cTn id="104" dur="380" fill="hold"/>
                                        <p:tgtEl>
                                          <p:spTgt spid="25"/>
                                        </p:tgtEl>
                                        <p:attrNameLst>
                                          <p:attrName>ppt_y</p:attrName>
                                        </p:attrNameLst>
                                      </p:cBhvr>
                                      <p:tavLst>
                                        <p:tav tm="0">
                                          <p:val>
                                            <p:strVal val="#ppt_y+0.03"/>
                                          </p:val>
                                        </p:tav>
                                        <p:tav tm="100000">
                                          <p:val>
                                            <p:strVal val="#ppt_y"/>
                                          </p:val>
                                        </p:tav>
                                      </p:tavLst>
                                    </p:anim>
                                  </p:childTnLst>
                                </p:cTn>
                              </p:par>
                              <p:par>
                                <p:cTn id="105" presetID="42" presetClass="entr" presetSubtype="0" fill="hold" grpId="0" nodeType="afterEffect">
                                  <p:stCondLst>
                                    <p:cond delay="1600"/>
                                  </p:stCondLst>
                                  <p:childTnLst>
                                    <p:set>
                                      <p:cBhvr>
                                        <p:cTn id="106" dur="1" fill="hold">
                                          <p:stCondLst>
                                            <p:cond delay="0"/>
                                          </p:stCondLst>
                                        </p:cTn>
                                        <p:tgtEl>
                                          <p:spTgt spid="26"/>
                                        </p:tgtEl>
                                        <p:attrNameLst>
                                          <p:attrName>style.visibility</p:attrName>
                                        </p:attrNameLst>
                                      </p:cBhvr>
                                      <p:to>
                                        <p:strVal val="visible"/>
                                      </p:to>
                                    </p:set>
                                    <p:animEffect transition="in" filter="fade">
                                      <p:cBhvr>
                                        <p:cTn id="107" dur="380"/>
                                        <p:tgtEl>
                                          <p:spTgt spid="26"/>
                                        </p:tgtEl>
                                      </p:cBhvr>
                                    </p:animEffect>
                                    <p:anim calcmode="lin" valueType="num">
                                      <p:cBhvr additive="base">
                                        <p:cTn id="108" dur="380" fill="hold"/>
                                        <p:tgtEl>
                                          <p:spTgt spid="26"/>
                                        </p:tgtEl>
                                        <p:attrNameLst>
                                          <p:attrName>ppt_y</p:attrName>
                                        </p:attrNameLst>
                                      </p:cBhvr>
                                      <p:tavLst>
                                        <p:tav tm="0">
                                          <p:val>
                                            <p:strVal val="#ppt_y+0.03"/>
                                          </p:val>
                                        </p:tav>
                                        <p:tav tm="100000">
                                          <p:val>
                                            <p:strVal val="#ppt_y"/>
                                          </p:val>
                                        </p:tav>
                                      </p:tavLst>
                                    </p:anim>
                                  </p:childTnLst>
                                </p:cTn>
                              </p:par>
                              <p:par>
                                <p:cTn id="109" presetID="42" presetClass="entr" presetSubtype="0" fill="hold" grpId="0" nodeType="afterEffect">
                                  <p:stCondLst>
                                    <p:cond delay="1664"/>
                                  </p:stCondLst>
                                  <p:childTnLst>
                                    <p:set>
                                      <p:cBhvr>
                                        <p:cTn id="110" dur="1" fill="hold">
                                          <p:stCondLst>
                                            <p:cond delay="0"/>
                                          </p:stCondLst>
                                        </p:cTn>
                                        <p:tgtEl>
                                          <p:spTgt spid="27"/>
                                        </p:tgtEl>
                                        <p:attrNameLst>
                                          <p:attrName>style.visibility</p:attrName>
                                        </p:attrNameLst>
                                      </p:cBhvr>
                                      <p:to>
                                        <p:strVal val="visible"/>
                                      </p:to>
                                    </p:set>
                                    <p:animEffect transition="in" filter="fade">
                                      <p:cBhvr>
                                        <p:cTn id="111" dur="380"/>
                                        <p:tgtEl>
                                          <p:spTgt spid="27"/>
                                        </p:tgtEl>
                                      </p:cBhvr>
                                    </p:animEffect>
                                    <p:anim calcmode="lin" valueType="num">
                                      <p:cBhvr additive="base">
                                        <p:cTn id="112" dur="380" fill="hold"/>
                                        <p:tgtEl>
                                          <p:spTgt spid="27"/>
                                        </p:tgtEl>
                                        <p:attrNameLst>
                                          <p:attrName>ppt_y</p:attrName>
                                        </p:attrNameLst>
                                      </p:cBhvr>
                                      <p:tavLst>
                                        <p:tav tm="0">
                                          <p:val>
                                            <p:strVal val="#ppt_y+0.03"/>
                                          </p:val>
                                        </p:tav>
                                        <p:tav tm="100000">
                                          <p:val>
                                            <p:strVal val="#ppt_y"/>
                                          </p:val>
                                        </p:tav>
                                      </p:tavLst>
                                    </p:anim>
                                  </p:childTnLst>
                                </p:cTn>
                              </p:par>
                              <p:par>
                                <p:cTn id="113" presetID="42" presetClass="entr" presetSubtype="0" fill="hold" grpId="0" nodeType="afterEffect">
                                  <p:stCondLst>
                                    <p:cond delay="1728"/>
                                  </p:stCondLst>
                                  <p:childTnLst>
                                    <p:set>
                                      <p:cBhvr>
                                        <p:cTn id="114" dur="1" fill="hold">
                                          <p:stCondLst>
                                            <p:cond delay="0"/>
                                          </p:stCondLst>
                                        </p:cTn>
                                        <p:tgtEl>
                                          <p:spTgt spid="28"/>
                                        </p:tgtEl>
                                        <p:attrNameLst>
                                          <p:attrName>style.visibility</p:attrName>
                                        </p:attrNameLst>
                                      </p:cBhvr>
                                      <p:to>
                                        <p:strVal val="visible"/>
                                      </p:to>
                                    </p:set>
                                    <p:animEffect transition="in" filter="fade">
                                      <p:cBhvr>
                                        <p:cTn id="115" dur="380"/>
                                        <p:tgtEl>
                                          <p:spTgt spid="28"/>
                                        </p:tgtEl>
                                      </p:cBhvr>
                                    </p:animEffect>
                                    <p:anim calcmode="lin" valueType="num">
                                      <p:cBhvr additive="base">
                                        <p:cTn id="116" dur="380" fill="hold"/>
                                        <p:tgtEl>
                                          <p:spTgt spid="28"/>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 grpId="0"/>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LabSubmit — Software Development Project Proposal</dc:title>
  <dc:subject>PptxGenJS Presentation</dc:subject>
  <dc:creator>V Pranav</dc:creator>
  <cp:lastModifiedBy>V Pranav</cp:lastModifiedBy>
  <cp:revision>1</cp:revision>
  <dcterms:created xsi:type="dcterms:W3CDTF">2026-08-16T15:40:19Z</dcterms:created>
  <dcterms:modified xsi:type="dcterms:W3CDTF">2026-08-16T15:40:19Z</dcterms:modified>
</cp:coreProperties>
</file>